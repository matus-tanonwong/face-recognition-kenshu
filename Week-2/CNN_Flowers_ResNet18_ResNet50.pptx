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85"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062"/>
    <p:restoredTop sz="94610"/>
  </p:normalViewPr>
  <p:slideViewPr>
    <p:cSldViewPr snapToGrid="0" snapToObjects="1">
      <p:cViewPr varScale="1">
        <p:scale>
          <a:sx n="160" d="100"/>
          <a:sy n="160" d="100"/>
        </p:scale>
        <p:origin x="52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749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Introduce this as the continuation of our basic CNN flower classification lesson. Ask students how a pretrained model might save training effort.
日本語: 自作CNNを学んだ後の応用編です。学習済みモデルを利用する利点を質問してください。</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Use this slide to set goals. The most important learning result is that students can say which weights are updated in each phase.
日本語: 2段階の学習でどの重みが変わるか説明できることを主要な目標にします。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We previously used input 96×96, three convolution blocks, adaptive avgpool, and one 64-to-5 linear layer. All weights learned from flowers, unlike pretrained ResNet.
日本語: 以前の自作CNNは96×96入力、3つの畳み込みブロックと適応的平均プーリング、64→5の線形層でした。</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Compare the amount of information available to learn features. The images shown here are flower examples; ResNet weights were trained on ImageNet, not only on these five categories.
日本語: ResNetの重みはImageNetで学習したものです。花だけで学習したわけではありません。</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This is the flower_photos collection (five classes, approximately 3,670 images). The train and validation images are reused in both phases; the test set is held out. Split ratios are 70/15/15.
日本語: 5クラスの花画像を70:15:15に分けます。2段階の学習では同じ学習画像を使い、テスト画像は最後まで使用しません。</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Emphasize that ImageNet normalization is important. The notebook selects correct transforms from its weights enum, uses 224×224 crop for training, and official inference preprocess for validation and test.
日本語: ImageNetの正規化は重要です。weights.transforms() を使えば選んだ事前学習済み重みに合う前処理を取得できます。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A ResNet18 BasicBlock has two 3×3 convolutions; ResNet50 uses a bottleneck of 1×1,3×3,1×1. The stage block counts are [2,2,2,2] vs [3,4,6,3], counted as 8 vs 16 residual blocks. The displayed trainable parameter totals are exact for torchvision models with new fc layers (11,179,077 and 23,518,277).
日本語: 18層と50層は単に層数が違うだけでなく、残差ブロックの種類も異なります。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The table exactly matches the notebook shape inspection for 224×224 input. ResNet50 bottleneck stages expand channel counts 4x, yielding 2048 final channels.
日本語: 入力224×224に対する正確な形状です。ResNet50の最終段は2048チャネルです。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Point out final fc uses 512 inputs for ResNet18 and 2048 for ResNet50. The replacement fc has randomly initialized weights and must be trained. ResNet produces logits; CrossEntropyLoss consumes logits, not pre-softmaxed probabilities.
日本語: 最後のfcを5出力へ変更します。CrossEntropyLossの前にsoftmaxは不要です。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Show model.fc.in_features rather than hard-coding 512/2048. Internet is required on first download unless weights are cached. Verify the model outputs tensor with shape (batch,5).
日本語: ハードコードではなくin_featuresで入力数を取得します。初回は学習済み重みのダウンロードが必要です。</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Freezing affects parameter updates, not whether the layer is used in the forward pass. BatchNorm running statistics are separate buffers: notebook ensures frozen BatchNorm layers are set to eval during training.
日本語: 凍結しても層は順伝播で使用します。BatchNormには学習パラメータとは別の統計量がある点に注意。</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Phase A is a linear-probe-style transfer learning stage. With frozen backbone, classifier alone learns class separation. Clarify the final fc is randomly initialized.
日本語: 第1段階ではfcだけを学習し、事前学習済みの特徴抽出器は固定します。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This matches Notebook 3 exactly: AdamW optimizer with lr 1e-3 and weight_decay 1e-4 on fc. CrossEntropyLoss is applied to raw logits.
日本語: ノートブックの学習率1e-3、AdamWを使用します。</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Phase B is not a second independent model. It continues from Phase A weights and unfreezes layer4 and fc. Earlier layers are frozen. Adaptive pooling has no trainable weights.
日本語: 同じモデルを引き続き学習します。layer4とfcだけを更新します。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Directly address the student question: the same train images are used across both stages, as is ordinary with multiple epochs. fc receives more epochs; Phase B differs because feature extractor layer4 becomes trainable. Test data is never trained on.
日本語: 同じ学習データを使います。fcは引き続き学習し、2段階目ではlayer4も学習可能になる点が本質的な違いです。</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Exact notebook settings: layer4 lr 1e-5, fc lr 1e-4, AdamW weight_decay 1e-4. Separate parameter groups are important.
日本語: ノートブックどおり、layer4は1e-5、fcは1e-4に設定します。</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These are notebook defaults, not fixed recommendations. On Apple Silicon MPS quick demo is False and ResNet18 batch=32, so runs may take longer; CPU samples train/validation only.
日本語: これらはノートブックの初期設定です。MPSでは短縮モードが自動で無効となるため、実行時間に注意してください。</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Reinforce forward, loss, gradient, and optimizer. The optimizer only receives trainable parameters; frozen layers are not updated. Validation performed after each epoch with no_grad.
日本語: 順伝播、損失、逆伝播、更新の4ステップです。検証ではモデルは更新しません。</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Notebook restores best-validation-loss weights within each phase, then compares val_head and val_ft, loads the better checkpoint, and evaluates test once. Never choose between models based on the test set.
日本語: 各段階の検証損失最小の重みを比べ、最終モデルを選んでからテスト評価します。</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This figure is not measured. The notebook will generate actual loss and accuracy curves. The dashed vertical line marks the transition from head training to fine-tuning.
日本語: これは説明用の模式グラフです。実験値ではありません。</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Illustrative 5x5 confusion matrix numbers here are invented for teaching only, not outcomes of the notebook. Use the actual ConfusionMatrixDisplay plot after running training.
日本語: 混同行列の数字は説明用であり、実際の実験結果ではありません。</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Show example bars and ask student which flower would be predicted. Values 3%,2%,4%,88%,3% are fabricated solely to illustrate a prediction. Avoid claiming these are actual confidence scores.
日本語: 予測スコアは説明用です。実際の結果ではありません。</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The notebook records layer1 and layer4 activations with forward hooks. This slide uses stylized schematic feature maps, not model results. Early and late features differ in abstraction and resolution; different map color scales cannot be compared directly.
日本語: この図は模式図であり、ノートブックの出力ではありません。ノートブックではforward hookを使って表示します。</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Actual Grad-CAM in the notebook runs a backward pass on the chosen class logit, computes weighted layer4 activation map, upsamples to input, and overlays. The presentation picture is a conceptual illustration, not computed Grad-CAM.
日本語: 図は説明用です。実際には勾配とlayer4の特徴マップからGrad-CAMを計算します。</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Parameter row counts only final linear head including bias. Full model parameters after replacement: ResNet18 11,179,077; ResNet50 23,518,277. Input 96 vs 224 is intentional due to correct preprocessing, so differences reflect both architecture and preprocessing.
日本語: 最終層のパラメータ数はバイアスを含めResNet18が2,565、ResNet50が10,245です。</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Have students record values from their own notebook run. Do not assert an expected winning model. ResNet50 might take longer and may not improve test scores.
日本語: 学生自身の実行結果に基づいて考察させます。</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Ask student to explain why fc remains trainable in Phase B and why ResNet50 does not always outperform ResNet18.
日本語: なぜ第2段階でもfcを更新するのか、なぜ50が18より常に優れるわけではないのかを質問してください。</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 講義メモ
EN: This lecture corresponds to Notebook 3; datasets and pretrained weights should be prepared ahead. Web URLs are scholarly references and official documentation.
日本語: 本資料はノートブック3と対応しています。事前ダウンロードがおすすめです。</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jpg"/><Relationship Id="rId5" Type="http://schemas.openxmlformats.org/officeDocument/2006/relationships/image" Target="../media/image2.jpg"/><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146304"/>
            <a:ext cx="12191695" cy="6711696"/>
          </a:xfrm>
          <a:prstGeom prst="rect">
            <a:avLst/>
          </a:prstGeom>
          <a:solidFill>
            <a:srgbClr val="F3F8FB"/>
          </a:solidFill>
          <a:ln w="12700">
            <a:solidFill>
              <a:srgbClr val="F3F8FB"/>
            </a:solidFill>
            <a:prstDash val="solid"/>
          </a:ln>
        </p:spPr>
        <p:txBody>
          <a:bodyPr/>
          <a:lstStyle/>
          <a:p>
            <a:endParaRPr lang="en-JP"/>
          </a:p>
        </p:txBody>
      </p:sp>
      <p:sp>
        <p:nvSpPr>
          <p:cNvPr id="4" name="Text 2"/>
          <p:cNvSpPr/>
          <p:nvPr/>
        </p:nvSpPr>
        <p:spPr>
          <a:xfrm>
            <a:off x="621792" y="512064"/>
            <a:ext cx="8229600" cy="228600"/>
          </a:xfrm>
          <a:prstGeom prst="rect">
            <a:avLst/>
          </a:prstGeom>
          <a:noFill/>
          <a:ln/>
        </p:spPr>
        <p:txBody>
          <a:bodyPr wrap="square" lIns="0" tIns="0" rIns="0" bIns="0" rtlCol="0" anchor="ctr">
            <a:normAutofit/>
          </a:bodyPr>
          <a:lstStyle/>
          <a:p>
            <a:pPr marL="0" indent="0" algn="l">
              <a:lnSpc>
                <a:spcPct val="100000"/>
              </a:lnSpc>
              <a:buNone/>
            </a:pPr>
            <a:r>
              <a:rPr lang="en-US" sz="1300" b="1" dirty="0">
                <a:solidFill>
                  <a:srgbClr val="137C78"/>
                </a:solidFill>
                <a:latin typeface="Aptos" pitchFamily="34" charset="0"/>
                <a:ea typeface="Aptos" pitchFamily="34" charset="-122"/>
                <a:cs typeface="Aptos" pitchFamily="34" charset="-120"/>
              </a:rPr>
              <a:t>TRANSFER LEARNING  •  PYTORCH</a:t>
            </a:r>
            <a:endParaRPr lang="en-US" sz="1300" dirty="0"/>
          </a:p>
        </p:txBody>
      </p:sp>
      <p:sp>
        <p:nvSpPr>
          <p:cNvPr id="5" name="Text 3"/>
          <p:cNvSpPr/>
          <p:nvPr/>
        </p:nvSpPr>
        <p:spPr>
          <a:xfrm>
            <a:off x="640080" y="987552"/>
            <a:ext cx="9966960" cy="667512"/>
          </a:xfrm>
          <a:prstGeom prst="rect">
            <a:avLst/>
          </a:prstGeom>
          <a:noFill/>
          <a:ln/>
        </p:spPr>
        <p:txBody>
          <a:bodyPr wrap="square" lIns="0" tIns="0" rIns="0" bIns="0" rtlCol="0" anchor="ctr">
            <a:normAutofit/>
          </a:bodyPr>
          <a:lstStyle/>
          <a:p>
            <a:pPr marL="0" indent="0" algn="l">
              <a:lnSpc>
                <a:spcPct val="100000"/>
              </a:lnSpc>
              <a:buNone/>
            </a:pPr>
            <a:r>
              <a:rPr lang="en-US" sz="3700" b="1" dirty="0">
                <a:solidFill>
                  <a:srgbClr val="122943"/>
                </a:solidFill>
                <a:latin typeface="Aptos" pitchFamily="34" charset="0"/>
                <a:ea typeface="Aptos" pitchFamily="34" charset="-122"/>
                <a:cs typeface="Aptos" pitchFamily="34" charset="-120"/>
              </a:rPr>
              <a:t>Flower Classification</a:t>
            </a:r>
            <a:endParaRPr lang="en-US" sz="3700" dirty="0"/>
          </a:p>
        </p:txBody>
      </p:sp>
      <p:sp>
        <p:nvSpPr>
          <p:cNvPr id="6" name="Text 4"/>
          <p:cNvSpPr/>
          <p:nvPr/>
        </p:nvSpPr>
        <p:spPr>
          <a:xfrm>
            <a:off x="649224" y="1673352"/>
            <a:ext cx="9601200" cy="603504"/>
          </a:xfrm>
          <a:prstGeom prst="rect">
            <a:avLst/>
          </a:prstGeom>
          <a:noFill/>
          <a:ln/>
        </p:spPr>
        <p:txBody>
          <a:bodyPr wrap="square" lIns="0" tIns="0" rIns="0" bIns="0" rtlCol="0" anchor="ctr">
            <a:normAutofit/>
          </a:bodyPr>
          <a:lstStyle/>
          <a:p>
            <a:pPr marL="0" indent="0" algn="l">
              <a:lnSpc>
                <a:spcPct val="100000"/>
              </a:lnSpc>
              <a:buNone/>
            </a:pPr>
            <a:r>
              <a:rPr lang="en-US" sz="3400" b="1" dirty="0">
                <a:solidFill>
                  <a:srgbClr val="21679D"/>
                </a:solidFill>
                <a:latin typeface="Aptos" pitchFamily="34" charset="0"/>
                <a:ea typeface="Aptos" pitchFamily="34" charset="-122"/>
                <a:cs typeface="Aptos" pitchFamily="34" charset="-120"/>
              </a:rPr>
              <a:t>with ResNet18 &amp; ResNet50</a:t>
            </a:r>
            <a:endParaRPr lang="en-US" sz="3400" dirty="0"/>
          </a:p>
        </p:txBody>
      </p:sp>
      <p:sp>
        <p:nvSpPr>
          <p:cNvPr id="7" name="Text 5"/>
          <p:cNvSpPr/>
          <p:nvPr/>
        </p:nvSpPr>
        <p:spPr>
          <a:xfrm>
            <a:off x="685800" y="2450592"/>
            <a:ext cx="10424160" cy="448056"/>
          </a:xfrm>
          <a:prstGeom prst="rect">
            <a:avLst/>
          </a:prstGeom>
          <a:noFill/>
          <a:ln/>
        </p:spPr>
        <p:txBody>
          <a:bodyPr wrap="square" lIns="0" tIns="0" rIns="0" bIns="0" rtlCol="0" anchor="ctr">
            <a:normAutofit/>
          </a:bodyPr>
          <a:lstStyle/>
          <a:p>
            <a:pPr marL="0" indent="0" algn="l">
              <a:lnSpc>
                <a:spcPct val="100000"/>
              </a:lnSpc>
              <a:buNone/>
            </a:pPr>
            <a:r>
              <a:rPr lang="en-US" sz="2200" b="1" dirty="0">
                <a:solidFill>
                  <a:srgbClr val="1D3957"/>
                </a:solidFill>
                <a:latin typeface="Noto Sans CJK JP" pitchFamily="34" charset="0"/>
                <a:ea typeface="Noto Sans CJK JP" pitchFamily="34" charset="-122"/>
                <a:cs typeface="Noto Sans CJK JP" pitchFamily="34" charset="-120"/>
              </a:rPr>
              <a:t>ResNet18・ResNet50を用いた花画像分類</a:t>
            </a:r>
            <a:endParaRPr lang="en-US" sz="2200" dirty="0"/>
          </a:p>
        </p:txBody>
      </p:sp>
      <p:sp>
        <p:nvSpPr>
          <p:cNvPr id="8" name="Text 6"/>
          <p:cNvSpPr/>
          <p:nvPr/>
        </p:nvSpPr>
        <p:spPr>
          <a:xfrm>
            <a:off x="704088" y="3054096"/>
            <a:ext cx="10241280" cy="356616"/>
          </a:xfrm>
          <a:prstGeom prst="rect">
            <a:avLst/>
          </a:prstGeom>
          <a:noFill/>
          <a:ln/>
        </p:spPr>
        <p:txBody>
          <a:bodyPr wrap="square" lIns="0" tIns="0" rIns="0" bIns="0" rtlCol="0" anchor="ctr">
            <a:normAutofit/>
          </a:bodyPr>
          <a:lstStyle/>
          <a:p>
            <a:pPr marL="0" indent="0" algn="l">
              <a:lnSpc>
                <a:spcPct val="100000"/>
              </a:lnSpc>
              <a:buNone/>
            </a:pPr>
            <a:r>
              <a:rPr lang="en-US" sz="1700" dirty="0">
                <a:solidFill>
                  <a:srgbClr val="607084"/>
                </a:solidFill>
                <a:latin typeface="Aptos" pitchFamily="34" charset="0"/>
                <a:ea typeface="Aptos" pitchFamily="34" charset="-122"/>
                <a:cs typeface="Aptos" pitchFamily="34" charset="-120"/>
              </a:rPr>
              <a:t>From pretrained features to fine-tuning / 事前学習からファインチューニングへ</a:t>
            </a:r>
            <a:endParaRPr lang="en-US" sz="1700" dirty="0"/>
          </a:p>
        </p:txBody>
      </p:sp>
      <p:pic>
        <p:nvPicPr>
          <p:cNvPr id="9" name="Image 0" descr="/mnt/data/flowers_slides_assets/daisy.jpg"/>
          <p:cNvPicPr>
            <a:picLocks noChangeAspect="1"/>
          </p:cNvPicPr>
          <p:nvPr/>
        </p:nvPicPr>
        <p:blipFill>
          <a:blip r:embed="rId3"/>
          <a:stretch>
            <a:fillRect/>
          </a:stretch>
        </p:blipFill>
        <p:spPr>
          <a:xfrm>
            <a:off x="667512" y="3813048"/>
            <a:ext cx="2057400" cy="1700784"/>
          </a:xfrm>
          <a:prstGeom prst="rect">
            <a:avLst/>
          </a:prstGeom>
        </p:spPr>
      </p:pic>
      <p:sp>
        <p:nvSpPr>
          <p:cNvPr id="10" name="Shape 7"/>
          <p:cNvSpPr/>
          <p:nvPr/>
        </p:nvSpPr>
        <p:spPr>
          <a:xfrm>
            <a:off x="667512" y="3813048"/>
            <a:ext cx="2057400" cy="1700784"/>
          </a:xfrm>
          <a:prstGeom prst="rect">
            <a:avLst/>
          </a:prstGeom>
          <a:solidFill>
            <a:srgbClr val="FFFFFF">
              <a:alpha val="0"/>
            </a:srgbClr>
          </a:solidFill>
          <a:ln w="10160">
            <a:solidFill>
              <a:srgbClr val="FFFFFF"/>
            </a:solidFill>
            <a:prstDash val="solid"/>
          </a:ln>
        </p:spPr>
        <p:txBody>
          <a:bodyPr/>
          <a:lstStyle/>
          <a:p>
            <a:endParaRPr lang="en-JP"/>
          </a:p>
        </p:txBody>
      </p:sp>
      <p:sp>
        <p:nvSpPr>
          <p:cNvPr id="11" name="Shape 8"/>
          <p:cNvSpPr/>
          <p:nvPr/>
        </p:nvSpPr>
        <p:spPr>
          <a:xfrm>
            <a:off x="667512" y="5513832"/>
            <a:ext cx="2057400" cy="365760"/>
          </a:xfrm>
          <a:prstGeom prst="rect">
            <a:avLst/>
          </a:prstGeom>
          <a:solidFill>
            <a:srgbClr val="122943"/>
          </a:solidFill>
          <a:ln w="8890">
            <a:solidFill>
              <a:srgbClr val="122943"/>
            </a:solidFill>
            <a:prstDash val="solid"/>
          </a:ln>
        </p:spPr>
        <p:txBody>
          <a:bodyPr/>
          <a:lstStyle/>
          <a:p>
            <a:endParaRPr lang="en-JP"/>
          </a:p>
        </p:txBody>
      </p:sp>
      <p:sp>
        <p:nvSpPr>
          <p:cNvPr id="12" name="Text 9"/>
          <p:cNvSpPr/>
          <p:nvPr/>
        </p:nvSpPr>
        <p:spPr>
          <a:xfrm>
            <a:off x="722376" y="5605272"/>
            <a:ext cx="1938528" cy="210312"/>
          </a:xfrm>
          <a:prstGeom prst="rect">
            <a:avLst/>
          </a:prstGeom>
          <a:noFill/>
          <a:ln/>
        </p:spPr>
        <p:txBody>
          <a:bodyPr wrap="square" lIns="0" tIns="0" rIns="0" bIns="0" rtlCol="0" anchor="ctr">
            <a:normAutofit/>
          </a:bodyPr>
          <a:lstStyle/>
          <a:p>
            <a:pPr marL="0" indent="0" algn="ctr">
              <a:lnSpc>
                <a:spcPct val="100000"/>
              </a:lnSpc>
              <a:buNone/>
            </a:pPr>
            <a:r>
              <a:rPr lang="en-US" sz="1100" dirty="0">
                <a:solidFill>
                  <a:srgbClr val="FFFFFF"/>
                </a:solidFill>
                <a:latin typeface="Aptos" pitchFamily="34" charset="0"/>
                <a:ea typeface="Aptos" pitchFamily="34" charset="-122"/>
                <a:cs typeface="Aptos" pitchFamily="34" charset="-120"/>
              </a:rPr>
              <a:t>daisy  /  デイジー</a:t>
            </a:r>
            <a:endParaRPr lang="en-US" sz="1100" dirty="0"/>
          </a:p>
        </p:txBody>
      </p:sp>
      <p:pic>
        <p:nvPicPr>
          <p:cNvPr id="13" name="Image 1" descr="/mnt/data/flowers_slides_assets/dandelion.jpg"/>
          <p:cNvPicPr>
            <a:picLocks noChangeAspect="1"/>
          </p:cNvPicPr>
          <p:nvPr/>
        </p:nvPicPr>
        <p:blipFill>
          <a:blip r:embed="rId4"/>
          <a:stretch>
            <a:fillRect/>
          </a:stretch>
        </p:blipFill>
        <p:spPr>
          <a:xfrm>
            <a:off x="2916936" y="3813048"/>
            <a:ext cx="2057400" cy="1700784"/>
          </a:xfrm>
          <a:prstGeom prst="rect">
            <a:avLst/>
          </a:prstGeom>
        </p:spPr>
      </p:pic>
      <p:sp>
        <p:nvSpPr>
          <p:cNvPr id="14" name="Shape 10"/>
          <p:cNvSpPr/>
          <p:nvPr/>
        </p:nvSpPr>
        <p:spPr>
          <a:xfrm>
            <a:off x="2916936" y="3813048"/>
            <a:ext cx="2057400" cy="1700784"/>
          </a:xfrm>
          <a:prstGeom prst="rect">
            <a:avLst/>
          </a:prstGeom>
          <a:solidFill>
            <a:srgbClr val="FFFFFF">
              <a:alpha val="0"/>
            </a:srgbClr>
          </a:solidFill>
          <a:ln w="10160">
            <a:solidFill>
              <a:srgbClr val="FFFFFF"/>
            </a:solidFill>
            <a:prstDash val="solid"/>
          </a:ln>
        </p:spPr>
        <p:txBody>
          <a:bodyPr/>
          <a:lstStyle/>
          <a:p>
            <a:endParaRPr lang="en-JP"/>
          </a:p>
        </p:txBody>
      </p:sp>
      <p:sp>
        <p:nvSpPr>
          <p:cNvPr id="15" name="Shape 11"/>
          <p:cNvSpPr/>
          <p:nvPr/>
        </p:nvSpPr>
        <p:spPr>
          <a:xfrm>
            <a:off x="2916936" y="5513832"/>
            <a:ext cx="2057400" cy="365760"/>
          </a:xfrm>
          <a:prstGeom prst="rect">
            <a:avLst/>
          </a:prstGeom>
          <a:solidFill>
            <a:srgbClr val="122943"/>
          </a:solidFill>
          <a:ln w="8890">
            <a:solidFill>
              <a:srgbClr val="122943"/>
            </a:solidFill>
            <a:prstDash val="solid"/>
          </a:ln>
        </p:spPr>
        <p:txBody>
          <a:bodyPr/>
          <a:lstStyle/>
          <a:p>
            <a:endParaRPr lang="en-JP"/>
          </a:p>
        </p:txBody>
      </p:sp>
      <p:sp>
        <p:nvSpPr>
          <p:cNvPr id="16" name="Text 12"/>
          <p:cNvSpPr/>
          <p:nvPr/>
        </p:nvSpPr>
        <p:spPr>
          <a:xfrm>
            <a:off x="2971800" y="5605272"/>
            <a:ext cx="1938528" cy="210312"/>
          </a:xfrm>
          <a:prstGeom prst="rect">
            <a:avLst/>
          </a:prstGeom>
          <a:noFill/>
          <a:ln/>
        </p:spPr>
        <p:txBody>
          <a:bodyPr wrap="square" lIns="0" tIns="0" rIns="0" bIns="0" rtlCol="0" anchor="ctr">
            <a:normAutofit/>
          </a:bodyPr>
          <a:lstStyle/>
          <a:p>
            <a:pPr marL="0" indent="0" algn="ctr">
              <a:lnSpc>
                <a:spcPct val="100000"/>
              </a:lnSpc>
              <a:buNone/>
            </a:pPr>
            <a:r>
              <a:rPr lang="en-US" sz="1100" dirty="0">
                <a:solidFill>
                  <a:srgbClr val="FFFFFF"/>
                </a:solidFill>
                <a:latin typeface="Aptos" pitchFamily="34" charset="0"/>
                <a:ea typeface="Aptos" pitchFamily="34" charset="-122"/>
                <a:cs typeface="Aptos" pitchFamily="34" charset="-120"/>
              </a:rPr>
              <a:t>dandelion  /  タンポポ</a:t>
            </a:r>
            <a:endParaRPr lang="en-US" sz="1100" dirty="0"/>
          </a:p>
        </p:txBody>
      </p:sp>
      <p:pic>
        <p:nvPicPr>
          <p:cNvPr id="17" name="Image 2" descr="/mnt/data/flowers_slides_assets/roses.jpg"/>
          <p:cNvPicPr>
            <a:picLocks noChangeAspect="1"/>
          </p:cNvPicPr>
          <p:nvPr/>
        </p:nvPicPr>
        <p:blipFill>
          <a:blip r:embed="rId5"/>
          <a:stretch>
            <a:fillRect/>
          </a:stretch>
        </p:blipFill>
        <p:spPr>
          <a:xfrm>
            <a:off x="5166360" y="3813048"/>
            <a:ext cx="2057400" cy="1700784"/>
          </a:xfrm>
          <a:prstGeom prst="rect">
            <a:avLst/>
          </a:prstGeom>
        </p:spPr>
      </p:pic>
      <p:sp>
        <p:nvSpPr>
          <p:cNvPr id="18" name="Shape 13"/>
          <p:cNvSpPr/>
          <p:nvPr/>
        </p:nvSpPr>
        <p:spPr>
          <a:xfrm>
            <a:off x="5166360" y="3813048"/>
            <a:ext cx="2057400" cy="1700784"/>
          </a:xfrm>
          <a:prstGeom prst="rect">
            <a:avLst/>
          </a:prstGeom>
          <a:solidFill>
            <a:srgbClr val="FFFFFF">
              <a:alpha val="0"/>
            </a:srgbClr>
          </a:solidFill>
          <a:ln w="10160">
            <a:solidFill>
              <a:srgbClr val="FFFFFF"/>
            </a:solidFill>
            <a:prstDash val="solid"/>
          </a:ln>
        </p:spPr>
        <p:txBody>
          <a:bodyPr/>
          <a:lstStyle/>
          <a:p>
            <a:endParaRPr lang="en-JP"/>
          </a:p>
        </p:txBody>
      </p:sp>
      <p:sp>
        <p:nvSpPr>
          <p:cNvPr id="19" name="Shape 14"/>
          <p:cNvSpPr/>
          <p:nvPr/>
        </p:nvSpPr>
        <p:spPr>
          <a:xfrm>
            <a:off x="5166360" y="5513832"/>
            <a:ext cx="2057400" cy="365760"/>
          </a:xfrm>
          <a:prstGeom prst="rect">
            <a:avLst/>
          </a:prstGeom>
          <a:solidFill>
            <a:srgbClr val="122943"/>
          </a:solidFill>
          <a:ln w="8890">
            <a:solidFill>
              <a:srgbClr val="122943"/>
            </a:solidFill>
            <a:prstDash val="solid"/>
          </a:ln>
        </p:spPr>
        <p:txBody>
          <a:bodyPr/>
          <a:lstStyle/>
          <a:p>
            <a:endParaRPr lang="en-JP"/>
          </a:p>
        </p:txBody>
      </p:sp>
      <p:sp>
        <p:nvSpPr>
          <p:cNvPr id="20" name="Text 15"/>
          <p:cNvSpPr/>
          <p:nvPr/>
        </p:nvSpPr>
        <p:spPr>
          <a:xfrm>
            <a:off x="5221224" y="5605272"/>
            <a:ext cx="1938528" cy="210312"/>
          </a:xfrm>
          <a:prstGeom prst="rect">
            <a:avLst/>
          </a:prstGeom>
          <a:noFill/>
          <a:ln/>
        </p:spPr>
        <p:txBody>
          <a:bodyPr wrap="square" lIns="0" tIns="0" rIns="0" bIns="0" rtlCol="0" anchor="ctr">
            <a:normAutofit/>
          </a:bodyPr>
          <a:lstStyle/>
          <a:p>
            <a:pPr marL="0" indent="0" algn="ctr">
              <a:lnSpc>
                <a:spcPct val="100000"/>
              </a:lnSpc>
              <a:buNone/>
            </a:pPr>
            <a:r>
              <a:rPr lang="en-US" sz="1100" dirty="0">
                <a:solidFill>
                  <a:srgbClr val="FFFFFF"/>
                </a:solidFill>
                <a:latin typeface="Aptos" pitchFamily="34" charset="0"/>
                <a:ea typeface="Aptos" pitchFamily="34" charset="-122"/>
                <a:cs typeface="Aptos" pitchFamily="34" charset="-120"/>
              </a:rPr>
              <a:t>roses  /  バラ</a:t>
            </a:r>
            <a:endParaRPr lang="en-US" sz="1100" dirty="0"/>
          </a:p>
        </p:txBody>
      </p:sp>
      <p:pic>
        <p:nvPicPr>
          <p:cNvPr id="21" name="Image 3" descr="/mnt/data/flowers_slides_assets/sunflowers.jpg"/>
          <p:cNvPicPr>
            <a:picLocks noChangeAspect="1"/>
          </p:cNvPicPr>
          <p:nvPr/>
        </p:nvPicPr>
        <p:blipFill>
          <a:blip r:embed="rId6"/>
          <a:stretch>
            <a:fillRect/>
          </a:stretch>
        </p:blipFill>
        <p:spPr>
          <a:xfrm>
            <a:off x="7415784" y="3813048"/>
            <a:ext cx="2057400" cy="1700784"/>
          </a:xfrm>
          <a:prstGeom prst="rect">
            <a:avLst/>
          </a:prstGeom>
        </p:spPr>
      </p:pic>
      <p:sp>
        <p:nvSpPr>
          <p:cNvPr id="22" name="Shape 16"/>
          <p:cNvSpPr/>
          <p:nvPr/>
        </p:nvSpPr>
        <p:spPr>
          <a:xfrm>
            <a:off x="7415784" y="3813048"/>
            <a:ext cx="2057400" cy="1700784"/>
          </a:xfrm>
          <a:prstGeom prst="rect">
            <a:avLst/>
          </a:prstGeom>
          <a:solidFill>
            <a:srgbClr val="FFFFFF">
              <a:alpha val="0"/>
            </a:srgbClr>
          </a:solidFill>
          <a:ln w="10160">
            <a:solidFill>
              <a:srgbClr val="FFFFFF"/>
            </a:solidFill>
            <a:prstDash val="solid"/>
          </a:ln>
        </p:spPr>
        <p:txBody>
          <a:bodyPr/>
          <a:lstStyle/>
          <a:p>
            <a:endParaRPr lang="en-JP"/>
          </a:p>
        </p:txBody>
      </p:sp>
      <p:sp>
        <p:nvSpPr>
          <p:cNvPr id="23" name="Shape 17"/>
          <p:cNvSpPr/>
          <p:nvPr/>
        </p:nvSpPr>
        <p:spPr>
          <a:xfrm>
            <a:off x="7415784" y="5513832"/>
            <a:ext cx="2057400" cy="365760"/>
          </a:xfrm>
          <a:prstGeom prst="rect">
            <a:avLst/>
          </a:prstGeom>
          <a:solidFill>
            <a:srgbClr val="122943"/>
          </a:solidFill>
          <a:ln w="8890">
            <a:solidFill>
              <a:srgbClr val="122943"/>
            </a:solidFill>
            <a:prstDash val="solid"/>
          </a:ln>
        </p:spPr>
        <p:txBody>
          <a:bodyPr/>
          <a:lstStyle/>
          <a:p>
            <a:endParaRPr lang="en-JP"/>
          </a:p>
        </p:txBody>
      </p:sp>
      <p:sp>
        <p:nvSpPr>
          <p:cNvPr id="24" name="Text 18"/>
          <p:cNvSpPr/>
          <p:nvPr/>
        </p:nvSpPr>
        <p:spPr>
          <a:xfrm>
            <a:off x="7470648" y="5605272"/>
            <a:ext cx="1938528" cy="210312"/>
          </a:xfrm>
          <a:prstGeom prst="rect">
            <a:avLst/>
          </a:prstGeom>
          <a:noFill/>
          <a:ln/>
        </p:spPr>
        <p:txBody>
          <a:bodyPr wrap="square" lIns="0" tIns="0" rIns="0" bIns="0" rtlCol="0" anchor="ctr">
            <a:normAutofit/>
          </a:bodyPr>
          <a:lstStyle/>
          <a:p>
            <a:pPr marL="0" indent="0" algn="ctr">
              <a:lnSpc>
                <a:spcPct val="100000"/>
              </a:lnSpc>
              <a:buNone/>
            </a:pPr>
            <a:r>
              <a:rPr lang="en-US" sz="1100" dirty="0">
                <a:solidFill>
                  <a:srgbClr val="FFFFFF"/>
                </a:solidFill>
                <a:latin typeface="Aptos" pitchFamily="34" charset="0"/>
                <a:ea typeface="Aptos" pitchFamily="34" charset="-122"/>
                <a:cs typeface="Aptos" pitchFamily="34" charset="-120"/>
              </a:rPr>
              <a:t>sunflowers  /  ヒマワリ</a:t>
            </a:r>
            <a:endParaRPr lang="en-US" sz="1100" dirty="0"/>
          </a:p>
        </p:txBody>
      </p:sp>
      <p:pic>
        <p:nvPicPr>
          <p:cNvPr id="25" name="Image 4" descr="/mnt/data/flowers_slides_assets/tulips.jpg"/>
          <p:cNvPicPr>
            <a:picLocks noChangeAspect="1"/>
          </p:cNvPicPr>
          <p:nvPr/>
        </p:nvPicPr>
        <p:blipFill>
          <a:blip r:embed="rId7"/>
          <a:stretch>
            <a:fillRect/>
          </a:stretch>
        </p:blipFill>
        <p:spPr>
          <a:xfrm>
            <a:off x="9665208" y="3813048"/>
            <a:ext cx="2057400" cy="1700784"/>
          </a:xfrm>
          <a:prstGeom prst="rect">
            <a:avLst/>
          </a:prstGeom>
        </p:spPr>
      </p:pic>
      <p:sp>
        <p:nvSpPr>
          <p:cNvPr id="26" name="Shape 19"/>
          <p:cNvSpPr/>
          <p:nvPr/>
        </p:nvSpPr>
        <p:spPr>
          <a:xfrm>
            <a:off x="9665208" y="3813048"/>
            <a:ext cx="2057400" cy="1700784"/>
          </a:xfrm>
          <a:prstGeom prst="rect">
            <a:avLst/>
          </a:prstGeom>
          <a:solidFill>
            <a:srgbClr val="FFFFFF">
              <a:alpha val="0"/>
            </a:srgbClr>
          </a:solidFill>
          <a:ln w="10160">
            <a:solidFill>
              <a:srgbClr val="FFFFFF"/>
            </a:solidFill>
            <a:prstDash val="solid"/>
          </a:ln>
        </p:spPr>
        <p:txBody>
          <a:bodyPr/>
          <a:lstStyle/>
          <a:p>
            <a:endParaRPr lang="en-JP"/>
          </a:p>
        </p:txBody>
      </p:sp>
      <p:sp>
        <p:nvSpPr>
          <p:cNvPr id="27" name="Shape 20"/>
          <p:cNvSpPr/>
          <p:nvPr/>
        </p:nvSpPr>
        <p:spPr>
          <a:xfrm>
            <a:off x="9665208" y="5513832"/>
            <a:ext cx="2057400" cy="365760"/>
          </a:xfrm>
          <a:prstGeom prst="rect">
            <a:avLst/>
          </a:prstGeom>
          <a:solidFill>
            <a:srgbClr val="122943"/>
          </a:solidFill>
          <a:ln w="8890">
            <a:solidFill>
              <a:srgbClr val="122943"/>
            </a:solidFill>
            <a:prstDash val="solid"/>
          </a:ln>
        </p:spPr>
        <p:txBody>
          <a:bodyPr/>
          <a:lstStyle/>
          <a:p>
            <a:endParaRPr lang="en-JP"/>
          </a:p>
        </p:txBody>
      </p:sp>
      <p:sp>
        <p:nvSpPr>
          <p:cNvPr id="28" name="Text 21"/>
          <p:cNvSpPr/>
          <p:nvPr/>
        </p:nvSpPr>
        <p:spPr>
          <a:xfrm>
            <a:off x="9720072" y="5605272"/>
            <a:ext cx="1938528" cy="210312"/>
          </a:xfrm>
          <a:prstGeom prst="rect">
            <a:avLst/>
          </a:prstGeom>
          <a:noFill/>
          <a:ln/>
        </p:spPr>
        <p:txBody>
          <a:bodyPr wrap="square" lIns="0" tIns="0" rIns="0" bIns="0" rtlCol="0" anchor="ctr">
            <a:normAutofit/>
          </a:bodyPr>
          <a:lstStyle/>
          <a:p>
            <a:pPr marL="0" indent="0" algn="ctr">
              <a:lnSpc>
                <a:spcPct val="100000"/>
              </a:lnSpc>
              <a:buNone/>
            </a:pPr>
            <a:r>
              <a:rPr lang="en-US" sz="1100" dirty="0">
                <a:solidFill>
                  <a:srgbClr val="FFFFFF"/>
                </a:solidFill>
                <a:latin typeface="Aptos" pitchFamily="34" charset="0"/>
                <a:ea typeface="Aptos" pitchFamily="34" charset="-122"/>
                <a:cs typeface="Aptos" pitchFamily="34" charset="-120"/>
              </a:rPr>
              <a:t>tulips  /  チューリップ</a:t>
            </a:r>
            <a:endParaRPr lang="en-US" sz="1100" dirty="0"/>
          </a:p>
        </p:txBody>
      </p:sp>
      <p:sp>
        <p:nvSpPr>
          <p:cNvPr id="29" name="Text 22"/>
          <p:cNvSpPr/>
          <p:nvPr/>
        </p:nvSpPr>
        <p:spPr>
          <a:xfrm>
            <a:off x="658368" y="6510528"/>
            <a:ext cx="10607040" cy="182880"/>
          </a:xfrm>
          <a:prstGeom prst="rect">
            <a:avLst/>
          </a:prstGeom>
          <a:noFill/>
          <a:ln/>
        </p:spPr>
        <p:txBody>
          <a:bodyPr wrap="square" lIns="0" tIns="0" rIns="0" bIns="0" rtlCol="0" anchor="ctr">
            <a:normAutofit/>
          </a:bodyPr>
          <a:lstStyle/>
          <a:p>
            <a:pPr marL="0" indent="0" algn="l">
              <a:lnSpc>
                <a:spcPct val="100000"/>
              </a:lnSpc>
              <a:buNone/>
            </a:pPr>
            <a:r>
              <a:rPr lang="en-US" sz="1000" dirty="0">
                <a:solidFill>
                  <a:srgbClr val="607084"/>
                </a:solidFill>
                <a:latin typeface="Aptos" pitchFamily="34" charset="0"/>
                <a:ea typeface="Aptos" pitchFamily="34" charset="-122"/>
                <a:cs typeface="Aptos" pitchFamily="34" charset="-120"/>
              </a:rPr>
              <a:t>Bilingual teaching slides  |  English · 日本語  |  Notebook 3</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Today’s learning goals</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今回の学習目標</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02</a:t>
            </a:r>
            <a:endParaRPr lang="en-US" sz="870" dirty="0"/>
          </a:p>
        </p:txBody>
      </p:sp>
      <p:sp>
        <p:nvSpPr>
          <p:cNvPr id="10" name="Shape 8"/>
          <p:cNvSpPr/>
          <p:nvPr/>
        </p:nvSpPr>
        <p:spPr>
          <a:xfrm>
            <a:off x="868680" y="1600200"/>
            <a:ext cx="146304" cy="146304"/>
          </a:xfrm>
          <a:prstGeom prst="ellipse">
            <a:avLst/>
          </a:prstGeom>
          <a:solidFill>
            <a:srgbClr val="137C78"/>
          </a:solidFill>
          <a:ln w="10160">
            <a:solidFill>
              <a:srgbClr val="137C78"/>
            </a:solidFill>
            <a:prstDash val="solid"/>
          </a:ln>
        </p:spPr>
        <p:txBody>
          <a:bodyPr/>
          <a:lstStyle/>
          <a:p>
            <a:endParaRPr lang="en-JP"/>
          </a:p>
        </p:txBody>
      </p:sp>
      <p:sp>
        <p:nvSpPr>
          <p:cNvPr id="11" name="Text 9"/>
          <p:cNvSpPr/>
          <p:nvPr/>
        </p:nvSpPr>
        <p:spPr>
          <a:xfrm>
            <a:off x="1133856" y="1508760"/>
            <a:ext cx="9701784" cy="274320"/>
          </a:xfrm>
          <a:prstGeom prst="rect">
            <a:avLst/>
          </a:prstGeom>
          <a:noFill/>
          <a:ln/>
        </p:spPr>
        <p:txBody>
          <a:bodyPr wrap="square" lIns="0" tIns="0" rIns="0" bIns="0" rtlCol="0" anchor="ctr">
            <a:normAutofit/>
          </a:bodyPr>
          <a:lstStyle/>
          <a:p>
            <a:pPr marL="0" indent="0" algn="l">
              <a:lnSpc>
                <a:spcPct val="100000"/>
              </a:lnSpc>
              <a:buNone/>
            </a:pPr>
            <a:r>
              <a:rPr lang="en-US" sz="1600" dirty="0">
                <a:solidFill>
                  <a:srgbClr val="1D3957"/>
                </a:solidFill>
                <a:latin typeface="Aptos" pitchFamily="34" charset="0"/>
                <a:ea typeface="Aptos" pitchFamily="34" charset="-122"/>
                <a:cs typeface="Aptos" pitchFamily="34" charset="-120"/>
              </a:rPr>
              <a:t>Understand how transfer learning works</a:t>
            </a:r>
            <a:endParaRPr lang="en-US" sz="1600" dirty="0"/>
          </a:p>
        </p:txBody>
      </p:sp>
      <p:sp>
        <p:nvSpPr>
          <p:cNvPr id="12" name="Text 10"/>
          <p:cNvSpPr/>
          <p:nvPr/>
        </p:nvSpPr>
        <p:spPr>
          <a:xfrm>
            <a:off x="1133856" y="1819656"/>
            <a:ext cx="9674352" cy="265176"/>
          </a:xfrm>
          <a:prstGeom prst="rect">
            <a:avLst/>
          </a:prstGeom>
          <a:noFill/>
          <a:ln/>
        </p:spPr>
        <p:txBody>
          <a:bodyPr wrap="square" lIns="0" tIns="0" rIns="0" bIns="0" rtlCol="0" anchor="ctr">
            <a:normAutofit/>
          </a:bodyPr>
          <a:lstStyle/>
          <a:p>
            <a:pPr marL="0" indent="0" algn="l">
              <a:lnSpc>
                <a:spcPct val="100000"/>
              </a:lnSpc>
              <a:buNone/>
            </a:pPr>
            <a:r>
              <a:rPr lang="en-US" sz="1220" dirty="0">
                <a:solidFill>
                  <a:srgbClr val="607084"/>
                </a:solidFill>
                <a:latin typeface="Noto Sans CJK JP" pitchFamily="34" charset="0"/>
                <a:ea typeface="Noto Sans CJK JP" pitchFamily="34" charset="-122"/>
                <a:cs typeface="Noto Sans CJK JP" pitchFamily="34" charset="-120"/>
              </a:rPr>
              <a:t>転移学習の考え方を理解する</a:t>
            </a:r>
            <a:endParaRPr lang="en-US" sz="1220" dirty="0"/>
          </a:p>
        </p:txBody>
      </p:sp>
      <p:sp>
        <p:nvSpPr>
          <p:cNvPr id="13" name="Shape 11"/>
          <p:cNvSpPr/>
          <p:nvPr/>
        </p:nvSpPr>
        <p:spPr>
          <a:xfrm>
            <a:off x="868680" y="2386584"/>
            <a:ext cx="146304" cy="146304"/>
          </a:xfrm>
          <a:prstGeom prst="ellipse">
            <a:avLst/>
          </a:prstGeom>
          <a:solidFill>
            <a:srgbClr val="137C78"/>
          </a:solidFill>
          <a:ln w="10160">
            <a:solidFill>
              <a:srgbClr val="137C78"/>
            </a:solidFill>
            <a:prstDash val="solid"/>
          </a:ln>
        </p:spPr>
        <p:txBody>
          <a:bodyPr/>
          <a:lstStyle/>
          <a:p>
            <a:endParaRPr lang="en-JP"/>
          </a:p>
        </p:txBody>
      </p:sp>
      <p:sp>
        <p:nvSpPr>
          <p:cNvPr id="14" name="Text 12"/>
          <p:cNvSpPr/>
          <p:nvPr/>
        </p:nvSpPr>
        <p:spPr>
          <a:xfrm>
            <a:off x="1133856" y="2295144"/>
            <a:ext cx="9701784" cy="274320"/>
          </a:xfrm>
          <a:prstGeom prst="rect">
            <a:avLst/>
          </a:prstGeom>
          <a:noFill/>
          <a:ln/>
        </p:spPr>
        <p:txBody>
          <a:bodyPr wrap="square" lIns="0" tIns="0" rIns="0" bIns="0" rtlCol="0" anchor="ctr">
            <a:normAutofit/>
          </a:bodyPr>
          <a:lstStyle/>
          <a:p>
            <a:pPr marL="0" indent="0" algn="l">
              <a:lnSpc>
                <a:spcPct val="100000"/>
              </a:lnSpc>
              <a:buNone/>
            </a:pPr>
            <a:r>
              <a:rPr lang="en-US" sz="1600" dirty="0">
                <a:solidFill>
                  <a:srgbClr val="1D3957"/>
                </a:solidFill>
                <a:latin typeface="Aptos" pitchFamily="34" charset="0"/>
                <a:ea typeface="Aptos" pitchFamily="34" charset="-122"/>
                <a:cs typeface="Aptos" pitchFamily="34" charset="-120"/>
              </a:rPr>
              <a:t>Recognize the role of ResNet residual connections</a:t>
            </a:r>
            <a:endParaRPr lang="en-US" sz="1600" dirty="0"/>
          </a:p>
        </p:txBody>
      </p:sp>
      <p:sp>
        <p:nvSpPr>
          <p:cNvPr id="15" name="Text 13"/>
          <p:cNvSpPr/>
          <p:nvPr/>
        </p:nvSpPr>
        <p:spPr>
          <a:xfrm>
            <a:off x="1133856" y="2606040"/>
            <a:ext cx="9674352" cy="265176"/>
          </a:xfrm>
          <a:prstGeom prst="rect">
            <a:avLst/>
          </a:prstGeom>
          <a:noFill/>
          <a:ln/>
        </p:spPr>
        <p:txBody>
          <a:bodyPr wrap="square" lIns="0" tIns="0" rIns="0" bIns="0" rtlCol="0" anchor="ctr">
            <a:normAutofit/>
          </a:bodyPr>
          <a:lstStyle/>
          <a:p>
            <a:pPr marL="0" indent="0" algn="l">
              <a:lnSpc>
                <a:spcPct val="100000"/>
              </a:lnSpc>
              <a:buNone/>
            </a:pPr>
            <a:r>
              <a:rPr lang="en-US" sz="1220" dirty="0">
                <a:solidFill>
                  <a:srgbClr val="607084"/>
                </a:solidFill>
                <a:latin typeface="Noto Sans CJK JP" pitchFamily="34" charset="0"/>
                <a:ea typeface="Noto Sans CJK JP" pitchFamily="34" charset="-122"/>
                <a:cs typeface="Noto Sans CJK JP" pitchFamily="34" charset="-120"/>
              </a:rPr>
              <a:t>ResNetの残差接続（スキップ接続）を理解する</a:t>
            </a:r>
            <a:endParaRPr lang="en-US" sz="1220" dirty="0"/>
          </a:p>
        </p:txBody>
      </p:sp>
      <p:sp>
        <p:nvSpPr>
          <p:cNvPr id="16" name="Shape 14"/>
          <p:cNvSpPr/>
          <p:nvPr/>
        </p:nvSpPr>
        <p:spPr>
          <a:xfrm>
            <a:off x="868680" y="3172968"/>
            <a:ext cx="146304" cy="146304"/>
          </a:xfrm>
          <a:prstGeom prst="ellipse">
            <a:avLst/>
          </a:prstGeom>
          <a:solidFill>
            <a:srgbClr val="137C78"/>
          </a:solidFill>
          <a:ln w="10160">
            <a:solidFill>
              <a:srgbClr val="137C78"/>
            </a:solidFill>
            <a:prstDash val="solid"/>
          </a:ln>
        </p:spPr>
        <p:txBody>
          <a:bodyPr/>
          <a:lstStyle/>
          <a:p>
            <a:endParaRPr lang="en-JP"/>
          </a:p>
        </p:txBody>
      </p:sp>
      <p:sp>
        <p:nvSpPr>
          <p:cNvPr id="17" name="Text 15"/>
          <p:cNvSpPr/>
          <p:nvPr/>
        </p:nvSpPr>
        <p:spPr>
          <a:xfrm>
            <a:off x="1133856" y="3081528"/>
            <a:ext cx="9701784" cy="274320"/>
          </a:xfrm>
          <a:prstGeom prst="rect">
            <a:avLst/>
          </a:prstGeom>
          <a:noFill/>
          <a:ln/>
        </p:spPr>
        <p:txBody>
          <a:bodyPr wrap="square" lIns="0" tIns="0" rIns="0" bIns="0" rtlCol="0" anchor="ctr">
            <a:normAutofit/>
          </a:bodyPr>
          <a:lstStyle/>
          <a:p>
            <a:pPr marL="0" indent="0" algn="l">
              <a:lnSpc>
                <a:spcPct val="100000"/>
              </a:lnSpc>
              <a:buNone/>
            </a:pPr>
            <a:r>
              <a:rPr lang="en-US" sz="1600" dirty="0">
                <a:solidFill>
                  <a:srgbClr val="1D3957"/>
                </a:solidFill>
                <a:latin typeface="Aptos" pitchFamily="34" charset="0"/>
                <a:ea typeface="Aptos" pitchFamily="34" charset="-122"/>
                <a:cs typeface="Aptos" pitchFamily="34" charset="-120"/>
              </a:rPr>
              <a:t>Replace the ImageNet classifier with five flower outputs</a:t>
            </a:r>
            <a:endParaRPr lang="en-US" sz="1600" dirty="0"/>
          </a:p>
        </p:txBody>
      </p:sp>
      <p:sp>
        <p:nvSpPr>
          <p:cNvPr id="18" name="Text 16"/>
          <p:cNvSpPr/>
          <p:nvPr/>
        </p:nvSpPr>
        <p:spPr>
          <a:xfrm>
            <a:off x="1133856" y="3392424"/>
            <a:ext cx="9674352" cy="265176"/>
          </a:xfrm>
          <a:prstGeom prst="rect">
            <a:avLst/>
          </a:prstGeom>
          <a:noFill/>
          <a:ln/>
        </p:spPr>
        <p:txBody>
          <a:bodyPr wrap="square" lIns="0" tIns="0" rIns="0" bIns="0" rtlCol="0" anchor="ctr">
            <a:normAutofit/>
          </a:bodyPr>
          <a:lstStyle/>
          <a:p>
            <a:pPr marL="0" indent="0" algn="l">
              <a:lnSpc>
                <a:spcPct val="100000"/>
              </a:lnSpc>
              <a:buNone/>
            </a:pPr>
            <a:r>
              <a:rPr lang="en-US" sz="1220" dirty="0">
                <a:solidFill>
                  <a:srgbClr val="607084"/>
                </a:solidFill>
                <a:latin typeface="Noto Sans CJK JP" pitchFamily="34" charset="0"/>
                <a:ea typeface="Noto Sans CJK JP" pitchFamily="34" charset="-122"/>
                <a:cs typeface="Noto Sans CJK JP" pitchFamily="34" charset="-120"/>
              </a:rPr>
              <a:t>1,000クラス用の最終層を花の5クラス用に変更する</a:t>
            </a:r>
            <a:endParaRPr lang="en-US" sz="1220" dirty="0"/>
          </a:p>
        </p:txBody>
      </p:sp>
      <p:sp>
        <p:nvSpPr>
          <p:cNvPr id="19" name="Shape 17"/>
          <p:cNvSpPr/>
          <p:nvPr/>
        </p:nvSpPr>
        <p:spPr>
          <a:xfrm>
            <a:off x="868680" y="3959352"/>
            <a:ext cx="146304" cy="146304"/>
          </a:xfrm>
          <a:prstGeom prst="ellipse">
            <a:avLst/>
          </a:prstGeom>
          <a:solidFill>
            <a:srgbClr val="137C78"/>
          </a:solidFill>
          <a:ln w="10160">
            <a:solidFill>
              <a:srgbClr val="137C78"/>
            </a:solidFill>
            <a:prstDash val="solid"/>
          </a:ln>
        </p:spPr>
        <p:txBody>
          <a:bodyPr/>
          <a:lstStyle/>
          <a:p>
            <a:endParaRPr lang="en-JP"/>
          </a:p>
        </p:txBody>
      </p:sp>
      <p:sp>
        <p:nvSpPr>
          <p:cNvPr id="20" name="Text 18"/>
          <p:cNvSpPr/>
          <p:nvPr/>
        </p:nvSpPr>
        <p:spPr>
          <a:xfrm>
            <a:off x="1133856" y="3867912"/>
            <a:ext cx="9701784" cy="274320"/>
          </a:xfrm>
          <a:prstGeom prst="rect">
            <a:avLst/>
          </a:prstGeom>
          <a:noFill/>
          <a:ln/>
        </p:spPr>
        <p:txBody>
          <a:bodyPr wrap="square" lIns="0" tIns="0" rIns="0" bIns="0" rtlCol="0" anchor="ctr">
            <a:normAutofit/>
          </a:bodyPr>
          <a:lstStyle/>
          <a:p>
            <a:pPr marL="0" indent="0" algn="l">
              <a:lnSpc>
                <a:spcPct val="100000"/>
              </a:lnSpc>
              <a:buNone/>
            </a:pPr>
            <a:r>
              <a:rPr lang="en-US" sz="1600" dirty="0">
                <a:solidFill>
                  <a:srgbClr val="1D3957"/>
                </a:solidFill>
                <a:latin typeface="Aptos" pitchFamily="34" charset="0"/>
                <a:ea typeface="Aptos" pitchFamily="34" charset="-122"/>
                <a:cs typeface="Aptos" pitchFamily="34" charset="-120"/>
              </a:rPr>
              <a:t>Compare feature extraction and fine-tuning</a:t>
            </a:r>
            <a:endParaRPr lang="en-US" sz="1600" dirty="0"/>
          </a:p>
        </p:txBody>
      </p:sp>
      <p:sp>
        <p:nvSpPr>
          <p:cNvPr id="21" name="Text 19"/>
          <p:cNvSpPr/>
          <p:nvPr/>
        </p:nvSpPr>
        <p:spPr>
          <a:xfrm>
            <a:off x="1133856" y="4178808"/>
            <a:ext cx="9674352" cy="265176"/>
          </a:xfrm>
          <a:prstGeom prst="rect">
            <a:avLst/>
          </a:prstGeom>
          <a:noFill/>
          <a:ln/>
        </p:spPr>
        <p:txBody>
          <a:bodyPr wrap="square" lIns="0" tIns="0" rIns="0" bIns="0" rtlCol="0" anchor="ctr">
            <a:normAutofit/>
          </a:bodyPr>
          <a:lstStyle/>
          <a:p>
            <a:pPr marL="0" indent="0" algn="l">
              <a:lnSpc>
                <a:spcPct val="100000"/>
              </a:lnSpc>
              <a:buNone/>
            </a:pPr>
            <a:r>
              <a:rPr lang="en-US" sz="1220" dirty="0">
                <a:solidFill>
                  <a:srgbClr val="607084"/>
                </a:solidFill>
                <a:latin typeface="Noto Sans CJK JP" pitchFamily="34" charset="0"/>
                <a:ea typeface="Noto Sans CJK JP" pitchFamily="34" charset="-122"/>
                <a:cs typeface="Noto Sans CJK JP" pitchFamily="34" charset="-120"/>
              </a:rPr>
              <a:t>特徴抽出とファインチューニングの違いを学ぶ</a:t>
            </a:r>
            <a:endParaRPr lang="en-US" sz="1220" dirty="0"/>
          </a:p>
        </p:txBody>
      </p:sp>
      <p:sp>
        <p:nvSpPr>
          <p:cNvPr id="22" name="Shape 20"/>
          <p:cNvSpPr/>
          <p:nvPr/>
        </p:nvSpPr>
        <p:spPr>
          <a:xfrm>
            <a:off x="868680" y="4745736"/>
            <a:ext cx="146304" cy="146304"/>
          </a:xfrm>
          <a:prstGeom prst="ellipse">
            <a:avLst/>
          </a:prstGeom>
          <a:solidFill>
            <a:srgbClr val="137C78"/>
          </a:solidFill>
          <a:ln w="10160">
            <a:solidFill>
              <a:srgbClr val="137C78"/>
            </a:solidFill>
            <a:prstDash val="solid"/>
          </a:ln>
        </p:spPr>
        <p:txBody>
          <a:bodyPr/>
          <a:lstStyle/>
          <a:p>
            <a:endParaRPr lang="en-JP"/>
          </a:p>
        </p:txBody>
      </p:sp>
      <p:sp>
        <p:nvSpPr>
          <p:cNvPr id="23" name="Text 21"/>
          <p:cNvSpPr/>
          <p:nvPr/>
        </p:nvSpPr>
        <p:spPr>
          <a:xfrm>
            <a:off x="1133856" y="4654296"/>
            <a:ext cx="9701784" cy="274320"/>
          </a:xfrm>
          <a:prstGeom prst="rect">
            <a:avLst/>
          </a:prstGeom>
          <a:noFill/>
          <a:ln/>
        </p:spPr>
        <p:txBody>
          <a:bodyPr wrap="square" lIns="0" tIns="0" rIns="0" bIns="0" rtlCol="0" anchor="ctr">
            <a:normAutofit/>
          </a:bodyPr>
          <a:lstStyle/>
          <a:p>
            <a:pPr marL="0" indent="0" algn="l">
              <a:lnSpc>
                <a:spcPct val="100000"/>
              </a:lnSpc>
              <a:buNone/>
            </a:pPr>
            <a:r>
              <a:rPr lang="en-US" sz="1600" dirty="0">
                <a:solidFill>
                  <a:srgbClr val="1D3957"/>
                </a:solidFill>
                <a:latin typeface="Aptos" pitchFamily="34" charset="0"/>
                <a:ea typeface="Aptos" pitchFamily="34" charset="-122"/>
                <a:cs typeface="Aptos" pitchFamily="34" charset="-120"/>
              </a:rPr>
              <a:t>Interpret results without inventing accuracy numbers</a:t>
            </a:r>
            <a:endParaRPr lang="en-US" sz="1600" dirty="0"/>
          </a:p>
        </p:txBody>
      </p:sp>
      <p:sp>
        <p:nvSpPr>
          <p:cNvPr id="24" name="Text 22"/>
          <p:cNvSpPr/>
          <p:nvPr/>
        </p:nvSpPr>
        <p:spPr>
          <a:xfrm>
            <a:off x="1133856" y="4965192"/>
            <a:ext cx="9674352" cy="265176"/>
          </a:xfrm>
          <a:prstGeom prst="rect">
            <a:avLst/>
          </a:prstGeom>
          <a:noFill/>
          <a:ln/>
        </p:spPr>
        <p:txBody>
          <a:bodyPr wrap="square" lIns="0" tIns="0" rIns="0" bIns="0" rtlCol="0" anchor="ctr">
            <a:normAutofit/>
          </a:bodyPr>
          <a:lstStyle/>
          <a:p>
            <a:pPr marL="0" indent="0" algn="l">
              <a:lnSpc>
                <a:spcPct val="100000"/>
              </a:lnSpc>
              <a:buNone/>
            </a:pPr>
            <a:r>
              <a:rPr lang="en-US" sz="1220" dirty="0">
                <a:solidFill>
                  <a:srgbClr val="607084"/>
                </a:solidFill>
                <a:latin typeface="Noto Sans CJK JP" pitchFamily="34" charset="0"/>
                <a:ea typeface="Noto Sans CJK JP" pitchFamily="34" charset="-122"/>
                <a:cs typeface="Noto Sans CJK JP" pitchFamily="34" charset="-120"/>
              </a:rPr>
              <a:t>学習曲線・誤分類・特徴マップから結果を考察する</a:t>
            </a:r>
            <a:endParaRPr lang="en-US" sz="1220" dirty="0"/>
          </a:p>
        </p:txBody>
      </p:sp>
      <p:sp>
        <p:nvSpPr>
          <p:cNvPr id="25" name="Shape 23"/>
          <p:cNvSpPr/>
          <p:nvPr/>
        </p:nvSpPr>
        <p:spPr>
          <a:xfrm>
            <a:off x="612648" y="5916168"/>
            <a:ext cx="10972800" cy="484632"/>
          </a:xfrm>
          <a:prstGeom prst="roundRect">
            <a:avLst>
              <a:gd name="adj" fmla="val 15094"/>
            </a:avLst>
          </a:prstGeom>
          <a:solidFill>
            <a:srgbClr val="DDF5EF"/>
          </a:solidFill>
          <a:ln w="8890">
            <a:solidFill>
              <a:srgbClr val="DDF5EF"/>
            </a:solidFill>
            <a:prstDash val="solid"/>
          </a:ln>
        </p:spPr>
        <p:txBody>
          <a:bodyPr/>
          <a:lstStyle/>
          <a:p>
            <a:endParaRPr lang="en-JP"/>
          </a:p>
        </p:txBody>
      </p:sp>
      <p:sp>
        <p:nvSpPr>
          <p:cNvPr id="26" name="Text 24"/>
          <p:cNvSpPr/>
          <p:nvPr/>
        </p:nvSpPr>
        <p:spPr>
          <a:xfrm>
            <a:off x="768096" y="5952744"/>
            <a:ext cx="5029200" cy="182880"/>
          </a:xfrm>
          <a:prstGeom prst="rect">
            <a:avLst/>
          </a:prstGeom>
          <a:noFill/>
          <a:ln/>
        </p:spPr>
        <p:txBody>
          <a:bodyPr wrap="square" lIns="0" tIns="0" rIns="0" bIns="0" rtlCol="0" anchor="ctr">
            <a:normAutofit lnSpcReduction="10000"/>
          </a:bodyPr>
          <a:lstStyle/>
          <a:p>
            <a:pPr marL="0" indent="0" algn="l">
              <a:lnSpc>
                <a:spcPct val="100000"/>
              </a:lnSpc>
              <a:buNone/>
            </a:pPr>
            <a:r>
              <a:rPr lang="en-US" sz="1210" b="1" dirty="0">
                <a:solidFill>
                  <a:srgbClr val="1D3957"/>
                </a:solidFill>
                <a:latin typeface="Aptos" pitchFamily="34" charset="0"/>
                <a:ea typeface="Aptos" pitchFamily="34" charset="-122"/>
                <a:cs typeface="Aptos" pitchFamily="34" charset="-120"/>
              </a:rPr>
              <a:t>Recommended lesson: 45–75 minutes after the basic CNN notebook</a:t>
            </a:r>
            <a:endParaRPr lang="en-US" sz="1210" dirty="0"/>
          </a:p>
        </p:txBody>
      </p:sp>
      <p:sp>
        <p:nvSpPr>
          <p:cNvPr id="27" name="Text 25"/>
          <p:cNvSpPr/>
          <p:nvPr/>
        </p:nvSpPr>
        <p:spPr>
          <a:xfrm>
            <a:off x="5760720" y="5943600"/>
            <a:ext cx="5669280" cy="219456"/>
          </a:xfrm>
          <a:prstGeom prst="rect">
            <a:avLst/>
          </a:prstGeom>
          <a:noFill/>
          <a:ln/>
        </p:spPr>
        <p:txBody>
          <a:bodyPr wrap="square" lIns="0" tIns="0" rIns="0" bIns="0" rtlCol="0" anchor="ctr">
            <a:normAutofit/>
          </a:bodyPr>
          <a:lstStyle/>
          <a:p>
            <a:pPr marL="0" indent="0" algn="l">
              <a:lnSpc>
                <a:spcPct val="100000"/>
              </a:lnSpc>
              <a:buNone/>
            </a:pPr>
            <a:r>
              <a:rPr lang="en-US" sz="1210" dirty="0">
                <a:solidFill>
                  <a:srgbClr val="1D3957"/>
                </a:solidFill>
                <a:latin typeface="Noto Sans CJK JP" pitchFamily="34" charset="0"/>
                <a:ea typeface="Noto Sans CJK JP" pitchFamily="34" charset="-122"/>
                <a:cs typeface="Noto Sans CJK JP" pitchFamily="34" charset="-120"/>
              </a:rPr>
              <a:t>自作CNNの授業後、45〜75分程度を目安にします。</a:t>
            </a:r>
            <a:endParaRPr lang="en-US" sz="121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Recall: our CNN trained from scratch</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復習：ゼロから学習する自作CNN</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03</a:t>
            </a:r>
            <a:endParaRPr lang="en-US" sz="870" dirty="0"/>
          </a:p>
        </p:txBody>
      </p:sp>
      <p:pic>
        <p:nvPicPr>
          <p:cNvPr id="10" name="Image 0" descr="/mnt/data/flowers_slides_assets/sunflowers.jpg"/>
          <p:cNvPicPr>
            <a:picLocks noChangeAspect="1"/>
          </p:cNvPicPr>
          <p:nvPr/>
        </p:nvPicPr>
        <p:blipFill>
          <a:blip r:embed="rId3"/>
          <a:stretch>
            <a:fillRect/>
          </a:stretch>
        </p:blipFill>
        <p:spPr>
          <a:xfrm>
            <a:off x="658368" y="1508760"/>
            <a:ext cx="2148840" cy="2112264"/>
          </a:xfrm>
          <a:prstGeom prst="rect">
            <a:avLst/>
          </a:prstGeom>
        </p:spPr>
      </p:pic>
      <p:sp>
        <p:nvSpPr>
          <p:cNvPr id="11" name="Shape 8"/>
          <p:cNvSpPr/>
          <p:nvPr/>
        </p:nvSpPr>
        <p:spPr>
          <a:xfrm>
            <a:off x="658368" y="1508760"/>
            <a:ext cx="2148840" cy="2112264"/>
          </a:xfrm>
          <a:prstGeom prst="rect">
            <a:avLst/>
          </a:prstGeom>
          <a:solidFill>
            <a:srgbClr val="FFFFFF">
              <a:alpha val="0"/>
            </a:srgbClr>
          </a:solidFill>
          <a:ln w="10160">
            <a:solidFill>
              <a:srgbClr val="FFFFFF"/>
            </a:solidFill>
            <a:prstDash val="solid"/>
          </a:ln>
        </p:spPr>
        <p:txBody>
          <a:bodyPr/>
          <a:lstStyle/>
          <a:p>
            <a:endParaRPr lang="en-JP"/>
          </a:p>
        </p:txBody>
      </p:sp>
      <p:sp>
        <p:nvSpPr>
          <p:cNvPr id="12" name="Shape 9"/>
          <p:cNvSpPr/>
          <p:nvPr/>
        </p:nvSpPr>
        <p:spPr>
          <a:xfrm>
            <a:off x="3200400" y="1371600"/>
            <a:ext cx="4892040" cy="640080"/>
          </a:xfrm>
          <a:prstGeom prst="roundRect">
            <a:avLst>
              <a:gd name="adj" fmla="val 14286"/>
            </a:avLst>
          </a:prstGeom>
          <a:solidFill>
            <a:srgbClr val="E9F3FC"/>
          </a:solidFill>
          <a:ln w="8890">
            <a:solidFill>
              <a:srgbClr val="E9F3FC"/>
            </a:solidFill>
            <a:prstDash val="solid"/>
          </a:ln>
        </p:spPr>
        <p:txBody>
          <a:bodyPr/>
          <a:lstStyle/>
          <a:p>
            <a:endParaRPr lang="en-JP"/>
          </a:p>
        </p:txBody>
      </p:sp>
      <p:sp>
        <p:nvSpPr>
          <p:cNvPr id="13" name="Text 10"/>
          <p:cNvSpPr/>
          <p:nvPr/>
        </p:nvSpPr>
        <p:spPr>
          <a:xfrm>
            <a:off x="3291840" y="1440180"/>
            <a:ext cx="4709160" cy="237744"/>
          </a:xfrm>
          <a:prstGeom prst="rect">
            <a:avLst/>
          </a:prstGeom>
          <a:noFill/>
          <a:ln/>
        </p:spPr>
        <p:txBody>
          <a:bodyPr wrap="square" lIns="0" tIns="0" rIns="0" bIns="0" rtlCol="0" anchor="ctr">
            <a:normAutofit/>
          </a:bodyPr>
          <a:lstStyle/>
          <a:p>
            <a:pPr marL="0" indent="0" algn="ctr">
              <a:lnSpc>
                <a:spcPct val="100000"/>
              </a:lnSpc>
              <a:buNone/>
            </a:pPr>
            <a:r>
              <a:rPr lang="en-US" sz="1300" b="1" dirty="0">
                <a:solidFill>
                  <a:srgbClr val="1D3957"/>
                </a:solidFill>
                <a:latin typeface="Aptos" pitchFamily="34" charset="0"/>
                <a:ea typeface="Aptos" pitchFamily="34" charset="-122"/>
                <a:cs typeface="Aptos" pitchFamily="34" charset="-120"/>
              </a:rPr>
              <a:t>RGB input</a:t>
            </a:r>
            <a:endParaRPr lang="en-US" sz="1300" dirty="0"/>
          </a:p>
        </p:txBody>
      </p:sp>
      <p:sp>
        <p:nvSpPr>
          <p:cNvPr id="14" name="Text 11"/>
          <p:cNvSpPr/>
          <p:nvPr/>
        </p:nvSpPr>
        <p:spPr>
          <a:xfrm>
            <a:off x="3291840" y="1709928"/>
            <a:ext cx="4709160" cy="173736"/>
          </a:xfrm>
          <a:prstGeom prst="rect">
            <a:avLst/>
          </a:prstGeom>
          <a:noFill/>
          <a:ln/>
        </p:spPr>
        <p:txBody>
          <a:bodyPr wrap="square" lIns="0" tIns="0" rIns="0" bIns="0" rtlCol="0" anchor="ctr">
            <a:normAutofit/>
          </a:bodyPr>
          <a:lstStyle/>
          <a:p>
            <a:pPr marL="0" indent="0" algn="ctr">
              <a:lnSpc>
                <a:spcPct val="100000"/>
              </a:lnSpc>
              <a:buNone/>
            </a:pPr>
            <a:r>
              <a:rPr lang="en-US" sz="1000" dirty="0">
                <a:solidFill>
                  <a:srgbClr val="607084"/>
                </a:solidFill>
                <a:latin typeface="Noto Sans CJK JP" pitchFamily="34" charset="0"/>
                <a:ea typeface="Noto Sans CJK JP" pitchFamily="34" charset="-122"/>
                <a:cs typeface="Noto Sans CJK JP" pitchFamily="34" charset="-120"/>
              </a:rPr>
              <a:t>3 × 96 × 96</a:t>
            </a:r>
            <a:endParaRPr lang="en-US" sz="1000" dirty="0"/>
          </a:p>
        </p:txBody>
      </p:sp>
      <p:sp>
        <p:nvSpPr>
          <p:cNvPr id="15" name="Shape 12"/>
          <p:cNvSpPr/>
          <p:nvPr/>
        </p:nvSpPr>
        <p:spPr>
          <a:xfrm>
            <a:off x="5646420" y="2020824"/>
            <a:ext cx="0" cy="54864"/>
          </a:xfrm>
          <a:prstGeom prst="line">
            <a:avLst/>
          </a:prstGeom>
          <a:noFill/>
          <a:ln w="16510">
            <a:solidFill>
              <a:srgbClr val="607084"/>
            </a:solidFill>
            <a:prstDash val="solid"/>
            <a:headEnd type="none"/>
            <a:tailEnd type="triangle"/>
          </a:ln>
        </p:spPr>
        <p:txBody>
          <a:bodyPr/>
          <a:lstStyle/>
          <a:p>
            <a:endParaRPr lang="en-JP"/>
          </a:p>
        </p:txBody>
      </p:sp>
      <p:sp>
        <p:nvSpPr>
          <p:cNvPr id="16" name="Shape 13"/>
          <p:cNvSpPr/>
          <p:nvPr/>
        </p:nvSpPr>
        <p:spPr>
          <a:xfrm>
            <a:off x="3200400" y="2112264"/>
            <a:ext cx="4892040" cy="640080"/>
          </a:xfrm>
          <a:prstGeom prst="roundRect">
            <a:avLst>
              <a:gd name="adj" fmla="val 14286"/>
            </a:avLst>
          </a:prstGeom>
          <a:solidFill>
            <a:srgbClr val="F5F8FC"/>
          </a:solidFill>
          <a:ln w="8890">
            <a:solidFill>
              <a:srgbClr val="F5F8FC"/>
            </a:solidFill>
            <a:prstDash val="solid"/>
          </a:ln>
        </p:spPr>
        <p:txBody>
          <a:bodyPr/>
          <a:lstStyle/>
          <a:p>
            <a:endParaRPr lang="en-JP"/>
          </a:p>
        </p:txBody>
      </p:sp>
      <p:sp>
        <p:nvSpPr>
          <p:cNvPr id="17" name="Text 14"/>
          <p:cNvSpPr/>
          <p:nvPr/>
        </p:nvSpPr>
        <p:spPr>
          <a:xfrm>
            <a:off x="3291840" y="2180844"/>
            <a:ext cx="4709160" cy="237744"/>
          </a:xfrm>
          <a:prstGeom prst="rect">
            <a:avLst/>
          </a:prstGeom>
          <a:noFill/>
          <a:ln/>
        </p:spPr>
        <p:txBody>
          <a:bodyPr wrap="square" lIns="0" tIns="0" rIns="0" bIns="0" rtlCol="0" anchor="ctr">
            <a:normAutofit/>
          </a:bodyPr>
          <a:lstStyle/>
          <a:p>
            <a:pPr marL="0" indent="0" algn="ctr">
              <a:lnSpc>
                <a:spcPct val="100000"/>
              </a:lnSpc>
              <a:buNone/>
            </a:pPr>
            <a:r>
              <a:rPr lang="en-US" sz="1300" b="1" dirty="0">
                <a:solidFill>
                  <a:srgbClr val="1D3957"/>
                </a:solidFill>
                <a:latin typeface="Aptos" pitchFamily="34" charset="0"/>
                <a:ea typeface="Aptos" pitchFamily="34" charset="-122"/>
                <a:cs typeface="Aptos" pitchFamily="34" charset="-120"/>
              </a:rPr>
              <a:t>Conv 3→16 + ReLU + Pool</a:t>
            </a:r>
            <a:endParaRPr lang="en-US" sz="1300" dirty="0"/>
          </a:p>
        </p:txBody>
      </p:sp>
      <p:sp>
        <p:nvSpPr>
          <p:cNvPr id="18" name="Text 15"/>
          <p:cNvSpPr/>
          <p:nvPr/>
        </p:nvSpPr>
        <p:spPr>
          <a:xfrm>
            <a:off x="3291840" y="2450592"/>
            <a:ext cx="4709160" cy="173736"/>
          </a:xfrm>
          <a:prstGeom prst="rect">
            <a:avLst/>
          </a:prstGeom>
          <a:noFill/>
          <a:ln/>
        </p:spPr>
        <p:txBody>
          <a:bodyPr wrap="square" lIns="0" tIns="0" rIns="0" bIns="0" rtlCol="0" anchor="ctr">
            <a:normAutofit/>
          </a:bodyPr>
          <a:lstStyle/>
          <a:p>
            <a:pPr marL="0" indent="0" algn="ctr">
              <a:lnSpc>
                <a:spcPct val="100000"/>
              </a:lnSpc>
              <a:buNone/>
            </a:pPr>
            <a:r>
              <a:rPr lang="en-US" sz="1000" dirty="0">
                <a:solidFill>
                  <a:srgbClr val="607084"/>
                </a:solidFill>
                <a:latin typeface="Noto Sans CJK JP" pitchFamily="34" charset="0"/>
                <a:ea typeface="Noto Sans CJK JP" pitchFamily="34" charset="-122"/>
                <a:cs typeface="Noto Sans CJK JP" pitchFamily="34" charset="-120"/>
              </a:rPr>
              <a:t>16 × 48 × 48</a:t>
            </a:r>
            <a:endParaRPr lang="en-US" sz="1000" dirty="0"/>
          </a:p>
        </p:txBody>
      </p:sp>
      <p:sp>
        <p:nvSpPr>
          <p:cNvPr id="19" name="Shape 16"/>
          <p:cNvSpPr/>
          <p:nvPr/>
        </p:nvSpPr>
        <p:spPr>
          <a:xfrm>
            <a:off x="5646420" y="2761488"/>
            <a:ext cx="0" cy="54864"/>
          </a:xfrm>
          <a:prstGeom prst="line">
            <a:avLst/>
          </a:prstGeom>
          <a:noFill/>
          <a:ln w="16510">
            <a:solidFill>
              <a:srgbClr val="607084"/>
            </a:solidFill>
            <a:prstDash val="solid"/>
            <a:headEnd type="none"/>
            <a:tailEnd type="triangle"/>
          </a:ln>
        </p:spPr>
        <p:txBody>
          <a:bodyPr/>
          <a:lstStyle/>
          <a:p>
            <a:endParaRPr lang="en-JP"/>
          </a:p>
        </p:txBody>
      </p:sp>
      <p:sp>
        <p:nvSpPr>
          <p:cNvPr id="20" name="Shape 17"/>
          <p:cNvSpPr/>
          <p:nvPr/>
        </p:nvSpPr>
        <p:spPr>
          <a:xfrm>
            <a:off x="3200400" y="2852928"/>
            <a:ext cx="4892040" cy="640080"/>
          </a:xfrm>
          <a:prstGeom prst="roundRect">
            <a:avLst>
              <a:gd name="adj" fmla="val 14286"/>
            </a:avLst>
          </a:prstGeom>
          <a:solidFill>
            <a:srgbClr val="E9F3FC"/>
          </a:solidFill>
          <a:ln w="8890">
            <a:solidFill>
              <a:srgbClr val="E9F3FC"/>
            </a:solidFill>
            <a:prstDash val="solid"/>
          </a:ln>
        </p:spPr>
        <p:txBody>
          <a:bodyPr/>
          <a:lstStyle/>
          <a:p>
            <a:endParaRPr lang="en-JP"/>
          </a:p>
        </p:txBody>
      </p:sp>
      <p:sp>
        <p:nvSpPr>
          <p:cNvPr id="21" name="Text 18"/>
          <p:cNvSpPr/>
          <p:nvPr/>
        </p:nvSpPr>
        <p:spPr>
          <a:xfrm>
            <a:off x="3291840" y="2921508"/>
            <a:ext cx="4709160" cy="237744"/>
          </a:xfrm>
          <a:prstGeom prst="rect">
            <a:avLst/>
          </a:prstGeom>
          <a:noFill/>
          <a:ln/>
        </p:spPr>
        <p:txBody>
          <a:bodyPr wrap="square" lIns="0" tIns="0" rIns="0" bIns="0" rtlCol="0" anchor="ctr">
            <a:normAutofit/>
          </a:bodyPr>
          <a:lstStyle/>
          <a:p>
            <a:pPr marL="0" indent="0" algn="ctr">
              <a:lnSpc>
                <a:spcPct val="100000"/>
              </a:lnSpc>
              <a:buNone/>
            </a:pPr>
            <a:r>
              <a:rPr lang="en-US" sz="1300" b="1" dirty="0">
                <a:solidFill>
                  <a:srgbClr val="1D3957"/>
                </a:solidFill>
                <a:latin typeface="Aptos" pitchFamily="34" charset="0"/>
                <a:ea typeface="Aptos" pitchFamily="34" charset="-122"/>
                <a:cs typeface="Aptos" pitchFamily="34" charset="-120"/>
              </a:rPr>
              <a:t>Conv 16→32 + ReLU + Pool</a:t>
            </a:r>
            <a:endParaRPr lang="en-US" sz="1300" dirty="0"/>
          </a:p>
        </p:txBody>
      </p:sp>
      <p:sp>
        <p:nvSpPr>
          <p:cNvPr id="22" name="Text 19"/>
          <p:cNvSpPr/>
          <p:nvPr/>
        </p:nvSpPr>
        <p:spPr>
          <a:xfrm>
            <a:off x="3291840" y="3191256"/>
            <a:ext cx="4709160" cy="173736"/>
          </a:xfrm>
          <a:prstGeom prst="rect">
            <a:avLst/>
          </a:prstGeom>
          <a:noFill/>
          <a:ln/>
        </p:spPr>
        <p:txBody>
          <a:bodyPr wrap="square" lIns="0" tIns="0" rIns="0" bIns="0" rtlCol="0" anchor="ctr">
            <a:normAutofit/>
          </a:bodyPr>
          <a:lstStyle/>
          <a:p>
            <a:pPr marL="0" indent="0" algn="ctr">
              <a:lnSpc>
                <a:spcPct val="100000"/>
              </a:lnSpc>
              <a:buNone/>
            </a:pPr>
            <a:r>
              <a:rPr lang="en-US" sz="1000" dirty="0">
                <a:solidFill>
                  <a:srgbClr val="607084"/>
                </a:solidFill>
                <a:latin typeface="Noto Sans CJK JP" pitchFamily="34" charset="0"/>
                <a:ea typeface="Noto Sans CJK JP" pitchFamily="34" charset="-122"/>
                <a:cs typeface="Noto Sans CJK JP" pitchFamily="34" charset="-120"/>
              </a:rPr>
              <a:t>32 × 24 × 24</a:t>
            </a:r>
            <a:endParaRPr lang="en-US" sz="1000" dirty="0"/>
          </a:p>
        </p:txBody>
      </p:sp>
      <p:sp>
        <p:nvSpPr>
          <p:cNvPr id="23" name="Shape 20"/>
          <p:cNvSpPr/>
          <p:nvPr/>
        </p:nvSpPr>
        <p:spPr>
          <a:xfrm>
            <a:off x="5646420" y="3502152"/>
            <a:ext cx="0" cy="54864"/>
          </a:xfrm>
          <a:prstGeom prst="line">
            <a:avLst/>
          </a:prstGeom>
          <a:noFill/>
          <a:ln w="16510">
            <a:solidFill>
              <a:srgbClr val="607084"/>
            </a:solidFill>
            <a:prstDash val="solid"/>
            <a:headEnd type="none"/>
            <a:tailEnd type="triangle"/>
          </a:ln>
        </p:spPr>
        <p:txBody>
          <a:bodyPr/>
          <a:lstStyle/>
          <a:p>
            <a:endParaRPr lang="en-JP"/>
          </a:p>
        </p:txBody>
      </p:sp>
      <p:sp>
        <p:nvSpPr>
          <p:cNvPr id="24" name="Shape 21"/>
          <p:cNvSpPr/>
          <p:nvPr/>
        </p:nvSpPr>
        <p:spPr>
          <a:xfrm>
            <a:off x="3200400" y="3593592"/>
            <a:ext cx="4892040" cy="640080"/>
          </a:xfrm>
          <a:prstGeom prst="roundRect">
            <a:avLst>
              <a:gd name="adj" fmla="val 14286"/>
            </a:avLst>
          </a:prstGeom>
          <a:solidFill>
            <a:srgbClr val="F5F8FC"/>
          </a:solidFill>
          <a:ln w="8890">
            <a:solidFill>
              <a:srgbClr val="F5F8FC"/>
            </a:solidFill>
            <a:prstDash val="solid"/>
          </a:ln>
        </p:spPr>
        <p:txBody>
          <a:bodyPr/>
          <a:lstStyle/>
          <a:p>
            <a:endParaRPr lang="en-JP"/>
          </a:p>
        </p:txBody>
      </p:sp>
      <p:sp>
        <p:nvSpPr>
          <p:cNvPr id="25" name="Text 22"/>
          <p:cNvSpPr/>
          <p:nvPr/>
        </p:nvSpPr>
        <p:spPr>
          <a:xfrm>
            <a:off x="3291840" y="3662172"/>
            <a:ext cx="4709160" cy="237744"/>
          </a:xfrm>
          <a:prstGeom prst="rect">
            <a:avLst/>
          </a:prstGeom>
          <a:noFill/>
          <a:ln/>
        </p:spPr>
        <p:txBody>
          <a:bodyPr wrap="square" lIns="0" tIns="0" rIns="0" bIns="0" rtlCol="0" anchor="ctr">
            <a:normAutofit/>
          </a:bodyPr>
          <a:lstStyle/>
          <a:p>
            <a:pPr marL="0" indent="0" algn="ctr">
              <a:lnSpc>
                <a:spcPct val="100000"/>
              </a:lnSpc>
              <a:buNone/>
            </a:pPr>
            <a:r>
              <a:rPr lang="en-US" sz="1300" b="1" dirty="0">
                <a:solidFill>
                  <a:srgbClr val="1D3957"/>
                </a:solidFill>
                <a:latin typeface="Aptos" pitchFamily="34" charset="0"/>
                <a:ea typeface="Aptos" pitchFamily="34" charset="-122"/>
                <a:cs typeface="Aptos" pitchFamily="34" charset="-120"/>
              </a:rPr>
              <a:t>Conv 32→64 + ReLU + Pool</a:t>
            </a:r>
            <a:endParaRPr lang="en-US" sz="1300" dirty="0"/>
          </a:p>
        </p:txBody>
      </p:sp>
      <p:sp>
        <p:nvSpPr>
          <p:cNvPr id="26" name="Text 23"/>
          <p:cNvSpPr/>
          <p:nvPr/>
        </p:nvSpPr>
        <p:spPr>
          <a:xfrm>
            <a:off x="3291840" y="3931920"/>
            <a:ext cx="4709160" cy="173736"/>
          </a:xfrm>
          <a:prstGeom prst="rect">
            <a:avLst/>
          </a:prstGeom>
          <a:noFill/>
          <a:ln/>
        </p:spPr>
        <p:txBody>
          <a:bodyPr wrap="square" lIns="0" tIns="0" rIns="0" bIns="0" rtlCol="0" anchor="ctr">
            <a:normAutofit/>
          </a:bodyPr>
          <a:lstStyle/>
          <a:p>
            <a:pPr marL="0" indent="0" algn="ctr">
              <a:lnSpc>
                <a:spcPct val="100000"/>
              </a:lnSpc>
              <a:buNone/>
            </a:pPr>
            <a:r>
              <a:rPr lang="en-US" sz="1000" dirty="0">
                <a:solidFill>
                  <a:srgbClr val="607084"/>
                </a:solidFill>
                <a:latin typeface="Noto Sans CJK JP" pitchFamily="34" charset="0"/>
                <a:ea typeface="Noto Sans CJK JP" pitchFamily="34" charset="-122"/>
                <a:cs typeface="Noto Sans CJK JP" pitchFamily="34" charset="-120"/>
              </a:rPr>
              <a:t>64 × 12 × 12</a:t>
            </a:r>
            <a:endParaRPr lang="en-US" sz="1000" dirty="0"/>
          </a:p>
        </p:txBody>
      </p:sp>
      <p:sp>
        <p:nvSpPr>
          <p:cNvPr id="27" name="Shape 24"/>
          <p:cNvSpPr/>
          <p:nvPr/>
        </p:nvSpPr>
        <p:spPr>
          <a:xfrm>
            <a:off x="5646420" y="4242816"/>
            <a:ext cx="0" cy="54864"/>
          </a:xfrm>
          <a:prstGeom prst="line">
            <a:avLst/>
          </a:prstGeom>
          <a:noFill/>
          <a:ln w="16510">
            <a:solidFill>
              <a:srgbClr val="607084"/>
            </a:solidFill>
            <a:prstDash val="solid"/>
            <a:headEnd type="none"/>
            <a:tailEnd type="triangle"/>
          </a:ln>
        </p:spPr>
        <p:txBody>
          <a:bodyPr/>
          <a:lstStyle/>
          <a:p>
            <a:endParaRPr lang="en-JP"/>
          </a:p>
        </p:txBody>
      </p:sp>
      <p:sp>
        <p:nvSpPr>
          <p:cNvPr id="28" name="Shape 25"/>
          <p:cNvSpPr/>
          <p:nvPr/>
        </p:nvSpPr>
        <p:spPr>
          <a:xfrm>
            <a:off x="3200400" y="4334256"/>
            <a:ext cx="4892040" cy="640080"/>
          </a:xfrm>
          <a:prstGeom prst="roundRect">
            <a:avLst>
              <a:gd name="adj" fmla="val 14286"/>
            </a:avLst>
          </a:prstGeom>
          <a:solidFill>
            <a:srgbClr val="E9F3FC"/>
          </a:solidFill>
          <a:ln w="8890">
            <a:solidFill>
              <a:srgbClr val="E9F3FC"/>
            </a:solidFill>
            <a:prstDash val="solid"/>
          </a:ln>
        </p:spPr>
        <p:txBody>
          <a:bodyPr/>
          <a:lstStyle/>
          <a:p>
            <a:endParaRPr lang="en-JP"/>
          </a:p>
        </p:txBody>
      </p:sp>
      <p:sp>
        <p:nvSpPr>
          <p:cNvPr id="29" name="Text 26"/>
          <p:cNvSpPr/>
          <p:nvPr/>
        </p:nvSpPr>
        <p:spPr>
          <a:xfrm>
            <a:off x="3291840" y="4402836"/>
            <a:ext cx="4709160" cy="237744"/>
          </a:xfrm>
          <a:prstGeom prst="rect">
            <a:avLst/>
          </a:prstGeom>
          <a:noFill/>
          <a:ln/>
        </p:spPr>
        <p:txBody>
          <a:bodyPr wrap="square" lIns="0" tIns="0" rIns="0" bIns="0" rtlCol="0" anchor="ctr">
            <a:normAutofit/>
          </a:bodyPr>
          <a:lstStyle/>
          <a:p>
            <a:pPr marL="0" indent="0" algn="ctr">
              <a:lnSpc>
                <a:spcPct val="100000"/>
              </a:lnSpc>
              <a:buNone/>
            </a:pPr>
            <a:r>
              <a:rPr lang="en-US" sz="1300" b="1" dirty="0">
                <a:solidFill>
                  <a:srgbClr val="1D3957"/>
                </a:solidFill>
                <a:latin typeface="Aptos" pitchFamily="34" charset="0"/>
                <a:ea typeface="Aptos" pitchFamily="34" charset="-122"/>
                <a:cs typeface="Aptos" pitchFamily="34" charset="-120"/>
              </a:rPr>
              <a:t>Adaptive AvgPool + Flatten</a:t>
            </a:r>
            <a:endParaRPr lang="en-US" sz="1300" dirty="0"/>
          </a:p>
        </p:txBody>
      </p:sp>
      <p:sp>
        <p:nvSpPr>
          <p:cNvPr id="30" name="Text 27"/>
          <p:cNvSpPr/>
          <p:nvPr/>
        </p:nvSpPr>
        <p:spPr>
          <a:xfrm>
            <a:off x="3291840" y="4672584"/>
            <a:ext cx="4709160" cy="173736"/>
          </a:xfrm>
          <a:prstGeom prst="rect">
            <a:avLst/>
          </a:prstGeom>
          <a:noFill/>
          <a:ln/>
        </p:spPr>
        <p:txBody>
          <a:bodyPr wrap="square" lIns="0" tIns="0" rIns="0" bIns="0" rtlCol="0" anchor="ctr">
            <a:normAutofit/>
          </a:bodyPr>
          <a:lstStyle/>
          <a:p>
            <a:pPr marL="0" indent="0" algn="ctr">
              <a:lnSpc>
                <a:spcPct val="100000"/>
              </a:lnSpc>
              <a:buNone/>
            </a:pPr>
            <a:r>
              <a:rPr lang="en-US" sz="1000" dirty="0">
                <a:solidFill>
                  <a:srgbClr val="607084"/>
                </a:solidFill>
                <a:latin typeface="Noto Sans CJK JP" pitchFamily="34" charset="0"/>
                <a:ea typeface="Noto Sans CJK JP" pitchFamily="34" charset="-122"/>
                <a:cs typeface="Noto Sans CJK JP" pitchFamily="34" charset="-120"/>
              </a:rPr>
              <a:t>64 values</a:t>
            </a:r>
            <a:endParaRPr lang="en-US" sz="1000" dirty="0"/>
          </a:p>
        </p:txBody>
      </p:sp>
      <p:sp>
        <p:nvSpPr>
          <p:cNvPr id="31" name="Shape 28"/>
          <p:cNvSpPr/>
          <p:nvPr/>
        </p:nvSpPr>
        <p:spPr>
          <a:xfrm>
            <a:off x="5646420" y="4983480"/>
            <a:ext cx="0" cy="54864"/>
          </a:xfrm>
          <a:prstGeom prst="line">
            <a:avLst/>
          </a:prstGeom>
          <a:noFill/>
          <a:ln w="16510">
            <a:solidFill>
              <a:srgbClr val="607084"/>
            </a:solidFill>
            <a:prstDash val="solid"/>
            <a:headEnd type="none"/>
            <a:tailEnd type="triangle"/>
          </a:ln>
        </p:spPr>
        <p:txBody>
          <a:bodyPr/>
          <a:lstStyle/>
          <a:p>
            <a:endParaRPr lang="en-JP"/>
          </a:p>
        </p:txBody>
      </p:sp>
      <p:sp>
        <p:nvSpPr>
          <p:cNvPr id="32" name="Shape 29"/>
          <p:cNvSpPr/>
          <p:nvPr/>
        </p:nvSpPr>
        <p:spPr>
          <a:xfrm>
            <a:off x="3200400" y="5074920"/>
            <a:ext cx="4892040" cy="640080"/>
          </a:xfrm>
          <a:prstGeom prst="roundRect">
            <a:avLst>
              <a:gd name="adj" fmla="val 14286"/>
            </a:avLst>
          </a:prstGeom>
          <a:solidFill>
            <a:srgbClr val="F5F8FC"/>
          </a:solidFill>
          <a:ln w="8890">
            <a:solidFill>
              <a:srgbClr val="F5F8FC"/>
            </a:solidFill>
            <a:prstDash val="solid"/>
          </a:ln>
        </p:spPr>
        <p:txBody>
          <a:bodyPr/>
          <a:lstStyle/>
          <a:p>
            <a:endParaRPr lang="en-JP"/>
          </a:p>
        </p:txBody>
      </p:sp>
      <p:sp>
        <p:nvSpPr>
          <p:cNvPr id="33" name="Text 30"/>
          <p:cNvSpPr/>
          <p:nvPr/>
        </p:nvSpPr>
        <p:spPr>
          <a:xfrm>
            <a:off x="3291840" y="5143500"/>
            <a:ext cx="4709160" cy="237744"/>
          </a:xfrm>
          <a:prstGeom prst="rect">
            <a:avLst/>
          </a:prstGeom>
          <a:noFill/>
          <a:ln/>
        </p:spPr>
        <p:txBody>
          <a:bodyPr wrap="square" lIns="0" tIns="0" rIns="0" bIns="0" rtlCol="0" anchor="ctr">
            <a:normAutofit/>
          </a:bodyPr>
          <a:lstStyle/>
          <a:p>
            <a:pPr marL="0" indent="0" algn="ctr">
              <a:lnSpc>
                <a:spcPct val="100000"/>
              </a:lnSpc>
              <a:buNone/>
            </a:pPr>
            <a:r>
              <a:rPr lang="en-US" sz="1300" b="1" dirty="0">
                <a:solidFill>
                  <a:srgbClr val="1D3957"/>
                </a:solidFill>
                <a:latin typeface="Aptos" pitchFamily="34" charset="0"/>
                <a:ea typeface="Aptos" pitchFamily="34" charset="-122"/>
                <a:cs typeface="Aptos" pitchFamily="34" charset="-120"/>
              </a:rPr>
              <a:t>Linear(64, 5)</a:t>
            </a:r>
            <a:endParaRPr lang="en-US" sz="1300" dirty="0"/>
          </a:p>
        </p:txBody>
      </p:sp>
      <p:sp>
        <p:nvSpPr>
          <p:cNvPr id="34" name="Text 31"/>
          <p:cNvSpPr/>
          <p:nvPr/>
        </p:nvSpPr>
        <p:spPr>
          <a:xfrm>
            <a:off x="3291840" y="5413248"/>
            <a:ext cx="4709160" cy="173736"/>
          </a:xfrm>
          <a:prstGeom prst="rect">
            <a:avLst/>
          </a:prstGeom>
          <a:noFill/>
          <a:ln/>
        </p:spPr>
        <p:txBody>
          <a:bodyPr wrap="square" lIns="0" tIns="0" rIns="0" bIns="0" rtlCol="0" anchor="ctr">
            <a:normAutofit/>
          </a:bodyPr>
          <a:lstStyle/>
          <a:p>
            <a:pPr marL="0" indent="0" algn="ctr">
              <a:lnSpc>
                <a:spcPct val="100000"/>
              </a:lnSpc>
              <a:buNone/>
            </a:pPr>
            <a:r>
              <a:rPr lang="en-US" sz="1000" dirty="0">
                <a:solidFill>
                  <a:srgbClr val="607084"/>
                </a:solidFill>
                <a:latin typeface="Noto Sans CJK JP" pitchFamily="34" charset="0"/>
                <a:ea typeface="Noto Sans CJK JP" pitchFamily="34" charset="-122"/>
                <a:cs typeface="Noto Sans CJK JP" pitchFamily="34" charset="-120"/>
              </a:rPr>
              <a:t>5 logits</a:t>
            </a:r>
            <a:endParaRPr lang="en-US" sz="1000" dirty="0"/>
          </a:p>
        </p:txBody>
      </p:sp>
      <p:sp>
        <p:nvSpPr>
          <p:cNvPr id="35" name="Shape 32"/>
          <p:cNvSpPr/>
          <p:nvPr/>
        </p:nvSpPr>
        <p:spPr>
          <a:xfrm>
            <a:off x="8549640" y="1609344"/>
            <a:ext cx="2926080" cy="1499616"/>
          </a:xfrm>
          <a:prstGeom prst="roundRect">
            <a:avLst>
              <a:gd name="adj" fmla="val 7317"/>
            </a:avLst>
          </a:prstGeom>
          <a:solidFill>
            <a:srgbClr val="FFF2DD"/>
          </a:solidFill>
          <a:ln w="8890">
            <a:solidFill>
              <a:srgbClr val="CBD8E5"/>
            </a:solidFill>
            <a:prstDash val="solid"/>
          </a:ln>
        </p:spPr>
        <p:txBody>
          <a:bodyPr/>
          <a:lstStyle/>
          <a:p>
            <a:endParaRPr lang="en-JP"/>
          </a:p>
        </p:txBody>
      </p:sp>
      <p:sp>
        <p:nvSpPr>
          <p:cNvPr id="36" name="Text 33"/>
          <p:cNvSpPr/>
          <p:nvPr/>
        </p:nvSpPr>
        <p:spPr>
          <a:xfrm>
            <a:off x="8714232" y="1728216"/>
            <a:ext cx="2596896" cy="292608"/>
          </a:xfrm>
          <a:prstGeom prst="rect">
            <a:avLst/>
          </a:prstGeom>
          <a:noFill/>
          <a:ln/>
        </p:spPr>
        <p:txBody>
          <a:bodyPr wrap="square" lIns="0" tIns="0" rIns="0" bIns="0" rtlCol="0" anchor="ctr">
            <a:normAutofit/>
          </a:bodyPr>
          <a:lstStyle/>
          <a:p>
            <a:pPr marL="0" indent="0" algn="l">
              <a:lnSpc>
                <a:spcPct val="100000"/>
              </a:lnSpc>
              <a:buNone/>
            </a:pPr>
            <a:r>
              <a:rPr lang="en-US" sz="1700" b="1" dirty="0">
                <a:solidFill>
                  <a:srgbClr val="1D3957"/>
                </a:solidFill>
                <a:latin typeface="Aptos" pitchFamily="34" charset="0"/>
                <a:ea typeface="Aptos" pitchFamily="34" charset="-122"/>
                <a:cs typeface="Aptos" pitchFamily="34" charset="-120"/>
              </a:rPr>
              <a:t>Random initial weights</a:t>
            </a:r>
            <a:endParaRPr lang="en-US" sz="1700" dirty="0"/>
          </a:p>
        </p:txBody>
      </p:sp>
      <p:sp>
        <p:nvSpPr>
          <p:cNvPr id="37" name="Text 34"/>
          <p:cNvSpPr/>
          <p:nvPr/>
        </p:nvSpPr>
        <p:spPr>
          <a:xfrm>
            <a:off x="8714232" y="2084832"/>
            <a:ext cx="2606040" cy="923544"/>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253547"/>
                </a:solidFill>
                <a:latin typeface="Noto Sans CJK JP" pitchFamily="34" charset="0"/>
                <a:ea typeface="Noto Sans CJK JP" pitchFamily="34" charset="-122"/>
                <a:cs typeface="Noto Sans CJK JP" pitchFamily="34" charset="-120"/>
              </a:rPr>
              <a:t>すべての畳み込み層と分類層を花画像から学習する</a:t>
            </a:r>
            <a:endParaRPr lang="en-US" sz="1300" dirty="0"/>
          </a:p>
        </p:txBody>
      </p:sp>
      <p:sp>
        <p:nvSpPr>
          <p:cNvPr id="38" name="Shape 35"/>
          <p:cNvSpPr/>
          <p:nvPr/>
        </p:nvSpPr>
        <p:spPr>
          <a:xfrm>
            <a:off x="8549640" y="3337560"/>
            <a:ext cx="2926080" cy="1499616"/>
          </a:xfrm>
          <a:prstGeom prst="roundRect">
            <a:avLst>
              <a:gd name="adj" fmla="val 7317"/>
            </a:avLst>
          </a:prstGeom>
          <a:solidFill>
            <a:srgbClr val="DDF5EF"/>
          </a:solidFill>
          <a:ln w="8890">
            <a:solidFill>
              <a:srgbClr val="CBD8E5"/>
            </a:solidFill>
            <a:prstDash val="solid"/>
          </a:ln>
        </p:spPr>
        <p:txBody>
          <a:bodyPr/>
          <a:lstStyle/>
          <a:p>
            <a:endParaRPr lang="en-JP"/>
          </a:p>
        </p:txBody>
      </p:sp>
      <p:sp>
        <p:nvSpPr>
          <p:cNvPr id="39" name="Text 36"/>
          <p:cNvSpPr/>
          <p:nvPr/>
        </p:nvSpPr>
        <p:spPr>
          <a:xfrm>
            <a:off x="8714232" y="3456432"/>
            <a:ext cx="2596896" cy="292608"/>
          </a:xfrm>
          <a:prstGeom prst="rect">
            <a:avLst/>
          </a:prstGeom>
          <a:noFill/>
          <a:ln/>
        </p:spPr>
        <p:txBody>
          <a:bodyPr wrap="square" lIns="0" tIns="0" rIns="0" bIns="0" rtlCol="0" anchor="ctr">
            <a:normAutofit/>
          </a:bodyPr>
          <a:lstStyle/>
          <a:p>
            <a:pPr marL="0" indent="0" algn="l">
              <a:lnSpc>
                <a:spcPct val="100000"/>
              </a:lnSpc>
              <a:buNone/>
            </a:pPr>
            <a:r>
              <a:rPr lang="en-US" sz="1700" b="1" dirty="0">
                <a:solidFill>
                  <a:srgbClr val="1D3957"/>
                </a:solidFill>
                <a:latin typeface="Aptos" pitchFamily="34" charset="0"/>
                <a:ea typeface="Aptos" pitchFamily="34" charset="-122"/>
                <a:cs typeface="Aptos" pitchFamily="34" charset="-120"/>
              </a:rPr>
              <a:t>Our baseline</a:t>
            </a:r>
            <a:endParaRPr lang="en-US" sz="1700" dirty="0"/>
          </a:p>
        </p:txBody>
      </p:sp>
      <p:sp>
        <p:nvSpPr>
          <p:cNvPr id="40" name="Text 37"/>
          <p:cNvSpPr/>
          <p:nvPr/>
        </p:nvSpPr>
        <p:spPr>
          <a:xfrm>
            <a:off x="8714232" y="3813048"/>
            <a:ext cx="2606040" cy="923544"/>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253547"/>
                </a:solidFill>
                <a:latin typeface="Noto Sans CJK JP" pitchFamily="34" charset="0"/>
                <a:ea typeface="Noto Sans CJK JP" pitchFamily="34" charset="-122"/>
                <a:cs typeface="Noto Sans CJK JP" pitchFamily="34" charset="-120"/>
              </a:rPr>
              <a:t>これから学習済みResNetと性能・計算時間を比較する</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Why reuse a pretrained model?</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なぜ事前学習済みモデルを使うのか？</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04</a:t>
            </a:r>
            <a:endParaRPr lang="en-US" sz="870" dirty="0"/>
          </a:p>
        </p:txBody>
      </p:sp>
      <p:sp>
        <p:nvSpPr>
          <p:cNvPr id="10" name="Shape 8"/>
          <p:cNvSpPr/>
          <p:nvPr/>
        </p:nvSpPr>
        <p:spPr>
          <a:xfrm>
            <a:off x="749808" y="1426464"/>
            <a:ext cx="5212080" cy="667512"/>
          </a:xfrm>
          <a:prstGeom prst="roundRect">
            <a:avLst>
              <a:gd name="adj" fmla="val 13699"/>
            </a:avLst>
          </a:prstGeom>
          <a:solidFill>
            <a:srgbClr val="FFF2DD"/>
          </a:solidFill>
          <a:ln w="8890">
            <a:solidFill>
              <a:srgbClr val="FFF2DD"/>
            </a:solidFill>
            <a:prstDash val="solid"/>
          </a:ln>
        </p:spPr>
        <p:txBody>
          <a:bodyPr/>
          <a:lstStyle/>
          <a:p>
            <a:endParaRPr lang="en-JP"/>
          </a:p>
        </p:txBody>
      </p:sp>
      <p:sp>
        <p:nvSpPr>
          <p:cNvPr id="11" name="Text 9"/>
          <p:cNvSpPr/>
          <p:nvPr/>
        </p:nvSpPr>
        <p:spPr>
          <a:xfrm>
            <a:off x="841248" y="1495044"/>
            <a:ext cx="5029200" cy="237744"/>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D3957"/>
                </a:solidFill>
                <a:latin typeface="Aptos" pitchFamily="34" charset="0"/>
                <a:ea typeface="Aptos" pitchFamily="34" charset="-122"/>
                <a:cs typeface="Aptos" pitchFamily="34" charset="-120"/>
              </a:rPr>
              <a:t>From scratch</a:t>
            </a:r>
            <a:endParaRPr lang="en-US" sz="1400" dirty="0"/>
          </a:p>
        </p:txBody>
      </p:sp>
      <p:sp>
        <p:nvSpPr>
          <p:cNvPr id="12" name="Text 10"/>
          <p:cNvSpPr/>
          <p:nvPr/>
        </p:nvSpPr>
        <p:spPr>
          <a:xfrm>
            <a:off x="841248" y="1764792"/>
            <a:ext cx="5029200"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ゼロから学習</a:t>
            </a:r>
            <a:endParaRPr lang="en-US" sz="1120" dirty="0"/>
          </a:p>
        </p:txBody>
      </p:sp>
      <p:sp>
        <p:nvSpPr>
          <p:cNvPr id="13" name="Shape 11"/>
          <p:cNvSpPr/>
          <p:nvPr/>
        </p:nvSpPr>
        <p:spPr>
          <a:xfrm>
            <a:off x="6245352" y="1426464"/>
            <a:ext cx="5212080" cy="667512"/>
          </a:xfrm>
          <a:prstGeom prst="roundRect">
            <a:avLst>
              <a:gd name="adj" fmla="val 13699"/>
            </a:avLst>
          </a:prstGeom>
          <a:solidFill>
            <a:srgbClr val="DDF5EF"/>
          </a:solidFill>
          <a:ln w="8890">
            <a:solidFill>
              <a:srgbClr val="DDF5EF"/>
            </a:solidFill>
            <a:prstDash val="solid"/>
          </a:ln>
        </p:spPr>
        <p:txBody>
          <a:bodyPr/>
          <a:lstStyle/>
          <a:p>
            <a:endParaRPr lang="en-JP"/>
          </a:p>
        </p:txBody>
      </p:sp>
      <p:sp>
        <p:nvSpPr>
          <p:cNvPr id="14" name="Text 12"/>
          <p:cNvSpPr/>
          <p:nvPr/>
        </p:nvSpPr>
        <p:spPr>
          <a:xfrm>
            <a:off x="6336792" y="1495044"/>
            <a:ext cx="5029200" cy="237744"/>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D3957"/>
                </a:solidFill>
                <a:latin typeface="Aptos" pitchFamily="34" charset="0"/>
                <a:ea typeface="Aptos" pitchFamily="34" charset="-122"/>
                <a:cs typeface="Aptos" pitchFamily="34" charset="-120"/>
              </a:rPr>
              <a:t>Transfer learning</a:t>
            </a:r>
            <a:endParaRPr lang="en-US" sz="1400" dirty="0"/>
          </a:p>
        </p:txBody>
      </p:sp>
      <p:sp>
        <p:nvSpPr>
          <p:cNvPr id="15" name="Text 13"/>
          <p:cNvSpPr/>
          <p:nvPr/>
        </p:nvSpPr>
        <p:spPr>
          <a:xfrm>
            <a:off x="6336792" y="1764792"/>
            <a:ext cx="5029200"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転移学習</a:t>
            </a:r>
            <a:endParaRPr lang="en-US" sz="1120" dirty="0"/>
          </a:p>
        </p:txBody>
      </p:sp>
      <p:pic>
        <p:nvPicPr>
          <p:cNvPr id="16" name="Image 0" descr="/mnt/data/flowers_slides_assets/roses.jpg"/>
          <p:cNvPicPr>
            <a:picLocks noChangeAspect="1"/>
          </p:cNvPicPr>
          <p:nvPr/>
        </p:nvPicPr>
        <p:blipFill>
          <a:blip r:embed="rId3"/>
          <a:stretch>
            <a:fillRect/>
          </a:stretch>
        </p:blipFill>
        <p:spPr>
          <a:xfrm>
            <a:off x="1097280" y="2423160"/>
            <a:ext cx="1481328" cy="1417320"/>
          </a:xfrm>
          <a:prstGeom prst="rect">
            <a:avLst/>
          </a:prstGeom>
        </p:spPr>
      </p:pic>
      <p:sp>
        <p:nvSpPr>
          <p:cNvPr id="17" name="Shape 14"/>
          <p:cNvSpPr/>
          <p:nvPr/>
        </p:nvSpPr>
        <p:spPr>
          <a:xfrm>
            <a:off x="1097280" y="2423160"/>
            <a:ext cx="1481328" cy="1417320"/>
          </a:xfrm>
          <a:prstGeom prst="rect">
            <a:avLst/>
          </a:prstGeom>
          <a:solidFill>
            <a:srgbClr val="FFFFFF">
              <a:alpha val="0"/>
            </a:srgbClr>
          </a:solidFill>
          <a:ln w="10160">
            <a:solidFill>
              <a:srgbClr val="FFFFFF"/>
            </a:solidFill>
            <a:prstDash val="solid"/>
          </a:ln>
        </p:spPr>
        <p:txBody>
          <a:bodyPr/>
          <a:lstStyle/>
          <a:p>
            <a:endParaRPr lang="en-JP"/>
          </a:p>
        </p:txBody>
      </p:sp>
      <p:pic>
        <p:nvPicPr>
          <p:cNvPr id="18" name="Image 1" descr="/mnt/data/flowers_slides_assets/daisy.jpg"/>
          <p:cNvPicPr>
            <a:picLocks noChangeAspect="1"/>
          </p:cNvPicPr>
          <p:nvPr/>
        </p:nvPicPr>
        <p:blipFill>
          <a:blip r:embed="rId4"/>
          <a:stretch>
            <a:fillRect/>
          </a:stretch>
        </p:blipFill>
        <p:spPr>
          <a:xfrm>
            <a:off x="2935224" y="2423160"/>
            <a:ext cx="1481328" cy="1417320"/>
          </a:xfrm>
          <a:prstGeom prst="rect">
            <a:avLst/>
          </a:prstGeom>
        </p:spPr>
      </p:pic>
      <p:sp>
        <p:nvSpPr>
          <p:cNvPr id="19" name="Shape 15"/>
          <p:cNvSpPr/>
          <p:nvPr/>
        </p:nvSpPr>
        <p:spPr>
          <a:xfrm>
            <a:off x="2935224" y="2423160"/>
            <a:ext cx="1481328" cy="1417320"/>
          </a:xfrm>
          <a:prstGeom prst="rect">
            <a:avLst/>
          </a:prstGeom>
          <a:solidFill>
            <a:srgbClr val="FFFFFF">
              <a:alpha val="0"/>
            </a:srgbClr>
          </a:solidFill>
          <a:ln w="10160">
            <a:solidFill>
              <a:srgbClr val="FFFFFF"/>
            </a:solidFill>
            <a:prstDash val="solid"/>
          </a:ln>
        </p:spPr>
        <p:txBody>
          <a:bodyPr/>
          <a:lstStyle/>
          <a:p>
            <a:endParaRPr lang="en-JP"/>
          </a:p>
        </p:txBody>
      </p:sp>
      <p:pic>
        <p:nvPicPr>
          <p:cNvPr id="20" name="Image 2" descr="/mnt/data/flowers_slides_assets/dandelion.jpg"/>
          <p:cNvPicPr>
            <a:picLocks noChangeAspect="1"/>
          </p:cNvPicPr>
          <p:nvPr/>
        </p:nvPicPr>
        <p:blipFill>
          <a:blip r:embed="rId5"/>
          <a:stretch>
            <a:fillRect/>
          </a:stretch>
        </p:blipFill>
        <p:spPr>
          <a:xfrm>
            <a:off x="6592824" y="2423160"/>
            <a:ext cx="1481328" cy="1417320"/>
          </a:xfrm>
          <a:prstGeom prst="rect">
            <a:avLst/>
          </a:prstGeom>
        </p:spPr>
      </p:pic>
      <p:sp>
        <p:nvSpPr>
          <p:cNvPr id="21" name="Shape 16"/>
          <p:cNvSpPr/>
          <p:nvPr/>
        </p:nvSpPr>
        <p:spPr>
          <a:xfrm>
            <a:off x="6592824" y="2423160"/>
            <a:ext cx="1481328" cy="1417320"/>
          </a:xfrm>
          <a:prstGeom prst="rect">
            <a:avLst/>
          </a:prstGeom>
          <a:solidFill>
            <a:srgbClr val="FFFFFF">
              <a:alpha val="0"/>
            </a:srgbClr>
          </a:solidFill>
          <a:ln w="10160">
            <a:solidFill>
              <a:srgbClr val="FFFFFF"/>
            </a:solidFill>
            <a:prstDash val="solid"/>
          </a:ln>
        </p:spPr>
        <p:txBody>
          <a:bodyPr/>
          <a:lstStyle/>
          <a:p>
            <a:endParaRPr lang="en-JP"/>
          </a:p>
        </p:txBody>
      </p:sp>
      <p:pic>
        <p:nvPicPr>
          <p:cNvPr id="22" name="Image 3" descr="/mnt/data/flowers_slides_assets/tulips.jpg"/>
          <p:cNvPicPr>
            <a:picLocks noChangeAspect="1"/>
          </p:cNvPicPr>
          <p:nvPr/>
        </p:nvPicPr>
        <p:blipFill>
          <a:blip r:embed="rId6"/>
          <a:stretch>
            <a:fillRect/>
          </a:stretch>
        </p:blipFill>
        <p:spPr>
          <a:xfrm>
            <a:off x="8403336" y="2423160"/>
            <a:ext cx="1481328" cy="1417320"/>
          </a:xfrm>
          <a:prstGeom prst="rect">
            <a:avLst/>
          </a:prstGeom>
        </p:spPr>
      </p:pic>
      <p:sp>
        <p:nvSpPr>
          <p:cNvPr id="23" name="Shape 17"/>
          <p:cNvSpPr/>
          <p:nvPr/>
        </p:nvSpPr>
        <p:spPr>
          <a:xfrm>
            <a:off x="8403336" y="2423160"/>
            <a:ext cx="1481328" cy="1417320"/>
          </a:xfrm>
          <a:prstGeom prst="rect">
            <a:avLst/>
          </a:prstGeom>
          <a:solidFill>
            <a:srgbClr val="FFFFFF">
              <a:alpha val="0"/>
            </a:srgbClr>
          </a:solidFill>
          <a:ln w="10160">
            <a:solidFill>
              <a:srgbClr val="FFFFFF"/>
            </a:solidFill>
            <a:prstDash val="solid"/>
          </a:ln>
        </p:spPr>
        <p:txBody>
          <a:bodyPr/>
          <a:lstStyle/>
          <a:p>
            <a:endParaRPr lang="en-JP"/>
          </a:p>
        </p:txBody>
      </p:sp>
      <p:sp>
        <p:nvSpPr>
          <p:cNvPr id="24" name="Shape 18"/>
          <p:cNvSpPr/>
          <p:nvPr/>
        </p:nvSpPr>
        <p:spPr>
          <a:xfrm>
            <a:off x="2743200" y="4005072"/>
            <a:ext cx="0" cy="484632"/>
          </a:xfrm>
          <a:prstGeom prst="line">
            <a:avLst/>
          </a:prstGeom>
          <a:noFill/>
          <a:ln w="25400">
            <a:solidFill>
              <a:srgbClr val="D38A24"/>
            </a:solidFill>
            <a:prstDash val="solid"/>
            <a:headEnd type="none"/>
            <a:tailEnd type="triangle"/>
          </a:ln>
        </p:spPr>
        <p:txBody>
          <a:bodyPr/>
          <a:lstStyle/>
          <a:p>
            <a:endParaRPr lang="en-JP"/>
          </a:p>
        </p:txBody>
      </p:sp>
      <p:sp>
        <p:nvSpPr>
          <p:cNvPr id="25" name="Shape 19"/>
          <p:cNvSpPr/>
          <p:nvPr/>
        </p:nvSpPr>
        <p:spPr>
          <a:xfrm>
            <a:off x="8183880" y="4005072"/>
            <a:ext cx="0" cy="484632"/>
          </a:xfrm>
          <a:prstGeom prst="line">
            <a:avLst/>
          </a:prstGeom>
          <a:noFill/>
          <a:ln w="25400">
            <a:solidFill>
              <a:srgbClr val="137C78"/>
            </a:solidFill>
            <a:prstDash val="solid"/>
            <a:headEnd type="none"/>
            <a:tailEnd type="triangle"/>
          </a:ln>
        </p:spPr>
        <p:txBody>
          <a:bodyPr/>
          <a:lstStyle/>
          <a:p>
            <a:endParaRPr lang="en-JP"/>
          </a:p>
        </p:txBody>
      </p:sp>
      <p:sp>
        <p:nvSpPr>
          <p:cNvPr id="26" name="Shape 20"/>
          <p:cNvSpPr/>
          <p:nvPr/>
        </p:nvSpPr>
        <p:spPr>
          <a:xfrm>
            <a:off x="1097280" y="4599432"/>
            <a:ext cx="4425696" cy="749808"/>
          </a:xfrm>
          <a:prstGeom prst="roundRect">
            <a:avLst>
              <a:gd name="adj" fmla="val 12195"/>
            </a:avLst>
          </a:prstGeom>
          <a:solidFill>
            <a:srgbClr val="F5F8FC"/>
          </a:solidFill>
          <a:ln w="8890">
            <a:solidFill>
              <a:srgbClr val="CBD8E5"/>
            </a:solidFill>
            <a:prstDash val="solid"/>
          </a:ln>
        </p:spPr>
        <p:txBody>
          <a:bodyPr/>
          <a:lstStyle/>
          <a:p>
            <a:endParaRPr lang="en-JP"/>
          </a:p>
        </p:txBody>
      </p:sp>
      <p:sp>
        <p:nvSpPr>
          <p:cNvPr id="27" name="Text 21"/>
          <p:cNvSpPr/>
          <p:nvPr/>
        </p:nvSpPr>
        <p:spPr>
          <a:xfrm>
            <a:off x="1188720" y="4668012"/>
            <a:ext cx="4242816" cy="237744"/>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D3957"/>
                </a:solidFill>
                <a:latin typeface="Aptos" pitchFamily="34" charset="0"/>
                <a:ea typeface="Aptos" pitchFamily="34" charset="-122"/>
                <a:cs typeface="Aptos" pitchFamily="34" charset="-120"/>
              </a:rPr>
              <a:t>New CNN: random weights</a:t>
            </a:r>
            <a:endParaRPr lang="en-US" sz="1400" dirty="0"/>
          </a:p>
        </p:txBody>
      </p:sp>
      <p:sp>
        <p:nvSpPr>
          <p:cNvPr id="28" name="Text 22"/>
          <p:cNvSpPr/>
          <p:nvPr/>
        </p:nvSpPr>
        <p:spPr>
          <a:xfrm>
            <a:off x="1188720" y="4937760"/>
            <a:ext cx="4242816"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花の画像だけで特徴を学習</a:t>
            </a:r>
            <a:endParaRPr lang="en-US" sz="1120" dirty="0"/>
          </a:p>
        </p:txBody>
      </p:sp>
      <p:sp>
        <p:nvSpPr>
          <p:cNvPr id="29" name="Shape 23"/>
          <p:cNvSpPr/>
          <p:nvPr/>
        </p:nvSpPr>
        <p:spPr>
          <a:xfrm>
            <a:off x="6583680" y="4599432"/>
            <a:ext cx="4425696" cy="749808"/>
          </a:xfrm>
          <a:prstGeom prst="roundRect">
            <a:avLst>
              <a:gd name="adj" fmla="val 12195"/>
            </a:avLst>
          </a:prstGeom>
          <a:solidFill>
            <a:srgbClr val="F5F8FC"/>
          </a:solidFill>
          <a:ln w="8890">
            <a:solidFill>
              <a:srgbClr val="CBD8E5"/>
            </a:solidFill>
            <a:prstDash val="solid"/>
          </a:ln>
        </p:spPr>
        <p:txBody>
          <a:bodyPr/>
          <a:lstStyle/>
          <a:p>
            <a:endParaRPr lang="en-JP"/>
          </a:p>
        </p:txBody>
      </p:sp>
      <p:sp>
        <p:nvSpPr>
          <p:cNvPr id="30" name="Text 24"/>
          <p:cNvSpPr/>
          <p:nvPr/>
        </p:nvSpPr>
        <p:spPr>
          <a:xfrm>
            <a:off x="6675120" y="4668012"/>
            <a:ext cx="4242816" cy="237744"/>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D3957"/>
                </a:solidFill>
                <a:latin typeface="Aptos" pitchFamily="34" charset="0"/>
                <a:ea typeface="Aptos" pitchFamily="34" charset="-122"/>
                <a:cs typeface="Aptos" pitchFamily="34" charset="-120"/>
              </a:rPr>
              <a:t>ImageNet-trained backbone</a:t>
            </a:r>
            <a:endParaRPr lang="en-US" sz="1400" dirty="0"/>
          </a:p>
        </p:txBody>
      </p:sp>
      <p:sp>
        <p:nvSpPr>
          <p:cNvPr id="31" name="Text 25"/>
          <p:cNvSpPr/>
          <p:nvPr/>
        </p:nvSpPr>
        <p:spPr>
          <a:xfrm>
            <a:off x="6675120" y="4937760"/>
            <a:ext cx="4242816"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大規模データで学習した特徴を再利用</a:t>
            </a:r>
            <a:endParaRPr lang="en-US" sz="1120" dirty="0"/>
          </a:p>
        </p:txBody>
      </p:sp>
      <p:sp>
        <p:nvSpPr>
          <p:cNvPr id="32" name="Shape 26"/>
          <p:cNvSpPr/>
          <p:nvPr/>
        </p:nvSpPr>
        <p:spPr>
          <a:xfrm>
            <a:off x="612648" y="5916168"/>
            <a:ext cx="10972800" cy="484632"/>
          </a:xfrm>
          <a:prstGeom prst="roundRect">
            <a:avLst>
              <a:gd name="adj" fmla="val 15094"/>
            </a:avLst>
          </a:prstGeom>
          <a:solidFill>
            <a:srgbClr val="FFF2DD"/>
          </a:solidFill>
          <a:ln w="8890">
            <a:solidFill>
              <a:srgbClr val="FFF2DD"/>
            </a:solidFill>
            <a:prstDash val="solid"/>
          </a:ln>
        </p:spPr>
        <p:txBody>
          <a:bodyPr/>
          <a:lstStyle/>
          <a:p>
            <a:endParaRPr lang="en-JP"/>
          </a:p>
        </p:txBody>
      </p:sp>
      <p:sp>
        <p:nvSpPr>
          <p:cNvPr id="33" name="Text 27"/>
          <p:cNvSpPr/>
          <p:nvPr/>
        </p:nvSpPr>
        <p:spPr>
          <a:xfrm>
            <a:off x="768096" y="5960695"/>
            <a:ext cx="5029200" cy="182880"/>
          </a:xfrm>
          <a:prstGeom prst="rect">
            <a:avLst/>
          </a:prstGeom>
          <a:noFill/>
          <a:ln/>
        </p:spPr>
        <p:txBody>
          <a:bodyPr wrap="square" lIns="0" tIns="0" rIns="0" bIns="0" rtlCol="0" anchor="ctr">
            <a:normAutofit fontScale="85000" lnSpcReduction="10000"/>
          </a:bodyPr>
          <a:lstStyle/>
          <a:p>
            <a:pPr marL="0" indent="0" algn="l">
              <a:lnSpc>
                <a:spcPct val="100000"/>
              </a:lnSpc>
              <a:buNone/>
            </a:pPr>
            <a:r>
              <a:rPr lang="en-US" sz="1210" b="1" dirty="0">
                <a:solidFill>
                  <a:srgbClr val="1D3957"/>
                </a:solidFill>
                <a:latin typeface="Aptos" pitchFamily="34" charset="0"/>
                <a:ea typeface="Aptos" pitchFamily="34" charset="-122"/>
                <a:cs typeface="Aptos" pitchFamily="34" charset="-120"/>
              </a:rPr>
              <a:t>Pretraining may help with small datasets; it does not guarantee higher accuracy.</a:t>
            </a:r>
            <a:endParaRPr lang="en-US" sz="1210" dirty="0"/>
          </a:p>
        </p:txBody>
      </p:sp>
      <p:sp>
        <p:nvSpPr>
          <p:cNvPr id="34" name="Text 28"/>
          <p:cNvSpPr/>
          <p:nvPr/>
        </p:nvSpPr>
        <p:spPr>
          <a:xfrm>
            <a:off x="5760720" y="5943600"/>
            <a:ext cx="5669280" cy="219456"/>
          </a:xfrm>
          <a:prstGeom prst="rect">
            <a:avLst/>
          </a:prstGeom>
          <a:noFill/>
          <a:ln/>
        </p:spPr>
        <p:txBody>
          <a:bodyPr wrap="square" lIns="0" tIns="0" rIns="0" bIns="0" rtlCol="0" anchor="ctr">
            <a:normAutofit/>
          </a:bodyPr>
          <a:lstStyle/>
          <a:p>
            <a:pPr marL="0" indent="0" algn="l">
              <a:lnSpc>
                <a:spcPct val="100000"/>
              </a:lnSpc>
              <a:buNone/>
            </a:pPr>
            <a:r>
              <a:rPr lang="en-US" sz="1210" dirty="0">
                <a:solidFill>
                  <a:srgbClr val="1D3957"/>
                </a:solidFill>
                <a:latin typeface="Noto Sans CJK JP" pitchFamily="34" charset="0"/>
                <a:ea typeface="Noto Sans CJK JP" pitchFamily="34" charset="-122"/>
                <a:cs typeface="Noto Sans CJK JP" pitchFamily="34" charset="-120"/>
              </a:rPr>
              <a:t>データが少ない場合に有効なことがありますが、精度向上は保証されません。</a:t>
            </a:r>
            <a:endParaRPr lang="en-US" sz="121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Five flowers, one classification task</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花の5クラス分類</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05</a:t>
            </a:r>
            <a:endParaRPr lang="en-US" sz="870" dirty="0"/>
          </a:p>
        </p:txBody>
      </p:sp>
      <p:pic>
        <p:nvPicPr>
          <p:cNvPr id="10" name="Image 0" descr="/mnt/data/flowers_slides_assets/daisy.jpg"/>
          <p:cNvPicPr>
            <a:picLocks noChangeAspect="1"/>
          </p:cNvPicPr>
          <p:nvPr/>
        </p:nvPicPr>
        <p:blipFill>
          <a:blip r:embed="rId3"/>
          <a:stretch>
            <a:fillRect/>
          </a:stretch>
        </p:blipFill>
        <p:spPr>
          <a:xfrm>
            <a:off x="603504" y="1545336"/>
            <a:ext cx="2057400" cy="1938528"/>
          </a:xfrm>
          <a:prstGeom prst="rect">
            <a:avLst/>
          </a:prstGeom>
        </p:spPr>
      </p:pic>
      <p:sp>
        <p:nvSpPr>
          <p:cNvPr id="11" name="Shape 8"/>
          <p:cNvSpPr/>
          <p:nvPr/>
        </p:nvSpPr>
        <p:spPr>
          <a:xfrm>
            <a:off x="603504" y="1545336"/>
            <a:ext cx="2057400" cy="1938528"/>
          </a:xfrm>
          <a:prstGeom prst="rect">
            <a:avLst/>
          </a:prstGeom>
          <a:solidFill>
            <a:srgbClr val="FFFFFF">
              <a:alpha val="0"/>
            </a:srgbClr>
          </a:solidFill>
          <a:ln w="10160">
            <a:solidFill>
              <a:srgbClr val="FFFFFF"/>
            </a:solidFill>
            <a:prstDash val="solid"/>
          </a:ln>
        </p:spPr>
        <p:txBody>
          <a:bodyPr/>
          <a:lstStyle/>
          <a:p>
            <a:endParaRPr lang="en-JP"/>
          </a:p>
        </p:txBody>
      </p:sp>
      <p:sp>
        <p:nvSpPr>
          <p:cNvPr id="12" name="Text 9"/>
          <p:cNvSpPr/>
          <p:nvPr/>
        </p:nvSpPr>
        <p:spPr>
          <a:xfrm>
            <a:off x="603504" y="3566160"/>
            <a:ext cx="2057400" cy="274320"/>
          </a:xfrm>
          <a:prstGeom prst="rect">
            <a:avLst/>
          </a:prstGeom>
          <a:noFill/>
          <a:ln/>
        </p:spPr>
        <p:txBody>
          <a:bodyPr wrap="square" lIns="0" tIns="0" rIns="0" bIns="0" rtlCol="0" anchor="ctr">
            <a:normAutofit/>
          </a:bodyPr>
          <a:lstStyle/>
          <a:p>
            <a:pPr marL="0" indent="0" algn="ctr">
              <a:lnSpc>
                <a:spcPct val="100000"/>
              </a:lnSpc>
              <a:buNone/>
            </a:pPr>
            <a:r>
              <a:rPr lang="en-US" sz="1700" b="1" dirty="0">
                <a:solidFill>
                  <a:srgbClr val="1D3957"/>
                </a:solidFill>
                <a:latin typeface="Aptos" pitchFamily="34" charset="0"/>
                <a:ea typeface="Aptos" pitchFamily="34" charset="-122"/>
                <a:cs typeface="Aptos" pitchFamily="34" charset="-120"/>
              </a:rPr>
              <a:t>daisy</a:t>
            </a:r>
            <a:endParaRPr lang="en-US" sz="1700" dirty="0"/>
          </a:p>
        </p:txBody>
      </p:sp>
      <p:sp>
        <p:nvSpPr>
          <p:cNvPr id="13" name="Text 10"/>
          <p:cNvSpPr/>
          <p:nvPr/>
        </p:nvSpPr>
        <p:spPr>
          <a:xfrm>
            <a:off x="603504" y="3886200"/>
            <a:ext cx="2057400" cy="292608"/>
          </a:xfrm>
          <a:prstGeom prst="rect">
            <a:avLst/>
          </a:prstGeom>
          <a:noFill/>
          <a:ln/>
        </p:spPr>
        <p:txBody>
          <a:bodyPr wrap="square" lIns="0" tIns="0" rIns="0" bIns="0" rtlCol="0" anchor="ctr">
            <a:normAutofit/>
          </a:bodyPr>
          <a:lstStyle/>
          <a:p>
            <a:pPr marL="0" indent="0" algn="ctr">
              <a:lnSpc>
                <a:spcPct val="100000"/>
              </a:lnSpc>
              <a:buNone/>
            </a:pPr>
            <a:r>
              <a:rPr lang="en-US" sz="1400" dirty="0">
                <a:solidFill>
                  <a:srgbClr val="607084"/>
                </a:solidFill>
                <a:latin typeface="Noto Sans CJK JP" pitchFamily="34" charset="0"/>
                <a:ea typeface="Noto Sans CJK JP" pitchFamily="34" charset="-122"/>
                <a:cs typeface="Noto Sans CJK JP" pitchFamily="34" charset="-120"/>
              </a:rPr>
              <a:t>デイジー</a:t>
            </a:r>
            <a:endParaRPr lang="en-US" sz="1400" dirty="0"/>
          </a:p>
        </p:txBody>
      </p:sp>
      <p:pic>
        <p:nvPicPr>
          <p:cNvPr id="14" name="Image 1" descr="/mnt/data/flowers_slides_assets/dandelion.jpg"/>
          <p:cNvPicPr>
            <a:picLocks noChangeAspect="1"/>
          </p:cNvPicPr>
          <p:nvPr/>
        </p:nvPicPr>
        <p:blipFill>
          <a:blip r:embed="rId4"/>
          <a:stretch>
            <a:fillRect/>
          </a:stretch>
        </p:blipFill>
        <p:spPr>
          <a:xfrm>
            <a:off x="2935224" y="1545336"/>
            <a:ext cx="2057400" cy="1938528"/>
          </a:xfrm>
          <a:prstGeom prst="rect">
            <a:avLst/>
          </a:prstGeom>
        </p:spPr>
      </p:pic>
      <p:sp>
        <p:nvSpPr>
          <p:cNvPr id="15" name="Shape 11"/>
          <p:cNvSpPr/>
          <p:nvPr/>
        </p:nvSpPr>
        <p:spPr>
          <a:xfrm>
            <a:off x="2935224" y="1545336"/>
            <a:ext cx="2057400" cy="1938528"/>
          </a:xfrm>
          <a:prstGeom prst="rect">
            <a:avLst/>
          </a:prstGeom>
          <a:solidFill>
            <a:srgbClr val="FFFFFF">
              <a:alpha val="0"/>
            </a:srgbClr>
          </a:solidFill>
          <a:ln w="10160">
            <a:solidFill>
              <a:srgbClr val="FFFFFF"/>
            </a:solidFill>
            <a:prstDash val="solid"/>
          </a:ln>
        </p:spPr>
        <p:txBody>
          <a:bodyPr/>
          <a:lstStyle/>
          <a:p>
            <a:endParaRPr lang="en-JP"/>
          </a:p>
        </p:txBody>
      </p:sp>
      <p:sp>
        <p:nvSpPr>
          <p:cNvPr id="16" name="Text 12"/>
          <p:cNvSpPr/>
          <p:nvPr/>
        </p:nvSpPr>
        <p:spPr>
          <a:xfrm>
            <a:off x="2935224" y="3566160"/>
            <a:ext cx="2057400" cy="274320"/>
          </a:xfrm>
          <a:prstGeom prst="rect">
            <a:avLst/>
          </a:prstGeom>
          <a:noFill/>
          <a:ln/>
        </p:spPr>
        <p:txBody>
          <a:bodyPr wrap="square" lIns="0" tIns="0" rIns="0" bIns="0" rtlCol="0" anchor="ctr">
            <a:normAutofit/>
          </a:bodyPr>
          <a:lstStyle/>
          <a:p>
            <a:pPr marL="0" indent="0" algn="ctr">
              <a:lnSpc>
                <a:spcPct val="100000"/>
              </a:lnSpc>
              <a:buNone/>
            </a:pPr>
            <a:r>
              <a:rPr lang="en-US" sz="1700" b="1" dirty="0">
                <a:solidFill>
                  <a:srgbClr val="1D3957"/>
                </a:solidFill>
                <a:latin typeface="Aptos" pitchFamily="34" charset="0"/>
                <a:ea typeface="Aptos" pitchFamily="34" charset="-122"/>
                <a:cs typeface="Aptos" pitchFamily="34" charset="-120"/>
              </a:rPr>
              <a:t>dandelion</a:t>
            </a:r>
            <a:endParaRPr lang="en-US" sz="1700" dirty="0"/>
          </a:p>
        </p:txBody>
      </p:sp>
      <p:sp>
        <p:nvSpPr>
          <p:cNvPr id="17" name="Text 13"/>
          <p:cNvSpPr/>
          <p:nvPr/>
        </p:nvSpPr>
        <p:spPr>
          <a:xfrm>
            <a:off x="2935224" y="3886200"/>
            <a:ext cx="2057400" cy="292608"/>
          </a:xfrm>
          <a:prstGeom prst="rect">
            <a:avLst/>
          </a:prstGeom>
          <a:noFill/>
          <a:ln/>
        </p:spPr>
        <p:txBody>
          <a:bodyPr wrap="square" lIns="0" tIns="0" rIns="0" bIns="0" rtlCol="0" anchor="ctr">
            <a:normAutofit/>
          </a:bodyPr>
          <a:lstStyle/>
          <a:p>
            <a:pPr marL="0" indent="0" algn="ctr">
              <a:lnSpc>
                <a:spcPct val="100000"/>
              </a:lnSpc>
              <a:buNone/>
            </a:pPr>
            <a:r>
              <a:rPr lang="en-US" sz="1400" dirty="0">
                <a:solidFill>
                  <a:srgbClr val="607084"/>
                </a:solidFill>
                <a:latin typeface="Noto Sans CJK JP" pitchFamily="34" charset="0"/>
                <a:ea typeface="Noto Sans CJK JP" pitchFamily="34" charset="-122"/>
                <a:cs typeface="Noto Sans CJK JP" pitchFamily="34" charset="-120"/>
              </a:rPr>
              <a:t>タンポポ</a:t>
            </a:r>
            <a:endParaRPr lang="en-US" sz="1400" dirty="0"/>
          </a:p>
        </p:txBody>
      </p:sp>
      <p:pic>
        <p:nvPicPr>
          <p:cNvPr id="18" name="Image 2" descr="/mnt/data/flowers_slides_assets/roses.jpg"/>
          <p:cNvPicPr>
            <a:picLocks noChangeAspect="1"/>
          </p:cNvPicPr>
          <p:nvPr/>
        </p:nvPicPr>
        <p:blipFill>
          <a:blip r:embed="rId5"/>
          <a:stretch>
            <a:fillRect/>
          </a:stretch>
        </p:blipFill>
        <p:spPr>
          <a:xfrm>
            <a:off x="5266944" y="1545336"/>
            <a:ext cx="2057400" cy="1938528"/>
          </a:xfrm>
          <a:prstGeom prst="rect">
            <a:avLst/>
          </a:prstGeom>
        </p:spPr>
      </p:pic>
      <p:sp>
        <p:nvSpPr>
          <p:cNvPr id="19" name="Shape 14"/>
          <p:cNvSpPr/>
          <p:nvPr/>
        </p:nvSpPr>
        <p:spPr>
          <a:xfrm>
            <a:off x="5266944" y="1545336"/>
            <a:ext cx="2057400" cy="1938528"/>
          </a:xfrm>
          <a:prstGeom prst="rect">
            <a:avLst/>
          </a:prstGeom>
          <a:solidFill>
            <a:srgbClr val="FFFFFF">
              <a:alpha val="0"/>
            </a:srgbClr>
          </a:solidFill>
          <a:ln w="10160">
            <a:solidFill>
              <a:srgbClr val="FFFFFF"/>
            </a:solidFill>
            <a:prstDash val="solid"/>
          </a:ln>
        </p:spPr>
        <p:txBody>
          <a:bodyPr/>
          <a:lstStyle/>
          <a:p>
            <a:endParaRPr lang="en-JP"/>
          </a:p>
        </p:txBody>
      </p:sp>
      <p:sp>
        <p:nvSpPr>
          <p:cNvPr id="20" name="Text 15"/>
          <p:cNvSpPr/>
          <p:nvPr/>
        </p:nvSpPr>
        <p:spPr>
          <a:xfrm>
            <a:off x="5266944" y="3566160"/>
            <a:ext cx="2057400" cy="274320"/>
          </a:xfrm>
          <a:prstGeom prst="rect">
            <a:avLst/>
          </a:prstGeom>
          <a:noFill/>
          <a:ln/>
        </p:spPr>
        <p:txBody>
          <a:bodyPr wrap="square" lIns="0" tIns="0" rIns="0" bIns="0" rtlCol="0" anchor="ctr">
            <a:normAutofit/>
          </a:bodyPr>
          <a:lstStyle/>
          <a:p>
            <a:pPr marL="0" indent="0" algn="ctr">
              <a:lnSpc>
                <a:spcPct val="100000"/>
              </a:lnSpc>
              <a:buNone/>
            </a:pPr>
            <a:r>
              <a:rPr lang="en-US" sz="1700" b="1" dirty="0">
                <a:solidFill>
                  <a:srgbClr val="1D3957"/>
                </a:solidFill>
                <a:latin typeface="Aptos" pitchFamily="34" charset="0"/>
                <a:ea typeface="Aptos" pitchFamily="34" charset="-122"/>
                <a:cs typeface="Aptos" pitchFamily="34" charset="-120"/>
              </a:rPr>
              <a:t>roses</a:t>
            </a:r>
            <a:endParaRPr lang="en-US" sz="1700" dirty="0"/>
          </a:p>
        </p:txBody>
      </p:sp>
      <p:sp>
        <p:nvSpPr>
          <p:cNvPr id="21" name="Text 16"/>
          <p:cNvSpPr/>
          <p:nvPr/>
        </p:nvSpPr>
        <p:spPr>
          <a:xfrm>
            <a:off x="5266944" y="3886200"/>
            <a:ext cx="2057400" cy="292608"/>
          </a:xfrm>
          <a:prstGeom prst="rect">
            <a:avLst/>
          </a:prstGeom>
          <a:noFill/>
          <a:ln/>
        </p:spPr>
        <p:txBody>
          <a:bodyPr wrap="square" lIns="0" tIns="0" rIns="0" bIns="0" rtlCol="0" anchor="ctr">
            <a:normAutofit/>
          </a:bodyPr>
          <a:lstStyle/>
          <a:p>
            <a:pPr marL="0" indent="0" algn="ctr">
              <a:lnSpc>
                <a:spcPct val="100000"/>
              </a:lnSpc>
              <a:buNone/>
            </a:pPr>
            <a:r>
              <a:rPr lang="en-US" sz="1400" dirty="0">
                <a:solidFill>
                  <a:srgbClr val="607084"/>
                </a:solidFill>
                <a:latin typeface="Noto Sans CJK JP" pitchFamily="34" charset="0"/>
                <a:ea typeface="Noto Sans CJK JP" pitchFamily="34" charset="-122"/>
                <a:cs typeface="Noto Sans CJK JP" pitchFamily="34" charset="-120"/>
              </a:rPr>
              <a:t>バラ</a:t>
            </a:r>
            <a:endParaRPr lang="en-US" sz="1400" dirty="0"/>
          </a:p>
        </p:txBody>
      </p:sp>
      <p:pic>
        <p:nvPicPr>
          <p:cNvPr id="22" name="Image 3" descr="/mnt/data/flowers_slides_assets/sunflowers.jpg"/>
          <p:cNvPicPr>
            <a:picLocks noChangeAspect="1"/>
          </p:cNvPicPr>
          <p:nvPr/>
        </p:nvPicPr>
        <p:blipFill>
          <a:blip r:embed="rId6"/>
          <a:stretch>
            <a:fillRect/>
          </a:stretch>
        </p:blipFill>
        <p:spPr>
          <a:xfrm>
            <a:off x="7598664" y="1545336"/>
            <a:ext cx="2057400" cy="1938528"/>
          </a:xfrm>
          <a:prstGeom prst="rect">
            <a:avLst/>
          </a:prstGeom>
        </p:spPr>
      </p:pic>
      <p:sp>
        <p:nvSpPr>
          <p:cNvPr id="23" name="Shape 17"/>
          <p:cNvSpPr/>
          <p:nvPr/>
        </p:nvSpPr>
        <p:spPr>
          <a:xfrm>
            <a:off x="7598664" y="1545336"/>
            <a:ext cx="2057400" cy="1938528"/>
          </a:xfrm>
          <a:prstGeom prst="rect">
            <a:avLst/>
          </a:prstGeom>
          <a:solidFill>
            <a:srgbClr val="FFFFFF">
              <a:alpha val="0"/>
            </a:srgbClr>
          </a:solidFill>
          <a:ln w="10160">
            <a:solidFill>
              <a:srgbClr val="FFFFFF"/>
            </a:solidFill>
            <a:prstDash val="solid"/>
          </a:ln>
        </p:spPr>
        <p:txBody>
          <a:bodyPr/>
          <a:lstStyle/>
          <a:p>
            <a:endParaRPr lang="en-JP"/>
          </a:p>
        </p:txBody>
      </p:sp>
      <p:sp>
        <p:nvSpPr>
          <p:cNvPr id="24" name="Text 18"/>
          <p:cNvSpPr/>
          <p:nvPr/>
        </p:nvSpPr>
        <p:spPr>
          <a:xfrm>
            <a:off x="7598664" y="3566160"/>
            <a:ext cx="2057400" cy="274320"/>
          </a:xfrm>
          <a:prstGeom prst="rect">
            <a:avLst/>
          </a:prstGeom>
          <a:noFill/>
          <a:ln/>
        </p:spPr>
        <p:txBody>
          <a:bodyPr wrap="square" lIns="0" tIns="0" rIns="0" bIns="0" rtlCol="0" anchor="ctr">
            <a:normAutofit/>
          </a:bodyPr>
          <a:lstStyle/>
          <a:p>
            <a:pPr marL="0" indent="0" algn="ctr">
              <a:lnSpc>
                <a:spcPct val="100000"/>
              </a:lnSpc>
              <a:buNone/>
            </a:pPr>
            <a:r>
              <a:rPr lang="en-US" sz="1700" b="1" dirty="0">
                <a:solidFill>
                  <a:srgbClr val="1D3957"/>
                </a:solidFill>
                <a:latin typeface="Aptos" pitchFamily="34" charset="0"/>
                <a:ea typeface="Aptos" pitchFamily="34" charset="-122"/>
                <a:cs typeface="Aptos" pitchFamily="34" charset="-120"/>
              </a:rPr>
              <a:t>sunflowers</a:t>
            </a:r>
            <a:endParaRPr lang="en-US" sz="1700" dirty="0"/>
          </a:p>
        </p:txBody>
      </p:sp>
      <p:sp>
        <p:nvSpPr>
          <p:cNvPr id="25" name="Text 19"/>
          <p:cNvSpPr/>
          <p:nvPr/>
        </p:nvSpPr>
        <p:spPr>
          <a:xfrm>
            <a:off x="7598664" y="3886200"/>
            <a:ext cx="2057400" cy="292608"/>
          </a:xfrm>
          <a:prstGeom prst="rect">
            <a:avLst/>
          </a:prstGeom>
          <a:noFill/>
          <a:ln/>
        </p:spPr>
        <p:txBody>
          <a:bodyPr wrap="square" lIns="0" tIns="0" rIns="0" bIns="0" rtlCol="0" anchor="ctr">
            <a:normAutofit/>
          </a:bodyPr>
          <a:lstStyle/>
          <a:p>
            <a:pPr marL="0" indent="0" algn="ctr">
              <a:lnSpc>
                <a:spcPct val="100000"/>
              </a:lnSpc>
              <a:buNone/>
            </a:pPr>
            <a:r>
              <a:rPr lang="en-US" sz="1400" dirty="0">
                <a:solidFill>
                  <a:srgbClr val="607084"/>
                </a:solidFill>
                <a:latin typeface="Noto Sans CJK JP" pitchFamily="34" charset="0"/>
                <a:ea typeface="Noto Sans CJK JP" pitchFamily="34" charset="-122"/>
                <a:cs typeface="Noto Sans CJK JP" pitchFamily="34" charset="-120"/>
              </a:rPr>
              <a:t>ヒマワリ</a:t>
            </a:r>
            <a:endParaRPr lang="en-US" sz="1400" dirty="0"/>
          </a:p>
        </p:txBody>
      </p:sp>
      <p:pic>
        <p:nvPicPr>
          <p:cNvPr id="26" name="Image 4" descr="/mnt/data/flowers_slides_assets/tulips.jpg"/>
          <p:cNvPicPr>
            <a:picLocks noChangeAspect="1"/>
          </p:cNvPicPr>
          <p:nvPr/>
        </p:nvPicPr>
        <p:blipFill>
          <a:blip r:embed="rId7"/>
          <a:stretch>
            <a:fillRect/>
          </a:stretch>
        </p:blipFill>
        <p:spPr>
          <a:xfrm>
            <a:off x="9930384" y="1545336"/>
            <a:ext cx="2057400" cy="1938528"/>
          </a:xfrm>
          <a:prstGeom prst="rect">
            <a:avLst/>
          </a:prstGeom>
        </p:spPr>
      </p:pic>
      <p:sp>
        <p:nvSpPr>
          <p:cNvPr id="27" name="Shape 20"/>
          <p:cNvSpPr/>
          <p:nvPr/>
        </p:nvSpPr>
        <p:spPr>
          <a:xfrm>
            <a:off x="9930384" y="1545336"/>
            <a:ext cx="2057400" cy="1938528"/>
          </a:xfrm>
          <a:prstGeom prst="rect">
            <a:avLst/>
          </a:prstGeom>
          <a:solidFill>
            <a:srgbClr val="FFFFFF">
              <a:alpha val="0"/>
            </a:srgbClr>
          </a:solidFill>
          <a:ln w="10160">
            <a:solidFill>
              <a:srgbClr val="FFFFFF"/>
            </a:solidFill>
            <a:prstDash val="solid"/>
          </a:ln>
        </p:spPr>
        <p:txBody>
          <a:bodyPr/>
          <a:lstStyle/>
          <a:p>
            <a:endParaRPr lang="en-JP"/>
          </a:p>
        </p:txBody>
      </p:sp>
      <p:sp>
        <p:nvSpPr>
          <p:cNvPr id="28" name="Text 21"/>
          <p:cNvSpPr/>
          <p:nvPr/>
        </p:nvSpPr>
        <p:spPr>
          <a:xfrm>
            <a:off x="9930384" y="3566160"/>
            <a:ext cx="2057400" cy="274320"/>
          </a:xfrm>
          <a:prstGeom prst="rect">
            <a:avLst/>
          </a:prstGeom>
          <a:noFill/>
          <a:ln/>
        </p:spPr>
        <p:txBody>
          <a:bodyPr wrap="square" lIns="0" tIns="0" rIns="0" bIns="0" rtlCol="0" anchor="ctr">
            <a:normAutofit/>
          </a:bodyPr>
          <a:lstStyle/>
          <a:p>
            <a:pPr marL="0" indent="0" algn="ctr">
              <a:lnSpc>
                <a:spcPct val="100000"/>
              </a:lnSpc>
              <a:buNone/>
            </a:pPr>
            <a:r>
              <a:rPr lang="en-US" sz="1700" b="1" dirty="0">
                <a:solidFill>
                  <a:srgbClr val="1D3957"/>
                </a:solidFill>
                <a:latin typeface="Aptos" pitchFamily="34" charset="0"/>
                <a:ea typeface="Aptos" pitchFamily="34" charset="-122"/>
                <a:cs typeface="Aptos" pitchFamily="34" charset="-120"/>
              </a:rPr>
              <a:t>tulips</a:t>
            </a:r>
            <a:endParaRPr lang="en-US" sz="1700" dirty="0"/>
          </a:p>
        </p:txBody>
      </p:sp>
      <p:sp>
        <p:nvSpPr>
          <p:cNvPr id="29" name="Text 22"/>
          <p:cNvSpPr/>
          <p:nvPr/>
        </p:nvSpPr>
        <p:spPr>
          <a:xfrm>
            <a:off x="9930384" y="3886200"/>
            <a:ext cx="2057400" cy="292608"/>
          </a:xfrm>
          <a:prstGeom prst="rect">
            <a:avLst/>
          </a:prstGeom>
          <a:noFill/>
          <a:ln/>
        </p:spPr>
        <p:txBody>
          <a:bodyPr wrap="square" lIns="0" tIns="0" rIns="0" bIns="0" rtlCol="0" anchor="ctr">
            <a:normAutofit/>
          </a:bodyPr>
          <a:lstStyle/>
          <a:p>
            <a:pPr marL="0" indent="0" algn="ctr">
              <a:lnSpc>
                <a:spcPct val="100000"/>
              </a:lnSpc>
              <a:buNone/>
            </a:pPr>
            <a:r>
              <a:rPr lang="en-US" sz="1400" dirty="0">
                <a:solidFill>
                  <a:srgbClr val="607084"/>
                </a:solidFill>
                <a:latin typeface="Noto Sans CJK JP" pitchFamily="34" charset="0"/>
                <a:ea typeface="Noto Sans CJK JP" pitchFamily="34" charset="-122"/>
                <a:cs typeface="Noto Sans CJK JP" pitchFamily="34" charset="-120"/>
              </a:rPr>
              <a:t>チューリップ</a:t>
            </a:r>
            <a:endParaRPr lang="en-US" sz="1400" dirty="0"/>
          </a:p>
        </p:txBody>
      </p:sp>
      <p:sp>
        <p:nvSpPr>
          <p:cNvPr id="30" name="Text 23"/>
          <p:cNvSpPr/>
          <p:nvPr/>
        </p:nvSpPr>
        <p:spPr>
          <a:xfrm>
            <a:off x="777240" y="4215384"/>
            <a:ext cx="10515600" cy="164592"/>
          </a:xfrm>
          <a:prstGeom prst="rect">
            <a:avLst/>
          </a:prstGeom>
          <a:noFill/>
          <a:ln/>
        </p:spPr>
        <p:txBody>
          <a:bodyPr wrap="square" lIns="0" tIns="0" rIns="0" bIns="0" rtlCol="0" anchor="ctr">
            <a:normAutofit/>
          </a:bodyPr>
          <a:lstStyle/>
          <a:p>
            <a:pPr marL="0" indent="0" algn="ctr">
              <a:lnSpc>
                <a:spcPct val="100000"/>
              </a:lnSpc>
              <a:buNone/>
            </a:pPr>
            <a:r>
              <a:rPr lang="en-US" sz="1020" dirty="0">
                <a:solidFill>
                  <a:srgbClr val="607084"/>
                </a:solidFill>
                <a:latin typeface="Aptos" pitchFamily="34" charset="0"/>
                <a:ea typeface="Aptos" pitchFamily="34" charset="-122"/>
                <a:cs typeface="Aptos" pitchFamily="34" charset="-120"/>
              </a:rPr>
              <a:t>Illustrative class images / 花の種類を示すイラスト</a:t>
            </a:r>
            <a:endParaRPr lang="en-US" sz="1020" dirty="0"/>
          </a:p>
        </p:txBody>
      </p:sp>
      <p:sp>
        <p:nvSpPr>
          <p:cNvPr id="31" name="Shape 24"/>
          <p:cNvSpPr/>
          <p:nvPr/>
        </p:nvSpPr>
        <p:spPr>
          <a:xfrm>
            <a:off x="740664" y="4498848"/>
            <a:ext cx="2331720" cy="438912"/>
          </a:xfrm>
          <a:prstGeom prst="rect">
            <a:avLst/>
          </a:prstGeom>
          <a:solidFill>
            <a:srgbClr val="1D3957"/>
          </a:solidFill>
          <a:ln w="3810">
            <a:solidFill>
              <a:srgbClr val="FFFFFF"/>
            </a:solidFill>
            <a:prstDash val="solid"/>
          </a:ln>
        </p:spPr>
        <p:txBody>
          <a:bodyPr/>
          <a:lstStyle/>
          <a:p>
            <a:endParaRPr lang="en-JP"/>
          </a:p>
        </p:txBody>
      </p:sp>
      <p:sp>
        <p:nvSpPr>
          <p:cNvPr id="32" name="Text 25"/>
          <p:cNvSpPr/>
          <p:nvPr/>
        </p:nvSpPr>
        <p:spPr>
          <a:xfrm>
            <a:off x="822960" y="4562856"/>
            <a:ext cx="2167128" cy="329184"/>
          </a:xfrm>
          <a:prstGeom prst="rect">
            <a:avLst/>
          </a:prstGeom>
          <a:noFill/>
          <a:ln/>
        </p:spPr>
        <p:txBody>
          <a:bodyPr wrap="square" lIns="0" tIns="0" rIns="0" bIns="0" rtlCol="0" anchor="ctr">
            <a:normAutofit/>
          </a:bodyPr>
          <a:lstStyle/>
          <a:p>
            <a:pPr marL="0" indent="0" algn="l">
              <a:lnSpc>
                <a:spcPct val="100000"/>
              </a:lnSpc>
              <a:buNone/>
            </a:pPr>
            <a:r>
              <a:rPr lang="en-US" sz="1110" b="1" dirty="0">
                <a:solidFill>
                  <a:srgbClr val="FFFFFF"/>
                </a:solidFill>
                <a:latin typeface="Aptos" pitchFamily="34" charset="0"/>
                <a:ea typeface="Aptos" pitchFamily="34" charset="-122"/>
                <a:cs typeface="Aptos" pitchFamily="34" charset="-120"/>
              </a:rPr>
              <a:t>Split / 分割</a:t>
            </a:r>
            <a:endParaRPr lang="en-US" sz="1110" dirty="0"/>
          </a:p>
        </p:txBody>
      </p:sp>
      <p:sp>
        <p:nvSpPr>
          <p:cNvPr id="33" name="Shape 26"/>
          <p:cNvSpPr/>
          <p:nvPr/>
        </p:nvSpPr>
        <p:spPr>
          <a:xfrm>
            <a:off x="3072384" y="4498848"/>
            <a:ext cx="2587752" cy="438912"/>
          </a:xfrm>
          <a:prstGeom prst="rect">
            <a:avLst/>
          </a:prstGeom>
          <a:solidFill>
            <a:srgbClr val="1D3957"/>
          </a:solidFill>
          <a:ln w="3810">
            <a:solidFill>
              <a:srgbClr val="FFFFFF"/>
            </a:solidFill>
            <a:prstDash val="solid"/>
          </a:ln>
        </p:spPr>
        <p:txBody>
          <a:bodyPr/>
          <a:lstStyle/>
          <a:p>
            <a:endParaRPr lang="en-JP"/>
          </a:p>
        </p:txBody>
      </p:sp>
      <p:sp>
        <p:nvSpPr>
          <p:cNvPr id="34" name="Text 27"/>
          <p:cNvSpPr/>
          <p:nvPr/>
        </p:nvSpPr>
        <p:spPr>
          <a:xfrm>
            <a:off x="3154680" y="4562856"/>
            <a:ext cx="2423160" cy="329184"/>
          </a:xfrm>
          <a:prstGeom prst="rect">
            <a:avLst/>
          </a:prstGeom>
          <a:noFill/>
          <a:ln/>
        </p:spPr>
        <p:txBody>
          <a:bodyPr wrap="square" lIns="0" tIns="0" rIns="0" bIns="0" rtlCol="0" anchor="ctr">
            <a:normAutofit/>
          </a:bodyPr>
          <a:lstStyle/>
          <a:p>
            <a:pPr marL="0" indent="0" algn="ctr">
              <a:lnSpc>
                <a:spcPct val="100000"/>
              </a:lnSpc>
              <a:buNone/>
            </a:pPr>
            <a:r>
              <a:rPr lang="en-US" sz="1110" b="1" dirty="0">
                <a:solidFill>
                  <a:srgbClr val="FFFFFF"/>
                </a:solidFill>
                <a:latin typeface="Aptos" pitchFamily="34" charset="0"/>
                <a:ea typeface="Aptos" pitchFamily="34" charset="-122"/>
                <a:cs typeface="Aptos" pitchFamily="34" charset="-120"/>
              </a:rPr>
              <a:t>Training / 学習</a:t>
            </a:r>
            <a:endParaRPr lang="en-US" sz="1110" dirty="0"/>
          </a:p>
        </p:txBody>
      </p:sp>
      <p:sp>
        <p:nvSpPr>
          <p:cNvPr id="35" name="Shape 28"/>
          <p:cNvSpPr/>
          <p:nvPr/>
        </p:nvSpPr>
        <p:spPr>
          <a:xfrm>
            <a:off x="5660136" y="4498848"/>
            <a:ext cx="2587752" cy="438912"/>
          </a:xfrm>
          <a:prstGeom prst="rect">
            <a:avLst/>
          </a:prstGeom>
          <a:solidFill>
            <a:srgbClr val="1D3957"/>
          </a:solidFill>
          <a:ln w="3810">
            <a:solidFill>
              <a:srgbClr val="FFFFFF"/>
            </a:solidFill>
            <a:prstDash val="solid"/>
          </a:ln>
        </p:spPr>
        <p:txBody>
          <a:bodyPr/>
          <a:lstStyle/>
          <a:p>
            <a:endParaRPr lang="en-JP"/>
          </a:p>
        </p:txBody>
      </p:sp>
      <p:sp>
        <p:nvSpPr>
          <p:cNvPr id="36" name="Text 29"/>
          <p:cNvSpPr/>
          <p:nvPr/>
        </p:nvSpPr>
        <p:spPr>
          <a:xfrm>
            <a:off x="5742432" y="4562856"/>
            <a:ext cx="2423160" cy="329184"/>
          </a:xfrm>
          <a:prstGeom prst="rect">
            <a:avLst/>
          </a:prstGeom>
          <a:noFill/>
          <a:ln/>
        </p:spPr>
        <p:txBody>
          <a:bodyPr wrap="square" lIns="0" tIns="0" rIns="0" bIns="0" rtlCol="0" anchor="ctr">
            <a:normAutofit/>
          </a:bodyPr>
          <a:lstStyle/>
          <a:p>
            <a:pPr marL="0" indent="0" algn="ctr">
              <a:lnSpc>
                <a:spcPct val="100000"/>
              </a:lnSpc>
              <a:buNone/>
            </a:pPr>
            <a:r>
              <a:rPr lang="en-US" sz="1110" b="1" dirty="0">
                <a:solidFill>
                  <a:srgbClr val="FFFFFF"/>
                </a:solidFill>
                <a:latin typeface="Aptos" pitchFamily="34" charset="0"/>
                <a:ea typeface="Aptos" pitchFamily="34" charset="-122"/>
                <a:cs typeface="Aptos" pitchFamily="34" charset="-120"/>
              </a:rPr>
              <a:t>Validation / 検証</a:t>
            </a:r>
            <a:endParaRPr lang="en-US" sz="1110" dirty="0"/>
          </a:p>
        </p:txBody>
      </p:sp>
      <p:sp>
        <p:nvSpPr>
          <p:cNvPr id="37" name="Shape 30"/>
          <p:cNvSpPr/>
          <p:nvPr/>
        </p:nvSpPr>
        <p:spPr>
          <a:xfrm>
            <a:off x="8247888" y="4498848"/>
            <a:ext cx="2587752" cy="438912"/>
          </a:xfrm>
          <a:prstGeom prst="rect">
            <a:avLst/>
          </a:prstGeom>
          <a:solidFill>
            <a:srgbClr val="1D3957"/>
          </a:solidFill>
          <a:ln w="3810">
            <a:solidFill>
              <a:srgbClr val="FFFFFF"/>
            </a:solidFill>
            <a:prstDash val="solid"/>
          </a:ln>
        </p:spPr>
        <p:txBody>
          <a:bodyPr/>
          <a:lstStyle/>
          <a:p>
            <a:endParaRPr lang="en-JP"/>
          </a:p>
        </p:txBody>
      </p:sp>
      <p:sp>
        <p:nvSpPr>
          <p:cNvPr id="38" name="Text 31"/>
          <p:cNvSpPr/>
          <p:nvPr/>
        </p:nvSpPr>
        <p:spPr>
          <a:xfrm>
            <a:off x="8330184" y="4562856"/>
            <a:ext cx="2423160" cy="329184"/>
          </a:xfrm>
          <a:prstGeom prst="rect">
            <a:avLst/>
          </a:prstGeom>
          <a:noFill/>
          <a:ln/>
        </p:spPr>
        <p:txBody>
          <a:bodyPr wrap="square" lIns="0" tIns="0" rIns="0" bIns="0" rtlCol="0" anchor="ctr">
            <a:normAutofit/>
          </a:bodyPr>
          <a:lstStyle/>
          <a:p>
            <a:pPr marL="0" indent="0" algn="ctr">
              <a:lnSpc>
                <a:spcPct val="100000"/>
              </a:lnSpc>
              <a:buNone/>
            </a:pPr>
            <a:r>
              <a:rPr lang="en-US" sz="1110" b="1" dirty="0">
                <a:solidFill>
                  <a:srgbClr val="FFFFFF"/>
                </a:solidFill>
                <a:latin typeface="Aptos" pitchFamily="34" charset="0"/>
                <a:ea typeface="Aptos" pitchFamily="34" charset="-122"/>
                <a:cs typeface="Aptos" pitchFamily="34" charset="-120"/>
              </a:rPr>
              <a:t>Test / テスト</a:t>
            </a:r>
            <a:endParaRPr lang="en-US" sz="1110" dirty="0"/>
          </a:p>
        </p:txBody>
      </p:sp>
      <p:sp>
        <p:nvSpPr>
          <p:cNvPr id="39" name="Shape 32"/>
          <p:cNvSpPr/>
          <p:nvPr/>
        </p:nvSpPr>
        <p:spPr>
          <a:xfrm>
            <a:off x="740664" y="4937760"/>
            <a:ext cx="2331720" cy="438912"/>
          </a:xfrm>
          <a:prstGeom prst="rect">
            <a:avLst/>
          </a:prstGeom>
          <a:solidFill>
            <a:srgbClr val="F5F8FC"/>
          </a:solidFill>
          <a:ln w="5715">
            <a:solidFill>
              <a:srgbClr val="CBD8E5"/>
            </a:solidFill>
            <a:prstDash val="solid"/>
          </a:ln>
        </p:spPr>
        <p:txBody>
          <a:bodyPr/>
          <a:lstStyle/>
          <a:p>
            <a:endParaRPr lang="en-JP"/>
          </a:p>
        </p:txBody>
      </p:sp>
      <p:sp>
        <p:nvSpPr>
          <p:cNvPr id="40" name="Text 33"/>
          <p:cNvSpPr/>
          <p:nvPr/>
        </p:nvSpPr>
        <p:spPr>
          <a:xfrm>
            <a:off x="813816" y="4983480"/>
            <a:ext cx="2185416" cy="365760"/>
          </a:xfrm>
          <a:prstGeom prst="rect">
            <a:avLst/>
          </a:prstGeom>
          <a:noFill/>
          <a:ln/>
        </p:spPr>
        <p:txBody>
          <a:bodyPr wrap="square" lIns="0" tIns="0" rIns="0" bIns="0" rtlCol="0" anchor="ctr">
            <a:normAutofit/>
          </a:bodyPr>
          <a:lstStyle/>
          <a:p>
            <a:pPr marL="0" indent="0" algn="l">
              <a:lnSpc>
                <a:spcPct val="100000"/>
              </a:lnSpc>
              <a:buNone/>
            </a:pPr>
            <a:r>
              <a:rPr lang="en-US" sz="1110" dirty="0">
                <a:solidFill>
                  <a:srgbClr val="253547"/>
                </a:solidFill>
                <a:latin typeface="Aptos" pitchFamily="34" charset="0"/>
                <a:ea typeface="Aptos" pitchFamily="34" charset="-122"/>
                <a:cs typeface="Aptos" pitchFamily="34" charset="-120"/>
              </a:rPr>
              <a:t>Ratio / 割合</a:t>
            </a:r>
            <a:endParaRPr lang="en-US" sz="1110" dirty="0"/>
          </a:p>
        </p:txBody>
      </p:sp>
      <p:sp>
        <p:nvSpPr>
          <p:cNvPr id="41" name="Shape 34"/>
          <p:cNvSpPr/>
          <p:nvPr/>
        </p:nvSpPr>
        <p:spPr>
          <a:xfrm>
            <a:off x="3072384" y="4937760"/>
            <a:ext cx="2587752" cy="438912"/>
          </a:xfrm>
          <a:prstGeom prst="rect">
            <a:avLst/>
          </a:prstGeom>
          <a:solidFill>
            <a:srgbClr val="F5F8FC"/>
          </a:solidFill>
          <a:ln w="5715">
            <a:solidFill>
              <a:srgbClr val="CBD8E5"/>
            </a:solidFill>
            <a:prstDash val="solid"/>
          </a:ln>
        </p:spPr>
        <p:txBody>
          <a:bodyPr/>
          <a:lstStyle/>
          <a:p>
            <a:endParaRPr lang="en-JP"/>
          </a:p>
        </p:txBody>
      </p:sp>
      <p:sp>
        <p:nvSpPr>
          <p:cNvPr id="42" name="Text 35"/>
          <p:cNvSpPr/>
          <p:nvPr/>
        </p:nvSpPr>
        <p:spPr>
          <a:xfrm>
            <a:off x="3145536" y="4983480"/>
            <a:ext cx="2441448" cy="365760"/>
          </a:xfrm>
          <a:prstGeom prst="rect">
            <a:avLst/>
          </a:prstGeom>
          <a:noFill/>
          <a:ln/>
        </p:spPr>
        <p:txBody>
          <a:bodyPr wrap="square" lIns="0" tIns="0" rIns="0" bIns="0" rtlCol="0" anchor="ctr">
            <a:normAutofit/>
          </a:bodyPr>
          <a:lstStyle/>
          <a:p>
            <a:pPr marL="0" indent="0" algn="ctr">
              <a:lnSpc>
                <a:spcPct val="100000"/>
              </a:lnSpc>
              <a:buNone/>
            </a:pPr>
            <a:r>
              <a:rPr lang="en-US" sz="1110" dirty="0">
                <a:solidFill>
                  <a:srgbClr val="1D3957"/>
                </a:solidFill>
                <a:latin typeface="Aptos" pitchFamily="34" charset="0"/>
                <a:ea typeface="Aptos" pitchFamily="34" charset="-122"/>
                <a:cs typeface="Aptos" pitchFamily="34" charset="-120"/>
              </a:rPr>
              <a:t>70%</a:t>
            </a:r>
            <a:endParaRPr lang="en-US" sz="1110" dirty="0"/>
          </a:p>
        </p:txBody>
      </p:sp>
      <p:sp>
        <p:nvSpPr>
          <p:cNvPr id="43" name="Shape 36"/>
          <p:cNvSpPr/>
          <p:nvPr/>
        </p:nvSpPr>
        <p:spPr>
          <a:xfrm>
            <a:off x="5660136" y="4937760"/>
            <a:ext cx="2587752" cy="438912"/>
          </a:xfrm>
          <a:prstGeom prst="rect">
            <a:avLst/>
          </a:prstGeom>
          <a:solidFill>
            <a:srgbClr val="F5F8FC"/>
          </a:solidFill>
          <a:ln w="5715">
            <a:solidFill>
              <a:srgbClr val="CBD8E5"/>
            </a:solidFill>
            <a:prstDash val="solid"/>
          </a:ln>
        </p:spPr>
        <p:txBody>
          <a:bodyPr/>
          <a:lstStyle/>
          <a:p>
            <a:endParaRPr lang="en-JP"/>
          </a:p>
        </p:txBody>
      </p:sp>
      <p:sp>
        <p:nvSpPr>
          <p:cNvPr id="44" name="Text 37"/>
          <p:cNvSpPr/>
          <p:nvPr/>
        </p:nvSpPr>
        <p:spPr>
          <a:xfrm>
            <a:off x="5733288" y="4983480"/>
            <a:ext cx="2441448" cy="365760"/>
          </a:xfrm>
          <a:prstGeom prst="rect">
            <a:avLst/>
          </a:prstGeom>
          <a:noFill/>
          <a:ln/>
        </p:spPr>
        <p:txBody>
          <a:bodyPr wrap="square" lIns="0" tIns="0" rIns="0" bIns="0" rtlCol="0" anchor="ctr">
            <a:normAutofit/>
          </a:bodyPr>
          <a:lstStyle/>
          <a:p>
            <a:pPr marL="0" indent="0" algn="ctr">
              <a:lnSpc>
                <a:spcPct val="100000"/>
              </a:lnSpc>
              <a:buNone/>
            </a:pPr>
            <a:r>
              <a:rPr lang="en-US" sz="1110" dirty="0">
                <a:solidFill>
                  <a:srgbClr val="1D3957"/>
                </a:solidFill>
                <a:latin typeface="Aptos" pitchFamily="34" charset="0"/>
                <a:ea typeface="Aptos" pitchFamily="34" charset="-122"/>
                <a:cs typeface="Aptos" pitchFamily="34" charset="-120"/>
              </a:rPr>
              <a:t>15%</a:t>
            </a:r>
            <a:endParaRPr lang="en-US" sz="1110" dirty="0"/>
          </a:p>
        </p:txBody>
      </p:sp>
      <p:sp>
        <p:nvSpPr>
          <p:cNvPr id="45" name="Shape 38"/>
          <p:cNvSpPr/>
          <p:nvPr/>
        </p:nvSpPr>
        <p:spPr>
          <a:xfrm>
            <a:off x="8247888" y="4937760"/>
            <a:ext cx="2587752" cy="438912"/>
          </a:xfrm>
          <a:prstGeom prst="rect">
            <a:avLst/>
          </a:prstGeom>
          <a:solidFill>
            <a:srgbClr val="F5F8FC"/>
          </a:solidFill>
          <a:ln w="5715">
            <a:solidFill>
              <a:srgbClr val="CBD8E5"/>
            </a:solidFill>
            <a:prstDash val="solid"/>
          </a:ln>
        </p:spPr>
        <p:txBody>
          <a:bodyPr/>
          <a:lstStyle/>
          <a:p>
            <a:endParaRPr lang="en-JP"/>
          </a:p>
        </p:txBody>
      </p:sp>
      <p:sp>
        <p:nvSpPr>
          <p:cNvPr id="46" name="Text 39"/>
          <p:cNvSpPr/>
          <p:nvPr/>
        </p:nvSpPr>
        <p:spPr>
          <a:xfrm>
            <a:off x="8321040" y="4983480"/>
            <a:ext cx="2441448" cy="365760"/>
          </a:xfrm>
          <a:prstGeom prst="rect">
            <a:avLst/>
          </a:prstGeom>
          <a:noFill/>
          <a:ln/>
        </p:spPr>
        <p:txBody>
          <a:bodyPr wrap="square" lIns="0" tIns="0" rIns="0" bIns="0" rtlCol="0" anchor="ctr">
            <a:normAutofit/>
          </a:bodyPr>
          <a:lstStyle/>
          <a:p>
            <a:pPr marL="0" indent="0" algn="ctr">
              <a:lnSpc>
                <a:spcPct val="100000"/>
              </a:lnSpc>
              <a:buNone/>
            </a:pPr>
            <a:r>
              <a:rPr lang="en-US" sz="1110" dirty="0">
                <a:solidFill>
                  <a:srgbClr val="1D3957"/>
                </a:solidFill>
                <a:latin typeface="Aptos" pitchFamily="34" charset="0"/>
                <a:ea typeface="Aptos" pitchFamily="34" charset="-122"/>
                <a:cs typeface="Aptos" pitchFamily="34" charset="-120"/>
              </a:rPr>
              <a:t>15%</a:t>
            </a:r>
            <a:endParaRPr lang="en-US" sz="1110" dirty="0"/>
          </a:p>
        </p:txBody>
      </p:sp>
      <p:sp>
        <p:nvSpPr>
          <p:cNvPr id="47" name="Shape 40"/>
          <p:cNvSpPr/>
          <p:nvPr/>
        </p:nvSpPr>
        <p:spPr>
          <a:xfrm>
            <a:off x="740664" y="5376672"/>
            <a:ext cx="2331720" cy="438912"/>
          </a:xfrm>
          <a:prstGeom prst="rect">
            <a:avLst/>
          </a:prstGeom>
          <a:solidFill>
            <a:srgbClr val="FFFFFF"/>
          </a:solidFill>
          <a:ln w="5715">
            <a:solidFill>
              <a:srgbClr val="CBD8E5"/>
            </a:solidFill>
            <a:prstDash val="solid"/>
          </a:ln>
        </p:spPr>
        <p:txBody>
          <a:bodyPr/>
          <a:lstStyle/>
          <a:p>
            <a:endParaRPr lang="en-JP"/>
          </a:p>
        </p:txBody>
      </p:sp>
      <p:sp>
        <p:nvSpPr>
          <p:cNvPr id="48" name="Text 41"/>
          <p:cNvSpPr/>
          <p:nvPr/>
        </p:nvSpPr>
        <p:spPr>
          <a:xfrm>
            <a:off x="813816" y="5422392"/>
            <a:ext cx="2185416" cy="365760"/>
          </a:xfrm>
          <a:prstGeom prst="rect">
            <a:avLst/>
          </a:prstGeom>
          <a:noFill/>
          <a:ln/>
        </p:spPr>
        <p:txBody>
          <a:bodyPr wrap="square" lIns="0" tIns="0" rIns="0" bIns="0" rtlCol="0" anchor="ctr">
            <a:normAutofit/>
          </a:bodyPr>
          <a:lstStyle/>
          <a:p>
            <a:pPr marL="0" indent="0" algn="l">
              <a:lnSpc>
                <a:spcPct val="100000"/>
              </a:lnSpc>
              <a:buNone/>
            </a:pPr>
            <a:r>
              <a:rPr lang="en-US" sz="1110" dirty="0">
                <a:solidFill>
                  <a:srgbClr val="253547"/>
                </a:solidFill>
                <a:latin typeface="Aptos" pitchFamily="34" charset="0"/>
                <a:ea typeface="Aptos" pitchFamily="34" charset="-122"/>
                <a:cs typeface="Aptos" pitchFamily="34" charset="-120"/>
              </a:rPr>
              <a:t>Purpose / 役割</a:t>
            </a:r>
            <a:endParaRPr lang="en-US" sz="1110" dirty="0"/>
          </a:p>
        </p:txBody>
      </p:sp>
      <p:sp>
        <p:nvSpPr>
          <p:cNvPr id="49" name="Shape 42"/>
          <p:cNvSpPr/>
          <p:nvPr/>
        </p:nvSpPr>
        <p:spPr>
          <a:xfrm>
            <a:off x="3072384" y="5376672"/>
            <a:ext cx="2587752" cy="438912"/>
          </a:xfrm>
          <a:prstGeom prst="rect">
            <a:avLst/>
          </a:prstGeom>
          <a:solidFill>
            <a:srgbClr val="FFFFFF"/>
          </a:solidFill>
          <a:ln w="5715">
            <a:solidFill>
              <a:srgbClr val="CBD8E5"/>
            </a:solidFill>
            <a:prstDash val="solid"/>
          </a:ln>
        </p:spPr>
        <p:txBody>
          <a:bodyPr/>
          <a:lstStyle/>
          <a:p>
            <a:endParaRPr lang="en-JP"/>
          </a:p>
        </p:txBody>
      </p:sp>
      <p:sp>
        <p:nvSpPr>
          <p:cNvPr id="50" name="Text 43"/>
          <p:cNvSpPr/>
          <p:nvPr/>
        </p:nvSpPr>
        <p:spPr>
          <a:xfrm>
            <a:off x="3145536" y="5422392"/>
            <a:ext cx="2441448" cy="365760"/>
          </a:xfrm>
          <a:prstGeom prst="rect">
            <a:avLst/>
          </a:prstGeom>
          <a:noFill/>
          <a:ln/>
        </p:spPr>
        <p:txBody>
          <a:bodyPr wrap="square" lIns="0" tIns="0" rIns="0" bIns="0" rtlCol="0" anchor="ctr">
            <a:normAutofit/>
          </a:bodyPr>
          <a:lstStyle/>
          <a:p>
            <a:pPr marL="0" indent="0" algn="ctr">
              <a:lnSpc>
                <a:spcPct val="100000"/>
              </a:lnSpc>
              <a:buNone/>
            </a:pPr>
            <a:r>
              <a:rPr lang="en-US" sz="1110" dirty="0">
                <a:solidFill>
                  <a:srgbClr val="1D3957"/>
                </a:solidFill>
                <a:latin typeface="Aptos" pitchFamily="34" charset="0"/>
                <a:ea typeface="Aptos" pitchFamily="34" charset="-122"/>
                <a:cs typeface="Aptos" pitchFamily="34" charset="-120"/>
              </a:rPr>
              <a:t>Update weights</a:t>
            </a:r>
            <a:endParaRPr lang="en-US" sz="1110" dirty="0"/>
          </a:p>
        </p:txBody>
      </p:sp>
      <p:sp>
        <p:nvSpPr>
          <p:cNvPr id="51" name="Shape 44"/>
          <p:cNvSpPr/>
          <p:nvPr/>
        </p:nvSpPr>
        <p:spPr>
          <a:xfrm>
            <a:off x="5660136" y="5376672"/>
            <a:ext cx="2587752" cy="438912"/>
          </a:xfrm>
          <a:prstGeom prst="rect">
            <a:avLst/>
          </a:prstGeom>
          <a:solidFill>
            <a:srgbClr val="FFFFFF"/>
          </a:solidFill>
          <a:ln w="5715">
            <a:solidFill>
              <a:srgbClr val="CBD8E5"/>
            </a:solidFill>
            <a:prstDash val="solid"/>
          </a:ln>
        </p:spPr>
        <p:txBody>
          <a:bodyPr/>
          <a:lstStyle/>
          <a:p>
            <a:endParaRPr lang="en-JP"/>
          </a:p>
        </p:txBody>
      </p:sp>
      <p:sp>
        <p:nvSpPr>
          <p:cNvPr id="52" name="Text 45"/>
          <p:cNvSpPr/>
          <p:nvPr/>
        </p:nvSpPr>
        <p:spPr>
          <a:xfrm>
            <a:off x="5733288" y="5422392"/>
            <a:ext cx="2441448" cy="365760"/>
          </a:xfrm>
          <a:prstGeom prst="rect">
            <a:avLst/>
          </a:prstGeom>
          <a:noFill/>
          <a:ln/>
        </p:spPr>
        <p:txBody>
          <a:bodyPr wrap="square" lIns="0" tIns="0" rIns="0" bIns="0" rtlCol="0" anchor="ctr">
            <a:normAutofit/>
          </a:bodyPr>
          <a:lstStyle/>
          <a:p>
            <a:pPr marL="0" indent="0" algn="ctr">
              <a:lnSpc>
                <a:spcPct val="100000"/>
              </a:lnSpc>
              <a:buNone/>
            </a:pPr>
            <a:r>
              <a:rPr lang="en-US" sz="1110" dirty="0">
                <a:solidFill>
                  <a:srgbClr val="1D3957"/>
                </a:solidFill>
                <a:latin typeface="Aptos" pitchFamily="34" charset="0"/>
                <a:ea typeface="Aptos" pitchFamily="34" charset="-122"/>
                <a:cs typeface="Aptos" pitchFamily="34" charset="-120"/>
              </a:rPr>
              <a:t>Select model</a:t>
            </a:r>
            <a:endParaRPr lang="en-US" sz="1110" dirty="0"/>
          </a:p>
        </p:txBody>
      </p:sp>
      <p:sp>
        <p:nvSpPr>
          <p:cNvPr id="53" name="Shape 46"/>
          <p:cNvSpPr/>
          <p:nvPr/>
        </p:nvSpPr>
        <p:spPr>
          <a:xfrm>
            <a:off x="8247888" y="5376672"/>
            <a:ext cx="2587752" cy="438912"/>
          </a:xfrm>
          <a:prstGeom prst="rect">
            <a:avLst/>
          </a:prstGeom>
          <a:solidFill>
            <a:srgbClr val="FFFFFF"/>
          </a:solidFill>
          <a:ln w="5715">
            <a:solidFill>
              <a:srgbClr val="CBD8E5"/>
            </a:solidFill>
            <a:prstDash val="solid"/>
          </a:ln>
        </p:spPr>
        <p:txBody>
          <a:bodyPr/>
          <a:lstStyle/>
          <a:p>
            <a:endParaRPr lang="en-JP"/>
          </a:p>
        </p:txBody>
      </p:sp>
      <p:sp>
        <p:nvSpPr>
          <p:cNvPr id="54" name="Text 47"/>
          <p:cNvSpPr/>
          <p:nvPr/>
        </p:nvSpPr>
        <p:spPr>
          <a:xfrm>
            <a:off x="8321040" y="5422392"/>
            <a:ext cx="2441448" cy="365760"/>
          </a:xfrm>
          <a:prstGeom prst="rect">
            <a:avLst/>
          </a:prstGeom>
          <a:noFill/>
          <a:ln/>
        </p:spPr>
        <p:txBody>
          <a:bodyPr wrap="square" lIns="0" tIns="0" rIns="0" bIns="0" rtlCol="0" anchor="ctr">
            <a:normAutofit/>
          </a:bodyPr>
          <a:lstStyle/>
          <a:p>
            <a:pPr marL="0" indent="0" algn="ctr">
              <a:lnSpc>
                <a:spcPct val="100000"/>
              </a:lnSpc>
              <a:buNone/>
            </a:pPr>
            <a:r>
              <a:rPr lang="en-US" sz="1110" dirty="0">
                <a:solidFill>
                  <a:srgbClr val="1D3957"/>
                </a:solidFill>
                <a:latin typeface="Aptos" pitchFamily="34" charset="0"/>
                <a:ea typeface="Aptos" pitchFamily="34" charset="-122"/>
                <a:cs typeface="Aptos" pitchFamily="34" charset="-120"/>
              </a:rPr>
              <a:t>Final evaluation</a:t>
            </a:r>
            <a:endParaRPr lang="en-US" sz="1110" dirty="0"/>
          </a:p>
        </p:txBody>
      </p:sp>
      <p:sp>
        <p:nvSpPr>
          <p:cNvPr id="55" name="Shape 48"/>
          <p:cNvSpPr/>
          <p:nvPr/>
        </p:nvSpPr>
        <p:spPr>
          <a:xfrm>
            <a:off x="612648" y="5916168"/>
            <a:ext cx="10972800" cy="484632"/>
          </a:xfrm>
          <a:prstGeom prst="roundRect">
            <a:avLst>
              <a:gd name="adj" fmla="val 15094"/>
            </a:avLst>
          </a:prstGeom>
          <a:solidFill>
            <a:srgbClr val="DDF5EF"/>
          </a:solidFill>
          <a:ln w="8890">
            <a:solidFill>
              <a:srgbClr val="DDF5EF"/>
            </a:solidFill>
            <a:prstDash val="solid"/>
          </a:ln>
        </p:spPr>
        <p:txBody>
          <a:bodyPr/>
          <a:lstStyle/>
          <a:p>
            <a:endParaRPr lang="en-JP"/>
          </a:p>
        </p:txBody>
      </p:sp>
      <p:sp>
        <p:nvSpPr>
          <p:cNvPr id="56" name="Text 49"/>
          <p:cNvSpPr/>
          <p:nvPr/>
        </p:nvSpPr>
        <p:spPr>
          <a:xfrm>
            <a:off x="768096" y="5952744"/>
            <a:ext cx="5029200" cy="182880"/>
          </a:xfrm>
          <a:prstGeom prst="rect">
            <a:avLst/>
          </a:prstGeom>
          <a:noFill/>
          <a:ln/>
        </p:spPr>
        <p:txBody>
          <a:bodyPr wrap="square" lIns="0" tIns="0" rIns="0" bIns="0" rtlCol="0" anchor="ctr">
            <a:normAutofit lnSpcReduction="10000"/>
          </a:bodyPr>
          <a:lstStyle/>
          <a:p>
            <a:pPr marL="0" indent="0" algn="l">
              <a:lnSpc>
                <a:spcPct val="100000"/>
              </a:lnSpc>
              <a:buNone/>
            </a:pPr>
            <a:r>
              <a:rPr lang="en-US" sz="1210" b="1" dirty="0">
                <a:solidFill>
                  <a:srgbClr val="1D3957"/>
                </a:solidFill>
                <a:latin typeface="Aptos" pitchFamily="34" charset="0"/>
                <a:ea typeface="Aptos" pitchFamily="34" charset="-122"/>
                <a:cs typeface="Aptos" pitchFamily="34" charset="-120"/>
              </a:rPr>
              <a:t>Same stratified 70/15/15 split (seed=42) as the original Flower CNN</a:t>
            </a:r>
            <a:endParaRPr lang="en-US" sz="1210" dirty="0"/>
          </a:p>
        </p:txBody>
      </p:sp>
      <p:sp>
        <p:nvSpPr>
          <p:cNvPr id="57" name="Text 50"/>
          <p:cNvSpPr/>
          <p:nvPr/>
        </p:nvSpPr>
        <p:spPr>
          <a:xfrm>
            <a:off x="5760720" y="5943600"/>
            <a:ext cx="5669280" cy="219456"/>
          </a:xfrm>
          <a:prstGeom prst="rect">
            <a:avLst/>
          </a:prstGeom>
          <a:noFill/>
          <a:ln/>
        </p:spPr>
        <p:txBody>
          <a:bodyPr wrap="square" lIns="0" tIns="0" rIns="0" bIns="0" rtlCol="0" anchor="ctr">
            <a:normAutofit/>
          </a:bodyPr>
          <a:lstStyle/>
          <a:p>
            <a:pPr marL="0" indent="0" algn="l">
              <a:lnSpc>
                <a:spcPct val="100000"/>
              </a:lnSpc>
              <a:buNone/>
            </a:pPr>
            <a:r>
              <a:rPr lang="en-US" sz="1210" dirty="0">
                <a:solidFill>
                  <a:srgbClr val="1D3957"/>
                </a:solidFill>
                <a:latin typeface="Noto Sans CJK JP" pitchFamily="34" charset="0"/>
                <a:ea typeface="Noto Sans CJK JP" pitchFamily="34" charset="-122"/>
                <a:cs typeface="Noto Sans CJK JP" pitchFamily="34" charset="-120"/>
              </a:rPr>
              <a:t>元の花CNNと同じ乱数シード42・層化分割を使用します。</a:t>
            </a:r>
            <a:endParaRPr lang="en-US" sz="121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Preprocessing must match pretrained weights</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学習済み重みに合わせた前処理</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06</a:t>
            </a:r>
            <a:endParaRPr lang="en-US" sz="870" dirty="0"/>
          </a:p>
        </p:txBody>
      </p:sp>
      <p:sp>
        <p:nvSpPr>
          <p:cNvPr id="10" name="Shape 8"/>
          <p:cNvSpPr/>
          <p:nvPr/>
        </p:nvSpPr>
        <p:spPr>
          <a:xfrm>
            <a:off x="658368" y="1463040"/>
            <a:ext cx="3127248" cy="512064"/>
          </a:xfrm>
          <a:prstGeom prst="rect">
            <a:avLst/>
          </a:prstGeom>
          <a:solidFill>
            <a:srgbClr val="1D3957"/>
          </a:solidFill>
          <a:ln w="3810">
            <a:solidFill>
              <a:srgbClr val="FFFFFF"/>
            </a:solidFill>
            <a:prstDash val="solid"/>
          </a:ln>
        </p:spPr>
        <p:txBody>
          <a:bodyPr/>
          <a:lstStyle/>
          <a:p>
            <a:endParaRPr lang="en-JP"/>
          </a:p>
        </p:txBody>
      </p:sp>
      <p:sp>
        <p:nvSpPr>
          <p:cNvPr id="11" name="Text 9"/>
          <p:cNvSpPr/>
          <p:nvPr/>
        </p:nvSpPr>
        <p:spPr>
          <a:xfrm>
            <a:off x="740664" y="1527048"/>
            <a:ext cx="2962656" cy="402336"/>
          </a:xfrm>
          <a:prstGeom prst="rect">
            <a:avLst/>
          </a:prstGeom>
          <a:noFill/>
          <a:ln/>
        </p:spPr>
        <p:txBody>
          <a:bodyPr wrap="square" lIns="0" tIns="0" rIns="0" bIns="0" rtlCol="0" anchor="ctr">
            <a:normAutofit/>
          </a:bodyPr>
          <a:lstStyle/>
          <a:p>
            <a:pPr marL="0" indent="0" algn="l">
              <a:lnSpc>
                <a:spcPct val="100000"/>
              </a:lnSpc>
              <a:buNone/>
            </a:pPr>
            <a:r>
              <a:rPr lang="en-US" sz="1290" b="1" dirty="0">
                <a:solidFill>
                  <a:srgbClr val="FFFFFF"/>
                </a:solidFill>
                <a:latin typeface="Aptos" pitchFamily="34" charset="0"/>
                <a:ea typeface="Aptos" pitchFamily="34" charset="-122"/>
                <a:cs typeface="Aptos" pitchFamily="34" charset="-120"/>
              </a:rPr>
              <a:t>Step / 手順</a:t>
            </a:r>
            <a:endParaRPr lang="en-US" sz="1290" dirty="0"/>
          </a:p>
        </p:txBody>
      </p:sp>
      <p:sp>
        <p:nvSpPr>
          <p:cNvPr id="12" name="Shape 10"/>
          <p:cNvSpPr/>
          <p:nvPr/>
        </p:nvSpPr>
        <p:spPr>
          <a:xfrm>
            <a:off x="3785616" y="1463040"/>
            <a:ext cx="3566160" cy="512064"/>
          </a:xfrm>
          <a:prstGeom prst="rect">
            <a:avLst/>
          </a:prstGeom>
          <a:solidFill>
            <a:srgbClr val="1D3957"/>
          </a:solidFill>
          <a:ln w="3810">
            <a:solidFill>
              <a:srgbClr val="FFFFFF"/>
            </a:solidFill>
            <a:prstDash val="solid"/>
          </a:ln>
        </p:spPr>
        <p:txBody>
          <a:bodyPr/>
          <a:lstStyle/>
          <a:p>
            <a:endParaRPr lang="en-JP"/>
          </a:p>
        </p:txBody>
      </p:sp>
      <p:sp>
        <p:nvSpPr>
          <p:cNvPr id="13" name="Text 11"/>
          <p:cNvSpPr/>
          <p:nvPr/>
        </p:nvSpPr>
        <p:spPr>
          <a:xfrm>
            <a:off x="3867912" y="1527048"/>
            <a:ext cx="3401568" cy="402336"/>
          </a:xfrm>
          <a:prstGeom prst="rect">
            <a:avLst/>
          </a:prstGeom>
          <a:noFill/>
          <a:ln/>
        </p:spPr>
        <p:txBody>
          <a:bodyPr wrap="square" lIns="0" tIns="0" rIns="0" bIns="0" rtlCol="0" anchor="ctr">
            <a:normAutofit/>
          </a:bodyPr>
          <a:lstStyle/>
          <a:p>
            <a:pPr marL="0" indent="0" algn="ctr">
              <a:lnSpc>
                <a:spcPct val="100000"/>
              </a:lnSpc>
              <a:buNone/>
            </a:pPr>
            <a:r>
              <a:rPr lang="en-US" sz="1290" b="1" dirty="0">
                <a:solidFill>
                  <a:srgbClr val="FFFFFF"/>
                </a:solidFill>
                <a:latin typeface="Aptos" pitchFamily="34" charset="0"/>
                <a:ea typeface="Aptos" pitchFamily="34" charset="-122"/>
                <a:cs typeface="Aptos" pitchFamily="34" charset="-120"/>
              </a:rPr>
              <a:t>Our small CNN</a:t>
            </a:r>
            <a:endParaRPr lang="en-US" sz="1290" dirty="0"/>
          </a:p>
        </p:txBody>
      </p:sp>
      <p:sp>
        <p:nvSpPr>
          <p:cNvPr id="14" name="Shape 12"/>
          <p:cNvSpPr/>
          <p:nvPr/>
        </p:nvSpPr>
        <p:spPr>
          <a:xfrm>
            <a:off x="7351776" y="1463040"/>
            <a:ext cx="4041648" cy="512064"/>
          </a:xfrm>
          <a:prstGeom prst="rect">
            <a:avLst/>
          </a:prstGeom>
          <a:solidFill>
            <a:srgbClr val="1D3957"/>
          </a:solidFill>
          <a:ln w="3810">
            <a:solidFill>
              <a:srgbClr val="FFFFFF"/>
            </a:solidFill>
            <a:prstDash val="solid"/>
          </a:ln>
        </p:spPr>
        <p:txBody>
          <a:bodyPr/>
          <a:lstStyle/>
          <a:p>
            <a:endParaRPr lang="en-JP"/>
          </a:p>
        </p:txBody>
      </p:sp>
      <p:sp>
        <p:nvSpPr>
          <p:cNvPr id="15" name="Text 13"/>
          <p:cNvSpPr/>
          <p:nvPr/>
        </p:nvSpPr>
        <p:spPr>
          <a:xfrm>
            <a:off x="7434072" y="1527048"/>
            <a:ext cx="3877056" cy="402336"/>
          </a:xfrm>
          <a:prstGeom prst="rect">
            <a:avLst/>
          </a:prstGeom>
          <a:noFill/>
          <a:ln/>
        </p:spPr>
        <p:txBody>
          <a:bodyPr wrap="square" lIns="0" tIns="0" rIns="0" bIns="0" rtlCol="0" anchor="ctr">
            <a:normAutofit/>
          </a:bodyPr>
          <a:lstStyle/>
          <a:p>
            <a:pPr marL="0" indent="0" algn="ctr">
              <a:lnSpc>
                <a:spcPct val="100000"/>
              </a:lnSpc>
              <a:buNone/>
            </a:pPr>
            <a:r>
              <a:rPr lang="en-US" sz="1290" b="1" dirty="0">
                <a:solidFill>
                  <a:srgbClr val="FFFFFF"/>
                </a:solidFill>
                <a:latin typeface="Aptos" pitchFamily="34" charset="0"/>
                <a:ea typeface="Aptos" pitchFamily="34" charset="-122"/>
                <a:cs typeface="Aptos" pitchFamily="34" charset="-120"/>
              </a:rPr>
              <a:t>Pretrained ResNet</a:t>
            </a:r>
            <a:endParaRPr lang="en-US" sz="1290" dirty="0"/>
          </a:p>
        </p:txBody>
      </p:sp>
      <p:sp>
        <p:nvSpPr>
          <p:cNvPr id="16" name="Shape 14"/>
          <p:cNvSpPr/>
          <p:nvPr/>
        </p:nvSpPr>
        <p:spPr>
          <a:xfrm>
            <a:off x="658368" y="1975104"/>
            <a:ext cx="3127248" cy="512064"/>
          </a:xfrm>
          <a:prstGeom prst="rect">
            <a:avLst/>
          </a:prstGeom>
          <a:solidFill>
            <a:srgbClr val="F5F8FC"/>
          </a:solidFill>
          <a:ln w="5715">
            <a:solidFill>
              <a:srgbClr val="CBD8E5"/>
            </a:solidFill>
            <a:prstDash val="solid"/>
          </a:ln>
        </p:spPr>
        <p:txBody>
          <a:bodyPr/>
          <a:lstStyle/>
          <a:p>
            <a:endParaRPr lang="en-JP"/>
          </a:p>
        </p:txBody>
      </p:sp>
      <p:sp>
        <p:nvSpPr>
          <p:cNvPr id="17" name="Text 15"/>
          <p:cNvSpPr/>
          <p:nvPr/>
        </p:nvSpPr>
        <p:spPr>
          <a:xfrm>
            <a:off x="731520" y="2020824"/>
            <a:ext cx="2980944" cy="438912"/>
          </a:xfrm>
          <a:prstGeom prst="rect">
            <a:avLst/>
          </a:prstGeom>
          <a:noFill/>
          <a:ln/>
        </p:spPr>
        <p:txBody>
          <a:bodyPr wrap="square" lIns="0" tIns="0" rIns="0" bIns="0" rtlCol="0" anchor="ctr">
            <a:normAutofit/>
          </a:bodyPr>
          <a:lstStyle/>
          <a:p>
            <a:pPr marL="0" indent="0" algn="l">
              <a:lnSpc>
                <a:spcPct val="100000"/>
              </a:lnSpc>
              <a:buNone/>
            </a:pPr>
            <a:r>
              <a:rPr lang="en-US" sz="1290" dirty="0">
                <a:solidFill>
                  <a:srgbClr val="253547"/>
                </a:solidFill>
                <a:latin typeface="Aptos" pitchFamily="34" charset="0"/>
                <a:ea typeface="Aptos" pitchFamily="34" charset="-122"/>
                <a:cs typeface="Aptos" pitchFamily="34" charset="-120"/>
              </a:rPr>
              <a:t>Input size / 入力</a:t>
            </a:r>
            <a:endParaRPr lang="en-US" sz="1290" dirty="0"/>
          </a:p>
        </p:txBody>
      </p:sp>
      <p:sp>
        <p:nvSpPr>
          <p:cNvPr id="18" name="Shape 16"/>
          <p:cNvSpPr/>
          <p:nvPr/>
        </p:nvSpPr>
        <p:spPr>
          <a:xfrm>
            <a:off x="3785616" y="1975104"/>
            <a:ext cx="3566160" cy="512064"/>
          </a:xfrm>
          <a:prstGeom prst="rect">
            <a:avLst/>
          </a:prstGeom>
          <a:solidFill>
            <a:srgbClr val="F5F8FC"/>
          </a:solidFill>
          <a:ln w="5715">
            <a:solidFill>
              <a:srgbClr val="CBD8E5"/>
            </a:solidFill>
            <a:prstDash val="solid"/>
          </a:ln>
        </p:spPr>
        <p:txBody>
          <a:bodyPr/>
          <a:lstStyle/>
          <a:p>
            <a:endParaRPr lang="en-JP"/>
          </a:p>
        </p:txBody>
      </p:sp>
      <p:sp>
        <p:nvSpPr>
          <p:cNvPr id="19" name="Text 17"/>
          <p:cNvSpPr/>
          <p:nvPr/>
        </p:nvSpPr>
        <p:spPr>
          <a:xfrm>
            <a:off x="3858768" y="2020824"/>
            <a:ext cx="3419856" cy="438912"/>
          </a:xfrm>
          <a:prstGeom prst="rect">
            <a:avLst/>
          </a:prstGeom>
          <a:noFill/>
          <a:ln/>
        </p:spPr>
        <p:txBody>
          <a:bodyPr wrap="square" lIns="0" tIns="0" rIns="0" bIns="0" rtlCol="0" anchor="ctr">
            <a:normAutofit/>
          </a:bodyPr>
          <a:lstStyle/>
          <a:p>
            <a:pPr marL="0" indent="0" algn="ctr">
              <a:lnSpc>
                <a:spcPct val="100000"/>
              </a:lnSpc>
              <a:buNone/>
            </a:pPr>
            <a:r>
              <a:rPr lang="en-US" sz="1290" dirty="0">
                <a:solidFill>
                  <a:srgbClr val="1D3957"/>
                </a:solidFill>
                <a:latin typeface="Aptos" pitchFamily="34" charset="0"/>
                <a:ea typeface="Aptos" pitchFamily="34" charset="-122"/>
                <a:cs typeface="Aptos" pitchFamily="34" charset="-120"/>
              </a:rPr>
              <a:t>96 × 96</a:t>
            </a:r>
            <a:endParaRPr lang="en-US" sz="1290" dirty="0"/>
          </a:p>
        </p:txBody>
      </p:sp>
      <p:sp>
        <p:nvSpPr>
          <p:cNvPr id="20" name="Shape 18"/>
          <p:cNvSpPr/>
          <p:nvPr/>
        </p:nvSpPr>
        <p:spPr>
          <a:xfrm>
            <a:off x="7351776" y="1975104"/>
            <a:ext cx="4041648" cy="512064"/>
          </a:xfrm>
          <a:prstGeom prst="rect">
            <a:avLst/>
          </a:prstGeom>
          <a:solidFill>
            <a:srgbClr val="F5F8FC"/>
          </a:solidFill>
          <a:ln w="5715">
            <a:solidFill>
              <a:srgbClr val="CBD8E5"/>
            </a:solidFill>
            <a:prstDash val="solid"/>
          </a:ln>
        </p:spPr>
        <p:txBody>
          <a:bodyPr/>
          <a:lstStyle/>
          <a:p>
            <a:endParaRPr lang="en-JP"/>
          </a:p>
        </p:txBody>
      </p:sp>
      <p:sp>
        <p:nvSpPr>
          <p:cNvPr id="21" name="Text 19"/>
          <p:cNvSpPr/>
          <p:nvPr/>
        </p:nvSpPr>
        <p:spPr>
          <a:xfrm>
            <a:off x="7424928" y="2020824"/>
            <a:ext cx="3895344" cy="438912"/>
          </a:xfrm>
          <a:prstGeom prst="rect">
            <a:avLst/>
          </a:prstGeom>
          <a:noFill/>
          <a:ln/>
        </p:spPr>
        <p:txBody>
          <a:bodyPr wrap="square" lIns="0" tIns="0" rIns="0" bIns="0" rtlCol="0" anchor="ctr">
            <a:normAutofit/>
          </a:bodyPr>
          <a:lstStyle/>
          <a:p>
            <a:pPr marL="0" indent="0" algn="ctr">
              <a:lnSpc>
                <a:spcPct val="100000"/>
              </a:lnSpc>
              <a:buNone/>
            </a:pPr>
            <a:r>
              <a:rPr lang="en-US" sz="1290" dirty="0">
                <a:solidFill>
                  <a:srgbClr val="1D3957"/>
                </a:solidFill>
                <a:latin typeface="Aptos" pitchFamily="34" charset="0"/>
                <a:ea typeface="Aptos" pitchFamily="34" charset="-122"/>
                <a:cs typeface="Aptos" pitchFamily="34" charset="-120"/>
              </a:rPr>
              <a:t>224 × 224 crop</a:t>
            </a:r>
            <a:endParaRPr lang="en-US" sz="1290" dirty="0"/>
          </a:p>
        </p:txBody>
      </p:sp>
      <p:sp>
        <p:nvSpPr>
          <p:cNvPr id="22" name="Shape 20"/>
          <p:cNvSpPr/>
          <p:nvPr/>
        </p:nvSpPr>
        <p:spPr>
          <a:xfrm>
            <a:off x="658368" y="2487168"/>
            <a:ext cx="3127248" cy="512064"/>
          </a:xfrm>
          <a:prstGeom prst="rect">
            <a:avLst/>
          </a:prstGeom>
          <a:solidFill>
            <a:srgbClr val="FFFFFF"/>
          </a:solidFill>
          <a:ln w="5715">
            <a:solidFill>
              <a:srgbClr val="CBD8E5"/>
            </a:solidFill>
            <a:prstDash val="solid"/>
          </a:ln>
        </p:spPr>
        <p:txBody>
          <a:bodyPr/>
          <a:lstStyle/>
          <a:p>
            <a:endParaRPr lang="en-JP"/>
          </a:p>
        </p:txBody>
      </p:sp>
      <p:sp>
        <p:nvSpPr>
          <p:cNvPr id="23" name="Text 21"/>
          <p:cNvSpPr/>
          <p:nvPr/>
        </p:nvSpPr>
        <p:spPr>
          <a:xfrm>
            <a:off x="731520" y="2532888"/>
            <a:ext cx="2980944" cy="438912"/>
          </a:xfrm>
          <a:prstGeom prst="rect">
            <a:avLst/>
          </a:prstGeom>
          <a:noFill/>
          <a:ln/>
        </p:spPr>
        <p:txBody>
          <a:bodyPr wrap="square" lIns="0" tIns="0" rIns="0" bIns="0" rtlCol="0" anchor="ctr">
            <a:normAutofit/>
          </a:bodyPr>
          <a:lstStyle/>
          <a:p>
            <a:pPr marL="0" indent="0" algn="l">
              <a:lnSpc>
                <a:spcPct val="100000"/>
              </a:lnSpc>
              <a:buNone/>
            </a:pPr>
            <a:r>
              <a:rPr lang="en-US" sz="1290" dirty="0">
                <a:solidFill>
                  <a:srgbClr val="253547"/>
                </a:solidFill>
                <a:latin typeface="Aptos" pitchFamily="34" charset="0"/>
                <a:ea typeface="Aptos" pitchFamily="34" charset="-122"/>
                <a:cs typeface="Aptos" pitchFamily="34" charset="-120"/>
              </a:rPr>
              <a:t>Channels / チャネル</a:t>
            </a:r>
            <a:endParaRPr lang="en-US" sz="1290" dirty="0"/>
          </a:p>
        </p:txBody>
      </p:sp>
      <p:sp>
        <p:nvSpPr>
          <p:cNvPr id="24" name="Shape 22"/>
          <p:cNvSpPr/>
          <p:nvPr/>
        </p:nvSpPr>
        <p:spPr>
          <a:xfrm>
            <a:off x="3785616" y="2487168"/>
            <a:ext cx="3566160" cy="512064"/>
          </a:xfrm>
          <a:prstGeom prst="rect">
            <a:avLst/>
          </a:prstGeom>
          <a:solidFill>
            <a:srgbClr val="FFFFFF"/>
          </a:solidFill>
          <a:ln w="5715">
            <a:solidFill>
              <a:srgbClr val="CBD8E5"/>
            </a:solidFill>
            <a:prstDash val="solid"/>
          </a:ln>
        </p:spPr>
        <p:txBody>
          <a:bodyPr/>
          <a:lstStyle/>
          <a:p>
            <a:endParaRPr lang="en-JP"/>
          </a:p>
        </p:txBody>
      </p:sp>
      <p:sp>
        <p:nvSpPr>
          <p:cNvPr id="25" name="Text 23"/>
          <p:cNvSpPr/>
          <p:nvPr/>
        </p:nvSpPr>
        <p:spPr>
          <a:xfrm>
            <a:off x="3858768" y="2532888"/>
            <a:ext cx="3419856" cy="438912"/>
          </a:xfrm>
          <a:prstGeom prst="rect">
            <a:avLst/>
          </a:prstGeom>
          <a:noFill/>
          <a:ln/>
        </p:spPr>
        <p:txBody>
          <a:bodyPr wrap="square" lIns="0" tIns="0" rIns="0" bIns="0" rtlCol="0" anchor="ctr">
            <a:normAutofit/>
          </a:bodyPr>
          <a:lstStyle/>
          <a:p>
            <a:pPr marL="0" indent="0" algn="ctr">
              <a:lnSpc>
                <a:spcPct val="100000"/>
              </a:lnSpc>
              <a:buNone/>
            </a:pPr>
            <a:r>
              <a:rPr lang="en-US" sz="1290" dirty="0">
                <a:solidFill>
                  <a:srgbClr val="1D3957"/>
                </a:solidFill>
                <a:latin typeface="Aptos" pitchFamily="34" charset="0"/>
                <a:ea typeface="Aptos" pitchFamily="34" charset="-122"/>
                <a:cs typeface="Aptos" pitchFamily="34" charset="-120"/>
              </a:rPr>
              <a:t>RGB (3)</a:t>
            </a:r>
            <a:endParaRPr lang="en-US" sz="1290" dirty="0"/>
          </a:p>
        </p:txBody>
      </p:sp>
      <p:sp>
        <p:nvSpPr>
          <p:cNvPr id="26" name="Shape 24"/>
          <p:cNvSpPr/>
          <p:nvPr/>
        </p:nvSpPr>
        <p:spPr>
          <a:xfrm>
            <a:off x="7351776" y="2487168"/>
            <a:ext cx="4041648" cy="512064"/>
          </a:xfrm>
          <a:prstGeom prst="rect">
            <a:avLst/>
          </a:prstGeom>
          <a:solidFill>
            <a:srgbClr val="FFFFFF"/>
          </a:solidFill>
          <a:ln w="5715">
            <a:solidFill>
              <a:srgbClr val="CBD8E5"/>
            </a:solidFill>
            <a:prstDash val="solid"/>
          </a:ln>
        </p:spPr>
        <p:txBody>
          <a:bodyPr/>
          <a:lstStyle/>
          <a:p>
            <a:endParaRPr lang="en-JP"/>
          </a:p>
        </p:txBody>
      </p:sp>
      <p:sp>
        <p:nvSpPr>
          <p:cNvPr id="27" name="Text 25"/>
          <p:cNvSpPr/>
          <p:nvPr/>
        </p:nvSpPr>
        <p:spPr>
          <a:xfrm>
            <a:off x="7424928" y="2532888"/>
            <a:ext cx="3895344" cy="438912"/>
          </a:xfrm>
          <a:prstGeom prst="rect">
            <a:avLst/>
          </a:prstGeom>
          <a:noFill/>
          <a:ln/>
        </p:spPr>
        <p:txBody>
          <a:bodyPr wrap="square" lIns="0" tIns="0" rIns="0" bIns="0" rtlCol="0" anchor="ctr">
            <a:normAutofit/>
          </a:bodyPr>
          <a:lstStyle/>
          <a:p>
            <a:pPr marL="0" indent="0" algn="ctr">
              <a:lnSpc>
                <a:spcPct val="100000"/>
              </a:lnSpc>
              <a:buNone/>
            </a:pPr>
            <a:r>
              <a:rPr lang="en-US" sz="1290" dirty="0">
                <a:solidFill>
                  <a:srgbClr val="1D3957"/>
                </a:solidFill>
                <a:latin typeface="Aptos" pitchFamily="34" charset="0"/>
                <a:ea typeface="Aptos" pitchFamily="34" charset="-122"/>
                <a:cs typeface="Aptos" pitchFamily="34" charset="-120"/>
              </a:rPr>
              <a:t>RGB (3)</a:t>
            </a:r>
            <a:endParaRPr lang="en-US" sz="1290" dirty="0"/>
          </a:p>
        </p:txBody>
      </p:sp>
      <p:sp>
        <p:nvSpPr>
          <p:cNvPr id="28" name="Shape 26"/>
          <p:cNvSpPr/>
          <p:nvPr/>
        </p:nvSpPr>
        <p:spPr>
          <a:xfrm>
            <a:off x="658368" y="2999232"/>
            <a:ext cx="3127248" cy="512064"/>
          </a:xfrm>
          <a:prstGeom prst="rect">
            <a:avLst/>
          </a:prstGeom>
          <a:solidFill>
            <a:srgbClr val="F5F8FC"/>
          </a:solidFill>
          <a:ln w="5715">
            <a:solidFill>
              <a:srgbClr val="CBD8E5"/>
            </a:solidFill>
            <a:prstDash val="solid"/>
          </a:ln>
        </p:spPr>
        <p:txBody>
          <a:bodyPr/>
          <a:lstStyle/>
          <a:p>
            <a:endParaRPr lang="en-JP"/>
          </a:p>
        </p:txBody>
      </p:sp>
      <p:sp>
        <p:nvSpPr>
          <p:cNvPr id="29" name="Text 27"/>
          <p:cNvSpPr/>
          <p:nvPr/>
        </p:nvSpPr>
        <p:spPr>
          <a:xfrm>
            <a:off x="731520" y="3044952"/>
            <a:ext cx="2980944" cy="438912"/>
          </a:xfrm>
          <a:prstGeom prst="rect">
            <a:avLst/>
          </a:prstGeom>
          <a:noFill/>
          <a:ln/>
        </p:spPr>
        <p:txBody>
          <a:bodyPr wrap="square" lIns="0" tIns="0" rIns="0" bIns="0" rtlCol="0" anchor="ctr">
            <a:normAutofit/>
          </a:bodyPr>
          <a:lstStyle/>
          <a:p>
            <a:pPr marL="0" indent="0" algn="l">
              <a:lnSpc>
                <a:spcPct val="100000"/>
              </a:lnSpc>
              <a:buNone/>
            </a:pPr>
            <a:r>
              <a:rPr lang="en-US" sz="1290" dirty="0">
                <a:solidFill>
                  <a:srgbClr val="253547"/>
                </a:solidFill>
                <a:latin typeface="Aptos" pitchFamily="34" charset="0"/>
                <a:ea typeface="Aptos" pitchFamily="34" charset="-122"/>
                <a:cs typeface="Aptos" pitchFamily="34" charset="-120"/>
              </a:rPr>
              <a:t>Normalization / 正規化</a:t>
            </a:r>
            <a:endParaRPr lang="en-US" sz="1290" dirty="0"/>
          </a:p>
        </p:txBody>
      </p:sp>
      <p:sp>
        <p:nvSpPr>
          <p:cNvPr id="30" name="Shape 28"/>
          <p:cNvSpPr/>
          <p:nvPr/>
        </p:nvSpPr>
        <p:spPr>
          <a:xfrm>
            <a:off x="3785616" y="2999232"/>
            <a:ext cx="3566160" cy="512064"/>
          </a:xfrm>
          <a:prstGeom prst="rect">
            <a:avLst/>
          </a:prstGeom>
          <a:solidFill>
            <a:srgbClr val="F5F8FC"/>
          </a:solidFill>
          <a:ln w="5715">
            <a:solidFill>
              <a:srgbClr val="CBD8E5"/>
            </a:solidFill>
            <a:prstDash val="solid"/>
          </a:ln>
        </p:spPr>
        <p:txBody>
          <a:bodyPr/>
          <a:lstStyle/>
          <a:p>
            <a:endParaRPr lang="en-JP"/>
          </a:p>
        </p:txBody>
      </p:sp>
      <p:sp>
        <p:nvSpPr>
          <p:cNvPr id="31" name="Text 29"/>
          <p:cNvSpPr/>
          <p:nvPr/>
        </p:nvSpPr>
        <p:spPr>
          <a:xfrm>
            <a:off x="3858768" y="3044952"/>
            <a:ext cx="3419856" cy="438912"/>
          </a:xfrm>
          <a:prstGeom prst="rect">
            <a:avLst/>
          </a:prstGeom>
          <a:noFill/>
          <a:ln/>
        </p:spPr>
        <p:txBody>
          <a:bodyPr wrap="square" lIns="0" tIns="0" rIns="0" bIns="0" rtlCol="0" anchor="ctr">
            <a:normAutofit/>
          </a:bodyPr>
          <a:lstStyle/>
          <a:p>
            <a:pPr marL="0" indent="0" algn="ctr">
              <a:lnSpc>
                <a:spcPct val="100000"/>
              </a:lnSpc>
              <a:buNone/>
            </a:pPr>
            <a:r>
              <a:rPr lang="en-US" sz="1290" dirty="0">
                <a:solidFill>
                  <a:srgbClr val="1D3957"/>
                </a:solidFill>
                <a:latin typeface="Aptos" pitchFamily="34" charset="0"/>
                <a:ea typeface="Aptos" pitchFamily="34" charset="-122"/>
                <a:cs typeface="Aptos" pitchFamily="34" charset="-120"/>
              </a:rPr>
              <a:t>Around 0.5</a:t>
            </a:r>
            <a:endParaRPr lang="en-US" sz="1290" dirty="0"/>
          </a:p>
        </p:txBody>
      </p:sp>
      <p:sp>
        <p:nvSpPr>
          <p:cNvPr id="32" name="Shape 30"/>
          <p:cNvSpPr/>
          <p:nvPr/>
        </p:nvSpPr>
        <p:spPr>
          <a:xfrm>
            <a:off x="7351776" y="2999232"/>
            <a:ext cx="4041648" cy="512064"/>
          </a:xfrm>
          <a:prstGeom prst="rect">
            <a:avLst/>
          </a:prstGeom>
          <a:solidFill>
            <a:srgbClr val="F5F8FC"/>
          </a:solidFill>
          <a:ln w="5715">
            <a:solidFill>
              <a:srgbClr val="CBD8E5"/>
            </a:solidFill>
            <a:prstDash val="solid"/>
          </a:ln>
        </p:spPr>
        <p:txBody>
          <a:bodyPr/>
          <a:lstStyle/>
          <a:p>
            <a:endParaRPr lang="en-JP"/>
          </a:p>
        </p:txBody>
      </p:sp>
      <p:sp>
        <p:nvSpPr>
          <p:cNvPr id="33" name="Text 31"/>
          <p:cNvSpPr/>
          <p:nvPr/>
        </p:nvSpPr>
        <p:spPr>
          <a:xfrm>
            <a:off x="7424928" y="3044952"/>
            <a:ext cx="3895344" cy="438912"/>
          </a:xfrm>
          <a:prstGeom prst="rect">
            <a:avLst/>
          </a:prstGeom>
          <a:noFill/>
          <a:ln/>
        </p:spPr>
        <p:txBody>
          <a:bodyPr wrap="square" lIns="0" tIns="0" rIns="0" bIns="0" rtlCol="0" anchor="ctr">
            <a:normAutofit/>
          </a:bodyPr>
          <a:lstStyle/>
          <a:p>
            <a:pPr marL="0" indent="0" algn="ctr">
              <a:lnSpc>
                <a:spcPct val="100000"/>
              </a:lnSpc>
              <a:buNone/>
            </a:pPr>
            <a:r>
              <a:rPr lang="en-US" sz="1290" dirty="0">
                <a:solidFill>
                  <a:srgbClr val="1D3957"/>
                </a:solidFill>
                <a:latin typeface="Aptos" pitchFamily="34" charset="0"/>
                <a:ea typeface="Aptos" pitchFamily="34" charset="-122"/>
                <a:cs typeface="Aptos" pitchFamily="34" charset="-120"/>
              </a:rPr>
              <a:t>ImageNet mean &amp; std</a:t>
            </a:r>
            <a:endParaRPr lang="en-US" sz="1290" dirty="0"/>
          </a:p>
        </p:txBody>
      </p:sp>
      <p:sp>
        <p:nvSpPr>
          <p:cNvPr id="34" name="Shape 32"/>
          <p:cNvSpPr/>
          <p:nvPr/>
        </p:nvSpPr>
        <p:spPr>
          <a:xfrm>
            <a:off x="658368" y="3511296"/>
            <a:ext cx="3127248" cy="512064"/>
          </a:xfrm>
          <a:prstGeom prst="rect">
            <a:avLst/>
          </a:prstGeom>
          <a:solidFill>
            <a:srgbClr val="FFFFFF"/>
          </a:solidFill>
          <a:ln w="5715">
            <a:solidFill>
              <a:srgbClr val="CBD8E5"/>
            </a:solidFill>
            <a:prstDash val="solid"/>
          </a:ln>
        </p:spPr>
        <p:txBody>
          <a:bodyPr/>
          <a:lstStyle/>
          <a:p>
            <a:endParaRPr lang="en-JP"/>
          </a:p>
        </p:txBody>
      </p:sp>
      <p:sp>
        <p:nvSpPr>
          <p:cNvPr id="35" name="Text 33"/>
          <p:cNvSpPr/>
          <p:nvPr/>
        </p:nvSpPr>
        <p:spPr>
          <a:xfrm>
            <a:off x="731520" y="3557016"/>
            <a:ext cx="2980944" cy="438912"/>
          </a:xfrm>
          <a:prstGeom prst="rect">
            <a:avLst/>
          </a:prstGeom>
          <a:noFill/>
          <a:ln/>
        </p:spPr>
        <p:txBody>
          <a:bodyPr wrap="square" lIns="0" tIns="0" rIns="0" bIns="0" rtlCol="0" anchor="ctr">
            <a:normAutofit/>
          </a:bodyPr>
          <a:lstStyle/>
          <a:p>
            <a:pPr marL="0" indent="0" algn="l">
              <a:lnSpc>
                <a:spcPct val="100000"/>
              </a:lnSpc>
              <a:buNone/>
            </a:pPr>
            <a:r>
              <a:rPr lang="en-US" sz="1290" dirty="0">
                <a:solidFill>
                  <a:srgbClr val="253547"/>
                </a:solidFill>
                <a:latin typeface="Aptos" pitchFamily="34" charset="0"/>
                <a:ea typeface="Aptos" pitchFamily="34" charset="-122"/>
                <a:cs typeface="Aptos" pitchFamily="34" charset="-120"/>
              </a:rPr>
              <a:t>Training images / 学習</a:t>
            </a:r>
            <a:endParaRPr lang="en-US" sz="1290" dirty="0"/>
          </a:p>
        </p:txBody>
      </p:sp>
      <p:sp>
        <p:nvSpPr>
          <p:cNvPr id="36" name="Shape 34"/>
          <p:cNvSpPr/>
          <p:nvPr/>
        </p:nvSpPr>
        <p:spPr>
          <a:xfrm>
            <a:off x="3785616" y="3511296"/>
            <a:ext cx="3566160" cy="512064"/>
          </a:xfrm>
          <a:prstGeom prst="rect">
            <a:avLst/>
          </a:prstGeom>
          <a:solidFill>
            <a:srgbClr val="FFFFFF"/>
          </a:solidFill>
          <a:ln w="5715">
            <a:solidFill>
              <a:srgbClr val="CBD8E5"/>
            </a:solidFill>
            <a:prstDash val="solid"/>
          </a:ln>
        </p:spPr>
        <p:txBody>
          <a:bodyPr/>
          <a:lstStyle/>
          <a:p>
            <a:endParaRPr lang="en-JP"/>
          </a:p>
        </p:txBody>
      </p:sp>
      <p:sp>
        <p:nvSpPr>
          <p:cNvPr id="37" name="Text 35"/>
          <p:cNvSpPr/>
          <p:nvPr/>
        </p:nvSpPr>
        <p:spPr>
          <a:xfrm>
            <a:off x="3858768" y="3557016"/>
            <a:ext cx="3419856" cy="438912"/>
          </a:xfrm>
          <a:prstGeom prst="rect">
            <a:avLst/>
          </a:prstGeom>
          <a:noFill/>
          <a:ln/>
        </p:spPr>
        <p:txBody>
          <a:bodyPr wrap="square" lIns="0" tIns="0" rIns="0" bIns="0" rtlCol="0" anchor="ctr">
            <a:normAutofit/>
          </a:bodyPr>
          <a:lstStyle/>
          <a:p>
            <a:pPr marL="0" indent="0" algn="ctr">
              <a:lnSpc>
                <a:spcPct val="100000"/>
              </a:lnSpc>
              <a:buNone/>
            </a:pPr>
            <a:r>
              <a:rPr lang="en-US" sz="1290" dirty="0">
                <a:solidFill>
                  <a:srgbClr val="1D3957"/>
                </a:solidFill>
                <a:latin typeface="Aptos" pitchFamily="34" charset="0"/>
                <a:ea typeface="Aptos" pitchFamily="34" charset="-122"/>
                <a:cs typeface="Aptos" pitchFamily="34" charset="-120"/>
              </a:rPr>
              <a:t>Basic transforms</a:t>
            </a:r>
            <a:endParaRPr lang="en-US" sz="1290" dirty="0"/>
          </a:p>
        </p:txBody>
      </p:sp>
      <p:sp>
        <p:nvSpPr>
          <p:cNvPr id="38" name="Shape 36"/>
          <p:cNvSpPr/>
          <p:nvPr/>
        </p:nvSpPr>
        <p:spPr>
          <a:xfrm>
            <a:off x="7351776" y="3511296"/>
            <a:ext cx="4041648" cy="512064"/>
          </a:xfrm>
          <a:prstGeom prst="rect">
            <a:avLst/>
          </a:prstGeom>
          <a:solidFill>
            <a:srgbClr val="FFFFFF"/>
          </a:solidFill>
          <a:ln w="5715">
            <a:solidFill>
              <a:srgbClr val="CBD8E5"/>
            </a:solidFill>
            <a:prstDash val="solid"/>
          </a:ln>
        </p:spPr>
        <p:txBody>
          <a:bodyPr/>
          <a:lstStyle/>
          <a:p>
            <a:endParaRPr lang="en-JP"/>
          </a:p>
        </p:txBody>
      </p:sp>
      <p:sp>
        <p:nvSpPr>
          <p:cNvPr id="39" name="Text 37"/>
          <p:cNvSpPr/>
          <p:nvPr/>
        </p:nvSpPr>
        <p:spPr>
          <a:xfrm>
            <a:off x="7424928" y="3557016"/>
            <a:ext cx="3895344" cy="438912"/>
          </a:xfrm>
          <a:prstGeom prst="rect">
            <a:avLst/>
          </a:prstGeom>
          <a:noFill/>
          <a:ln/>
        </p:spPr>
        <p:txBody>
          <a:bodyPr wrap="square" lIns="0" tIns="0" rIns="0" bIns="0" rtlCol="0" anchor="ctr">
            <a:normAutofit/>
          </a:bodyPr>
          <a:lstStyle/>
          <a:p>
            <a:pPr marL="0" indent="0" algn="ctr">
              <a:lnSpc>
                <a:spcPct val="100000"/>
              </a:lnSpc>
              <a:buNone/>
            </a:pPr>
            <a:r>
              <a:rPr lang="en-US" sz="1170" dirty="0">
                <a:solidFill>
                  <a:srgbClr val="1D3957"/>
                </a:solidFill>
                <a:latin typeface="Aptos" pitchFamily="34" charset="0"/>
                <a:ea typeface="Aptos" pitchFamily="34" charset="-122"/>
                <a:cs typeface="Aptos" pitchFamily="34" charset="-120"/>
              </a:rPr>
              <a:t>Random crop + horizontal flip</a:t>
            </a:r>
            <a:endParaRPr lang="en-US" sz="1170" dirty="0"/>
          </a:p>
        </p:txBody>
      </p:sp>
      <p:sp>
        <p:nvSpPr>
          <p:cNvPr id="40" name="Shape 38"/>
          <p:cNvSpPr/>
          <p:nvPr/>
        </p:nvSpPr>
        <p:spPr>
          <a:xfrm>
            <a:off x="658368" y="4023360"/>
            <a:ext cx="3127248" cy="512064"/>
          </a:xfrm>
          <a:prstGeom prst="rect">
            <a:avLst/>
          </a:prstGeom>
          <a:solidFill>
            <a:srgbClr val="F5F8FC"/>
          </a:solidFill>
          <a:ln w="5715">
            <a:solidFill>
              <a:srgbClr val="CBD8E5"/>
            </a:solidFill>
            <a:prstDash val="solid"/>
          </a:ln>
        </p:spPr>
        <p:txBody>
          <a:bodyPr/>
          <a:lstStyle/>
          <a:p>
            <a:endParaRPr lang="en-JP"/>
          </a:p>
        </p:txBody>
      </p:sp>
      <p:sp>
        <p:nvSpPr>
          <p:cNvPr id="41" name="Text 39"/>
          <p:cNvSpPr/>
          <p:nvPr/>
        </p:nvSpPr>
        <p:spPr>
          <a:xfrm>
            <a:off x="731520" y="4069080"/>
            <a:ext cx="2980944" cy="438912"/>
          </a:xfrm>
          <a:prstGeom prst="rect">
            <a:avLst/>
          </a:prstGeom>
          <a:noFill/>
          <a:ln/>
        </p:spPr>
        <p:txBody>
          <a:bodyPr wrap="square" lIns="0" tIns="0" rIns="0" bIns="0" rtlCol="0" anchor="ctr">
            <a:normAutofit/>
          </a:bodyPr>
          <a:lstStyle/>
          <a:p>
            <a:pPr marL="0" indent="0" algn="l">
              <a:lnSpc>
                <a:spcPct val="100000"/>
              </a:lnSpc>
              <a:buNone/>
            </a:pPr>
            <a:r>
              <a:rPr lang="en-US" sz="1290" dirty="0">
                <a:solidFill>
                  <a:srgbClr val="253547"/>
                </a:solidFill>
                <a:latin typeface="Aptos" pitchFamily="34" charset="0"/>
                <a:ea typeface="Aptos" pitchFamily="34" charset="-122"/>
                <a:cs typeface="Aptos" pitchFamily="34" charset="-120"/>
              </a:rPr>
              <a:t>Validation / test</a:t>
            </a:r>
            <a:endParaRPr lang="en-US" sz="1290" dirty="0"/>
          </a:p>
        </p:txBody>
      </p:sp>
      <p:sp>
        <p:nvSpPr>
          <p:cNvPr id="42" name="Shape 40"/>
          <p:cNvSpPr/>
          <p:nvPr/>
        </p:nvSpPr>
        <p:spPr>
          <a:xfrm>
            <a:off x="3785616" y="4023360"/>
            <a:ext cx="3566160" cy="512064"/>
          </a:xfrm>
          <a:prstGeom prst="rect">
            <a:avLst/>
          </a:prstGeom>
          <a:solidFill>
            <a:srgbClr val="F5F8FC"/>
          </a:solidFill>
          <a:ln w="5715">
            <a:solidFill>
              <a:srgbClr val="CBD8E5"/>
            </a:solidFill>
            <a:prstDash val="solid"/>
          </a:ln>
        </p:spPr>
        <p:txBody>
          <a:bodyPr/>
          <a:lstStyle/>
          <a:p>
            <a:endParaRPr lang="en-JP"/>
          </a:p>
        </p:txBody>
      </p:sp>
      <p:sp>
        <p:nvSpPr>
          <p:cNvPr id="43" name="Text 41"/>
          <p:cNvSpPr/>
          <p:nvPr/>
        </p:nvSpPr>
        <p:spPr>
          <a:xfrm>
            <a:off x="3858768" y="4069080"/>
            <a:ext cx="3419856" cy="438912"/>
          </a:xfrm>
          <a:prstGeom prst="rect">
            <a:avLst/>
          </a:prstGeom>
          <a:noFill/>
          <a:ln/>
        </p:spPr>
        <p:txBody>
          <a:bodyPr wrap="square" lIns="0" tIns="0" rIns="0" bIns="0" rtlCol="0" anchor="ctr">
            <a:normAutofit/>
          </a:bodyPr>
          <a:lstStyle/>
          <a:p>
            <a:pPr marL="0" indent="0" algn="ctr">
              <a:lnSpc>
                <a:spcPct val="100000"/>
              </a:lnSpc>
              <a:buNone/>
            </a:pPr>
            <a:r>
              <a:rPr lang="en-US" sz="1290" dirty="0">
                <a:solidFill>
                  <a:srgbClr val="1D3957"/>
                </a:solidFill>
                <a:latin typeface="Aptos" pitchFamily="34" charset="0"/>
                <a:ea typeface="Aptos" pitchFamily="34" charset="-122"/>
                <a:cs typeface="Aptos" pitchFamily="34" charset="-120"/>
              </a:rPr>
              <a:t>Fixed preprocessing</a:t>
            </a:r>
            <a:endParaRPr lang="en-US" sz="1290" dirty="0"/>
          </a:p>
        </p:txBody>
      </p:sp>
      <p:sp>
        <p:nvSpPr>
          <p:cNvPr id="44" name="Shape 42"/>
          <p:cNvSpPr/>
          <p:nvPr/>
        </p:nvSpPr>
        <p:spPr>
          <a:xfrm>
            <a:off x="7351776" y="4023360"/>
            <a:ext cx="4041648" cy="512064"/>
          </a:xfrm>
          <a:prstGeom prst="rect">
            <a:avLst/>
          </a:prstGeom>
          <a:solidFill>
            <a:srgbClr val="F5F8FC"/>
          </a:solidFill>
          <a:ln w="5715">
            <a:solidFill>
              <a:srgbClr val="CBD8E5"/>
            </a:solidFill>
            <a:prstDash val="solid"/>
          </a:ln>
        </p:spPr>
        <p:txBody>
          <a:bodyPr/>
          <a:lstStyle/>
          <a:p>
            <a:endParaRPr lang="en-JP"/>
          </a:p>
        </p:txBody>
      </p:sp>
      <p:sp>
        <p:nvSpPr>
          <p:cNvPr id="45" name="Text 43"/>
          <p:cNvSpPr/>
          <p:nvPr/>
        </p:nvSpPr>
        <p:spPr>
          <a:xfrm>
            <a:off x="7424928" y="4069080"/>
            <a:ext cx="3895344" cy="438912"/>
          </a:xfrm>
          <a:prstGeom prst="rect">
            <a:avLst/>
          </a:prstGeom>
          <a:noFill/>
          <a:ln/>
        </p:spPr>
        <p:txBody>
          <a:bodyPr wrap="square" lIns="0" tIns="0" rIns="0" bIns="0" rtlCol="0" anchor="ctr">
            <a:normAutofit/>
          </a:bodyPr>
          <a:lstStyle/>
          <a:p>
            <a:pPr marL="0" indent="0" algn="ctr">
              <a:lnSpc>
                <a:spcPct val="100000"/>
              </a:lnSpc>
              <a:buNone/>
            </a:pPr>
            <a:r>
              <a:rPr lang="en-US" sz="1290" dirty="0">
                <a:solidFill>
                  <a:srgbClr val="1D3957"/>
                </a:solidFill>
                <a:latin typeface="Aptos" pitchFamily="34" charset="0"/>
                <a:ea typeface="Aptos" pitchFamily="34" charset="-122"/>
                <a:cs typeface="Aptos" pitchFamily="34" charset="-120"/>
              </a:rPr>
              <a:t>weights.transforms()</a:t>
            </a:r>
            <a:endParaRPr lang="en-US" sz="1290" dirty="0"/>
          </a:p>
        </p:txBody>
      </p:sp>
      <p:sp>
        <p:nvSpPr>
          <p:cNvPr id="46" name="Shape 44"/>
          <p:cNvSpPr/>
          <p:nvPr/>
        </p:nvSpPr>
        <p:spPr>
          <a:xfrm>
            <a:off x="914400" y="4828032"/>
            <a:ext cx="10378440" cy="932688"/>
          </a:xfrm>
          <a:prstGeom prst="roundRect">
            <a:avLst>
              <a:gd name="adj" fmla="val 7843"/>
            </a:avLst>
          </a:prstGeom>
          <a:solidFill>
            <a:srgbClr val="162E47"/>
          </a:solidFill>
          <a:ln w="8890">
            <a:solidFill>
              <a:srgbClr val="162E47"/>
            </a:solidFill>
            <a:prstDash val="solid"/>
          </a:ln>
        </p:spPr>
        <p:txBody>
          <a:bodyPr/>
          <a:lstStyle/>
          <a:p>
            <a:endParaRPr lang="en-JP"/>
          </a:p>
        </p:txBody>
      </p:sp>
      <p:sp>
        <p:nvSpPr>
          <p:cNvPr id="47" name="Text 45"/>
          <p:cNvSpPr/>
          <p:nvPr/>
        </p:nvSpPr>
        <p:spPr>
          <a:xfrm>
            <a:off x="1060704" y="4956048"/>
            <a:ext cx="10104120" cy="228600"/>
          </a:xfrm>
          <a:prstGeom prst="rect">
            <a:avLst/>
          </a:prstGeom>
          <a:noFill/>
          <a:ln/>
        </p:spPr>
        <p:txBody>
          <a:bodyPr wrap="square" lIns="0" tIns="0" rIns="0" bIns="0" rtlCol="0" anchor="ctr">
            <a:normAutofit/>
          </a:bodyPr>
          <a:lstStyle/>
          <a:p>
            <a:pPr marL="0" indent="0" algn="l">
              <a:lnSpc>
                <a:spcPct val="100000"/>
              </a:lnSpc>
              <a:buNone/>
            </a:pPr>
            <a:r>
              <a:rPr lang="en-US" sz="1260" dirty="0">
                <a:solidFill>
                  <a:srgbClr val="F4F8FC"/>
                </a:solidFill>
                <a:latin typeface="Consolas" pitchFamily="34" charset="0"/>
                <a:ea typeface="Consolas" pitchFamily="34" charset="-122"/>
                <a:cs typeface="Consolas" pitchFamily="34" charset="-120"/>
              </a:rPr>
              <a:t>weights = models.ResNet18_Weights.DEFAULT</a:t>
            </a:r>
            <a:endParaRPr lang="en-US" sz="1260" dirty="0"/>
          </a:p>
        </p:txBody>
      </p:sp>
      <p:sp>
        <p:nvSpPr>
          <p:cNvPr id="48" name="Text 46"/>
          <p:cNvSpPr/>
          <p:nvPr/>
        </p:nvSpPr>
        <p:spPr>
          <a:xfrm>
            <a:off x="1060704" y="5184648"/>
            <a:ext cx="10104120" cy="228600"/>
          </a:xfrm>
          <a:prstGeom prst="rect">
            <a:avLst/>
          </a:prstGeom>
          <a:noFill/>
          <a:ln/>
        </p:spPr>
        <p:txBody>
          <a:bodyPr wrap="square" lIns="0" tIns="0" rIns="0" bIns="0" rtlCol="0" anchor="ctr">
            <a:normAutofit/>
          </a:bodyPr>
          <a:lstStyle/>
          <a:p>
            <a:pPr marL="0" indent="0" algn="l">
              <a:lnSpc>
                <a:spcPct val="100000"/>
              </a:lnSpc>
              <a:buNone/>
            </a:pPr>
            <a:r>
              <a:rPr lang="en-US" sz="1260" dirty="0">
                <a:solidFill>
                  <a:srgbClr val="F4F8FC"/>
                </a:solidFill>
                <a:latin typeface="Consolas" pitchFamily="34" charset="0"/>
                <a:ea typeface="Consolas" pitchFamily="34" charset="-122"/>
                <a:cs typeface="Consolas" pitchFamily="34" charset="-120"/>
              </a:rPr>
              <a:t>preprocess = weights.transforms()</a:t>
            </a:r>
            <a:endParaRPr lang="en-US" sz="1260" dirty="0"/>
          </a:p>
        </p:txBody>
      </p:sp>
      <p:sp>
        <p:nvSpPr>
          <p:cNvPr id="49" name="Text 47"/>
          <p:cNvSpPr/>
          <p:nvPr/>
        </p:nvSpPr>
        <p:spPr>
          <a:xfrm>
            <a:off x="1060704" y="5413248"/>
            <a:ext cx="10104120" cy="228600"/>
          </a:xfrm>
          <a:prstGeom prst="rect">
            <a:avLst/>
          </a:prstGeom>
          <a:noFill/>
          <a:ln/>
        </p:spPr>
        <p:txBody>
          <a:bodyPr wrap="square" lIns="0" tIns="0" rIns="0" bIns="0" rtlCol="0" anchor="ctr">
            <a:normAutofit/>
          </a:bodyPr>
          <a:lstStyle/>
          <a:p>
            <a:pPr marL="0" indent="0" algn="l">
              <a:lnSpc>
                <a:spcPct val="100000"/>
              </a:lnSpc>
              <a:buNone/>
            </a:pPr>
            <a:r>
              <a:rPr lang="en-US" sz="1260" dirty="0">
                <a:solidFill>
                  <a:srgbClr val="F4F8FC"/>
                </a:solidFill>
                <a:latin typeface="Consolas" pitchFamily="34" charset="0"/>
                <a:ea typeface="Consolas" pitchFamily="34" charset="-122"/>
                <a:cs typeface="Consolas" pitchFamily="34" charset="-120"/>
              </a:rPr>
              <a:t>train_transform = transforms.Compose([...])</a:t>
            </a:r>
            <a:endParaRPr lang="en-US" sz="12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DF641F8-DE95-97DE-54FC-24C5DB2D66F9}"/>
              </a:ext>
            </a:extLst>
          </p:cNvPr>
          <p:cNvPicPr>
            <a:picLocks noChangeAspect="1"/>
          </p:cNvPicPr>
          <p:nvPr/>
        </p:nvPicPr>
        <p:blipFill>
          <a:blip r:embed="rId2"/>
          <a:srcRect r="1" b="8177"/>
          <a:stretch>
            <a:fillRect/>
          </a:stretch>
        </p:blipFill>
        <p:spPr>
          <a:xfrm>
            <a:off x="579032" y="579031"/>
            <a:ext cx="11033936" cy="5699100"/>
          </a:xfrm>
          <a:prstGeom prst="rect">
            <a:avLst/>
          </a:prstGeom>
        </p:spPr>
      </p:pic>
      <p:grpSp>
        <p:nvGrpSpPr>
          <p:cNvPr id="11" name="Group 10">
            <a:extLst>
              <a:ext uri="{FF2B5EF4-FFF2-40B4-BE49-F238E27FC236}">
                <a16:creationId xmlns:a16="http://schemas.microsoft.com/office/drawing/2014/main" id="{069C9563-3F88-F4E8-69B1-522A21F2EAD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79032" y="6154767"/>
            <a:ext cx="11033937" cy="123363"/>
            <a:chOff x="-5025" y="6737718"/>
            <a:chExt cx="12207200" cy="123363"/>
          </a:xfrm>
        </p:grpSpPr>
        <p:sp>
          <p:nvSpPr>
            <p:cNvPr id="12" name="Rectangle 11">
              <a:extLst>
                <a:ext uri="{FF2B5EF4-FFF2-40B4-BE49-F238E27FC236}">
                  <a16:creationId xmlns:a16="http://schemas.microsoft.com/office/drawing/2014/main" id="{996B58CA-5165-43D0-E5AA-7EB35159FA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A445985-8854-4E17-9010-F0B467A869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669647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ResNet18 vs. ResNet50</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ResNet18とResNet50の違い</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08</a:t>
            </a:r>
            <a:endParaRPr lang="en-US" sz="870" dirty="0"/>
          </a:p>
        </p:txBody>
      </p:sp>
      <p:sp>
        <p:nvSpPr>
          <p:cNvPr id="10" name="Shape 8"/>
          <p:cNvSpPr/>
          <p:nvPr/>
        </p:nvSpPr>
        <p:spPr>
          <a:xfrm>
            <a:off x="795528" y="1508760"/>
            <a:ext cx="5129784" cy="704088"/>
          </a:xfrm>
          <a:prstGeom prst="roundRect">
            <a:avLst>
              <a:gd name="adj" fmla="val 12987"/>
            </a:avLst>
          </a:prstGeom>
          <a:solidFill>
            <a:srgbClr val="E9F3FC"/>
          </a:solidFill>
          <a:ln w="8890">
            <a:solidFill>
              <a:srgbClr val="E9F3FC"/>
            </a:solidFill>
            <a:prstDash val="solid"/>
          </a:ln>
        </p:spPr>
        <p:txBody>
          <a:bodyPr/>
          <a:lstStyle/>
          <a:p>
            <a:endParaRPr lang="en-JP"/>
          </a:p>
        </p:txBody>
      </p:sp>
      <p:sp>
        <p:nvSpPr>
          <p:cNvPr id="11" name="Text 9"/>
          <p:cNvSpPr/>
          <p:nvPr/>
        </p:nvSpPr>
        <p:spPr>
          <a:xfrm>
            <a:off x="886968" y="1577340"/>
            <a:ext cx="4946904" cy="237744"/>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D3957"/>
                </a:solidFill>
                <a:latin typeface="Aptos" pitchFamily="34" charset="0"/>
                <a:ea typeface="Aptos" pitchFamily="34" charset="-122"/>
                <a:cs typeface="Aptos" pitchFamily="34" charset="-120"/>
              </a:rPr>
              <a:t>ResNet18</a:t>
            </a:r>
            <a:endParaRPr lang="en-US" sz="1400" dirty="0"/>
          </a:p>
        </p:txBody>
      </p:sp>
      <p:sp>
        <p:nvSpPr>
          <p:cNvPr id="12" name="Text 10"/>
          <p:cNvSpPr/>
          <p:nvPr/>
        </p:nvSpPr>
        <p:spPr>
          <a:xfrm>
            <a:off x="886968" y="1847088"/>
            <a:ext cx="4946904"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軽量・授業向き</a:t>
            </a:r>
            <a:endParaRPr lang="en-US" sz="1120" dirty="0"/>
          </a:p>
        </p:txBody>
      </p:sp>
      <p:sp>
        <p:nvSpPr>
          <p:cNvPr id="13" name="Shape 11"/>
          <p:cNvSpPr/>
          <p:nvPr/>
        </p:nvSpPr>
        <p:spPr>
          <a:xfrm>
            <a:off x="6281928" y="1508760"/>
            <a:ext cx="5129784" cy="704088"/>
          </a:xfrm>
          <a:prstGeom prst="roundRect">
            <a:avLst>
              <a:gd name="adj" fmla="val 12987"/>
            </a:avLst>
          </a:prstGeom>
          <a:solidFill>
            <a:srgbClr val="DDF5EF"/>
          </a:solidFill>
          <a:ln w="8890">
            <a:solidFill>
              <a:srgbClr val="DDF5EF"/>
            </a:solidFill>
            <a:prstDash val="solid"/>
          </a:ln>
        </p:spPr>
        <p:txBody>
          <a:bodyPr/>
          <a:lstStyle/>
          <a:p>
            <a:endParaRPr lang="en-JP"/>
          </a:p>
        </p:txBody>
      </p:sp>
      <p:sp>
        <p:nvSpPr>
          <p:cNvPr id="14" name="Text 12"/>
          <p:cNvSpPr/>
          <p:nvPr/>
        </p:nvSpPr>
        <p:spPr>
          <a:xfrm>
            <a:off x="6373368" y="1577340"/>
            <a:ext cx="4946904" cy="237744"/>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D3957"/>
                </a:solidFill>
                <a:latin typeface="Aptos" pitchFamily="34" charset="0"/>
                <a:ea typeface="Aptos" pitchFamily="34" charset="-122"/>
                <a:cs typeface="Aptos" pitchFamily="34" charset="-120"/>
              </a:rPr>
              <a:t>ResNet50</a:t>
            </a:r>
            <a:endParaRPr lang="en-US" sz="1400" dirty="0"/>
          </a:p>
        </p:txBody>
      </p:sp>
      <p:sp>
        <p:nvSpPr>
          <p:cNvPr id="15" name="Text 13"/>
          <p:cNvSpPr/>
          <p:nvPr/>
        </p:nvSpPr>
        <p:spPr>
          <a:xfrm>
            <a:off x="6373368" y="1847088"/>
            <a:ext cx="4946904"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高容量・計算量も多い</a:t>
            </a:r>
            <a:endParaRPr lang="en-US" sz="1120" dirty="0"/>
          </a:p>
        </p:txBody>
      </p:sp>
      <p:sp>
        <p:nvSpPr>
          <p:cNvPr id="16" name="Shape 14"/>
          <p:cNvSpPr/>
          <p:nvPr/>
        </p:nvSpPr>
        <p:spPr>
          <a:xfrm>
            <a:off x="987552" y="2496312"/>
            <a:ext cx="4517136" cy="502920"/>
          </a:xfrm>
          <a:prstGeom prst="roundRect">
            <a:avLst>
              <a:gd name="adj" fmla="val 18182"/>
            </a:avLst>
          </a:prstGeom>
          <a:solidFill>
            <a:srgbClr val="E9F3FC"/>
          </a:solidFill>
          <a:ln w="8890">
            <a:solidFill>
              <a:srgbClr val="E9F3FC"/>
            </a:solidFill>
            <a:prstDash val="solid"/>
          </a:ln>
        </p:spPr>
        <p:txBody>
          <a:bodyPr/>
          <a:lstStyle/>
          <a:p>
            <a:endParaRPr lang="en-JP"/>
          </a:p>
        </p:txBody>
      </p:sp>
      <p:sp>
        <p:nvSpPr>
          <p:cNvPr id="17" name="Text 15"/>
          <p:cNvSpPr/>
          <p:nvPr/>
        </p:nvSpPr>
        <p:spPr>
          <a:xfrm>
            <a:off x="1078992" y="2564892"/>
            <a:ext cx="4334256" cy="237744"/>
          </a:xfrm>
          <a:prstGeom prst="rect">
            <a:avLst/>
          </a:prstGeom>
          <a:noFill/>
          <a:ln/>
        </p:spPr>
        <p:txBody>
          <a:bodyPr wrap="square" lIns="0" tIns="0" rIns="0" bIns="0" rtlCol="0" anchor="ctr">
            <a:normAutofit lnSpcReduction="10000"/>
          </a:bodyPr>
          <a:lstStyle/>
          <a:p>
            <a:pPr marL="0" indent="0" algn="ctr">
              <a:lnSpc>
                <a:spcPct val="100000"/>
              </a:lnSpc>
              <a:buNone/>
            </a:pPr>
            <a:r>
              <a:rPr lang="en-US" sz="1600" b="1" dirty="0">
                <a:solidFill>
                  <a:srgbClr val="1D3957"/>
                </a:solidFill>
                <a:latin typeface="Aptos" pitchFamily="34" charset="0"/>
                <a:ea typeface="Aptos" pitchFamily="34" charset="-122"/>
                <a:cs typeface="Aptos" pitchFamily="34" charset="-120"/>
              </a:rPr>
              <a:t>3 × 3 conv</a:t>
            </a:r>
            <a:endParaRPr lang="en-US" sz="1600" dirty="0"/>
          </a:p>
        </p:txBody>
      </p:sp>
      <p:sp>
        <p:nvSpPr>
          <p:cNvPr id="18" name="Shape 16"/>
          <p:cNvSpPr/>
          <p:nvPr/>
        </p:nvSpPr>
        <p:spPr>
          <a:xfrm>
            <a:off x="987552" y="3191256"/>
            <a:ext cx="4517136" cy="502920"/>
          </a:xfrm>
          <a:prstGeom prst="roundRect">
            <a:avLst>
              <a:gd name="adj" fmla="val 18182"/>
            </a:avLst>
          </a:prstGeom>
          <a:solidFill>
            <a:srgbClr val="E9F3FC"/>
          </a:solidFill>
          <a:ln w="8890">
            <a:solidFill>
              <a:srgbClr val="E9F3FC"/>
            </a:solidFill>
            <a:prstDash val="solid"/>
          </a:ln>
        </p:spPr>
        <p:txBody>
          <a:bodyPr/>
          <a:lstStyle/>
          <a:p>
            <a:endParaRPr lang="en-JP"/>
          </a:p>
        </p:txBody>
      </p:sp>
      <p:sp>
        <p:nvSpPr>
          <p:cNvPr id="19" name="Text 17"/>
          <p:cNvSpPr/>
          <p:nvPr/>
        </p:nvSpPr>
        <p:spPr>
          <a:xfrm>
            <a:off x="1078992" y="3259836"/>
            <a:ext cx="4334256" cy="237744"/>
          </a:xfrm>
          <a:prstGeom prst="rect">
            <a:avLst/>
          </a:prstGeom>
          <a:noFill/>
          <a:ln/>
        </p:spPr>
        <p:txBody>
          <a:bodyPr wrap="square" lIns="0" tIns="0" rIns="0" bIns="0" rtlCol="0" anchor="ctr">
            <a:normAutofit lnSpcReduction="10000"/>
          </a:bodyPr>
          <a:lstStyle/>
          <a:p>
            <a:pPr marL="0" indent="0" algn="ctr">
              <a:lnSpc>
                <a:spcPct val="100000"/>
              </a:lnSpc>
              <a:buNone/>
            </a:pPr>
            <a:r>
              <a:rPr lang="en-US" sz="1600" b="1" dirty="0">
                <a:solidFill>
                  <a:srgbClr val="1D3957"/>
                </a:solidFill>
                <a:latin typeface="Aptos" pitchFamily="34" charset="0"/>
                <a:ea typeface="Aptos" pitchFamily="34" charset="-122"/>
                <a:cs typeface="Aptos" pitchFamily="34" charset="-120"/>
              </a:rPr>
              <a:t>3 × 3 conv</a:t>
            </a:r>
            <a:endParaRPr lang="en-US" sz="1600" dirty="0"/>
          </a:p>
        </p:txBody>
      </p:sp>
      <p:sp>
        <p:nvSpPr>
          <p:cNvPr id="20" name="Shape 18"/>
          <p:cNvSpPr/>
          <p:nvPr/>
        </p:nvSpPr>
        <p:spPr>
          <a:xfrm>
            <a:off x="6492240" y="2496312"/>
            <a:ext cx="4517136" cy="502920"/>
          </a:xfrm>
          <a:prstGeom prst="roundRect">
            <a:avLst>
              <a:gd name="adj" fmla="val 18182"/>
            </a:avLst>
          </a:prstGeom>
          <a:solidFill>
            <a:srgbClr val="DDF5EF"/>
          </a:solidFill>
          <a:ln w="8890">
            <a:solidFill>
              <a:srgbClr val="DDF5EF"/>
            </a:solidFill>
            <a:prstDash val="solid"/>
          </a:ln>
        </p:spPr>
        <p:txBody>
          <a:bodyPr/>
          <a:lstStyle/>
          <a:p>
            <a:endParaRPr lang="en-JP"/>
          </a:p>
        </p:txBody>
      </p:sp>
      <p:sp>
        <p:nvSpPr>
          <p:cNvPr id="21" name="Text 19"/>
          <p:cNvSpPr/>
          <p:nvPr/>
        </p:nvSpPr>
        <p:spPr>
          <a:xfrm>
            <a:off x="6583680" y="2564892"/>
            <a:ext cx="4334256" cy="237744"/>
          </a:xfrm>
          <a:prstGeom prst="rect">
            <a:avLst/>
          </a:prstGeom>
          <a:noFill/>
          <a:ln/>
        </p:spPr>
        <p:txBody>
          <a:bodyPr wrap="square" lIns="0" tIns="0" rIns="0" bIns="0" rtlCol="0" anchor="ctr">
            <a:normAutofit lnSpcReduction="10000"/>
          </a:bodyPr>
          <a:lstStyle/>
          <a:p>
            <a:pPr marL="0" indent="0" algn="ctr">
              <a:lnSpc>
                <a:spcPct val="100000"/>
              </a:lnSpc>
              <a:buNone/>
            </a:pPr>
            <a:r>
              <a:rPr lang="en-US" sz="1600" b="1" dirty="0">
                <a:solidFill>
                  <a:srgbClr val="1D3957"/>
                </a:solidFill>
                <a:latin typeface="Aptos" pitchFamily="34" charset="0"/>
                <a:ea typeface="Aptos" pitchFamily="34" charset="-122"/>
                <a:cs typeface="Aptos" pitchFamily="34" charset="-120"/>
              </a:rPr>
              <a:t>1 × 1 conv</a:t>
            </a:r>
            <a:endParaRPr lang="en-US" sz="1600" dirty="0"/>
          </a:p>
        </p:txBody>
      </p:sp>
      <p:sp>
        <p:nvSpPr>
          <p:cNvPr id="22" name="Shape 20"/>
          <p:cNvSpPr/>
          <p:nvPr/>
        </p:nvSpPr>
        <p:spPr>
          <a:xfrm>
            <a:off x="6492240" y="3191256"/>
            <a:ext cx="4517136" cy="502920"/>
          </a:xfrm>
          <a:prstGeom prst="roundRect">
            <a:avLst>
              <a:gd name="adj" fmla="val 18182"/>
            </a:avLst>
          </a:prstGeom>
          <a:solidFill>
            <a:srgbClr val="DDF5EF"/>
          </a:solidFill>
          <a:ln w="8890">
            <a:solidFill>
              <a:srgbClr val="DDF5EF"/>
            </a:solidFill>
            <a:prstDash val="solid"/>
          </a:ln>
        </p:spPr>
        <p:txBody>
          <a:bodyPr/>
          <a:lstStyle/>
          <a:p>
            <a:endParaRPr lang="en-JP"/>
          </a:p>
        </p:txBody>
      </p:sp>
      <p:sp>
        <p:nvSpPr>
          <p:cNvPr id="23" name="Text 21"/>
          <p:cNvSpPr/>
          <p:nvPr/>
        </p:nvSpPr>
        <p:spPr>
          <a:xfrm>
            <a:off x="6583680" y="3259836"/>
            <a:ext cx="4334256" cy="237744"/>
          </a:xfrm>
          <a:prstGeom prst="rect">
            <a:avLst/>
          </a:prstGeom>
          <a:noFill/>
          <a:ln/>
        </p:spPr>
        <p:txBody>
          <a:bodyPr wrap="square" lIns="0" tIns="0" rIns="0" bIns="0" rtlCol="0" anchor="ctr">
            <a:normAutofit lnSpcReduction="10000"/>
          </a:bodyPr>
          <a:lstStyle/>
          <a:p>
            <a:pPr marL="0" indent="0" algn="ctr">
              <a:lnSpc>
                <a:spcPct val="100000"/>
              </a:lnSpc>
              <a:buNone/>
            </a:pPr>
            <a:r>
              <a:rPr lang="en-US" sz="1600" b="1" dirty="0">
                <a:solidFill>
                  <a:srgbClr val="1D3957"/>
                </a:solidFill>
                <a:latin typeface="Aptos" pitchFamily="34" charset="0"/>
                <a:ea typeface="Aptos" pitchFamily="34" charset="-122"/>
                <a:cs typeface="Aptos" pitchFamily="34" charset="-120"/>
              </a:rPr>
              <a:t>3 × 3 conv</a:t>
            </a:r>
            <a:endParaRPr lang="en-US" sz="1600" dirty="0"/>
          </a:p>
        </p:txBody>
      </p:sp>
      <p:sp>
        <p:nvSpPr>
          <p:cNvPr id="24" name="Shape 22"/>
          <p:cNvSpPr/>
          <p:nvPr/>
        </p:nvSpPr>
        <p:spPr>
          <a:xfrm>
            <a:off x="6492240" y="3886200"/>
            <a:ext cx="4517136" cy="502920"/>
          </a:xfrm>
          <a:prstGeom prst="roundRect">
            <a:avLst>
              <a:gd name="adj" fmla="val 18182"/>
            </a:avLst>
          </a:prstGeom>
          <a:solidFill>
            <a:srgbClr val="DDF5EF"/>
          </a:solidFill>
          <a:ln w="8890">
            <a:solidFill>
              <a:srgbClr val="DDF5EF"/>
            </a:solidFill>
            <a:prstDash val="solid"/>
          </a:ln>
        </p:spPr>
        <p:txBody>
          <a:bodyPr/>
          <a:lstStyle/>
          <a:p>
            <a:endParaRPr lang="en-JP"/>
          </a:p>
        </p:txBody>
      </p:sp>
      <p:sp>
        <p:nvSpPr>
          <p:cNvPr id="25" name="Text 23"/>
          <p:cNvSpPr/>
          <p:nvPr/>
        </p:nvSpPr>
        <p:spPr>
          <a:xfrm>
            <a:off x="6583680" y="3954780"/>
            <a:ext cx="4334256" cy="237744"/>
          </a:xfrm>
          <a:prstGeom prst="rect">
            <a:avLst/>
          </a:prstGeom>
          <a:noFill/>
          <a:ln/>
        </p:spPr>
        <p:txBody>
          <a:bodyPr wrap="square" lIns="0" tIns="0" rIns="0" bIns="0" rtlCol="0" anchor="ctr">
            <a:normAutofit lnSpcReduction="10000"/>
          </a:bodyPr>
          <a:lstStyle/>
          <a:p>
            <a:pPr marL="0" indent="0" algn="ctr">
              <a:lnSpc>
                <a:spcPct val="100000"/>
              </a:lnSpc>
              <a:buNone/>
            </a:pPr>
            <a:r>
              <a:rPr lang="en-US" sz="1600" b="1" dirty="0">
                <a:solidFill>
                  <a:srgbClr val="1D3957"/>
                </a:solidFill>
                <a:latin typeface="Aptos" pitchFamily="34" charset="0"/>
                <a:ea typeface="Aptos" pitchFamily="34" charset="-122"/>
                <a:cs typeface="Aptos" pitchFamily="34" charset="-120"/>
              </a:rPr>
              <a:t>1 × 1 conv</a:t>
            </a:r>
            <a:endParaRPr lang="en-US" sz="1600" dirty="0"/>
          </a:p>
        </p:txBody>
      </p:sp>
      <p:sp>
        <p:nvSpPr>
          <p:cNvPr id="26" name="Text 24"/>
          <p:cNvSpPr/>
          <p:nvPr/>
        </p:nvSpPr>
        <p:spPr>
          <a:xfrm>
            <a:off x="1024128" y="4818888"/>
            <a:ext cx="4370832" cy="356616"/>
          </a:xfrm>
          <a:prstGeom prst="rect">
            <a:avLst/>
          </a:prstGeom>
          <a:noFill/>
          <a:ln/>
        </p:spPr>
        <p:txBody>
          <a:bodyPr wrap="square" lIns="0" tIns="0" rIns="0" bIns="0" rtlCol="0" anchor="ctr">
            <a:normAutofit/>
          </a:bodyPr>
          <a:lstStyle/>
          <a:p>
            <a:pPr marL="0" indent="0" algn="ctr">
              <a:lnSpc>
                <a:spcPct val="100000"/>
              </a:lnSpc>
              <a:buNone/>
            </a:pPr>
            <a:r>
              <a:rPr lang="en-US" sz="2200" b="1" dirty="0">
                <a:solidFill>
                  <a:srgbClr val="1D3957"/>
                </a:solidFill>
                <a:latin typeface="Aptos" pitchFamily="34" charset="0"/>
                <a:ea typeface="Aptos" pitchFamily="34" charset="-122"/>
                <a:cs typeface="Aptos" pitchFamily="34" charset="-120"/>
              </a:rPr>
              <a:t>BasicBlock × 8</a:t>
            </a:r>
            <a:endParaRPr lang="en-US" sz="2200" dirty="0"/>
          </a:p>
        </p:txBody>
      </p:sp>
      <p:sp>
        <p:nvSpPr>
          <p:cNvPr id="27" name="Text 25"/>
          <p:cNvSpPr/>
          <p:nvPr/>
        </p:nvSpPr>
        <p:spPr>
          <a:xfrm>
            <a:off x="6547104" y="4818888"/>
            <a:ext cx="4379976" cy="356616"/>
          </a:xfrm>
          <a:prstGeom prst="rect">
            <a:avLst/>
          </a:prstGeom>
          <a:noFill/>
          <a:ln/>
        </p:spPr>
        <p:txBody>
          <a:bodyPr wrap="square" lIns="0" tIns="0" rIns="0" bIns="0" rtlCol="0" anchor="ctr">
            <a:normAutofit/>
          </a:bodyPr>
          <a:lstStyle/>
          <a:p>
            <a:pPr marL="0" indent="0" algn="ctr">
              <a:lnSpc>
                <a:spcPct val="100000"/>
              </a:lnSpc>
              <a:buNone/>
            </a:pPr>
            <a:r>
              <a:rPr lang="en-US" sz="2200" b="1" dirty="0">
                <a:solidFill>
                  <a:srgbClr val="1D3957"/>
                </a:solidFill>
                <a:latin typeface="Aptos" pitchFamily="34" charset="0"/>
                <a:ea typeface="Aptos" pitchFamily="34" charset="-122"/>
                <a:cs typeface="Aptos" pitchFamily="34" charset="-120"/>
              </a:rPr>
              <a:t>Bottleneck × 16</a:t>
            </a:r>
            <a:endParaRPr lang="en-US" sz="2200" dirty="0"/>
          </a:p>
        </p:txBody>
      </p:sp>
      <p:sp>
        <p:nvSpPr>
          <p:cNvPr id="28" name="Text 26"/>
          <p:cNvSpPr/>
          <p:nvPr/>
        </p:nvSpPr>
        <p:spPr>
          <a:xfrm>
            <a:off x="950976" y="5330952"/>
            <a:ext cx="4645152" cy="310896"/>
          </a:xfrm>
          <a:prstGeom prst="rect">
            <a:avLst/>
          </a:prstGeom>
          <a:noFill/>
          <a:ln/>
        </p:spPr>
        <p:txBody>
          <a:bodyPr wrap="square" lIns="0" tIns="0" rIns="0" bIns="0" rtlCol="0" anchor="ctr">
            <a:normAutofit/>
          </a:bodyPr>
          <a:lstStyle/>
          <a:p>
            <a:pPr marL="0" indent="0" algn="ctr">
              <a:lnSpc>
                <a:spcPct val="100000"/>
              </a:lnSpc>
              <a:buNone/>
            </a:pPr>
            <a:r>
              <a:rPr lang="en-US" sz="1400" dirty="0">
                <a:solidFill>
                  <a:srgbClr val="607084"/>
                </a:solidFill>
                <a:latin typeface="Aptos" pitchFamily="34" charset="0"/>
                <a:ea typeface="Aptos" pitchFamily="34" charset="-122"/>
                <a:cs typeface="Aptos" pitchFamily="34" charset="-120"/>
              </a:rPr>
              <a:t>~11.18 million params (5 classes)</a:t>
            </a:r>
            <a:endParaRPr lang="en-US" sz="1400" dirty="0"/>
          </a:p>
        </p:txBody>
      </p:sp>
      <p:sp>
        <p:nvSpPr>
          <p:cNvPr id="29" name="Text 27"/>
          <p:cNvSpPr/>
          <p:nvPr/>
        </p:nvSpPr>
        <p:spPr>
          <a:xfrm>
            <a:off x="6446520" y="5330952"/>
            <a:ext cx="4754880" cy="310896"/>
          </a:xfrm>
          <a:prstGeom prst="rect">
            <a:avLst/>
          </a:prstGeom>
          <a:noFill/>
          <a:ln/>
        </p:spPr>
        <p:txBody>
          <a:bodyPr wrap="square" lIns="0" tIns="0" rIns="0" bIns="0" rtlCol="0" anchor="ctr">
            <a:normAutofit/>
          </a:bodyPr>
          <a:lstStyle/>
          <a:p>
            <a:pPr marL="0" indent="0" algn="ctr">
              <a:lnSpc>
                <a:spcPct val="100000"/>
              </a:lnSpc>
              <a:buNone/>
            </a:pPr>
            <a:r>
              <a:rPr lang="en-US" sz="1400" dirty="0">
                <a:solidFill>
                  <a:srgbClr val="607084"/>
                </a:solidFill>
                <a:latin typeface="Aptos" pitchFamily="34" charset="0"/>
                <a:ea typeface="Aptos" pitchFamily="34" charset="-122"/>
                <a:cs typeface="Aptos" pitchFamily="34" charset="-120"/>
              </a:rPr>
              <a:t>~23.52 million params (5 classes)</a:t>
            </a:r>
            <a:endParaRPr lang="en-US" sz="1400" dirty="0"/>
          </a:p>
        </p:txBody>
      </p:sp>
      <p:sp>
        <p:nvSpPr>
          <p:cNvPr id="30" name="Shape 28"/>
          <p:cNvSpPr/>
          <p:nvPr/>
        </p:nvSpPr>
        <p:spPr>
          <a:xfrm>
            <a:off x="612648" y="5916168"/>
            <a:ext cx="10972800" cy="484632"/>
          </a:xfrm>
          <a:prstGeom prst="roundRect">
            <a:avLst>
              <a:gd name="adj" fmla="val 15094"/>
            </a:avLst>
          </a:prstGeom>
          <a:solidFill>
            <a:srgbClr val="FFF2DD"/>
          </a:solidFill>
          <a:ln w="8890">
            <a:solidFill>
              <a:srgbClr val="FFF2DD"/>
            </a:solidFill>
            <a:prstDash val="solid"/>
          </a:ln>
        </p:spPr>
        <p:txBody>
          <a:bodyPr/>
          <a:lstStyle/>
          <a:p>
            <a:endParaRPr lang="en-JP"/>
          </a:p>
        </p:txBody>
      </p:sp>
      <p:sp>
        <p:nvSpPr>
          <p:cNvPr id="31" name="Text 29"/>
          <p:cNvSpPr/>
          <p:nvPr/>
        </p:nvSpPr>
        <p:spPr>
          <a:xfrm>
            <a:off x="768096" y="5952744"/>
            <a:ext cx="5029200" cy="182880"/>
          </a:xfrm>
          <a:prstGeom prst="rect">
            <a:avLst/>
          </a:prstGeom>
          <a:noFill/>
          <a:ln/>
        </p:spPr>
        <p:txBody>
          <a:bodyPr wrap="square" lIns="0" tIns="0" rIns="0" bIns="0" rtlCol="0" anchor="ctr">
            <a:normAutofit lnSpcReduction="10000"/>
          </a:bodyPr>
          <a:lstStyle/>
          <a:p>
            <a:pPr marL="0" indent="0" algn="l">
              <a:lnSpc>
                <a:spcPct val="100000"/>
              </a:lnSpc>
              <a:buNone/>
            </a:pPr>
            <a:r>
              <a:rPr lang="en-US" sz="1210" b="1" dirty="0">
                <a:solidFill>
                  <a:srgbClr val="1D3957"/>
                </a:solidFill>
                <a:latin typeface="Aptos" pitchFamily="34" charset="0"/>
                <a:ea typeface="Aptos" pitchFamily="34" charset="-122"/>
                <a:cs typeface="Aptos" pitchFamily="34" charset="-120"/>
              </a:rPr>
              <a:t>ResNet50 is larger, but not always more accurate on this flower task.</a:t>
            </a:r>
            <a:endParaRPr lang="en-US" sz="1210" dirty="0"/>
          </a:p>
        </p:txBody>
      </p:sp>
      <p:sp>
        <p:nvSpPr>
          <p:cNvPr id="32" name="Text 30"/>
          <p:cNvSpPr/>
          <p:nvPr/>
        </p:nvSpPr>
        <p:spPr>
          <a:xfrm>
            <a:off x="5760720" y="5943600"/>
            <a:ext cx="5669280" cy="219456"/>
          </a:xfrm>
          <a:prstGeom prst="rect">
            <a:avLst/>
          </a:prstGeom>
          <a:noFill/>
          <a:ln/>
        </p:spPr>
        <p:txBody>
          <a:bodyPr wrap="square" lIns="0" tIns="0" rIns="0" bIns="0" rtlCol="0" anchor="ctr">
            <a:normAutofit/>
          </a:bodyPr>
          <a:lstStyle/>
          <a:p>
            <a:pPr marL="0" indent="0" algn="l">
              <a:lnSpc>
                <a:spcPct val="100000"/>
              </a:lnSpc>
              <a:buNone/>
            </a:pPr>
            <a:r>
              <a:rPr lang="en-US" sz="1210" dirty="0">
                <a:solidFill>
                  <a:srgbClr val="1D3957"/>
                </a:solidFill>
                <a:latin typeface="Noto Sans CJK JP" pitchFamily="34" charset="0"/>
                <a:ea typeface="Noto Sans CJK JP" pitchFamily="34" charset="-122"/>
                <a:cs typeface="Noto Sans CJK JP" pitchFamily="34" charset="-120"/>
              </a:rPr>
              <a:t>ResNet50は大型ですが、必ずしも花分類で高精度とは限りません。</a:t>
            </a:r>
            <a:endParaRPr lang="en-US" sz="121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ResNet feature-map shapes (224×224 input)</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主要な層の出力形状（224×224入力）</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09</a:t>
            </a:r>
            <a:endParaRPr lang="en-US" sz="870" dirty="0"/>
          </a:p>
        </p:txBody>
      </p:sp>
      <p:sp>
        <p:nvSpPr>
          <p:cNvPr id="10" name="Shape 8"/>
          <p:cNvSpPr/>
          <p:nvPr/>
        </p:nvSpPr>
        <p:spPr>
          <a:xfrm>
            <a:off x="841248" y="1389888"/>
            <a:ext cx="3886200" cy="470916"/>
          </a:xfrm>
          <a:prstGeom prst="rect">
            <a:avLst/>
          </a:prstGeom>
          <a:solidFill>
            <a:srgbClr val="1D3957"/>
          </a:solidFill>
          <a:ln w="3810">
            <a:solidFill>
              <a:srgbClr val="FFFFFF"/>
            </a:solidFill>
            <a:prstDash val="solid"/>
          </a:ln>
        </p:spPr>
        <p:txBody>
          <a:bodyPr/>
          <a:lstStyle/>
          <a:p>
            <a:endParaRPr lang="en-JP"/>
          </a:p>
        </p:txBody>
      </p:sp>
      <p:sp>
        <p:nvSpPr>
          <p:cNvPr id="11" name="Text 9"/>
          <p:cNvSpPr/>
          <p:nvPr/>
        </p:nvSpPr>
        <p:spPr>
          <a:xfrm>
            <a:off x="923544" y="1453896"/>
            <a:ext cx="3721608" cy="361188"/>
          </a:xfrm>
          <a:prstGeom prst="rect">
            <a:avLst/>
          </a:prstGeom>
          <a:noFill/>
          <a:ln/>
        </p:spPr>
        <p:txBody>
          <a:bodyPr wrap="square" lIns="0" tIns="0" rIns="0" bIns="0" rtlCol="0" anchor="ctr">
            <a:normAutofit/>
          </a:bodyPr>
          <a:lstStyle/>
          <a:p>
            <a:pPr marL="0" indent="0" algn="l">
              <a:lnSpc>
                <a:spcPct val="100000"/>
              </a:lnSpc>
              <a:buNone/>
            </a:pPr>
            <a:r>
              <a:rPr lang="en-US" sz="1260" b="1" dirty="0">
                <a:solidFill>
                  <a:srgbClr val="FFFFFF"/>
                </a:solidFill>
                <a:latin typeface="Aptos" pitchFamily="34" charset="0"/>
                <a:ea typeface="Aptos" pitchFamily="34" charset="-122"/>
                <a:cs typeface="Aptos" pitchFamily="34" charset="-120"/>
              </a:rPr>
              <a:t>Stage / 段階</a:t>
            </a:r>
            <a:endParaRPr lang="en-US" sz="1260" dirty="0"/>
          </a:p>
        </p:txBody>
      </p:sp>
      <p:sp>
        <p:nvSpPr>
          <p:cNvPr id="12" name="Shape 10"/>
          <p:cNvSpPr/>
          <p:nvPr/>
        </p:nvSpPr>
        <p:spPr>
          <a:xfrm>
            <a:off x="4727448" y="1389888"/>
            <a:ext cx="3337560" cy="470916"/>
          </a:xfrm>
          <a:prstGeom prst="rect">
            <a:avLst/>
          </a:prstGeom>
          <a:solidFill>
            <a:srgbClr val="1D3957"/>
          </a:solidFill>
          <a:ln w="3810">
            <a:solidFill>
              <a:srgbClr val="FFFFFF"/>
            </a:solidFill>
            <a:prstDash val="solid"/>
          </a:ln>
        </p:spPr>
        <p:txBody>
          <a:bodyPr/>
          <a:lstStyle/>
          <a:p>
            <a:endParaRPr lang="en-JP"/>
          </a:p>
        </p:txBody>
      </p:sp>
      <p:sp>
        <p:nvSpPr>
          <p:cNvPr id="13" name="Text 11"/>
          <p:cNvSpPr/>
          <p:nvPr/>
        </p:nvSpPr>
        <p:spPr>
          <a:xfrm>
            <a:off x="4809744" y="1453896"/>
            <a:ext cx="3172968" cy="361188"/>
          </a:xfrm>
          <a:prstGeom prst="rect">
            <a:avLst/>
          </a:prstGeom>
          <a:noFill/>
          <a:ln/>
        </p:spPr>
        <p:txBody>
          <a:bodyPr wrap="square" lIns="0" tIns="0" rIns="0" bIns="0" rtlCol="0" anchor="ctr">
            <a:normAutofit/>
          </a:bodyPr>
          <a:lstStyle/>
          <a:p>
            <a:pPr marL="0" indent="0" algn="ctr">
              <a:lnSpc>
                <a:spcPct val="100000"/>
              </a:lnSpc>
              <a:buNone/>
            </a:pPr>
            <a:r>
              <a:rPr lang="en-US" sz="1260" b="1" dirty="0">
                <a:solidFill>
                  <a:srgbClr val="FFFFFF"/>
                </a:solidFill>
                <a:latin typeface="Aptos" pitchFamily="34" charset="0"/>
                <a:ea typeface="Aptos" pitchFamily="34" charset="-122"/>
                <a:cs typeface="Aptos" pitchFamily="34" charset="-120"/>
              </a:rPr>
              <a:t>ResNet18: C × H × W</a:t>
            </a:r>
            <a:endParaRPr lang="en-US" sz="1260" dirty="0"/>
          </a:p>
        </p:txBody>
      </p:sp>
      <p:sp>
        <p:nvSpPr>
          <p:cNvPr id="14" name="Shape 12"/>
          <p:cNvSpPr/>
          <p:nvPr/>
        </p:nvSpPr>
        <p:spPr>
          <a:xfrm>
            <a:off x="8065008" y="1389888"/>
            <a:ext cx="3337560" cy="470916"/>
          </a:xfrm>
          <a:prstGeom prst="rect">
            <a:avLst/>
          </a:prstGeom>
          <a:solidFill>
            <a:srgbClr val="1D3957"/>
          </a:solidFill>
          <a:ln w="3810">
            <a:solidFill>
              <a:srgbClr val="FFFFFF"/>
            </a:solidFill>
            <a:prstDash val="solid"/>
          </a:ln>
        </p:spPr>
        <p:txBody>
          <a:bodyPr/>
          <a:lstStyle/>
          <a:p>
            <a:endParaRPr lang="en-JP"/>
          </a:p>
        </p:txBody>
      </p:sp>
      <p:sp>
        <p:nvSpPr>
          <p:cNvPr id="15" name="Text 13"/>
          <p:cNvSpPr/>
          <p:nvPr/>
        </p:nvSpPr>
        <p:spPr>
          <a:xfrm>
            <a:off x="8147304" y="1453896"/>
            <a:ext cx="3172968" cy="361188"/>
          </a:xfrm>
          <a:prstGeom prst="rect">
            <a:avLst/>
          </a:prstGeom>
          <a:noFill/>
          <a:ln/>
        </p:spPr>
        <p:txBody>
          <a:bodyPr wrap="square" lIns="0" tIns="0" rIns="0" bIns="0" rtlCol="0" anchor="ctr">
            <a:normAutofit/>
          </a:bodyPr>
          <a:lstStyle/>
          <a:p>
            <a:pPr marL="0" indent="0" algn="ctr">
              <a:lnSpc>
                <a:spcPct val="100000"/>
              </a:lnSpc>
              <a:buNone/>
            </a:pPr>
            <a:r>
              <a:rPr lang="en-US" sz="1260" b="1" dirty="0">
                <a:solidFill>
                  <a:srgbClr val="FFFFFF"/>
                </a:solidFill>
                <a:latin typeface="Aptos" pitchFamily="34" charset="0"/>
                <a:ea typeface="Aptos" pitchFamily="34" charset="-122"/>
                <a:cs typeface="Aptos" pitchFamily="34" charset="-120"/>
              </a:rPr>
              <a:t>ResNet50: C × H × W</a:t>
            </a:r>
            <a:endParaRPr lang="en-US" sz="1260" dirty="0"/>
          </a:p>
        </p:txBody>
      </p:sp>
      <p:sp>
        <p:nvSpPr>
          <p:cNvPr id="16" name="Shape 14"/>
          <p:cNvSpPr/>
          <p:nvPr/>
        </p:nvSpPr>
        <p:spPr>
          <a:xfrm>
            <a:off x="841248" y="1860804"/>
            <a:ext cx="3886200" cy="470916"/>
          </a:xfrm>
          <a:prstGeom prst="rect">
            <a:avLst/>
          </a:prstGeom>
          <a:solidFill>
            <a:srgbClr val="F5F8FC"/>
          </a:solidFill>
          <a:ln w="5715">
            <a:solidFill>
              <a:srgbClr val="CBD8E5"/>
            </a:solidFill>
            <a:prstDash val="solid"/>
          </a:ln>
        </p:spPr>
        <p:txBody>
          <a:bodyPr/>
          <a:lstStyle/>
          <a:p>
            <a:endParaRPr lang="en-JP"/>
          </a:p>
        </p:txBody>
      </p:sp>
      <p:sp>
        <p:nvSpPr>
          <p:cNvPr id="17" name="Text 15"/>
          <p:cNvSpPr/>
          <p:nvPr/>
        </p:nvSpPr>
        <p:spPr>
          <a:xfrm>
            <a:off x="914400" y="1906524"/>
            <a:ext cx="3739896" cy="397764"/>
          </a:xfrm>
          <a:prstGeom prst="rect">
            <a:avLst/>
          </a:prstGeom>
          <a:noFill/>
          <a:ln/>
        </p:spPr>
        <p:txBody>
          <a:bodyPr wrap="square" lIns="0" tIns="0" rIns="0" bIns="0" rtlCol="0" anchor="ctr">
            <a:normAutofit/>
          </a:bodyPr>
          <a:lstStyle/>
          <a:p>
            <a:pPr marL="0" indent="0" algn="l">
              <a:lnSpc>
                <a:spcPct val="100000"/>
              </a:lnSpc>
              <a:buNone/>
            </a:pPr>
            <a:r>
              <a:rPr lang="en-US" sz="1260" dirty="0">
                <a:solidFill>
                  <a:srgbClr val="253547"/>
                </a:solidFill>
                <a:latin typeface="Aptos" pitchFamily="34" charset="0"/>
                <a:ea typeface="Aptos" pitchFamily="34" charset="-122"/>
                <a:cs typeface="Aptos" pitchFamily="34" charset="-120"/>
              </a:rPr>
              <a:t>Input / 入力</a:t>
            </a:r>
            <a:endParaRPr lang="en-US" sz="1260" dirty="0"/>
          </a:p>
        </p:txBody>
      </p:sp>
      <p:sp>
        <p:nvSpPr>
          <p:cNvPr id="18" name="Shape 16"/>
          <p:cNvSpPr/>
          <p:nvPr/>
        </p:nvSpPr>
        <p:spPr>
          <a:xfrm>
            <a:off x="4727448" y="1860804"/>
            <a:ext cx="3337560" cy="470916"/>
          </a:xfrm>
          <a:prstGeom prst="rect">
            <a:avLst/>
          </a:prstGeom>
          <a:solidFill>
            <a:srgbClr val="F5F8FC"/>
          </a:solidFill>
          <a:ln w="5715">
            <a:solidFill>
              <a:srgbClr val="CBD8E5"/>
            </a:solidFill>
            <a:prstDash val="solid"/>
          </a:ln>
        </p:spPr>
        <p:txBody>
          <a:bodyPr/>
          <a:lstStyle/>
          <a:p>
            <a:endParaRPr lang="en-JP"/>
          </a:p>
        </p:txBody>
      </p:sp>
      <p:sp>
        <p:nvSpPr>
          <p:cNvPr id="19" name="Text 17"/>
          <p:cNvSpPr/>
          <p:nvPr/>
        </p:nvSpPr>
        <p:spPr>
          <a:xfrm>
            <a:off x="4800600" y="1906524"/>
            <a:ext cx="3191256" cy="397764"/>
          </a:xfrm>
          <a:prstGeom prst="rect">
            <a:avLst/>
          </a:prstGeom>
          <a:noFill/>
          <a:ln/>
        </p:spPr>
        <p:txBody>
          <a:bodyPr wrap="square" lIns="0" tIns="0" rIns="0" bIns="0" rtlCol="0" anchor="ctr">
            <a:normAutofit/>
          </a:bodyPr>
          <a:lstStyle/>
          <a:p>
            <a:pPr marL="0" indent="0" algn="ctr">
              <a:lnSpc>
                <a:spcPct val="100000"/>
              </a:lnSpc>
              <a:buNone/>
            </a:pPr>
            <a:r>
              <a:rPr lang="en-US" sz="1260" dirty="0">
                <a:solidFill>
                  <a:srgbClr val="1D3957"/>
                </a:solidFill>
                <a:latin typeface="Aptos" pitchFamily="34" charset="0"/>
                <a:ea typeface="Aptos" pitchFamily="34" charset="-122"/>
                <a:cs typeface="Aptos" pitchFamily="34" charset="-120"/>
              </a:rPr>
              <a:t>3 × 224 × 224</a:t>
            </a:r>
            <a:endParaRPr lang="en-US" sz="1260" dirty="0"/>
          </a:p>
        </p:txBody>
      </p:sp>
      <p:sp>
        <p:nvSpPr>
          <p:cNvPr id="20" name="Shape 18"/>
          <p:cNvSpPr/>
          <p:nvPr/>
        </p:nvSpPr>
        <p:spPr>
          <a:xfrm>
            <a:off x="8065008" y="1860804"/>
            <a:ext cx="3337560" cy="470916"/>
          </a:xfrm>
          <a:prstGeom prst="rect">
            <a:avLst/>
          </a:prstGeom>
          <a:solidFill>
            <a:srgbClr val="F5F8FC"/>
          </a:solidFill>
          <a:ln w="5715">
            <a:solidFill>
              <a:srgbClr val="CBD8E5"/>
            </a:solidFill>
            <a:prstDash val="solid"/>
          </a:ln>
        </p:spPr>
        <p:txBody>
          <a:bodyPr/>
          <a:lstStyle/>
          <a:p>
            <a:endParaRPr lang="en-JP"/>
          </a:p>
        </p:txBody>
      </p:sp>
      <p:sp>
        <p:nvSpPr>
          <p:cNvPr id="21" name="Text 19"/>
          <p:cNvSpPr/>
          <p:nvPr/>
        </p:nvSpPr>
        <p:spPr>
          <a:xfrm>
            <a:off x="8138160" y="1906524"/>
            <a:ext cx="3191256" cy="397764"/>
          </a:xfrm>
          <a:prstGeom prst="rect">
            <a:avLst/>
          </a:prstGeom>
          <a:noFill/>
          <a:ln/>
        </p:spPr>
        <p:txBody>
          <a:bodyPr wrap="square" lIns="0" tIns="0" rIns="0" bIns="0" rtlCol="0" anchor="ctr">
            <a:normAutofit/>
          </a:bodyPr>
          <a:lstStyle/>
          <a:p>
            <a:pPr marL="0" indent="0" algn="ctr">
              <a:lnSpc>
                <a:spcPct val="100000"/>
              </a:lnSpc>
              <a:buNone/>
            </a:pPr>
            <a:r>
              <a:rPr lang="en-US" sz="1260" dirty="0">
                <a:solidFill>
                  <a:srgbClr val="1D3957"/>
                </a:solidFill>
                <a:latin typeface="Aptos" pitchFamily="34" charset="0"/>
                <a:ea typeface="Aptos" pitchFamily="34" charset="-122"/>
                <a:cs typeface="Aptos" pitchFamily="34" charset="-120"/>
              </a:rPr>
              <a:t>3 × 224 × 224</a:t>
            </a:r>
            <a:endParaRPr lang="en-US" sz="1260" dirty="0"/>
          </a:p>
        </p:txBody>
      </p:sp>
      <p:sp>
        <p:nvSpPr>
          <p:cNvPr id="22" name="Shape 20"/>
          <p:cNvSpPr/>
          <p:nvPr/>
        </p:nvSpPr>
        <p:spPr>
          <a:xfrm>
            <a:off x="841248" y="2331720"/>
            <a:ext cx="3886200" cy="470916"/>
          </a:xfrm>
          <a:prstGeom prst="rect">
            <a:avLst/>
          </a:prstGeom>
          <a:solidFill>
            <a:srgbClr val="FFFFFF"/>
          </a:solidFill>
          <a:ln w="5715">
            <a:solidFill>
              <a:srgbClr val="CBD8E5"/>
            </a:solidFill>
            <a:prstDash val="solid"/>
          </a:ln>
        </p:spPr>
        <p:txBody>
          <a:bodyPr/>
          <a:lstStyle/>
          <a:p>
            <a:endParaRPr lang="en-JP"/>
          </a:p>
        </p:txBody>
      </p:sp>
      <p:sp>
        <p:nvSpPr>
          <p:cNvPr id="23" name="Text 21"/>
          <p:cNvSpPr/>
          <p:nvPr/>
        </p:nvSpPr>
        <p:spPr>
          <a:xfrm>
            <a:off x="914400" y="2377440"/>
            <a:ext cx="3739896" cy="397764"/>
          </a:xfrm>
          <a:prstGeom prst="rect">
            <a:avLst/>
          </a:prstGeom>
          <a:noFill/>
          <a:ln/>
        </p:spPr>
        <p:txBody>
          <a:bodyPr wrap="square" lIns="0" tIns="0" rIns="0" bIns="0" rtlCol="0" anchor="ctr">
            <a:normAutofit/>
          </a:bodyPr>
          <a:lstStyle/>
          <a:p>
            <a:pPr marL="0" indent="0" algn="l">
              <a:lnSpc>
                <a:spcPct val="100000"/>
              </a:lnSpc>
              <a:buNone/>
            </a:pPr>
            <a:r>
              <a:rPr lang="en-US" sz="1260" dirty="0">
                <a:solidFill>
                  <a:srgbClr val="253547"/>
                </a:solidFill>
                <a:latin typeface="Aptos" pitchFamily="34" charset="0"/>
                <a:ea typeface="Aptos" pitchFamily="34" charset="-122"/>
                <a:cs typeface="Aptos" pitchFamily="34" charset="-120"/>
              </a:rPr>
              <a:t>Stem: conv1 + maxpool</a:t>
            </a:r>
            <a:endParaRPr lang="en-US" sz="1260" dirty="0"/>
          </a:p>
        </p:txBody>
      </p:sp>
      <p:sp>
        <p:nvSpPr>
          <p:cNvPr id="24" name="Shape 22"/>
          <p:cNvSpPr/>
          <p:nvPr/>
        </p:nvSpPr>
        <p:spPr>
          <a:xfrm>
            <a:off x="4727448" y="2331720"/>
            <a:ext cx="3337560" cy="470916"/>
          </a:xfrm>
          <a:prstGeom prst="rect">
            <a:avLst/>
          </a:prstGeom>
          <a:solidFill>
            <a:srgbClr val="FFFFFF"/>
          </a:solidFill>
          <a:ln w="5715">
            <a:solidFill>
              <a:srgbClr val="CBD8E5"/>
            </a:solidFill>
            <a:prstDash val="solid"/>
          </a:ln>
        </p:spPr>
        <p:txBody>
          <a:bodyPr/>
          <a:lstStyle/>
          <a:p>
            <a:endParaRPr lang="en-JP"/>
          </a:p>
        </p:txBody>
      </p:sp>
      <p:sp>
        <p:nvSpPr>
          <p:cNvPr id="25" name="Text 23"/>
          <p:cNvSpPr/>
          <p:nvPr/>
        </p:nvSpPr>
        <p:spPr>
          <a:xfrm>
            <a:off x="4800600" y="2377440"/>
            <a:ext cx="3191256" cy="397764"/>
          </a:xfrm>
          <a:prstGeom prst="rect">
            <a:avLst/>
          </a:prstGeom>
          <a:noFill/>
          <a:ln/>
        </p:spPr>
        <p:txBody>
          <a:bodyPr wrap="square" lIns="0" tIns="0" rIns="0" bIns="0" rtlCol="0" anchor="ctr">
            <a:normAutofit/>
          </a:bodyPr>
          <a:lstStyle/>
          <a:p>
            <a:pPr marL="0" indent="0" algn="ctr">
              <a:lnSpc>
                <a:spcPct val="100000"/>
              </a:lnSpc>
              <a:buNone/>
            </a:pPr>
            <a:r>
              <a:rPr lang="en-US" sz="1260" dirty="0">
                <a:solidFill>
                  <a:srgbClr val="1D3957"/>
                </a:solidFill>
                <a:latin typeface="Aptos" pitchFamily="34" charset="0"/>
                <a:ea typeface="Aptos" pitchFamily="34" charset="-122"/>
                <a:cs typeface="Aptos" pitchFamily="34" charset="-120"/>
              </a:rPr>
              <a:t>64 × 56 × 56</a:t>
            </a:r>
            <a:endParaRPr lang="en-US" sz="1260" dirty="0"/>
          </a:p>
        </p:txBody>
      </p:sp>
      <p:sp>
        <p:nvSpPr>
          <p:cNvPr id="26" name="Shape 24"/>
          <p:cNvSpPr/>
          <p:nvPr/>
        </p:nvSpPr>
        <p:spPr>
          <a:xfrm>
            <a:off x="8065008" y="2331720"/>
            <a:ext cx="3337560" cy="470916"/>
          </a:xfrm>
          <a:prstGeom prst="rect">
            <a:avLst/>
          </a:prstGeom>
          <a:solidFill>
            <a:srgbClr val="FFFFFF"/>
          </a:solidFill>
          <a:ln w="5715">
            <a:solidFill>
              <a:srgbClr val="CBD8E5"/>
            </a:solidFill>
            <a:prstDash val="solid"/>
          </a:ln>
        </p:spPr>
        <p:txBody>
          <a:bodyPr/>
          <a:lstStyle/>
          <a:p>
            <a:endParaRPr lang="en-JP"/>
          </a:p>
        </p:txBody>
      </p:sp>
      <p:sp>
        <p:nvSpPr>
          <p:cNvPr id="27" name="Text 25"/>
          <p:cNvSpPr/>
          <p:nvPr/>
        </p:nvSpPr>
        <p:spPr>
          <a:xfrm>
            <a:off x="8138160" y="2377440"/>
            <a:ext cx="3191256" cy="397764"/>
          </a:xfrm>
          <a:prstGeom prst="rect">
            <a:avLst/>
          </a:prstGeom>
          <a:noFill/>
          <a:ln/>
        </p:spPr>
        <p:txBody>
          <a:bodyPr wrap="square" lIns="0" tIns="0" rIns="0" bIns="0" rtlCol="0" anchor="ctr">
            <a:normAutofit/>
          </a:bodyPr>
          <a:lstStyle/>
          <a:p>
            <a:pPr marL="0" indent="0" algn="ctr">
              <a:lnSpc>
                <a:spcPct val="100000"/>
              </a:lnSpc>
              <a:buNone/>
            </a:pPr>
            <a:r>
              <a:rPr lang="en-US" sz="1260" dirty="0">
                <a:solidFill>
                  <a:srgbClr val="1D3957"/>
                </a:solidFill>
                <a:latin typeface="Aptos" pitchFamily="34" charset="0"/>
                <a:ea typeface="Aptos" pitchFamily="34" charset="-122"/>
                <a:cs typeface="Aptos" pitchFamily="34" charset="-120"/>
              </a:rPr>
              <a:t>64 × 56 × 56</a:t>
            </a:r>
            <a:endParaRPr lang="en-US" sz="1260" dirty="0"/>
          </a:p>
        </p:txBody>
      </p:sp>
      <p:sp>
        <p:nvSpPr>
          <p:cNvPr id="28" name="Shape 26"/>
          <p:cNvSpPr/>
          <p:nvPr/>
        </p:nvSpPr>
        <p:spPr>
          <a:xfrm>
            <a:off x="841248" y="2802636"/>
            <a:ext cx="3886200" cy="470916"/>
          </a:xfrm>
          <a:prstGeom prst="rect">
            <a:avLst/>
          </a:prstGeom>
          <a:solidFill>
            <a:srgbClr val="F5F8FC"/>
          </a:solidFill>
          <a:ln w="5715">
            <a:solidFill>
              <a:srgbClr val="CBD8E5"/>
            </a:solidFill>
            <a:prstDash val="solid"/>
          </a:ln>
        </p:spPr>
        <p:txBody>
          <a:bodyPr/>
          <a:lstStyle/>
          <a:p>
            <a:endParaRPr lang="en-JP"/>
          </a:p>
        </p:txBody>
      </p:sp>
      <p:sp>
        <p:nvSpPr>
          <p:cNvPr id="29" name="Text 27"/>
          <p:cNvSpPr/>
          <p:nvPr/>
        </p:nvSpPr>
        <p:spPr>
          <a:xfrm>
            <a:off x="914400" y="2848356"/>
            <a:ext cx="3739896" cy="397764"/>
          </a:xfrm>
          <a:prstGeom prst="rect">
            <a:avLst/>
          </a:prstGeom>
          <a:noFill/>
          <a:ln/>
        </p:spPr>
        <p:txBody>
          <a:bodyPr wrap="square" lIns="0" tIns="0" rIns="0" bIns="0" rtlCol="0" anchor="ctr">
            <a:normAutofit/>
          </a:bodyPr>
          <a:lstStyle/>
          <a:p>
            <a:pPr marL="0" indent="0" algn="l">
              <a:lnSpc>
                <a:spcPct val="100000"/>
              </a:lnSpc>
              <a:buNone/>
            </a:pPr>
            <a:r>
              <a:rPr lang="en-US" sz="1260" dirty="0">
                <a:solidFill>
                  <a:srgbClr val="253547"/>
                </a:solidFill>
                <a:latin typeface="Aptos" pitchFamily="34" charset="0"/>
                <a:ea typeface="Aptos" pitchFamily="34" charset="-122"/>
                <a:cs typeface="Aptos" pitchFamily="34" charset="-120"/>
              </a:rPr>
              <a:t>layer1</a:t>
            </a:r>
            <a:endParaRPr lang="en-US" sz="1260" dirty="0"/>
          </a:p>
        </p:txBody>
      </p:sp>
      <p:sp>
        <p:nvSpPr>
          <p:cNvPr id="30" name="Shape 28"/>
          <p:cNvSpPr/>
          <p:nvPr/>
        </p:nvSpPr>
        <p:spPr>
          <a:xfrm>
            <a:off x="4727448" y="2802636"/>
            <a:ext cx="3337560" cy="470916"/>
          </a:xfrm>
          <a:prstGeom prst="rect">
            <a:avLst/>
          </a:prstGeom>
          <a:solidFill>
            <a:srgbClr val="F5F8FC"/>
          </a:solidFill>
          <a:ln w="5715">
            <a:solidFill>
              <a:srgbClr val="CBD8E5"/>
            </a:solidFill>
            <a:prstDash val="solid"/>
          </a:ln>
        </p:spPr>
        <p:txBody>
          <a:bodyPr/>
          <a:lstStyle/>
          <a:p>
            <a:endParaRPr lang="en-JP"/>
          </a:p>
        </p:txBody>
      </p:sp>
      <p:sp>
        <p:nvSpPr>
          <p:cNvPr id="31" name="Text 29"/>
          <p:cNvSpPr/>
          <p:nvPr/>
        </p:nvSpPr>
        <p:spPr>
          <a:xfrm>
            <a:off x="4800600" y="2848356"/>
            <a:ext cx="3191256" cy="397764"/>
          </a:xfrm>
          <a:prstGeom prst="rect">
            <a:avLst/>
          </a:prstGeom>
          <a:noFill/>
          <a:ln/>
        </p:spPr>
        <p:txBody>
          <a:bodyPr wrap="square" lIns="0" tIns="0" rIns="0" bIns="0" rtlCol="0" anchor="ctr">
            <a:normAutofit/>
          </a:bodyPr>
          <a:lstStyle/>
          <a:p>
            <a:pPr marL="0" indent="0" algn="ctr">
              <a:lnSpc>
                <a:spcPct val="100000"/>
              </a:lnSpc>
              <a:buNone/>
            </a:pPr>
            <a:r>
              <a:rPr lang="en-US" sz="1260" dirty="0">
                <a:solidFill>
                  <a:srgbClr val="1D3957"/>
                </a:solidFill>
                <a:latin typeface="Aptos" pitchFamily="34" charset="0"/>
                <a:ea typeface="Aptos" pitchFamily="34" charset="-122"/>
                <a:cs typeface="Aptos" pitchFamily="34" charset="-120"/>
              </a:rPr>
              <a:t>64 × 56 × 56</a:t>
            </a:r>
            <a:endParaRPr lang="en-US" sz="1260" dirty="0"/>
          </a:p>
        </p:txBody>
      </p:sp>
      <p:sp>
        <p:nvSpPr>
          <p:cNvPr id="32" name="Shape 30"/>
          <p:cNvSpPr/>
          <p:nvPr/>
        </p:nvSpPr>
        <p:spPr>
          <a:xfrm>
            <a:off x="8065008" y="2802636"/>
            <a:ext cx="3337560" cy="470916"/>
          </a:xfrm>
          <a:prstGeom prst="rect">
            <a:avLst/>
          </a:prstGeom>
          <a:solidFill>
            <a:srgbClr val="F5F8FC"/>
          </a:solidFill>
          <a:ln w="5715">
            <a:solidFill>
              <a:srgbClr val="CBD8E5"/>
            </a:solidFill>
            <a:prstDash val="solid"/>
          </a:ln>
        </p:spPr>
        <p:txBody>
          <a:bodyPr/>
          <a:lstStyle/>
          <a:p>
            <a:endParaRPr lang="en-JP"/>
          </a:p>
        </p:txBody>
      </p:sp>
      <p:sp>
        <p:nvSpPr>
          <p:cNvPr id="33" name="Text 31"/>
          <p:cNvSpPr/>
          <p:nvPr/>
        </p:nvSpPr>
        <p:spPr>
          <a:xfrm>
            <a:off x="8138160" y="2848356"/>
            <a:ext cx="3191256" cy="397764"/>
          </a:xfrm>
          <a:prstGeom prst="rect">
            <a:avLst/>
          </a:prstGeom>
          <a:noFill/>
          <a:ln/>
        </p:spPr>
        <p:txBody>
          <a:bodyPr wrap="square" lIns="0" tIns="0" rIns="0" bIns="0" rtlCol="0" anchor="ctr">
            <a:normAutofit/>
          </a:bodyPr>
          <a:lstStyle/>
          <a:p>
            <a:pPr marL="0" indent="0" algn="ctr">
              <a:lnSpc>
                <a:spcPct val="100000"/>
              </a:lnSpc>
              <a:buNone/>
            </a:pPr>
            <a:r>
              <a:rPr lang="en-US" sz="1260" dirty="0">
                <a:solidFill>
                  <a:srgbClr val="1D3957"/>
                </a:solidFill>
                <a:latin typeface="Aptos" pitchFamily="34" charset="0"/>
                <a:ea typeface="Aptos" pitchFamily="34" charset="-122"/>
                <a:cs typeface="Aptos" pitchFamily="34" charset="-120"/>
              </a:rPr>
              <a:t>256 × 56 × 56</a:t>
            </a:r>
            <a:endParaRPr lang="en-US" sz="1260" dirty="0"/>
          </a:p>
        </p:txBody>
      </p:sp>
      <p:sp>
        <p:nvSpPr>
          <p:cNvPr id="34" name="Shape 32"/>
          <p:cNvSpPr/>
          <p:nvPr/>
        </p:nvSpPr>
        <p:spPr>
          <a:xfrm>
            <a:off x="841248" y="3273552"/>
            <a:ext cx="3886200" cy="470916"/>
          </a:xfrm>
          <a:prstGeom prst="rect">
            <a:avLst/>
          </a:prstGeom>
          <a:solidFill>
            <a:srgbClr val="FFFFFF"/>
          </a:solidFill>
          <a:ln w="5715">
            <a:solidFill>
              <a:srgbClr val="CBD8E5"/>
            </a:solidFill>
            <a:prstDash val="solid"/>
          </a:ln>
        </p:spPr>
        <p:txBody>
          <a:bodyPr/>
          <a:lstStyle/>
          <a:p>
            <a:endParaRPr lang="en-JP"/>
          </a:p>
        </p:txBody>
      </p:sp>
      <p:sp>
        <p:nvSpPr>
          <p:cNvPr id="35" name="Text 33"/>
          <p:cNvSpPr/>
          <p:nvPr/>
        </p:nvSpPr>
        <p:spPr>
          <a:xfrm>
            <a:off x="914400" y="3319272"/>
            <a:ext cx="3739896" cy="397764"/>
          </a:xfrm>
          <a:prstGeom prst="rect">
            <a:avLst/>
          </a:prstGeom>
          <a:noFill/>
          <a:ln/>
        </p:spPr>
        <p:txBody>
          <a:bodyPr wrap="square" lIns="0" tIns="0" rIns="0" bIns="0" rtlCol="0" anchor="ctr">
            <a:normAutofit/>
          </a:bodyPr>
          <a:lstStyle/>
          <a:p>
            <a:pPr marL="0" indent="0" algn="l">
              <a:lnSpc>
                <a:spcPct val="100000"/>
              </a:lnSpc>
              <a:buNone/>
            </a:pPr>
            <a:r>
              <a:rPr lang="en-US" sz="1260" dirty="0">
                <a:solidFill>
                  <a:srgbClr val="253547"/>
                </a:solidFill>
                <a:latin typeface="Aptos" pitchFamily="34" charset="0"/>
                <a:ea typeface="Aptos" pitchFamily="34" charset="-122"/>
                <a:cs typeface="Aptos" pitchFamily="34" charset="-120"/>
              </a:rPr>
              <a:t>layer2</a:t>
            </a:r>
            <a:endParaRPr lang="en-US" sz="1260" dirty="0"/>
          </a:p>
        </p:txBody>
      </p:sp>
      <p:sp>
        <p:nvSpPr>
          <p:cNvPr id="36" name="Shape 34"/>
          <p:cNvSpPr/>
          <p:nvPr/>
        </p:nvSpPr>
        <p:spPr>
          <a:xfrm>
            <a:off x="4727448" y="3273552"/>
            <a:ext cx="3337560" cy="470916"/>
          </a:xfrm>
          <a:prstGeom prst="rect">
            <a:avLst/>
          </a:prstGeom>
          <a:solidFill>
            <a:srgbClr val="FFFFFF"/>
          </a:solidFill>
          <a:ln w="5715">
            <a:solidFill>
              <a:srgbClr val="CBD8E5"/>
            </a:solidFill>
            <a:prstDash val="solid"/>
          </a:ln>
        </p:spPr>
        <p:txBody>
          <a:bodyPr/>
          <a:lstStyle/>
          <a:p>
            <a:endParaRPr lang="en-JP"/>
          </a:p>
        </p:txBody>
      </p:sp>
      <p:sp>
        <p:nvSpPr>
          <p:cNvPr id="37" name="Text 35"/>
          <p:cNvSpPr/>
          <p:nvPr/>
        </p:nvSpPr>
        <p:spPr>
          <a:xfrm>
            <a:off x="4800600" y="3319272"/>
            <a:ext cx="3191256" cy="397764"/>
          </a:xfrm>
          <a:prstGeom prst="rect">
            <a:avLst/>
          </a:prstGeom>
          <a:noFill/>
          <a:ln/>
        </p:spPr>
        <p:txBody>
          <a:bodyPr wrap="square" lIns="0" tIns="0" rIns="0" bIns="0" rtlCol="0" anchor="ctr">
            <a:normAutofit/>
          </a:bodyPr>
          <a:lstStyle/>
          <a:p>
            <a:pPr marL="0" indent="0" algn="ctr">
              <a:lnSpc>
                <a:spcPct val="100000"/>
              </a:lnSpc>
              <a:buNone/>
            </a:pPr>
            <a:r>
              <a:rPr lang="en-US" sz="1260" dirty="0">
                <a:solidFill>
                  <a:srgbClr val="1D3957"/>
                </a:solidFill>
                <a:latin typeface="Aptos" pitchFamily="34" charset="0"/>
                <a:ea typeface="Aptos" pitchFamily="34" charset="-122"/>
                <a:cs typeface="Aptos" pitchFamily="34" charset="-120"/>
              </a:rPr>
              <a:t>128 × 28 × 28</a:t>
            </a:r>
            <a:endParaRPr lang="en-US" sz="1260" dirty="0"/>
          </a:p>
        </p:txBody>
      </p:sp>
      <p:sp>
        <p:nvSpPr>
          <p:cNvPr id="38" name="Shape 36"/>
          <p:cNvSpPr/>
          <p:nvPr/>
        </p:nvSpPr>
        <p:spPr>
          <a:xfrm>
            <a:off x="8065008" y="3273552"/>
            <a:ext cx="3337560" cy="470916"/>
          </a:xfrm>
          <a:prstGeom prst="rect">
            <a:avLst/>
          </a:prstGeom>
          <a:solidFill>
            <a:srgbClr val="FFFFFF"/>
          </a:solidFill>
          <a:ln w="5715">
            <a:solidFill>
              <a:srgbClr val="CBD8E5"/>
            </a:solidFill>
            <a:prstDash val="solid"/>
          </a:ln>
        </p:spPr>
        <p:txBody>
          <a:bodyPr/>
          <a:lstStyle/>
          <a:p>
            <a:endParaRPr lang="en-JP"/>
          </a:p>
        </p:txBody>
      </p:sp>
      <p:sp>
        <p:nvSpPr>
          <p:cNvPr id="39" name="Text 37"/>
          <p:cNvSpPr/>
          <p:nvPr/>
        </p:nvSpPr>
        <p:spPr>
          <a:xfrm>
            <a:off x="8138160" y="3319272"/>
            <a:ext cx="3191256" cy="397764"/>
          </a:xfrm>
          <a:prstGeom prst="rect">
            <a:avLst/>
          </a:prstGeom>
          <a:noFill/>
          <a:ln/>
        </p:spPr>
        <p:txBody>
          <a:bodyPr wrap="square" lIns="0" tIns="0" rIns="0" bIns="0" rtlCol="0" anchor="ctr">
            <a:normAutofit/>
          </a:bodyPr>
          <a:lstStyle/>
          <a:p>
            <a:pPr marL="0" indent="0" algn="ctr">
              <a:lnSpc>
                <a:spcPct val="100000"/>
              </a:lnSpc>
              <a:buNone/>
            </a:pPr>
            <a:r>
              <a:rPr lang="en-US" sz="1260" dirty="0">
                <a:solidFill>
                  <a:srgbClr val="1D3957"/>
                </a:solidFill>
                <a:latin typeface="Aptos" pitchFamily="34" charset="0"/>
                <a:ea typeface="Aptos" pitchFamily="34" charset="-122"/>
                <a:cs typeface="Aptos" pitchFamily="34" charset="-120"/>
              </a:rPr>
              <a:t>512 × 28 × 28</a:t>
            </a:r>
            <a:endParaRPr lang="en-US" sz="1260" dirty="0"/>
          </a:p>
        </p:txBody>
      </p:sp>
      <p:sp>
        <p:nvSpPr>
          <p:cNvPr id="40" name="Shape 38"/>
          <p:cNvSpPr/>
          <p:nvPr/>
        </p:nvSpPr>
        <p:spPr>
          <a:xfrm>
            <a:off x="841248" y="3744468"/>
            <a:ext cx="3886200" cy="470916"/>
          </a:xfrm>
          <a:prstGeom prst="rect">
            <a:avLst/>
          </a:prstGeom>
          <a:solidFill>
            <a:srgbClr val="F5F8FC"/>
          </a:solidFill>
          <a:ln w="5715">
            <a:solidFill>
              <a:srgbClr val="CBD8E5"/>
            </a:solidFill>
            <a:prstDash val="solid"/>
          </a:ln>
        </p:spPr>
        <p:txBody>
          <a:bodyPr/>
          <a:lstStyle/>
          <a:p>
            <a:endParaRPr lang="en-JP"/>
          </a:p>
        </p:txBody>
      </p:sp>
      <p:sp>
        <p:nvSpPr>
          <p:cNvPr id="41" name="Text 39"/>
          <p:cNvSpPr/>
          <p:nvPr/>
        </p:nvSpPr>
        <p:spPr>
          <a:xfrm>
            <a:off x="914400" y="3790188"/>
            <a:ext cx="3739896" cy="397764"/>
          </a:xfrm>
          <a:prstGeom prst="rect">
            <a:avLst/>
          </a:prstGeom>
          <a:noFill/>
          <a:ln/>
        </p:spPr>
        <p:txBody>
          <a:bodyPr wrap="square" lIns="0" tIns="0" rIns="0" bIns="0" rtlCol="0" anchor="ctr">
            <a:normAutofit/>
          </a:bodyPr>
          <a:lstStyle/>
          <a:p>
            <a:pPr marL="0" indent="0" algn="l">
              <a:lnSpc>
                <a:spcPct val="100000"/>
              </a:lnSpc>
              <a:buNone/>
            </a:pPr>
            <a:r>
              <a:rPr lang="en-US" sz="1260" dirty="0">
                <a:solidFill>
                  <a:srgbClr val="253547"/>
                </a:solidFill>
                <a:latin typeface="Aptos" pitchFamily="34" charset="0"/>
                <a:ea typeface="Aptos" pitchFamily="34" charset="-122"/>
                <a:cs typeface="Aptos" pitchFamily="34" charset="-120"/>
              </a:rPr>
              <a:t>layer3</a:t>
            </a:r>
            <a:endParaRPr lang="en-US" sz="1260" dirty="0"/>
          </a:p>
        </p:txBody>
      </p:sp>
      <p:sp>
        <p:nvSpPr>
          <p:cNvPr id="42" name="Shape 40"/>
          <p:cNvSpPr/>
          <p:nvPr/>
        </p:nvSpPr>
        <p:spPr>
          <a:xfrm>
            <a:off x="4727448" y="3744468"/>
            <a:ext cx="3337560" cy="470916"/>
          </a:xfrm>
          <a:prstGeom prst="rect">
            <a:avLst/>
          </a:prstGeom>
          <a:solidFill>
            <a:srgbClr val="F5F8FC"/>
          </a:solidFill>
          <a:ln w="5715">
            <a:solidFill>
              <a:srgbClr val="CBD8E5"/>
            </a:solidFill>
            <a:prstDash val="solid"/>
          </a:ln>
        </p:spPr>
        <p:txBody>
          <a:bodyPr/>
          <a:lstStyle/>
          <a:p>
            <a:endParaRPr lang="en-JP"/>
          </a:p>
        </p:txBody>
      </p:sp>
      <p:sp>
        <p:nvSpPr>
          <p:cNvPr id="43" name="Text 41"/>
          <p:cNvSpPr/>
          <p:nvPr/>
        </p:nvSpPr>
        <p:spPr>
          <a:xfrm>
            <a:off x="4800600" y="3790188"/>
            <a:ext cx="3191256" cy="397764"/>
          </a:xfrm>
          <a:prstGeom prst="rect">
            <a:avLst/>
          </a:prstGeom>
          <a:noFill/>
          <a:ln/>
        </p:spPr>
        <p:txBody>
          <a:bodyPr wrap="square" lIns="0" tIns="0" rIns="0" bIns="0" rtlCol="0" anchor="ctr">
            <a:normAutofit/>
          </a:bodyPr>
          <a:lstStyle/>
          <a:p>
            <a:pPr marL="0" indent="0" algn="ctr">
              <a:lnSpc>
                <a:spcPct val="100000"/>
              </a:lnSpc>
              <a:buNone/>
            </a:pPr>
            <a:r>
              <a:rPr lang="en-US" sz="1260" dirty="0">
                <a:solidFill>
                  <a:srgbClr val="1D3957"/>
                </a:solidFill>
                <a:latin typeface="Aptos" pitchFamily="34" charset="0"/>
                <a:ea typeface="Aptos" pitchFamily="34" charset="-122"/>
                <a:cs typeface="Aptos" pitchFamily="34" charset="-120"/>
              </a:rPr>
              <a:t>256 × 14 × 14</a:t>
            </a:r>
            <a:endParaRPr lang="en-US" sz="1260" dirty="0"/>
          </a:p>
        </p:txBody>
      </p:sp>
      <p:sp>
        <p:nvSpPr>
          <p:cNvPr id="44" name="Shape 42"/>
          <p:cNvSpPr/>
          <p:nvPr/>
        </p:nvSpPr>
        <p:spPr>
          <a:xfrm>
            <a:off x="8065008" y="3744468"/>
            <a:ext cx="3337560" cy="470916"/>
          </a:xfrm>
          <a:prstGeom prst="rect">
            <a:avLst/>
          </a:prstGeom>
          <a:solidFill>
            <a:srgbClr val="F5F8FC"/>
          </a:solidFill>
          <a:ln w="5715">
            <a:solidFill>
              <a:srgbClr val="CBD8E5"/>
            </a:solidFill>
            <a:prstDash val="solid"/>
          </a:ln>
        </p:spPr>
        <p:txBody>
          <a:bodyPr/>
          <a:lstStyle/>
          <a:p>
            <a:endParaRPr lang="en-JP"/>
          </a:p>
        </p:txBody>
      </p:sp>
      <p:sp>
        <p:nvSpPr>
          <p:cNvPr id="45" name="Text 43"/>
          <p:cNvSpPr/>
          <p:nvPr/>
        </p:nvSpPr>
        <p:spPr>
          <a:xfrm>
            <a:off x="8138160" y="3790188"/>
            <a:ext cx="3191256" cy="397764"/>
          </a:xfrm>
          <a:prstGeom prst="rect">
            <a:avLst/>
          </a:prstGeom>
          <a:noFill/>
          <a:ln/>
        </p:spPr>
        <p:txBody>
          <a:bodyPr wrap="square" lIns="0" tIns="0" rIns="0" bIns="0" rtlCol="0" anchor="ctr">
            <a:normAutofit/>
          </a:bodyPr>
          <a:lstStyle/>
          <a:p>
            <a:pPr marL="0" indent="0" algn="ctr">
              <a:lnSpc>
                <a:spcPct val="100000"/>
              </a:lnSpc>
              <a:buNone/>
            </a:pPr>
            <a:r>
              <a:rPr lang="en-US" sz="1260" dirty="0">
                <a:solidFill>
                  <a:srgbClr val="1D3957"/>
                </a:solidFill>
                <a:latin typeface="Aptos" pitchFamily="34" charset="0"/>
                <a:ea typeface="Aptos" pitchFamily="34" charset="-122"/>
                <a:cs typeface="Aptos" pitchFamily="34" charset="-120"/>
              </a:rPr>
              <a:t>1024 × 14 × 14</a:t>
            </a:r>
            <a:endParaRPr lang="en-US" sz="1260" dirty="0"/>
          </a:p>
        </p:txBody>
      </p:sp>
      <p:sp>
        <p:nvSpPr>
          <p:cNvPr id="46" name="Shape 44"/>
          <p:cNvSpPr/>
          <p:nvPr/>
        </p:nvSpPr>
        <p:spPr>
          <a:xfrm>
            <a:off x="841248" y="4215384"/>
            <a:ext cx="3886200" cy="470916"/>
          </a:xfrm>
          <a:prstGeom prst="rect">
            <a:avLst/>
          </a:prstGeom>
          <a:solidFill>
            <a:srgbClr val="FFFFFF"/>
          </a:solidFill>
          <a:ln w="5715">
            <a:solidFill>
              <a:srgbClr val="CBD8E5"/>
            </a:solidFill>
            <a:prstDash val="solid"/>
          </a:ln>
        </p:spPr>
        <p:txBody>
          <a:bodyPr/>
          <a:lstStyle/>
          <a:p>
            <a:endParaRPr lang="en-JP"/>
          </a:p>
        </p:txBody>
      </p:sp>
      <p:sp>
        <p:nvSpPr>
          <p:cNvPr id="47" name="Text 45"/>
          <p:cNvSpPr/>
          <p:nvPr/>
        </p:nvSpPr>
        <p:spPr>
          <a:xfrm>
            <a:off x="914400" y="4261104"/>
            <a:ext cx="3739896" cy="397764"/>
          </a:xfrm>
          <a:prstGeom prst="rect">
            <a:avLst/>
          </a:prstGeom>
          <a:noFill/>
          <a:ln/>
        </p:spPr>
        <p:txBody>
          <a:bodyPr wrap="square" lIns="0" tIns="0" rIns="0" bIns="0" rtlCol="0" anchor="ctr">
            <a:normAutofit/>
          </a:bodyPr>
          <a:lstStyle/>
          <a:p>
            <a:pPr marL="0" indent="0" algn="l">
              <a:lnSpc>
                <a:spcPct val="100000"/>
              </a:lnSpc>
              <a:buNone/>
            </a:pPr>
            <a:r>
              <a:rPr lang="en-US" sz="1260" dirty="0">
                <a:solidFill>
                  <a:srgbClr val="253547"/>
                </a:solidFill>
                <a:latin typeface="Aptos" pitchFamily="34" charset="0"/>
                <a:ea typeface="Aptos" pitchFamily="34" charset="-122"/>
                <a:cs typeface="Aptos" pitchFamily="34" charset="-120"/>
              </a:rPr>
              <a:t>layer4</a:t>
            </a:r>
            <a:endParaRPr lang="en-US" sz="1260" dirty="0"/>
          </a:p>
        </p:txBody>
      </p:sp>
      <p:sp>
        <p:nvSpPr>
          <p:cNvPr id="48" name="Shape 46"/>
          <p:cNvSpPr/>
          <p:nvPr/>
        </p:nvSpPr>
        <p:spPr>
          <a:xfrm>
            <a:off x="4727448" y="4215384"/>
            <a:ext cx="3337560" cy="470916"/>
          </a:xfrm>
          <a:prstGeom prst="rect">
            <a:avLst/>
          </a:prstGeom>
          <a:solidFill>
            <a:srgbClr val="FFFFFF"/>
          </a:solidFill>
          <a:ln w="5715">
            <a:solidFill>
              <a:srgbClr val="CBD8E5"/>
            </a:solidFill>
            <a:prstDash val="solid"/>
          </a:ln>
        </p:spPr>
        <p:txBody>
          <a:bodyPr/>
          <a:lstStyle/>
          <a:p>
            <a:endParaRPr lang="en-JP"/>
          </a:p>
        </p:txBody>
      </p:sp>
      <p:sp>
        <p:nvSpPr>
          <p:cNvPr id="49" name="Text 47"/>
          <p:cNvSpPr/>
          <p:nvPr/>
        </p:nvSpPr>
        <p:spPr>
          <a:xfrm>
            <a:off x="4800600" y="4261104"/>
            <a:ext cx="3191256" cy="397764"/>
          </a:xfrm>
          <a:prstGeom prst="rect">
            <a:avLst/>
          </a:prstGeom>
          <a:noFill/>
          <a:ln/>
        </p:spPr>
        <p:txBody>
          <a:bodyPr wrap="square" lIns="0" tIns="0" rIns="0" bIns="0" rtlCol="0" anchor="ctr">
            <a:normAutofit/>
          </a:bodyPr>
          <a:lstStyle/>
          <a:p>
            <a:pPr marL="0" indent="0" algn="ctr">
              <a:lnSpc>
                <a:spcPct val="100000"/>
              </a:lnSpc>
              <a:buNone/>
            </a:pPr>
            <a:r>
              <a:rPr lang="en-US" sz="1260" dirty="0">
                <a:solidFill>
                  <a:srgbClr val="1D3957"/>
                </a:solidFill>
                <a:latin typeface="Aptos" pitchFamily="34" charset="0"/>
                <a:ea typeface="Aptos" pitchFamily="34" charset="-122"/>
                <a:cs typeface="Aptos" pitchFamily="34" charset="-120"/>
              </a:rPr>
              <a:t>512 × 7 × 7</a:t>
            </a:r>
            <a:endParaRPr lang="en-US" sz="1260" dirty="0"/>
          </a:p>
        </p:txBody>
      </p:sp>
      <p:sp>
        <p:nvSpPr>
          <p:cNvPr id="50" name="Shape 48"/>
          <p:cNvSpPr/>
          <p:nvPr/>
        </p:nvSpPr>
        <p:spPr>
          <a:xfrm>
            <a:off x="8065008" y="4215384"/>
            <a:ext cx="3337560" cy="470916"/>
          </a:xfrm>
          <a:prstGeom prst="rect">
            <a:avLst/>
          </a:prstGeom>
          <a:solidFill>
            <a:srgbClr val="FFFFFF"/>
          </a:solidFill>
          <a:ln w="5715">
            <a:solidFill>
              <a:srgbClr val="CBD8E5"/>
            </a:solidFill>
            <a:prstDash val="solid"/>
          </a:ln>
        </p:spPr>
        <p:txBody>
          <a:bodyPr/>
          <a:lstStyle/>
          <a:p>
            <a:endParaRPr lang="en-JP"/>
          </a:p>
        </p:txBody>
      </p:sp>
      <p:sp>
        <p:nvSpPr>
          <p:cNvPr id="51" name="Text 49"/>
          <p:cNvSpPr/>
          <p:nvPr/>
        </p:nvSpPr>
        <p:spPr>
          <a:xfrm>
            <a:off x="8138160" y="4261104"/>
            <a:ext cx="3191256" cy="397764"/>
          </a:xfrm>
          <a:prstGeom prst="rect">
            <a:avLst/>
          </a:prstGeom>
          <a:noFill/>
          <a:ln/>
        </p:spPr>
        <p:txBody>
          <a:bodyPr wrap="square" lIns="0" tIns="0" rIns="0" bIns="0" rtlCol="0" anchor="ctr">
            <a:normAutofit/>
          </a:bodyPr>
          <a:lstStyle/>
          <a:p>
            <a:pPr marL="0" indent="0" algn="ctr">
              <a:lnSpc>
                <a:spcPct val="100000"/>
              </a:lnSpc>
              <a:buNone/>
            </a:pPr>
            <a:r>
              <a:rPr lang="en-US" sz="1260" dirty="0">
                <a:solidFill>
                  <a:srgbClr val="1D3957"/>
                </a:solidFill>
                <a:latin typeface="Aptos" pitchFamily="34" charset="0"/>
                <a:ea typeface="Aptos" pitchFamily="34" charset="-122"/>
                <a:cs typeface="Aptos" pitchFamily="34" charset="-120"/>
              </a:rPr>
              <a:t>2048 × 7 × 7</a:t>
            </a:r>
            <a:endParaRPr lang="en-US" sz="1260" dirty="0"/>
          </a:p>
        </p:txBody>
      </p:sp>
      <p:sp>
        <p:nvSpPr>
          <p:cNvPr id="52" name="Shape 50"/>
          <p:cNvSpPr/>
          <p:nvPr/>
        </p:nvSpPr>
        <p:spPr>
          <a:xfrm>
            <a:off x="841248" y="4686300"/>
            <a:ext cx="3886200" cy="470916"/>
          </a:xfrm>
          <a:prstGeom prst="rect">
            <a:avLst/>
          </a:prstGeom>
          <a:solidFill>
            <a:srgbClr val="F5F8FC"/>
          </a:solidFill>
          <a:ln w="5715">
            <a:solidFill>
              <a:srgbClr val="CBD8E5"/>
            </a:solidFill>
            <a:prstDash val="solid"/>
          </a:ln>
        </p:spPr>
        <p:txBody>
          <a:bodyPr/>
          <a:lstStyle/>
          <a:p>
            <a:endParaRPr lang="en-JP"/>
          </a:p>
        </p:txBody>
      </p:sp>
      <p:sp>
        <p:nvSpPr>
          <p:cNvPr id="53" name="Text 51"/>
          <p:cNvSpPr/>
          <p:nvPr/>
        </p:nvSpPr>
        <p:spPr>
          <a:xfrm>
            <a:off x="914400" y="4732020"/>
            <a:ext cx="3739896" cy="397764"/>
          </a:xfrm>
          <a:prstGeom prst="rect">
            <a:avLst/>
          </a:prstGeom>
          <a:noFill/>
          <a:ln/>
        </p:spPr>
        <p:txBody>
          <a:bodyPr wrap="square" lIns="0" tIns="0" rIns="0" bIns="0" rtlCol="0" anchor="ctr">
            <a:normAutofit/>
          </a:bodyPr>
          <a:lstStyle/>
          <a:p>
            <a:pPr marL="0" indent="0" algn="l">
              <a:lnSpc>
                <a:spcPct val="100000"/>
              </a:lnSpc>
              <a:buNone/>
            </a:pPr>
            <a:r>
              <a:rPr lang="en-US" sz="1260" dirty="0">
                <a:solidFill>
                  <a:srgbClr val="253547"/>
                </a:solidFill>
                <a:latin typeface="Aptos" pitchFamily="34" charset="0"/>
                <a:ea typeface="Aptos" pitchFamily="34" charset="-122"/>
                <a:cs typeface="Aptos" pitchFamily="34" charset="-120"/>
              </a:rPr>
              <a:t>Adaptive avgpool</a:t>
            </a:r>
            <a:endParaRPr lang="en-US" sz="1260" dirty="0"/>
          </a:p>
        </p:txBody>
      </p:sp>
      <p:sp>
        <p:nvSpPr>
          <p:cNvPr id="54" name="Shape 52"/>
          <p:cNvSpPr/>
          <p:nvPr/>
        </p:nvSpPr>
        <p:spPr>
          <a:xfrm>
            <a:off x="4727448" y="4686300"/>
            <a:ext cx="3337560" cy="470916"/>
          </a:xfrm>
          <a:prstGeom prst="rect">
            <a:avLst/>
          </a:prstGeom>
          <a:solidFill>
            <a:srgbClr val="F5F8FC"/>
          </a:solidFill>
          <a:ln w="5715">
            <a:solidFill>
              <a:srgbClr val="CBD8E5"/>
            </a:solidFill>
            <a:prstDash val="solid"/>
          </a:ln>
        </p:spPr>
        <p:txBody>
          <a:bodyPr/>
          <a:lstStyle/>
          <a:p>
            <a:endParaRPr lang="en-JP"/>
          </a:p>
        </p:txBody>
      </p:sp>
      <p:sp>
        <p:nvSpPr>
          <p:cNvPr id="55" name="Text 53"/>
          <p:cNvSpPr/>
          <p:nvPr/>
        </p:nvSpPr>
        <p:spPr>
          <a:xfrm>
            <a:off x="4800600" y="4732020"/>
            <a:ext cx="3191256" cy="397764"/>
          </a:xfrm>
          <a:prstGeom prst="rect">
            <a:avLst/>
          </a:prstGeom>
          <a:noFill/>
          <a:ln/>
        </p:spPr>
        <p:txBody>
          <a:bodyPr wrap="square" lIns="0" tIns="0" rIns="0" bIns="0" rtlCol="0" anchor="ctr">
            <a:normAutofit/>
          </a:bodyPr>
          <a:lstStyle/>
          <a:p>
            <a:pPr marL="0" indent="0" algn="ctr">
              <a:lnSpc>
                <a:spcPct val="100000"/>
              </a:lnSpc>
              <a:buNone/>
            </a:pPr>
            <a:r>
              <a:rPr lang="en-US" sz="1260" dirty="0">
                <a:solidFill>
                  <a:srgbClr val="1D3957"/>
                </a:solidFill>
                <a:latin typeface="Aptos" pitchFamily="34" charset="0"/>
                <a:ea typeface="Aptos" pitchFamily="34" charset="-122"/>
                <a:cs typeface="Aptos" pitchFamily="34" charset="-120"/>
              </a:rPr>
              <a:t>512 × 1 × 1</a:t>
            </a:r>
            <a:endParaRPr lang="en-US" sz="1260" dirty="0"/>
          </a:p>
        </p:txBody>
      </p:sp>
      <p:sp>
        <p:nvSpPr>
          <p:cNvPr id="56" name="Shape 54"/>
          <p:cNvSpPr/>
          <p:nvPr/>
        </p:nvSpPr>
        <p:spPr>
          <a:xfrm>
            <a:off x="8065008" y="4686300"/>
            <a:ext cx="3337560" cy="470916"/>
          </a:xfrm>
          <a:prstGeom prst="rect">
            <a:avLst/>
          </a:prstGeom>
          <a:solidFill>
            <a:srgbClr val="F5F8FC"/>
          </a:solidFill>
          <a:ln w="5715">
            <a:solidFill>
              <a:srgbClr val="CBD8E5"/>
            </a:solidFill>
            <a:prstDash val="solid"/>
          </a:ln>
        </p:spPr>
        <p:txBody>
          <a:bodyPr/>
          <a:lstStyle/>
          <a:p>
            <a:endParaRPr lang="en-JP"/>
          </a:p>
        </p:txBody>
      </p:sp>
      <p:sp>
        <p:nvSpPr>
          <p:cNvPr id="57" name="Text 55"/>
          <p:cNvSpPr/>
          <p:nvPr/>
        </p:nvSpPr>
        <p:spPr>
          <a:xfrm>
            <a:off x="8138160" y="4732020"/>
            <a:ext cx="3191256" cy="397764"/>
          </a:xfrm>
          <a:prstGeom prst="rect">
            <a:avLst/>
          </a:prstGeom>
          <a:noFill/>
          <a:ln/>
        </p:spPr>
        <p:txBody>
          <a:bodyPr wrap="square" lIns="0" tIns="0" rIns="0" bIns="0" rtlCol="0" anchor="ctr">
            <a:normAutofit/>
          </a:bodyPr>
          <a:lstStyle/>
          <a:p>
            <a:pPr marL="0" indent="0" algn="ctr">
              <a:lnSpc>
                <a:spcPct val="100000"/>
              </a:lnSpc>
              <a:buNone/>
            </a:pPr>
            <a:r>
              <a:rPr lang="en-US" sz="1260" dirty="0">
                <a:solidFill>
                  <a:srgbClr val="1D3957"/>
                </a:solidFill>
                <a:latin typeface="Aptos" pitchFamily="34" charset="0"/>
                <a:ea typeface="Aptos" pitchFamily="34" charset="-122"/>
                <a:cs typeface="Aptos" pitchFamily="34" charset="-120"/>
              </a:rPr>
              <a:t>2048 × 1 × 1</a:t>
            </a:r>
            <a:endParaRPr lang="en-US" sz="1260" dirty="0"/>
          </a:p>
        </p:txBody>
      </p:sp>
      <p:sp>
        <p:nvSpPr>
          <p:cNvPr id="58" name="Shape 56"/>
          <p:cNvSpPr/>
          <p:nvPr/>
        </p:nvSpPr>
        <p:spPr>
          <a:xfrm>
            <a:off x="841248" y="5157216"/>
            <a:ext cx="3886200" cy="470916"/>
          </a:xfrm>
          <a:prstGeom prst="rect">
            <a:avLst/>
          </a:prstGeom>
          <a:solidFill>
            <a:srgbClr val="FFFFFF"/>
          </a:solidFill>
          <a:ln w="5715">
            <a:solidFill>
              <a:srgbClr val="CBD8E5"/>
            </a:solidFill>
            <a:prstDash val="solid"/>
          </a:ln>
        </p:spPr>
        <p:txBody>
          <a:bodyPr/>
          <a:lstStyle/>
          <a:p>
            <a:endParaRPr lang="en-JP"/>
          </a:p>
        </p:txBody>
      </p:sp>
      <p:sp>
        <p:nvSpPr>
          <p:cNvPr id="59" name="Text 57"/>
          <p:cNvSpPr/>
          <p:nvPr/>
        </p:nvSpPr>
        <p:spPr>
          <a:xfrm>
            <a:off x="914400" y="5202936"/>
            <a:ext cx="3739896" cy="397764"/>
          </a:xfrm>
          <a:prstGeom prst="rect">
            <a:avLst/>
          </a:prstGeom>
          <a:noFill/>
          <a:ln/>
        </p:spPr>
        <p:txBody>
          <a:bodyPr wrap="square" lIns="0" tIns="0" rIns="0" bIns="0" rtlCol="0" anchor="ctr">
            <a:normAutofit/>
          </a:bodyPr>
          <a:lstStyle/>
          <a:p>
            <a:pPr marL="0" indent="0" algn="l">
              <a:lnSpc>
                <a:spcPct val="100000"/>
              </a:lnSpc>
              <a:buNone/>
            </a:pPr>
            <a:r>
              <a:rPr lang="en-US" sz="1260" dirty="0">
                <a:solidFill>
                  <a:srgbClr val="253547"/>
                </a:solidFill>
                <a:latin typeface="Aptos" pitchFamily="34" charset="0"/>
                <a:ea typeface="Aptos" pitchFamily="34" charset="-122"/>
                <a:cs typeface="Aptos" pitchFamily="34" charset="-120"/>
              </a:rPr>
              <a:t>New fc / 分類層</a:t>
            </a:r>
            <a:endParaRPr lang="en-US" sz="1260" dirty="0"/>
          </a:p>
        </p:txBody>
      </p:sp>
      <p:sp>
        <p:nvSpPr>
          <p:cNvPr id="60" name="Shape 58"/>
          <p:cNvSpPr/>
          <p:nvPr/>
        </p:nvSpPr>
        <p:spPr>
          <a:xfrm>
            <a:off x="4727448" y="5157216"/>
            <a:ext cx="3337560" cy="470916"/>
          </a:xfrm>
          <a:prstGeom prst="rect">
            <a:avLst/>
          </a:prstGeom>
          <a:solidFill>
            <a:srgbClr val="FFFFFF"/>
          </a:solidFill>
          <a:ln w="5715">
            <a:solidFill>
              <a:srgbClr val="CBD8E5"/>
            </a:solidFill>
            <a:prstDash val="solid"/>
          </a:ln>
        </p:spPr>
        <p:txBody>
          <a:bodyPr/>
          <a:lstStyle/>
          <a:p>
            <a:endParaRPr lang="en-JP"/>
          </a:p>
        </p:txBody>
      </p:sp>
      <p:sp>
        <p:nvSpPr>
          <p:cNvPr id="61" name="Text 59"/>
          <p:cNvSpPr/>
          <p:nvPr/>
        </p:nvSpPr>
        <p:spPr>
          <a:xfrm>
            <a:off x="4800600" y="5202936"/>
            <a:ext cx="3191256" cy="397764"/>
          </a:xfrm>
          <a:prstGeom prst="rect">
            <a:avLst/>
          </a:prstGeom>
          <a:noFill/>
          <a:ln/>
        </p:spPr>
        <p:txBody>
          <a:bodyPr wrap="square" lIns="0" tIns="0" rIns="0" bIns="0" rtlCol="0" anchor="ctr">
            <a:normAutofit/>
          </a:bodyPr>
          <a:lstStyle/>
          <a:p>
            <a:pPr marL="0" indent="0" algn="ctr">
              <a:lnSpc>
                <a:spcPct val="100000"/>
              </a:lnSpc>
              <a:buNone/>
            </a:pPr>
            <a:r>
              <a:rPr lang="en-US" sz="1260" dirty="0">
                <a:solidFill>
                  <a:srgbClr val="1D3957"/>
                </a:solidFill>
                <a:latin typeface="Aptos" pitchFamily="34" charset="0"/>
                <a:ea typeface="Aptos" pitchFamily="34" charset="-122"/>
                <a:cs typeface="Aptos" pitchFamily="34" charset="-120"/>
              </a:rPr>
              <a:t>5 logits</a:t>
            </a:r>
            <a:endParaRPr lang="en-US" sz="1260" dirty="0"/>
          </a:p>
        </p:txBody>
      </p:sp>
      <p:sp>
        <p:nvSpPr>
          <p:cNvPr id="62" name="Shape 60"/>
          <p:cNvSpPr/>
          <p:nvPr/>
        </p:nvSpPr>
        <p:spPr>
          <a:xfrm>
            <a:off x="8065008" y="5157216"/>
            <a:ext cx="3337560" cy="470916"/>
          </a:xfrm>
          <a:prstGeom prst="rect">
            <a:avLst/>
          </a:prstGeom>
          <a:solidFill>
            <a:srgbClr val="FFFFFF"/>
          </a:solidFill>
          <a:ln w="5715">
            <a:solidFill>
              <a:srgbClr val="CBD8E5"/>
            </a:solidFill>
            <a:prstDash val="solid"/>
          </a:ln>
        </p:spPr>
        <p:txBody>
          <a:bodyPr/>
          <a:lstStyle/>
          <a:p>
            <a:endParaRPr lang="en-JP"/>
          </a:p>
        </p:txBody>
      </p:sp>
      <p:sp>
        <p:nvSpPr>
          <p:cNvPr id="63" name="Text 61"/>
          <p:cNvSpPr/>
          <p:nvPr/>
        </p:nvSpPr>
        <p:spPr>
          <a:xfrm>
            <a:off x="8138160" y="5202936"/>
            <a:ext cx="3191256" cy="397764"/>
          </a:xfrm>
          <a:prstGeom prst="rect">
            <a:avLst/>
          </a:prstGeom>
          <a:noFill/>
          <a:ln/>
        </p:spPr>
        <p:txBody>
          <a:bodyPr wrap="square" lIns="0" tIns="0" rIns="0" bIns="0" rtlCol="0" anchor="ctr">
            <a:normAutofit/>
          </a:bodyPr>
          <a:lstStyle/>
          <a:p>
            <a:pPr marL="0" indent="0" algn="ctr">
              <a:lnSpc>
                <a:spcPct val="100000"/>
              </a:lnSpc>
              <a:buNone/>
            </a:pPr>
            <a:r>
              <a:rPr lang="en-US" sz="1260" dirty="0">
                <a:solidFill>
                  <a:srgbClr val="1D3957"/>
                </a:solidFill>
                <a:latin typeface="Aptos" pitchFamily="34" charset="0"/>
                <a:ea typeface="Aptos" pitchFamily="34" charset="-122"/>
                <a:cs typeface="Aptos" pitchFamily="34" charset="-120"/>
              </a:rPr>
              <a:t>5 logits</a:t>
            </a:r>
            <a:endParaRPr lang="en-US" sz="1260" dirty="0"/>
          </a:p>
        </p:txBody>
      </p:sp>
      <p:sp>
        <p:nvSpPr>
          <p:cNvPr id="64" name="Shape 62"/>
          <p:cNvSpPr/>
          <p:nvPr/>
        </p:nvSpPr>
        <p:spPr>
          <a:xfrm>
            <a:off x="612648" y="5916168"/>
            <a:ext cx="10972800" cy="484632"/>
          </a:xfrm>
          <a:prstGeom prst="roundRect">
            <a:avLst>
              <a:gd name="adj" fmla="val 15094"/>
            </a:avLst>
          </a:prstGeom>
          <a:solidFill>
            <a:srgbClr val="DDF5EF"/>
          </a:solidFill>
          <a:ln w="8890">
            <a:solidFill>
              <a:srgbClr val="DDF5EF"/>
            </a:solidFill>
            <a:prstDash val="solid"/>
          </a:ln>
        </p:spPr>
        <p:txBody>
          <a:bodyPr/>
          <a:lstStyle/>
          <a:p>
            <a:endParaRPr lang="en-JP"/>
          </a:p>
        </p:txBody>
      </p:sp>
      <p:sp>
        <p:nvSpPr>
          <p:cNvPr id="65" name="Text 63"/>
          <p:cNvSpPr/>
          <p:nvPr/>
        </p:nvSpPr>
        <p:spPr>
          <a:xfrm>
            <a:off x="768096" y="5952744"/>
            <a:ext cx="5029200" cy="182880"/>
          </a:xfrm>
          <a:prstGeom prst="rect">
            <a:avLst/>
          </a:prstGeom>
          <a:noFill/>
          <a:ln/>
        </p:spPr>
        <p:txBody>
          <a:bodyPr wrap="square" lIns="0" tIns="0" rIns="0" bIns="0" rtlCol="0" anchor="ctr">
            <a:normAutofit lnSpcReduction="10000"/>
          </a:bodyPr>
          <a:lstStyle/>
          <a:p>
            <a:pPr marL="0" indent="0" algn="l">
              <a:lnSpc>
                <a:spcPct val="100000"/>
              </a:lnSpc>
              <a:buNone/>
            </a:pPr>
            <a:r>
              <a:rPr lang="en-US" sz="1210" b="1" dirty="0">
                <a:solidFill>
                  <a:srgbClr val="1D3957"/>
                </a:solidFill>
                <a:latin typeface="Aptos" pitchFamily="34" charset="0"/>
                <a:ea typeface="Aptos" pitchFamily="34" charset="-122"/>
                <a:cs typeface="Aptos" pitchFamily="34" charset="-120"/>
              </a:rPr>
              <a:t>C = channels, H = height, W = width; batch dimension omitted.</a:t>
            </a:r>
            <a:endParaRPr lang="en-US" sz="1210" dirty="0"/>
          </a:p>
        </p:txBody>
      </p:sp>
      <p:sp>
        <p:nvSpPr>
          <p:cNvPr id="66" name="Text 64"/>
          <p:cNvSpPr/>
          <p:nvPr/>
        </p:nvSpPr>
        <p:spPr>
          <a:xfrm>
            <a:off x="5760720" y="5943600"/>
            <a:ext cx="5669280" cy="219456"/>
          </a:xfrm>
          <a:prstGeom prst="rect">
            <a:avLst/>
          </a:prstGeom>
          <a:noFill/>
          <a:ln/>
        </p:spPr>
        <p:txBody>
          <a:bodyPr wrap="square" lIns="0" tIns="0" rIns="0" bIns="0" rtlCol="0" anchor="ctr">
            <a:normAutofit/>
          </a:bodyPr>
          <a:lstStyle/>
          <a:p>
            <a:pPr marL="0" indent="0" algn="l">
              <a:lnSpc>
                <a:spcPct val="100000"/>
              </a:lnSpc>
              <a:buNone/>
            </a:pPr>
            <a:r>
              <a:rPr lang="en-US" sz="1210" dirty="0">
                <a:solidFill>
                  <a:srgbClr val="1D3957"/>
                </a:solidFill>
                <a:latin typeface="Noto Sans CJK JP" pitchFamily="34" charset="0"/>
                <a:ea typeface="Noto Sans CJK JP" pitchFamily="34" charset="-122"/>
                <a:cs typeface="Noto Sans CJK JP" pitchFamily="34" charset="-120"/>
              </a:rPr>
              <a:t>C＝チャネル数、H＝高さ、W＝幅。バッチ次元は省略しています。</a:t>
            </a:r>
            <a:endParaRPr lang="en-US" sz="121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Replace the original ImageNet classifier</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ImageNet用の分類層を5クラスに交換</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10</a:t>
            </a:r>
            <a:endParaRPr lang="en-US" sz="870" dirty="0"/>
          </a:p>
        </p:txBody>
      </p:sp>
      <p:sp>
        <p:nvSpPr>
          <p:cNvPr id="10" name="Shape 8"/>
          <p:cNvSpPr/>
          <p:nvPr/>
        </p:nvSpPr>
        <p:spPr>
          <a:xfrm>
            <a:off x="758952" y="1847088"/>
            <a:ext cx="3913632" cy="1097280"/>
          </a:xfrm>
          <a:prstGeom prst="roundRect">
            <a:avLst>
              <a:gd name="adj" fmla="val 8333"/>
            </a:avLst>
          </a:prstGeom>
          <a:solidFill>
            <a:srgbClr val="E9F3FC"/>
          </a:solidFill>
          <a:ln w="8890">
            <a:solidFill>
              <a:srgbClr val="E9F3FC"/>
            </a:solidFill>
            <a:prstDash val="solid"/>
          </a:ln>
        </p:spPr>
        <p:txBody>
          <a:bodyPr/>
          <a:lstStyle/>
          <a:p>
            <a:endParaRPr lang="en-JP"/>
          </a:p>
        </p:txBody>
      </p:sp>
      <p:sp>
        <p:nvSpPr>
          <p:cNvPr id="11" name="Text 9"/>
          <p:cNvSpPr/>
          <p:nvPr/>
        </p:nvSpPr>
        <p:spPr>
          <a:xfrm>
            <a:off x="850392" y="1915668"/>
            <a:ext cx="3730752" cy="237744"/>
          </a:xfrm>
          <a:prstGeom prst="rect">
            <a:avLst/>
          </a:prstGeom>
          <a:noFill/>
          <a:ln/>
        </p:spPr>
        <p:txBody>
          <a:bodyPr wrap="square" lIns="0" tIns="0" rIns="0" bIns="0" rtlCol="0" anchor="ctr">
            <a:normAutofit lnSpcReduction="10000"/>
          </a:bodyPr>
          <a:lstStyle/>
          <a:p>
            <a:pPr marL="0" indent="0" algn="ctr">
              <a:lnSpc>
                <a:spcPct val="100000"/>
              </a:lnSpc>
              <a:buNone/>
            </a:pPr>
            <a:r>
              <a:rPr lang="en-US" sz="1700" b="1" dirty="0">
                <a:solidFill>
                  <a:srgbClr val="1D3957"/>
                </a:solidFill>
                <a:latin typeface="Aptos" pitchFamily="34" charset="0"/>
                <a:ea typeface="Aptos" pitchFamily="34" charset="-122"/>
                <a:cs typeface="Aptos" pitchFamily="34" charset="-120"/>
              </a:rPr>
              <a:t>Pretrained backbone</a:t>
            </a:r>
            <a:endParaRPr lang="en-US" sz="1700" dirty="0"/>
          </a:p>
        </p:txBody>
      </p:sp>
      <p:sp>
        <p:nvSpPr>
          <p:cNvPr id="12" name="Text 10"/>
          <p:cNvSpPr/>
          <p:nvPr/>
        </p:nvSpPr>
        <p:spPr>
          <a:xfrm>
            <a:off x="850392" y="2185416"/>
            <a:ext cx="3730752"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ImageNetで学習済みの特徴抽出器</a:t>
            </a:r>
            <a:endParaRPr lang="en-US" sz="1120" dirty="0"/>
          </a:p>
        </p:txBody>
      </p:sp>
      <p:sp>
        <p:nvSpPr>
          <p:cNvPr id="13" name="Shape 11"/>
          <p:cNvSpPr/>
          <p:nvPr/>
        </p:nvSpPr>
        <p:spPr>
          <a:xfrm>
            <a:off x="4736592" y="2359152"/>
            <a:ext cx="1024128" cy="0"/>
          </a:xfrm>
          <a:prstGeom prst="line">
            <a:avLst/>
          </a:prstGeom>
          <a:noFill/>
          <a:ln w="30480">
            <a:solidFill>
              <a:srgbClr val="1D3957"/>
            </a:solidFill>
            <a:prstDash val="solid"/>
            <a:headEnd type="none"/>
            <a:tailEnd type="triangle"/>
          </a:ln>
        </p:spPr>
        <p:txBody>
          <a:bodyPr/>
          <a:lstStyle/>
          <a:p>
            <a:endParaRPr lang="en-JP"/>
          </a:p>
        </p:txBody>
      </p:sp>
      <p:sp>
        <p:nvSpPr>
          <p:cNvPr id="14" name="Shape 12"/>
          <p:cNvSpPr/>
          <p:nvPr/>
        </p:nvSpPr>
        <p:spPr>
          <a:xfrm>
            <a:off x="5861304" y="1444752"/>
            <a:ext cx="4727448" cy="813816"/>
          </a:xfrm>
          <a:prstGeom prst="roundRect">
            <a:avLst>
              <a:gd name="adj" fmla="val 11236"/>
            </a:avLst>
          </a:prstGeom>
          <a:solidFill>
            <a:srgbClr val="F5F8FC"/>
          </a:solidFill>
          <a:ln w="8890">
            <a:solidFill>
              <a:srgbClr val="CBD8E5"/>
            </a:solidFill>
            <a:prstDash val="solid"/>
          </a:ln>
        </p:spPr>
        <p:txBody>
          <a:bodyPr/>
          <a:lstStyle/>
          <a:p>
            <a:endParaRPr lang="en-JP"/>
          </a:p>
        </p:txBody>
      </p:sp>
      <p:sp>
        <p:nvSpPr>
          <p:cNvPr id="15" name="Text 13"/>
          <p:cNvSpPr/>
          <p:nvPr/>
        </p:nvSpPr>
        <p:spPr>
          <a:xfrm>
            <a:off x="5952744" y="1513332"/>
            <a:ext cx="4544568" cy="237744"/>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D3957"/>
                </a:solidFill>
                <a:latin typeface="Aptos" pitchFamily="34" charset="0"/>
                <a:ea typeface="Aptos" pitchFamily="34" charset="-122"/>
                <a:cs typeface="Aptos" pitchFamily="34" charset="-120"/>
              </a:rPr>
              <a:t>Original classifier</a:t>
            </a:r>
            <a:endParaRPr lang="en-US" sz="1400" dirty="0"/>
          </a:p>
        </p:txBody>
      </p:sp>
      <p:sp>
        <p:nvSpPr>
          <p:cNvPr id="16" name="Text 14"/>
          <p:cNvSpPr/>
          <p:nvPr/>
        </p:nvSpPr>
        <p:spPr>
          <a:xfrm>
            <a:off x="5952744" y="1783080"/>
            <a:ext cx="4544568"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1,000 ImageNet classes</a:t>
            </a:r>
            <a:endParaRPr lang="en-US" sz="1120" dirty="0"/>
          </a:p>
        </p:txBody>
      </p:sp>
      <p:sp>
        <p:nvSpPr>
          <p:cNvPr id="17" name="Shape 15"/>
          <p:cNvSpPr/>
          <p:nvPr/>
        </p:nvSpPr>
        <p:spPr>
          <a:xfrm>
            <a:off x="8211312" y="2276856"/>
            <a:ext cx="0" cy="484632"/>
          </a:xfrm>
          <a:prstGeom prst="line">
            <a:avLst/>
          </a:prstGeom>
          <a:noFill/>
          <a:ln w="20320">
            <a:solidFill>
              <a:srgbClr val="607084"/>
            </a:solidFill>
            <a:prstDash val="solid"/>
            <a:headEnd type="none"/>
            <a:tailEnd type="triangle"/>
          </a:ln>
        </p:spPr>
        <p:txBody>
          <a:bodyPr/>
          <a:lstStyle/>
          <a:p>
            <a:endParaRPr lang="en-JP"/>
          </a:p>
        </p:txBody>
      </p:sp>
      <p:sp>
        <p:nvSpPr>
          <p:cNvPr id="18" name="Shape 16"/>
          <p:cNvSpPr/>
          <p:nvPr/>
        </p:nvSpPr>
        <p:spPr>
          <a:xfrm>
            <a:off x="5861304" y="2862072"/>
            <a:ext cx="4727448" cy="832104"/>
          </a:xfrm>
          <a:prstGeom prst="roundRect">
            <a:avLst>
              <a:gd name="adj" fmla="val 10989"/>
            </a:avLst>
          </a:prstGeom>
          <a:solidFill>
            <a:srgbClr val="DDF5EF"/>
          </a:solidFill>
          <a:ln w="8890">
            <a:solidFill>
              <a:srgbClr val="DDF5EF"/>
            </a:solidFill>
            <a:prstDash val="solid"/>
          </a:ln>
        </p:spPr>
        <p:txBody>
          <a:bodyPr/>
          <a:lstStyle/>
          <a:p>
            <a:endParaRPr lang="en-JP"/>
          </a:p>
        </p:txBody>
      </p:sp>
      <p:sp>
        <p:nvSpPr>
          <p:cNvPr id="19" name="Text 17"/>
          <p:cNvSpPr/>
          <p:nvPr/>
        </p:nvSpPr>
        <p:spPr>
          <a:xfrm>
            <a:off x="5952744" y="2930652"/>
            <a:ext cx="4544568" cy="237744"/>
          </a:xfrm>
          <a:prstGeom prst="rect">
            <a:avLst/>
          </a:prstGeom>
          <a:noFill/>
          <a:ln/>
        </p:spPr>
        <p:txBody>
          <a:bodyPr wrap="square" lIns="0" tIns="0" rIns="0" bIns="0" rtlCol="0" anchor="ctr">
            <a:normAutofit lnSpcReduction="10000"/>
          </a:bodyPr>
          <a:lstStyle/>
          <a:p>
            <a:pPr marL="0" indent="0" algn="ctr">
              <a:lnSpc>
                <a:spcPct val="100000"/>
              </a:lnSpc>
              <a:buNone/>
            </a:pPr>
            <a:r>
              <a:rPr lang="en-US" sz="1700" b="1" dirty="0">
                <a:solidFill>
                  <a:srgbClr val="1D3957"/>
                </a:solidFill>
                <a:latin typeface="Aptos" pitchFamily="34" charset="0"/>
                <a:ea typeface="Aptos" pitchFamily="34" charset="-122"/>
                <a:cs typeface="Aptos" pitchFamily="34" charset="-120"/>
              </a:rPr>
              <a:t>New flower classifier</a:t>
            </a:r>
            <a:endParaRPr lang="en-US" sz="1700" dirty="0"/>
          </a:p>
        </p:txBody>
      </p:sp>
      <p:sp>
        <p:nvSpPr>
          <p:cNvPr id="20" name="Text 18"/>
          <p:cNvSpPr/>
          <p:nvPr/>
        </p:nvSpPr>
        <p:spPr>
          <a:xfrm>
            <a:off x="5952744" y="3200400"/>
            <a:ext cx="4544568"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5 flower classes</a:t>
            </a:r>
            <a:endParaRPr lang="en-US" sz="1120" dirty="0"/>
          </a:p>
        </p:txBody>
      </p:sp>
      <p:sp>
        <p:nvSpPr>
          <p:cNvPr id="21" name="Shape 19"/>
          <p:cNvSpPr/>
          <p:nvPr/>
        </p:nvSpPr>
        <p:spPr>
          <a:xfrm>
            <a:off x="905256" y="4242816"/>
            <a:ext cx="5020056" cy="768096"/>
          </a:xfrm>
          <a:prstGeom prst="roundRect">
            <a:avLst>
              <a:gd name="adj" fmla="val 11905"/>
            </a:avLst>
          </a:prstGeom>
          <a:solidFill>
            <a:srgbClr val="F5F8FC"/>
          </a:solidFill>
          <a:ln w="8890">
            <a:solidFill>
              <a:srgbClr val="CBD8E5"/>
            </a:solidFill>
            <a:prstDash val="solid"/>
          </a:ln>
        </p:spPr>
        <p:txBody>
          <a:bodyPr/>
          <a:lstStyle/>
          <a:p>
            <a:endParaRPr lang="en-JP"/>
          </a:p>
        </p:txBody>
      </p:sp>
      <p:sp>
        <p:nvSpPr>
          <p:cNvPr id="22" name="Text 20"/>
          <p:cNvSpPr/>
          <p:nvPr/>
        </p:nvSpPr>
        <p:spPr>
          <a:xfrm>
            <a:off x="996696" y="4311396"/>
            <a:ext cx="4837176" cy="237744"/>
          </a:xfrm>
          <a:prstGeom prst="rect">
            <a:avLst/>
          </a:prstGeom>
          <a:noFill/>
          <a:ln/>
        </p:spPr>
        <p:txBody>
          <a:bodyPr wrap="square" lIns="0" tIns="0" rIns="0" bIns="0" rtlCol="0" anchor="ctr">
            <a:normAutofit lnSpcReduction="10000"/>
          </a:bodyPr>
          <a:lstStyle/>
          <a:p>
            <a:pPr marL="0" indent="0" algn="ctr">
              <a:lnSpc>
                <a:spcPct val="100000"/>
              </a:lnSpc>
              <a:buNone/>
            </a:pPr>
            <a:r>
              <a:rPr lang="en-US" sz="1700" b="1" dirty="0">
                <a:solidFill>
                  <a:srgbClr val="1D3957"/>
                </a:solidFill>
                <a:latin typeface="Aptos" pitchFamily="34" charset="0"/>
                <a:ea typeface="Aptos" pitchFamily="34" charset="-122"/>
                <a:cs typeface="Aptos" pitchFamily="34" charset="-120"/>
              </a:rPr>
              <a:t>ResNet18  ·  Linear(512, 5)</a:t>
            </a:r>
            <a:endParaRPr lang="en-US" sz="1700" dirty="0"/>
          </a:p>
        </p:txBody>
      </p:sp>
      <p:sp>
        <p:nvSpPr>
          <p:cNvPr id="23" name="Text 21"/>
          <p:cNvSpPr/>
          <p:nvPr/>
        </p:nvSpPr>
        <p:spPr>
          <a:xfrm>
            <a:off x="996696" y="4581144"/>
            <a:ext cx="4837176"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出力5クラス</a:t>
            </a:r>
            <a:endParaRPr lang="en-US" sz="1120" dirty="0"/>
          </a:p>
        </p:txBody>
      </p:sp>
      <p:sp>
        <p:nvSpPr>
          <p:cNvPr id="24" name="Shape 22"/>
          <p:cNvSpPr/>
          <p:nvPr/>
        </p:nvSpPr>
        <p:spPr>
          <a:xfrm>
            <a:off x="6217920" y="4242816"/>
            <a:ext cx="5020056" cy="768096"/>
          </a:xfrm>
          <a:prstGeom prst="roundRect">
            <a:avLst>
              <a:gd name="adj" fmla="val 11905"/>
            </a:avLst>
          </a:prstGeom>
          <a:solidFill>
            <a:srgbClr val="F5F8FC"/>
          </a:solidFill>
          <a:ln w="8890">
            <a:solidFill>
              <a:srgbClr val="CBD8E5"/>
            </a:solidFill>
            <a:prstDash val="solid"/>
          </a:ln>
        </p:spPr>
        <p:txBody>
          <a:bodyPr/>
          <a:lstStyle/>
          <a:p>
            <a:endParaRPr lang="en-JP"/>
          </a:p>
        </p:txBody>
      </p:sp>
      <p:sp>
        <p:nvSpPr>
          <p:cNvPr id="25" name="Text 23"/>
          <p:cNvSpPr/>
          <p:nvPr/>
        </p:nvSpPr>
        <p:spPr>
          <a:xfrm>
            <a:off x="6309360" y="4311396"/>
            <a:ext cx="4837176" cy="237744"/>
          </a:xfrm>
          <a:prstGeom prst="rect">
            <a:avLst/>
          </a:prstGeom>
          <a:noFill/>
          <a:ln/>
        </p:spPr>
        <p:txBody>
          <a:bodyPr wrap="square" lIns="0" tIns="0" rIns="0" bIns="0" rtlCol="0" anchor="ctr">
            <a:normAutofit lnSpcReduction="10000"/>
          </a:bodyPr>
          <a:lstStyle/>
          <a:p>
            <a:pPr marL="0" indent="0" algn="ctr">
              <a:lnSpc>
                <a:spcPct val="100000"/>
              </a:lnSpc>
              <a:buNone/>
            </a:pPr>
            <a:r>
              <a:rPr lang="en-US" sz="1700" b="1" dirty="0">
                <a:solidFill>
                  <a:srgbClr val="1D3957"/>
                </a:solidFill>
                <a:latin typeface="Aptos" pitchFamily="34" charset="0"/>
                <a:ea typeface="Aptos" pitchFamily="34" charset="-122"/>
                <a:cs typeface="Aptos" pitchFamily="34" charset="-120"/>
              </a:rPr>
              <a:t>ResNet50  ·  Linear(2048, 5)</a:t>
            </a:r>
            <a:endParaRPr lang="en-US" sz="1700" dirty="0"/>
          </a:p>
        </p:txBody>
      </p:sp>
      <p:sp>
        <p:nvSpPr>
          <p:cNvPr id="26" name="Text 24"/>
          <p:cNvSpPr/>
          <p:nvPr/>
        </p:nvSpPr>
        <p:spPr>
          <a:xfrm>
            <a:off x="6309360" y="4581144"/>
            <a:ext cx="4837176"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出力5クラス</a:t>
            </a:r>
            <a:endParaRPr lang="en-US" sz="1120" dirty="0"/>
          </a:p>
        </p:txBody>
      </p:sp>
      <p:sp>
        <p:nvSpPr>
          <p:cNvPr id="27" name="Shape 25"/>
          <p:cNvSpPr/>
          <p:nvPr/>
        </p:nvSpPr>
        <p:spPr>
          <a:xfrm>
            <a:off x="612648" y="5916168"/>
            <a:ext cx="10972800" cy="484632"/>
          </a:xfrm>
          <a:prstGeom prst="roundRect">
            <a:avLst>
              <a:gd name="adj" fmla="val 15094"/>
            </a:avLst>
          </a:prstGeom>
          <a:solidFill>
            <a:srgbClr val="FFF2DD"/>
          </a:solidFill>
          <a:ln w="8890">
            <a:solidFill>
              <a:srgbClr val="FFF2DD"/>
            </a:solidFill>
            <a:prstDash val="solid"/>
          </a:ln>
        </p:spPr>
        <p:txBody>
          <a:bodyPr/>
          <a:lstStyle/>
          <a:p>
            <a:endParaRPr lang="en-JP"/>
          </a:p>
        </p:txBody>
      </p:sp>
      <p:sp>
        <p:nvSpPr>
          <p:cNvPr id="28" name="Text 26"/>
          <p:cNvSpPr/>
          <p:nvPr/>
        </p:nvSpPr>
        <p:spPr>
          <a:xfrm>
            <a:off x="768096" y="5952744"/>
            <a:ext cx="5029200" cy="182880"/>
          </a:xfrm>
          <a:prstGeom prst="rect">
            <a:avLst/>
          </a:prstGeom>
          <a:noFill/>
          <a:ln/>
        </p:spPr>
        <p:txBody>
          <a:bodyPr wrap="square" lIns="0" tIns="0" rIns="0" bIns="0" rtlCol="0" anchor="ctr">
            <a:noAutofit/>
          </a:bodyPr>
          <a:lstStyle/>
          <a:p>
            <a:pPr marL="0" indent="0" algn="l">
              <a:lnSpc>
                <a:spcPct val="100000"/>
              </a:lnSpc>
              <a:buNone/>
            </a:pPr>
            <a:r>
              <a:rPr lang="en-US" sz="1100" b="1" dirty="0">
                <a:solidFill>
                  <a:srgbClr val="1D3957"/>
                </a:solidFill>
                <a:latin typeface="Aptos" pitchFamily="34" charset="0"/>
                <a:ea typeface="Aptos" pitchFamily="34" charset="-122"/>
                <a:cs typeface="Aptos" pitchFamily="34" charset="-120"/>
              </a:rPr>
              <a:t>Output values are logits; apply softmax only when probabilities are needed.</a:t>
            </a:r>
            <a:endParaRPr lang="en-US" sz="1100" dirty="0"/>
          </a:p>
        </p:txBody>
      </p:sp>
      <p:sp>
        <p:nvSpPr>
          <p:cNvPr id="29" name="Text 27"/>
          <p:cNvSpPr/>
          <p:nvPr/>
        </p:nvSpPr>
        <p:spPr>
          <a:xfrm>
            <a:off x="5760720" y="5943600"/>
            <a:ext cx="5669280" cy="219456"/>
          </a:xfrm>
          <a:prstGeom prst="rect">
            <a:avLst/>
          </a:prstGeom>
          <a:noFill/>
          <a:ln/>
        </p:spPr>
        <p:txBody>
          <a:bodyPr wrap="square" lIns="0" tIns="0" rIns="0" bIns="0" rtlCol="0" anchor="ctr">
            <a:normAutofit/>
          </a:bodyPr>
          <a:lstStyle/>
          <a:p>
            <a:pPr marL="0" indent="0" algn="l">
              <a:lnSpc>
                <a:spcPct val="100000"/>
              </a:lnSpc>
              <a:buNone/>
            </a:pPr>
            <a:r>
              <a:rPr lang="en-US" sz="1210" dirty="0">
                <a:solidFill>
                  <a:srgbClr val="1D3957"/>
                </a:solidFill>
                <a:latin typeface="Noto Sans CJK JP" pitchFamily="34" charset="0"/>
                <a:ea typeface="Noto Sans CJK JP" pitchFamily="34" charset="-122"/>
                <a:cs typeface="Noto Sans CJK JP" pitchFamily="34" charset="-120"/>
              </a:rPr>
              <a:t>出力はlogitです。確率表示が必要な場合にsoftmaxを使います。</a:t>
            </a:r>
            <a:endParaRPr lang="en-US" sz="121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Load pretrained weights in PyTorch</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PyTorchで学習済みモデルを読み込む</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11</a:t>
            </a:r>
            <a:endParaRPr lang="en-US" sz="870" dirty="0"/>
          </a:p>
        </p:txBody>
      </p:sp>
      <p:sp>
        <p:nvSpPr>
          <p:cNvPr id="10" name="Shape 8"/>
          <p:cNvSpPr/>
          <p:nvPr/>
        </p:nvSpPr>
        <p:spPr>
          <a:xfrm>
            <a:off x="749808" y="1563624"/>
            <a:ext cx="10789920" cy="3566160"/>
          </a:xfrm>
          <a:prstGeom prst="roundRect">
            <a:avLst>
              <a:gd name="adj" fmla="val 2051"/>
            </a:avLst>
          </a:prstGeom>
          <a:solidFill>
            <a:srgbClr val="162E47"/>
          </a:solidFill>
          <a:ln w="8890">
            <a:solidFill>
              <a:srgbClr val="162E47"/>
            </a:solidFill>
            <a:prstDash val="solid"/>
          </a:ln>
        </p:spPr>
        <p:txBody>
          <a:bodyPr/>
          <a:lstStyle/>
          <a:p>
            <a:endParaRPr lang="en-JP"/>
          </a:p>
        </p:txBody>
      </p:sp>
      <p:sp>
        <p:nvSpPr>
          <p:cNvPr id="11" name="Text 9"/>
          <p:cNvSpPr/>
          <p:nvPr/>
        </p:nvSpPr>
        <p:spPr>
          <a:xfrm>
            <a:off x="896112" y="1691640"/>
            <a:ext cx="10515600" cy="301752"/>
          </a:xfrm>
          <a:prstGeom prst="rect">
            <a:avLst/>
          </a:prstGeom>
          <a:noFill/>
          <a:ln/>
        </p:spPr>
        <p:txBody>
          <a:bodyPr wrap="square" lIns="0" tIns="0" rIns="0" bIns="0" rtlCol="0" anchor="ctr">
            <a:normAutofit/>
          </a:bodyPr>
          <a:lstStyle/>
          <a:p>
            <a:pPr marL="0" indent="0" algn="l">
              <a:lnSpc>
                <a:spcPct val="100000"/>
              </a:lnSpc>
              <a:buNone/>
            </a:pPr>
            <a:r>
              <a:rPr lang="en-US" sz="1410" dirty="0">
                <a:solidFill>
                  <a:srgbClr val="D2E8FF"/>
                </a:solidFill>
                <a:latin typeface="Consolas" pitchFamily="34" charset="0"/>
                <a:ea typeface="Consolas" pitchFamily="34" charset="-122"/>
                <a:cs typeface="Consolas" pitchFamily="34" charset="-120"/>
              </a:rPr>
              <a:t>MODEL_NAME = 'resnet18'  # or 'resnet50'</a:t>
            </a:r>
            <a:endParaRPr lang="en-US" sz="1410" dirty="0"/>
          </a:p>
        </p:txBody>
      </p:sp>
      <p:sp>
        <p:nvSpPr>
          <p:cNvPr id="12" name="Text 10"/>
          <p:cNvSpPr/>
          <p:nvPr/>
        </p:nvSpPr>
        <p:spPr>
          <a:xfrm>
            <a:off x="896112" y="1993392"/>
            <a:ext cx="10515600" cy="301752"/>
          </a:xfrm>
          <a:prstGeom prst="rect">
            <a:avLst/>
          </a:prstGeom>
          <a:noFill/>
          <a:ln/>
        </p:spPr>
        <p:txBody>
          <a:bodyPr wrap="square" lIns="0" tIns="0" rIns="0" bIns="0" rtlCol="0" anchor="ctr">
            <a:normAutofit/>
          </a:bodyPr>
          <a:lstStyle/>
          <a:p>
            <a:pPr marL="0" indent="0" algn="l">
              <a:lnSpc>
                <a:spcPct val="100000"/>
              </a:lnSpc>
              <a:buNone/>
            </a:pPr>
            <a:endParaRPr lang="en-US" sz="1410" dirty="0"/>
          </a:p>
        </p:txBody>
      </p:sp>
      <p:sp>
        <p:nvSpPr>
          <p:cNvPr id="13" name="Text 11"/>
          <p:cNvSpPr/>
          <p:nvPr/>
        </p:nvSpPr>
        <p:spPr>
          <a:xfrm>
            <a:off x="896112" y="2295144"/>
            <a:ext cx="10515600" cy="301752"/>
          </a:xfrm>
          <a:prstGeom prst="rect">
            <a:avLst/>
          </a:prstGeom>
          <a:noFill/>
          <a:ln/>
        </p:spPr>
        <p:txBody>
          <a:bodyPr wrap="square" lIns="0" tIns="0" rIns="0" bIns="0" rtlCol="0" anchor="ctr">
            <a:normAutofit/>
          </a:bodyPr>
          <a:lstStyle/>
          <a:p>
            <a:pPr marL="0" indent="0" algn="l">
              <a:lnSpc>
                <a:spcPct val="100000"/>
              </a:lnSpc>
              <a:buNone/>
            </a:pPr>
            <a:r>
              <a:rPr lang="en-US" sz="1410" dirty="0">
                <a:solidFill>
                  <a:srgbClr val="D2E8FF"/>
                </a:solidFill>
                <a:latin typeface="Consolas" pitchFamily="34" charset="0"/>
                <a:ea typeface="Consolas" pitchFamily="34" charset="-122"/>
                <a:cs typeface="Consolas" pitchFamily="34" charset="-120"/>
              </a:rPr>
              <a:t>if MODEL_NAME == 'resnet18':</a:t>
            </a:r>
            <a:endParaRPr lang="en-US" sz="1410" dirty="0"/>
          </a:p>
        </p:txBody>
      </p:sp>
      <p:sp>
        <p:nvSpPr>
          <p:cNvPr id="14" name="Text 12"/>
          <p:cNvSpPr/>
          <p:nvPr/>
        </p:nvSpPr>
        <p:spPr>
          <a:xfrm>
            <a:off x="896112" y="2596896"/>
            <a:ext cx="10515600" cy="301752"/>
          </a:xfrm>
          <a:prstGeom prst="rect">
            <a:avLst/>
          </a:prstGeom>
          <a:noFill/>
          <a:ln/>
        </p:spPr>
        <p:txBody>
          <a:bodyPr wrap="square" lIns="0" tIns="0" rIns="0" bIns="0" rtlCol="0" anchor="ctr">
            <a:normAutofit/>
          </a:bodyPr>
          <a:lstStyle/>
          <a:p>
            <a:pPr marL="0" indent="0" algn="l">
              <a:lnSpc>
                <a:spcPct val="100000"/>
              </a:lnSpc>
              <a:buNone/>
            </a:pPr>
            <a:r>
              <a:rPr lang="en-US" sz="1410" dirty="0">
                <a:solidFill>
                  <a:srgbClr val="F4F8FC"/>
                </a:solidFill>
                <a:latin typeface="Consolas" pitchFamily="34" charset="0"/>
                <a:ea typeface="Consolas" pitchFamily="34" charset="-122"/>
                <a:cs typeface="Consolas" pitchFamily="34" charset="-120"/>
              </a:rPr>
              <a:t>    weights = models.ResNet18_Weights.DEFAULT</a:t>
            </a:r>
            <a:endParaRPr lang="en-US" sz="1410" dirty="0"/>
          </a:p>
        </p:txBody>
      </p:sp>
      <p:sp>
        <p:nvSpPr>
          <p:cNvPr id="15" name="Text 13"/>
          <p:cNvSpPr/>
          <p:nvPr/>
        </p:nvSpPr>
        <p:spPr>
          <a:xfrm>
            <a:off x="896112" y="2898648"/>
            <a:ext cx="10515600" cy="301752"/>
          </a:xfrm>
          <a:prstGeom prst="rect">
            <a:avLst/>
          </a:prstGeom>
          <a:noFill/>
          <a:ln/>
        </p:spPr>
        <p:txBody>
          <a:bodyPr wrap="square" lIns="0" tIns="0" rIns="0" bIns="0" rtlCol="0" anchor="ctr">
            <a:normAutofit/>
          </a:bodyPr>
          <a:lstStyle/>
          <a:p>
            <a:pPr marL="0" indent="0" algn="l">
              <a:lnSpc>
                <a:spcPct val="100000"/>
              </a:lnSpc>
              <a:buNone/>
            </a:pPr>
            <a:r>
              <a:rPr lang="en-US" sz="1410" dirty="0">
                <a:solidFill>
                  <a:srgbClr val="F4F8FC"/>
                </a:solidFill>
                <a:latin typeface="Consolas" pitchFamily="34" charset="0"/>
                <a:ea typeface="Consolas" pitchFamily="34" charset="-122"/>
                <a:cs typeface="Consolas" pitchFamily="34" charset="-120"/>
              </a:rPr>
              <a:t>    model = models.resnet18(weights=weights)</a:t>
            </a:r>
            <a:endParaRPr lang="en-US" sz="1410" dirty="0"/>
          </a:p>
        </p:txBody>
      </p:sp>
      <p:sp>
        <p:nvSpPr>
          <p:cNvPr id="16" name="Text 14"/>
          <p:cNvSpPr/>
          <p:nvPr/>
        </p:nvSpPr>
        <p:spPr>
          <a:xfrm>
            <a:off x="896112" y="3200400"/>
            <a:ext cx="10515600" cy="301752"/>
          </a:xfrm>
          <a:prstGeom prst="rect">
            <a:avLst/>
          </a:prstGeom>
          <a:noFill/>
          <a:ln/>
        </p:spPr>
        <p:txBody>
          <a:bodyPr wrap="square" lIns="0" tIns="0" rIns="0" bIns="0" rtlCol="0" anchor="ctr">
            <a:normAutofit/>
          </a:bodyPr>
          <a:lstStyle/>
          <a:p>
            <a:pPr marL="0" indent="0" algn="l">
              <a:lnSpc>
                <a:spcPct val="100000"/>
              </a:lnSpc>
              <a:buNone/>
            </a:pPr>
            <a:r>
              <a:rPr lang="en-US" sz="1410" dirty="0">
                <a:solidFill>
                  <a:srgbClr val="F4F8FC"/>
                </a:solidFill>
                <a:latin typeface="Consolas" pitchFamily="34" charset="0"/>
                <a:ea typeface="Consolas" pitchFamily="34" charset="-122"/>
                <a:cs typeface="Consolas" pitchFamily="34" charset="-120"/>
              </a:rPr>
              <a:t>else:</a:t>
            </a:r>
            <a:endParaRPr lang="en-US" sz="1410" dirty="0"/>
          </a:p>
        </p:txBody>
      </p:sp>
      <p:sp>
        <p:nvSpPr>
          <p:cNvPr id="17" name="Text 15"/>
          <p:cNvSpPr/>
          <p:nvPr/>
        </p:nvSpPr>
        <p:spPr>
          <a:xfrm>
            <a:off x="896112" y="3502152"/>
            <a:ext cx="10515600" cy="301752"/>
          </a:xfrm>
          <a:prstGeom prst="rect">
            <a:avLst/>
          </a:prstGeom>
          <a:noFill/>
          <a:ln/>
        </p:spPr>
        <p:txBody>
          <a:bodyPr wrap="square" lIns="0" tIns="0" rIns="0" bIns="0" rtlCol="0" anchor="ctr">
            <a:normAutofit/>
          </a:bodyPr>
          <a:lstStyle/>
          <a:p>
            <a:pPr marL="0" indent="0" algn="l">
              <a:lnSpc>
                <a:spcPct val="100000"/>
              </a:lnSpc>
              <a:buNone/>
            </a:pPr>
            <a:r>
              <a:rPr lang="en-US" sz="1410" dirty="0">
                <a:solidFill>
                  <a:srgbClr val="F4F8FC"/>
                </a:solidFill>
                <a:latin typeface="Consolas" pitchFamily="34" charset="0"/>
                <a:ea typeface="Consolas" pitchFamily="34" charset="-122"/>
                <a:cs typeface="Consolas" pitchFamily="34" charset="-120"/>
              </a:rPr>
              <a:t>    weights = models.ResNet50_Weights.DEFAULT</a:t>
            </a:r>
            <a:endParaRPr lang="en-US" sz="1410" dirty="0"/>
          </a:p>
        </p:txBody>
      </p:sp>
      <p:sp>
        <p:nvSpPr>
          <p:cNvPr id="18" name="Text 16"/>
          <p:cNvSpPr/>
          <p:nvPr/>
        </p:nvSpPr>
        <p:spPr>
          <a:xfrm>
            <a:off x="896112" y="3803904"/>
            <a:ext cx="10515600" cy="301752"/>
          </a:xfrm>
          <a:prstGeom prst="rect">
            <a:avLst/>
          </a:prstGeom>
          <a:noFill/>
          <a:ln/>
        </p:spPr>
        <p:txBody>
          <a:bodyPr wrap="square" lIns="0" tIns="0" rIns="0" bIns="0" rtlCol="0" anchor="ctr">
            <a:normAutofit/>
          </a:bodyPr>
          <a:lstStyle/>
          <a:p>
            <a:pPr marL="0" indent="0" algn="l">
              <a:lnSpc>
                <a:spcPct val="100000"/>
              </a:lnSpc>
              <a:buNone/>
            </a:pPr>
            <a:r>
              <a:rPr lang="en-US" sz="1410" dirty="0">
                <a:solidFill>
                  <a:srgbClr val="F4F8FC"/>
                </a:solidFill>
                <a:latin typeface="Consolas" pitchFamily="34" charset="0"/>
                <a:ea typeface="Consolas" pitchFamily="34" charset="-122"/>
                <a:cs typeface="Consolas" pitchFamily="34" charset="-120"/>
              </a:rPr>
              <a:t>    model = models.resnet50(weights=weights)</a:t>
            </a:r>
            <a:endParaRPr lang="en-US" sz="1410" dirty="0"/>
          </a:p>
        </p:txBody>
      </p:sp>
      <p:sp>
        <p:nvSpPr>
          <p:cNvPr id="19" name="Text 17"/>
          <p:cNvSpPr/>
          <p:nvPr/>
        </p:nvSpPr>
        <p:spPr>
          <a:xfrm>
            <a:off x="896112" y="4105656"/>
            <a:ext cx="10515600" cy="301752"/>
          </a:xfrm>
          <a:prstGeom prst="rect">
            <a:avLst/>
          </a:prstGeom>
          <a:noFill/>
          <a:ln/>
        </p:spPr>
        <p:txBody>
          <a:bodyPr wrap="square" lIns="0" tIns="0" rIns="0" bIns="0" rtlCol="0" anchor="ctr">
            <a:normAutofit/>
          </a:bodyPr>
          <a:lstStyle/>
          <a:p>
            <a:pPr marL="0" indent="0" algn="l">
              <a:lnSpc>
                <a:spcPct val="100000"/>
              </a:lnSpc>
              <a:buNone/>
            </a:pPr>
            <a:endParaRPr lang="en-US" sz="1410" dirty="0"/>
          </a:p>
        </p:txBody>
      </p:sp>
      <p:sp>
        <p:nvSpPr>
          <p:cNvPr id="20" name="Text 18"/>
          <p:cNvSpPr/>
          <p:nvPr/>
        </p:nvSpPr>
        <p:spPr>
          <a:xfrm>
            <a:off x="896112" y="4407408"/>
            <a:ext cx="10515600" cy="301752"/>
          </a:xfrm>
          <a:prstGeom prst="rect">
            <a:avLst/>
          </a:prstGeom>
          <a:noFill/>
          <a:ln/>
        </p:spPr>
        <p:txBody>
          <a:bodyPr wrap="square" lIns="0" tIns="0" rIns="0" bIns="0" rtlCol="0" anchor="ctr">
            <a:normAutofit/>
          </a:bodyPr>
          <a:lstStyle/>
          <a:p>
            <a:pPr marL="0" indent="0" algn="l">
              <a:lnSpc>
                <a:spcPct val="100000"/>
              </a:lnSpc>
              <a:buNone/>
            </a:pPr>
            <a:r>
              <a:rPr lang="en-US" sz="1410" dirty="0">
                <a:solidFill>
                  <a:srgbClr val="F4F8FC"/>
                </a:solidFill>
                <a:latin typeface="Consolas" pitchFamily="34" charset="0"/>
                <a:ea typeface="Consolas" pitchFamily="34" charset="-122"/>
                <a:cs typeface="Consolas" pitchFamily="34" charset="-120"/>
              </a:rPr>
              <a:t>model.fc = nn.Linear(model.fc.in_features, 5)</a:t>
            </a:r>
            <a:endParaRPr lang="en-US" sz="1410" dirty="0"/>
          </a:p>
        </p:txBody>
      </p:sp>
      <p:sp>
        <p:nvSpPr>
          <p:cNvPr id="21" name="Text 19"/>
          <p:cNvSpPr/>
          <p:nvPr/>
        </p:nvSpPr>
        <p:spPr>
          <a:xfrm>
            <a:off x="896112" y="4709160"/>
            <a:ext cx="10515600" cy="301752"/>
          </a:xfrm>
          <a:prstGeom prst="rect">
            <a:avLst/>
          </a:prstGeom>
          <a:noFill/>
          <a:ln/>
        </p:spPr>
        <p:txBody>
          <a:bodyPr wrap="square" lIns="0" tIns="0" rIns="0" bIns="0" rtlCol="0" anchor="ctr">
            <a:normAutofit/>
          </a:bodyPr>
          <a:lstStyle/>
          <a:p>
            <a:pPr marL="0" indent="0" algn="l">
              <a:lnSpc>
                <a:spcPct val="100000"/>
              </a:lnSpc>
              <a:buNone/>
            </a:pPr>
            <a:r>
              <a:rPr lang="en-US" sz="1410" dirty="0">
                <a:solidFill>
                  <a:srgbClr val="F4F8FC"/>
                </a:solidFill>
                <a:latin typeface="Consolas" pitchFamily="34" charset="0"/>
                <a:ea typeface="Consolas" pitchFamily="34" charset="-122"/>
                <a:cs typeface="Consolas" pitchFamily="34" charset="-120"/>
              </a:rPr>
              <a:t>model = model.to(DEVICE)</a:t>
            </a:r>
            <a:endParaRPr lang="en-US" sz="1410" dirty="0"/>
          </a:p>
        </p:txBody>
      </p:sp>
      <p:sp>
        <p:nvSpPr>
          <p:cNvPr id="22" name="Shape 20"/>
          <p:cNvSpPr/>
          <p:nvPr/>
        </p:nvSpPr>
        <p:spPr>
          <a:xfrm>
            <a:off x="777240" y="5376672"/>
            <a:ext cx="10661904" cy="859536"/>
          </a:xfrm>
          <a:prstGeom prst="roundRect">
            <a:avLst>
              <a:gd name="adj" fmla="val 10638"/>
            </a:avLst>
          </a:prstGeom>
          <a:solidFill>
            <a:srgbClr val="DDF5EF"/>
          </a:solidFill>
          <a:ln w="8890">
            <a:solidFill>
              <a:srgbClr val="DDF5EF"/>
            </a:solidFill>
            <a:prstDash val="solid"/>
          </a:ln>
        </p:spPr>
        <p:txBody>
          <a:bodyPr/>
          <a:lstStyle/>
          <a:p>
            <a:endParaRPr lang="en-JP"/>
          </a:p>
        </p:txBody>
      </p:sp>
      <p:sp>
        <p:nvSpPr>
          <p:cNvPr id="23" name="Text 21"/>
          <p:cNvSpPr/>
          <p:nvPr/>
        </p:nvSpPr>
        <p:spPr>
          <a:xfrm>
            <a:off x="950976" y="5486400"/>
            <a:ext cx="10314432" cy="393192"/>
          </a:xfrm>
          <a:prstGeom prst="rect">
            <a:avLst/>
          </a:prstGeom>
          <a:noFill/>
          <a:ln/>
        </p:spPr>
        <p:txBody>
          <a:bodyPr wrap="square" lIns="0" tIns="0" rIns="0" bIns="0" rtlCol="0" anchor="ctr">
            <a:normAutofit/>
          </a:bodyPr>
          <a:lstStyle/>
          <a:p>
            <a:pPr marL="0" indent="0" algn="l">
              <a:lnSpc>
                <a:spcPct val="100000"/>
              </a:lnSpc>
              <a:buNone/>
            </a:pPr>
            <a:r>
              <a:rPr lang="en-US" sz="1700" b="1" dirty="0">
                <a:solidFill>
                  <a:srgbClr val="1D3957"/>
                </a:solidFill>
                <a:latin typeface="Aptos" pitchFamily="34" charset="0"/>
                <a:ea typeface="Aptos" pitchFamily="34" charset="-122"/>
                <a:cs typeface="Aptos" pitchFamily="34" charset="-120"/>
              </a:rPr>
              <a:t>What changes automatically?</a:t>
            </a:r>
            <a:endParaRPr lang="en-US" sz="1700" dirty="0"/>
          </a:p>
        </p:txBody>
      </p:sp>
      <p:sp>
        <p:nvSpPr>
          <p:cNvPr id="24" name="Text 22"/>
          <p:cNvSpPr/>
          <p:nvPr/>
        </p:nvSpPr>
        <p:spPr>
          <a:xfrm>
            <a:off x="950976" y="5952744"/>
            <a:ext cx="10314432" cy="173736"/>
          </a:xfrm>
          <a:prstGeom prst="rect">
            <a:avLst/>
          </a:prstGeom>
          <a:noFill/>
          <a:ln/>
        </p:spPr>
        <p:txBody>
          <a:bodyPr wrap="square" lIns="0" tIns="0" rIns="0" bIns="0" rtlCol="0" anchor="t">
            <a:normAutofit fontScale="92500" lnSpcReduction="10000"/>
          </a:bodyPr>
          <a:lstStyle/>
          <a:p>
            <a:pPr marL="0" indent="0" algn="l">
              <a:lnSpc>
                <a:spcPct val="100000"/>
              </a:lnSpc>
              <a:buNone/>
            </a:pPr>
            <a:r>
              <a:rPr lang="en-US" sz="1300" dirty="0">
                <a:solidFill>
                  <a:srgbClr val="253547"/>
                </a:solidFill>
                <a:latin typeface="Noto Sans CJK JP" pitchFamily="34" charset="0"/>
                <a:ea typeface="Noto Sans CJK JP" pitchFamily="34" charset="-122"/>
                <a:cs typeface="Noto Sans CJK JP" pitchFamily="34" charset="-120"/>
              </a:rPr>
              <a:t>モデルごとの事前学習済み重みが選ばれ、最後の層の入力サイズが自動的に512または2048になります。</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What does “freeze a layer” mean?</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重みの「凍結」とは？</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12</a:t>
            </a:r>
            <a:endParaRPr lang="en-US" sz="870" dirty="0"/>
          </a:p>
        </p:txBody>
      </p:sp>
      <p:sp>
        <p:nvSpPr>
          <p:cNvPr id="10" name="Shape 8"/>
          <p:cNvSpPr/>
          <p:nvPr/>
        </p:nvSpPr>
        <p:spPr>
          <a:xfrm>
            <a:off x="914400" y="1563624"/>
            <a:ext cx="4983480" cy="768096"/>
          </a:xfrm>
          <a:prstGeom prst="roundRect">
            <a:avLst>
              <a:gd name="adj" fmla="val 11905"/>
            </a:avLst>
          </a:prstGeom>
          <a:solidFill>
            <a:srgbClr val="F5F8FC"/>
          </a:solidFill>
          <a:ln w="8890">
            <a:solidFill>
              <a:srgbClr val="CBD8E5"/>
            </a:solidFill>
            <a:prstDash val="solid"/>
          </a:ln>
        </p:spPr>
        <p:txBody>
          <a:bodyPr/>
          <a:lstStyle/>
          <a:p>
            <a:endParaRPr lang="en-JP"/>
          </a:p>
        </p:txBody>
      </p:sp>
      <p:sp>
        <p:nvSpPr>
          <p:cNvPr id="11" name="Text 9"/>
          <p:cNvSpPr/>
          <p:nvPr/>
        </p:nvSpPr>
        <p:spPr>
          <a:xfrm>
            <a:off x="1005840" y="1632204"/>
            <a:ext cx="4800600" cy="237744"/>
          </a:xfrm>
          <a:prstGeom prst="rect">
            <a:avLst/>
          </a:prstGeom>
          <a:noFill/>
          <a:ln/>
        </p:spPr>
        <p:txBody>
          <a:bodyPr wrap="square" lIns="0" tIns="0" rIns="0" bIns="0" rtlCol="0" anchor="ctr">
            <a:normAutofit lnSpcReduction="10000"/>
          </a:bodyPr>
          <a:lstStyle/>
          <a:p>
            <a:pPr marL="0" indent="0" algn="ctr">
              <a:lnSpc>
                <a:spcPct val="100000"/>
              </a:lnSpc>
              <a:buNone/>
            </a:pPr>
            <a:r>
              <a:rPr lang="en-US" sz="1700" b="1" dirty="0">
                <a:solidFill>
                  <a:srgbClr val="1D3957"/>
                </a:solidFill>
                <a:latin typeface="Aptos" pitchFamily="34" charset="0"/>
                <a:ea typeface="Aptos" pitchFamily="34" charset="-122"/>
                <a:cs typeface="Aptos" pitchFamily="34" charset="-120"/>
              </a:rPr>
              <a:t>Frozen / 固定</a:t>
            </a:r>
            <a:endParaRPr lang="en-US" sz="1700" dirty="0"/>
          </a:p>
        </p:txBody>
      </p:sp>
      <p:sp>
        <p:nvSpPr>
          <p:cNvPr id="12" name="Text 10"/>
          <p:cNvSpPr/>
          <p:nvPr/>
        </p:nvSpPr>
        <p:spPr>
          <a:xfrm>
            <a:off x="1005840" y="1901952"/>
            <a:ext cx="4800600"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requires_grad = False</a:t>
            </a:r>
            <a:endParaRPr lang="en-US" sz="1120" dirty="0"/>
          </a:p>
        </p:txBody>
      </p:sp>
      <p:sp>
        <p:nvSpPr>
          <p:cNvPr id="13" name="Shape 11"/>
          <p:cNvSpPr/>
          <p:nvPr/>
        </p:nvSpPr>
        <p:spPr>
          <a:xfrm>
            <a:off x="6245352" y="1563624"/>
            <a:ext cx="4983480" cy="768096"/>
          </a:xfrm>
          <a:prstGeom prst="roundRect">
            <a:avLst>
              <a:gd name="adj" fmla="val 11905"/>
            </a:avLst>
          </a:prstGeom>
          <a:solidFill>
            <a:srgbClr val="DDF5EF"/>
          </a:solidFill>
          <a:ln w="8890">
            <a:solidFill>
              <a:srgbClr val="DDF5EF"/>
            </a:solidFill>
            <a:prstDash val="solid"/>
          </a:ln>
        </p:spPr>
        <p:txBody>
          <a:bodyPr/>
          <a:lstStyle/>
          <a:p>
            <a:endParaRPr lang="en-JP"/>
          </a:p>
        </p:txBody>
      </p:sp>
      <p:sp>
        <p:nvSpPr>
          <p:cNvPr id="14" name="Text 12"/>
          <p:cNvSpPr/>
          <p:nvPr/>
        </p:nvSpPr>
        <p:spPr>
          <a:xfrm>
            <a:off x="6336792" y="1632204"/>
            <a:ext cx="4800600" cy="237744"/>
          </a:xfrm>
          <a:prstGeom prst="rect">
            <a:avLst/>
          </a:prstGeom>
          <a:noFill/>
          <a:ln/>
        </p:spPr>
        <p:txBody>
          <a:bodyPr wrap="square" lIns="0" tIns="0" rIns="0" bIns="0" rtlCol="0" anchor="ctr">
            <a:normAutofit lnSpcReduction="10000"/>
          </a:bodyPr>
          <a:lstStyle/>
          <a:p>
            <a:pPr marL="0" indent="0" algn="ctr">
              <a:lnSpc>
                <a:spcPct val="100000"/>
              </a:lnSpc>
              <a:buNone/>
            </a:pPr>
            <a:r>
              <a:rPr lang="en-US" sz="1700" b="1" dirty="0">
                <a:solidFill>
                  <a:srgbClr val="1D3957"/>
                </a:solidFill>
                <a:latin typeface="Aptos" pitchFamily="34" charset="0"/>
                <a:ea typeface="Aptos" pitchFamily="34" charset="-122"/>
                <a:cs typeface="Aptos" pitchFamily="34" charset="-120"/>
              </a:rPr>
              <a:t>Trainable / 学習可能</a:t>
            </a:r>
            <a:endParaRPr lang="en-US" sz="1700" dirty="0"/>
          </a:p>
        </p:txBody>
      </p:sp>
      <p:sp>
        <p:nvSpPr>
          <p:cNvPr id="15" name="Text 13"/>
          <p:cNvSpPr/>
          <p:nvPr/>
        </p:nvSpPr>
        <p:spPr>
          <a:xfrm>
            <a:off x="6336792" y="1901952"/>
            <a:ext cx="4800600"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requires_grad = True</a:t>
            </a:r>
            <a:endParaRPr lang="en-US" sz="1120" dirty="0"/>
          </a:p>
        </p:txBody>
      </p:sp>
      <p:sp>
        <p:nvSpPr>
          <p:cNvPr id="16" name="Shape 14"/>
          <p:cNvSpPr/>
          <p:nvPr/>
        </p:nvSpPr>
        <p:spPr>
          <a:xfrm>
            <a:off x="914400" y="2596896"/>
            <a:ext cx="4983480" cy="2011680"/>
          </a:xfrm>
          <a:prstGeom prst="roundRect">
            <a:avLst>
              <a:gd name="adj" fmla="val 5455"/>
            </a:avLst>
          </a:prstGeom>
          <a:solidFill>
            <a:srgbClr val="F5F8FC"/>
          </a:solidFill>
          <a:ln w="8890">
            <a:solidFill>
              <a:srgbClr val="CBD8E5"/>
            </a:solidFill>
            <a:prstDash val="solid"/>
          </a:ln>
        </p:spPr>
        <p:txBody>
          <a:bodyPr/>
          <a:lstStyle/>
          <a:p>
            <a:endParaRPr lang="en-JP"/>
          </a:p>
        </p:txBody>
      </p:sp>
      <p:sp>
        <p:nvSpPr>
          <p:cNvPr id="17" name="Text 15"/>
          <p:cNvSpPr/>
          <p:nvPr/>
        </p:nvSpPr>
        <p:spPr>
          <a:xfrm>
            <a:off x="1078992" y="2715768"/>
            <a:ext cx="4654296" cy="292608"/>
          </a:xfrm>
          <a:prstGeom prst="rect">
            <a:avLst/>
          </a:prstGeom>
          <a:noFill/>
          <a:ln/>
        </p:spPr>
        <p:txBody>
          <a:bodyPr wrap="square" lIns="0" tIns="0" rIns="0" bIns="0" rtlCol="0" anchor="ctr">
            <a:normAutofit/>
          </a:bodyPr>
          <a:lstStyle/>
          <a:p>
            <a:pPr marL="0" indent="0" algn="l">
              <a:lnSpc>
                <a:spcPct val="100000"/>
              </a:lnSpc>
              <a:buNone/>
            </a:pPr>
            <a:r>
              <a:rPr lang="en-US" sz="1700" b="1" dirty="0">
                <a:solidFill>
                  <a:srgbClr val="1D3957"/>
                </a:solidFill>
                <a:latin typeface="Aptos" pitchFamily="34" charset="0"/>
                <a:ea typeface="Aptos" pitchFamily="34" charset="-122"/>
                <a:cs typeface="Aptos" pitchFamily="34" charset="-120"/>
              </a:rPr>
              <a:t>No optimizer update</a:t>
            </a:r>
            <a:endParaRPr lang="en-US" sz="1700" dirty="0"/>
          </a:p>
        </p:txBody>
      </p:sp>
      <p:sp>
        <p:nvSpPr>
          <p:cNvPr id="18" name="Text 16"/>
          <p:cNvSpPr/>
          <p:nvPr/>
        </p:nvSpPr>
        <p:spPr>
          <a:xfrm>
            <a:off x="1078992" y="3072384"/>
            <a:ext cx="4663440" cy="1435608"/>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253547"/>
                </a:solidFill>
                <a:latin typeface="Noto Sans CJK JP" pitchFamily="34" charset="0"/>
                <a:ea typeface="Noto Sans CJK JP" pitchFamily="34" charset="-122"/>
                <a:cs typeface="Noto Sans CJK JP" pitchFamily="34" charset="-120"/>
              </a:rPr>
              <a:t>順伝播では特徴を計算しますが、この層のパラメータは最適化器で更新しません。</a:t>
            </a:r>
            <a:endParaRPr lang="en-US" sz="1300" dirty="0"/>
          </a:p>
        </p:txBody>
      </p:sp>
      <p:sp>
        <p:nvSpPr>
          <p:cNvPr id="19" name="Shape 17"/>
          <p:cNvSpPr/>
          <p:nvPr/>
        </p:nvSpPr>
        <p:spPr>
          <a:xfrm>
            <a:off x="6245352" y="2596896"/>
            <a:ext cx="4983480" cy="2011680"/>
          </a:xfrm>
          <a:prstGeom prst="roundRect">
            <a:avLst>
              <a:gd name="adj" fmla="val 5455"/>
            </a:avLst>
          </a:prstGeom>
          <a:solidFill>
            <a:srgbClr val="DDF5EF"/>
          </a:solidFill>
          <a:ln w="8890">
            <a:solidFill>
              <a:srgbClr val="CBD8E5"/>
            </a:solidFill>
            <a:prstDash val="solid"/>
          </a:ln>
        </p:spPr>
        <p:txBody>
          <a:bodyPr/>
          <a:lstStyle/>
          <a:p>
            <a:endParaRPr lang="en-JP"/>
          </a:p>
        </p:txBody>
      </p:sp>
      <p:sp>
        <p:nvSpPr>
          <p:cNvPr id="20" name="Text 18"/>
          <p:cNvSpPr/>
          <p:nvPr/>
        </p:nvSpPr>
        <p:spPr>
          <a:xfrm>
            <a:off x="6409944" y="2715768"/>
            <a:ext cx="4654296" cy="292608"/>
          </a:xfrm>
          <a:prstGeom prst="rect">
            <a:avLst/>
          </a:prstGeom>
          <a:noFill/>
          <a:ln/>
        </p:spPr>
        <p:txBody>
          <a:bodyPr wrap="square" lIns="0" tIns="0" rIns="0" bIns="0" rtlCol="0" anchor="ctr">
            <a:normAutofit/>
          </a:bodyPr>
          <a:lstStyle/>
          <a:p>
            <a:pPr marL="0" indent="0" algn="l">
              <a:lnSpc>
                <a:spcPct val="100000"/>
              </a:lnSpc>
              <a:buNone/>
            </a:pPr>
            <a:r>
              <a:rPr lang="en-US" sz="1700" b="1" dirty="0">
                <a:solidFill>
                  <a:srgbClr val="1D3957"/>
                </a:solidFill>
                <a:latin typeface="Aptos" pitchFamily="34" charset="0"/>
                <a:ea typeface="Aptos" pitchFamily="34" charset="-122"/>
                <a:cs typeface="Aptos" pitchFamily="34" charset="-120"/>
              </a:rPr>
              <a:t>Weights can change</a:t>
            </a:r>
            <a:endParaRPr lang="en-US" sz="1700" dirty="0"/>
          </a:p>
        </p:txBody>
      </p:sp>
      <p:sp>
        <p:nvSpPr>
          <p:cNvPr id="21" name="Text 19"/>
          <p:cNvSpPr/>
          <p:nvPr/>
        </p:nvSpPr>
        <p:spPr>
          <a:xfrm>
            <a:off x="6409944" y="3072384"/>
            <a:ext cx="4663440" cy="1435608"/>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253547"/>
                </a:solidFill>
                <a:latin typeface="Noto Sans CJK JP" pitchFamily="34" charset="0"/>
                <a:ea typeface="Noto Sans CJK JP" pitchFamily="34" charset="-122"/>
                <a:cs typeface="Noto Sans CJK JP" pitchFamily="34" charset="-120"/>
              </a:rPr>
              <a:t>損失から勾配を計算し、最適化器がこの層の重みを更新します。</a:t>
            </a:r>
            <a:endParaRPr lang="en-US" sz="1300" dirty="0"/>
          </a:p>
        </p:txBody>
      </p:sp>
      <p:sp>
        <p:nvSpPr>
          <p:cNvPr id="22" name="Shape 20"/>
          <p:cNvSpPr/>
          <p:nvPr/>
        </p:nvSpPr>
        <p:spPr>
          <a:xfrm>
            <a:off x="1243584" y="4983480"/>
            <a:ext cx="9692640" cy="850392"/>
          </a:xfrm>
          <a:prstGeom prst="roundRect">
            <a:avLst>
              <a:gd name="adj" fmla="val 8602"/>
            </a:avLst>
          </a:prstGeom>
          <a:solidFill>
            <a:srgbClr val="162E47"/>
          </a:solidFill>
          <a:ln w="8890">
            <a:solidFill>
              <a:srgbClr val="162E47"/>
            </a:solidFill>
            <a:prstDash val="solid"/>
          </a:ln>
        </p:spPr>
        <p:txBody>
          <a:bodyPr/>
          <a:lstStyle/>
          <a:p>
            <a:endParaRPr lang="en-JP"/>
          </a:p>
        </p:txBody>
      </p:sp>
      <p:sp>
        <p:nvSpPr>
          <p:cNvPr id="23" name="Text 21"/>
          <p:cNvSpPr/>
          <p:nvPr/>
        </p:nvSpPr>
        <p:spPr>
          <a:xfrm>
            <a:off x="1389888" y="5111496"/>
            <a:ext cx="9418320" cy="301752"/>
          </a:xfrm>
          <a:prstGeom prst="rect">
            <a:avLst/>
          </a:prstGeom>
          <a:noFill/>
          <a:ln/>
        </p:spPr>
        <p:txBody>
          <a:bodyPr wrap="square" lIns="0" tIns="0" rIns="0" bIns="0" rtlCol="0" anchor="ctr">
            <a:normAutofit/>
          </a:bodyPr>
          <a:lstStyle/>
          <a:p>
            <a:pPr marL="0" indent="0" algn="l">
              <a:lnSpc>
                <a:spcPct val="100000"/>
              </a:lnSpc>
              <a:buNone/>
            </a:pPr>
            <a:r>
              <a:rPr lang="en-US" sz="1350" dirty="0">
                <a:solidFill>
                  <a:srgbClr val="F4F8FC"/>
                </a:solidFill>
                <a:latin typeface="Consolas" pitchFamily="34" charset="0"/>
                <a:ea typeface="Consolas" pitchFamily="34" charset="-122"/>
                <a:cs typeface="Consolas" pitchFamily="34" charset="-120"/>
              </a:rPr>
              <a:t>for p in model.parameters(): p.requires_grad = False</a:t>
            </a:r>
            <a:endParaRPr lang="en-US" sz="1350" dirty="0"/>
          </a:p>
        </p:txBody>
      </p:sp>
      <p:sp>
        <p:nvSpPr>
          <p:cNvPr id="24" name="Text 22"/>
          <p:cNvSpPr/>
          <p:nvPr/>
        </p:nvSpPr>
        <p:spPr>
          <a:xfrm>
            <a:off x="1389888" y="5413248"/>
            <a:ext cx="9418320" cy="301752"/>
          </a:xfrm>
          <a:prstGeom prst="rect">
            <a:avLst/>
          </a:prstGeom>
          <a:noFill/>
          <a:ln/>
        </p:spPr>
        <p:txBody>
          <a:bodyPr wrap="square" lIns="0" tIns="0" rIns="0" bIns="0" rtlCol="0" anchor="ctr">
            <a:normAutofit/>
          </a:bodyPr>
          <a:lstStyle/>
          <a:p>
            <a:pPr marL="0" indent="0" algn="l">
              <a:lnSpc>
                <a:spcPct val="100000"/>
              </a:lnSpc>
              <a:buNone/>
            </a:pPr>
            <a:r>
              <a:rPr lang="en-US" sz="1350" dirty="0">
                <a:solidFill>
                  <a:srgbClr val="F4F8FC"/>
                </a:solidFill>
                <a:latin typeface="Consolas" pitchFamily="34" charset="0"/>
                <a:ea typeface="Consolas" pitchFamily="34" charset="-122"/>
                <a:cs typeface="Consolas" pitchFamily="34" charset="-120"/>
              </a:rPr>
              <a:t>for p in model.fc.parameters(): p.requires_grad = True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Phase A — feature extraction</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第1段階：特徴抽出（分類層だけ学習）</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13</a:t>
            </a:r>
            <a:endParaRPr lang="en-US" sz="870" dirty="0"/>
          </a:p>
        </p:txBody>
      </p:sp>
      <p:sp>
        <p:nvSpPr>
          <p:cNvPr id="10" name="Shape 8"/>
          <p:cNvSpPr/>
          <p:nvPr/>
        </p:nvSpPr>
        <p:spPr>
          <a:xfrm>
            <a:off x="813816" y="1536192"/>
            <a:ext cx="5358384" cy="640080"/>
          </a:xfrm>
          <a:prstGeom prst="roundRect">
            <a:avLst>
              <a:gd name="adj" fmla="val 14286"/>
            </a:avLst>
          </a:prstGeom>
          <a:solidFill>
            <a:srgbClr val="E9F3FC"/>
          </a:solidFill>
          <a:ln w="8890">
            <a:solidFill>
              <a:srgbClr val="E9F3FC"/>
            </a:solidFill>
            <a:prstDash val="solid"/>
          </a:ln>
        </p:spPr>
        <p:txBody>
          <a:bodyPr/>
          <a:lstStyle/>
          <a:p>
            <a:endParaRPr lang="en-JP"/>
          </a:p>
        </p:txBody>
      </p:sp>
      <p:sp>
        <p:nvSpPr>
          <p:cNvPr id="11" name="Text 9"/>
          <p:cNvSpPr/>
          <p:nvPr/>
        </p:nvSpPr>
        <p:spPr>
          <a:xfrm>
            <a:off x="905256" y="1604772"/>
            <a:ext cx="5175504" cy="237744"/>
          </a:xfrm>
          <a:prstGeom prst="rect">
            <a:avLst/>
          </a:prstGeom>
          <a:noFill/>
          <a:ln/>
        </p:spPr>
        <p:txBody>
          <a:bodyPr wrap="square" lIns="0" tIns="0" rIns="0" bIns="0" rtlCol="0" anchor="ctr">
            <a:normAutofit/>
          </a:bodyPr>
          <a:lstStyle/>
          <a:p>
            <a:pPr marL="0" indent="0" algn="ctr">
              <a:lnSpc>
                <a:spcPct val="100000"/>
              </a:lnSpc>
              <a:buNone/>
            </a:pPr>
            <a:r>
              <a:rPr lang="en-US" sz="1300" b="1" dirty="0">
                <a:solidFill>
                  <a:srgbClr val="1D3957"/>
                </a:solidFill>
                <a:latin typeface="Aptos" pitchFamily="34" charset="0"/>
                <a:ea typeface="Aptos" pitchFamily="34" charset="-122"/>
                <a:cs typeface="Aptos" pitchFamily="34" charset="-120"/>
              </a:rPr>
              <a:t>Earlier ResNet layers</a:t>
            </a:r>
            <a:endParaRPr lang="en-US" sz="1300" dirty="0"/>
          </a:p>
        </p:txBody>
      </p:sp>
      <p:sp>
        <p:nvSpPr>
          <p:cNvPr id="12" name="Text 10"/>
          <p:cNvSpPr/>
          <p:nvPr/>
        </p:nvSpPr>
        <p:spPr>
          <a:xfrm>
            <a:off x="905256" y="1874520"/>
            <a:ext cx="5175504" cy="173736"/>
          </a:xfrm>
          <a:prstGeom prst="rect">
            <a:avLst/>
          </a:prstGeom>
          <a:noFill/>
          <a:ln/>
        </p:spPr>
        <p:txBody>
          <a:bodyPr wrap="square" lIns="0" tIns="0" rIns="0" bIns="0" rtlCol="0" anchor="ctr">
            <a:normAutofit/>
          </a:bodyPr>
          <a:lstStyle/>
          <a:p>
            <a:pPr marL="0" indent="0" algn="ctr">
              <a:lnSpc>
                <a:spcPct val="100000"/>
              </a:lnSpc>
              <a:buNone/>
            </a:pPr>
            <a:r>
              <a:rPr lang="en-US" sz="1000" dirty="0">
                <a:solidFill>
                  <a:srgbClr val="607084"/>
                </a:solidFill>
                <a:latin typeface="Noto Sans CJK JP" pitchFamily="34" charset="0"/>
                <a:ea typeface="Noto Sans CJK JP" pitchFamily="34" charset="-122"/>
                <a:cs typeface="Noto Sans CJK JP" pitchFamily="34" charset="-120"/>
              </a:rPr>
              <a:t>Frozen / 固定</a:t>
            </a:r>
            <a:endParaRPr lang="en-US" sz="1000" dirty="0"/>
          </a:p>
        </p:txBody>
      </p:sp>
      <p:sp>
        <p:nvSpPr>
          <p:cNvPr id="13" name="Shape 11"/>
          <p:cNvSpPr/>
          <p:nvPr/>
        </p:nvSpPr>
        <p:spPr>
          <a:xfrm>
            <a:off x="3493008" y="2185416"/>
            <a:ext cx="0" cy="274320"/>
          </a:xfrm>
          <a:prstGeom prst="line">
            <a:avLst/>
          </a:prstGeom>
          <a:noFill/>
          <a:ln w="16510">
            <a:solidFill>
              <a:srgbClr val="607084"/>
            </a:solidFill>
            <a:prstDash val="solid"/>
            <a:headEnd type="none"/>
            <a:tailEnd type="triangle"/>
          </a:ln>
        </p:spPr>
        <p:txBody>
          <a:bodyPr/>
          <a:lstStyle/>
          <a:p>
            <a:endParaRPr lang="en-JP"/>
          </a:p>
        </p:txBody>
      </p:sp>
      <p:sp>
        <p:nvSpPr>
          <p:cNvPr id="14" name="Shape 12"/>
          <p:cNvSpPr/>
          <p:nvPr/>
        </p:nvSpPr>
        <p:spPr>
          <a:xfrm>
            <a:off x="813816" y="2496312"/>
            <a:ext cx="5358384" cy="640080"/>
          </a:xfrm>
          <a:prstGeom prst="roundRect">
            <a:avLst>
              <a:gd name="adj" fmla="val 14286"/>
            </a:avLst>
          </a:prstGeom>
          <a:solidFill>
            <a:srgbClr val="F5F8FC"/>
          </a:solidFill>
          <a:ln w="8890">
            <a:solidFill>
              <a:srgbClr val="F5F8FC"/>
            </a:solidFill>
            <a:prstDash val="solid"/>
          </a:ln>
        </p:spPr>
        <p:txBody>
          <a:bodyPr/>
          <a:lstStyle/>
          <a:p>
            <a:endParaRPr lang="en-JP"/>
          </a:p>
        </p:txBody>
      </p:sp>
      <p:sp>
        <p:nvSpPr>
          <p:cNvPr id="15" name="Text 13"/>
          <p:cNvSpPr/>
          <p:nvPr/>
        </p:nvSpPr>
        <p:spPr>
          <a:xfrm>
            <a:off x="905256" y="2564892"/>
            <a:ext cx="5175504" cy="237744"/>
          </a:xfrm>
          <a:prstGeom prst="rect">
            <a:avLst/>
          </a:prstGeom>
          <a:noFill/>
          <a:ln/>
        </p:spPr>
        <p:txBody>
          <a:bodyPr wrap="square" lIns="0" tIns="0" rIns="0" bIns="0" rtlCol="0" anchor="ctr">
            <a:normAutofit/>
          </a:bodyPr>
          <a:lstStyle/>
          <a:p>
            <a:pPr marL="0" indent="0" algn="ctr">
              <a:lnSpc>
                <a:spcPct val="100000"/>
              </a:lnSpc>
              <a:buNone/>
            </a:pPr>
            <a:r>
              <a:rPr lang="en-US" sz="1300" b="1" dirty="0">
                <a:solidFill>
                  <a:srgbClr val="1D3957"/>
                </a:solidFill>
                <a:latin typeface="Aptos" pitchFamily="34" charset="0"/>
                <a:ea typeface="Aptos" pitchFamily="34" charset="-122"/>
                <a:cs typeface="Aptos" pitchFamily="34" charset="-120"/>
              </a:rPr>
              <a:t>Residual layer4</a:t>
            </a:r>
            <a:endParaRPr lang="en-US" sz="1300" dirty="0"/>
          </a:p>
        </p:txBody>
      </p:sp>
      <p:sp>
        <p:nvSpPr>
          <p:cNvPr id="16" name="Text 14"/>
          <p:cNvSpPr/>
          <p:nvPr/>
        </p:nvSpPr>
        <p:spPr>
          <a:xfrm>
            <a:off x="905256" y="2834640"/>
            <a:ext cx="5175504" cy="173736"/>
          </a:xfrm>
          <a:prstGeom prst="rect">
            <a:avLst/>
          </a:prstGeom>
          <a:noFill/>
          <a:ln/>
        </p:spPr>
        <p:txBody>
          <a:bodyPr wrap="square" lIns="0" tIns="0" rIns="0" bIns="0" rtlCol="0" anchor="ctr">
            <a:normAutofit/>
          </a:bodyPr>
          <a:lstStyle/>
          <a:p>
            <a:pPr marL="0" indent="0" algn="ctr">
              <a:lnSpc>
                <a:spcPct val="100000"/>
              </a:lnSpc>
              <a:buNone/>
            </a:pPr>
            <a:r>
              <a:rPr lang="en-US" sz="1000" dirty="0">
                <a:solidFill>
                  <a:srgbClr val="607084"/>
                </a:solidFill>
                <a:latin typeface="Noto Sans CJK JP" pitchFamily="34" charset="0"/>
                <a:ea typeface="Noto Sans CJK JP" pitchFamily="34" charset="-122"/>
                <a:cs typeface="Noto Sans CJK JP" pitchFamily="34" charset="-120"/>
              </a:rPr>
              <a:t>Frozen / 固定</a:t>
            </a:r>
            <a:endParaRPr lang="en-US" sz="1000" dirty="0"/>
          </a:p>
        </p:txBody>
      </p:sp>
      <p:sp>
        <p:nvSpPr>
          <p:cNvPr id="17" name="Shape 15"/>
          <p:cNvSpPr/>
          <p:nvPr/>
        </p:nvSpPr>
        <p:spPr>
          <a:xfrm>
            <a:off x="3493008" y="3145536"/>
            <a:ext cx="0" cy="274320"/>
          </a:xfrm>
          <a:prstGeom prst="line">
            <a:avLst/>
          </a:prstGeom>
          <a:noFill/>
          <a:ln w="16510">
            <a:solidFill>
              <a:srgbClr val="607084"/>
            </a:solidFill>
            <a:prstDash val="solid"/>
            <a:headEnd type="none"/>
            <a:tailEnd type="triangle"/>
          </a:ln>
        </p:spPr>
        <p:txBody>
          <a:bodyPr/>
          <a:lstStyle/>
          <a:p>
            <a:endParaRPr lang="en-JP"/>
          </a:p>
        </p:txBody>
      </p:sp>
      <p:sp>
        <p:nvSpPr>
          <p:cNvPr id="18" name="Shape 16"/>
          <p:cNvSpPr/>
          <p:nvPr/>
        </p:nvSpPr>
        <p:spPr>
          <a:xfrm>
            <a:off x="813816" y="3456432"/>
            <a:ext cx="5358384" cy="640080"/>
          </a:xfrm>
          <a:prstGeom prst="roundRect">
            <a:avLst>
              <a:gd name="adj" fmla="val 14286"/>
            </a:avLst>
          </a:prstGeom>
          <a:solidFill>
            <a:srgbClr val="E9F3FC"/>
          </a:solidFill>
          <a:ln w="8890">
            <a:solidFill>
              <a:srgbClr val="E9F3FC"/>
            </a:solidFill>
            <a:prstDash val="solid"/>
          </a:ln>
        </p:spPr>
        <p:txBody>
          <a:bodyPr/>
          <a:lstStyle/>
          <a:p>
            <a:endParaRPr lang="en-JP"/>
          </a:p>
        </p:txBody>
      </p:sp>
      <p:sp>
        <p:nvSpPr>
          <p:cNvPr id="19" name="Text 17"/>
          <p:cNvSpPr/>
          <p:nvPr/>
        </p:nvSpPr>
        <p:spPr>
          <a:xfrm>
            <a:off x="905256" y="3525012"/>
            <a:ext cx="5175504" cy="237744"/>
          </a:xfrm>
          <a:prstGeom prst="rect">
            <a:avLst/>
          </a:prstGeom>
          <a:noFill/>
          <a:ln/>
        </p:spPr>
        <p:txBody>
          <a:bodyPr wrap="square" lIns="0" tIns="0" rIns="0" bIns="0" rtlCol="0" anchor="ctr">
            <a:normAutofit/>
          </a:bodyPr>
          <a:lstStyle/>
          <a:p>
            <a:pPr marL="0" indent="0" algn="ctr">
              <a:lnSpc>
                <a:spcPct val="100000"/>
              </a:lnSpc>
              <a:buNone/>
            </a:pPr>
            <a:r>
              <a:rPr lang="en-US" sz="1300" b="1" dirty="0">
                <a:solidFill>
                  <a:srgbClr val="1D3957"/>
                </a:solidFill>
                <a:latin typeface="Aptos" pitchFamily="34" charset="0"/>
                <a:ea typeface="Aptos" pitchFamily="34" charset="-122"/>
                <a:cs typeface="Aptos" pitchFamily="34" charset="-120"/>
              </a:rPr>
              <a:t>Adaptive average pooling</a:t>
            </a:r>
            <a:endParaRPr lang="en-US" sz="1300" dirty="0"/>
          </a:p>
        </p:txBody>
      </p:sp>
      <p:sp>
        <p:nvSpPr>
          <p:cNvPr id="20" name="Text 18"/>
          <p:cNvSpPr/>
          <p:nvPr/>
        </p:nvSpPr>
        <p:spPr>
          <a:xfrm>
            <a:off x="905256" y="3794760"/>
            <a:ext cx="5175504" cy="173736"/>
          </a:xfrm>
          <a:prstGeom prst="rect">
            <a:avLst/>
          </a:prstGeom>
          <a:noFill/>
          <a:ln/>
        </p:spPr>
        <p:txBody>
          <a:bodyPr wrap="square" lIns="0" tIns="0" rIns="0" bIns="0" rtlCol="0" anchor="ctr">
            <a:normAutofit/>
          </a:bodyPr>
          <a:lstStyle/>
          <a:p>
            <a:pPr marL="0" indent="0" algn="ctr">
              <a:lnSpc>
                <a:spcPct val="100000"/>
              </a:lnSpc>
              <a:buNone/>
            </a:pPr>
            <a:r>
              <a:rPr lang="en-US" sz="1000" dirty="0">
                <a:solidFill>
                  <a:srgbClr val="607084"/>
                </a:solidFill>
                <a:latin typeface="Noto Sans CJK JP" pitchFamily="34" charset="0"/>
                <a:ea typeface="Noto Sans CJK JP" pitchFamily="34" charset="-122"/>
                <a:cs typeface="Noto Sans CJK JP" pitchFamily="34" charset="-120"/>
              </a:rPr>
              <a:t>Fixed / 固定</a:t>
            </a:r>
            <a:endParaRPr lang="en-US" sz="1000" dirty="0"/>
          </a:p>
        </p:txBody>
      </p:sp>
      <p:sp>
        <p:nvSpPr>
          <p:cNvPr id="21" name="Shape 19"/>
          <p:cNvSpPr/>
          <p:nvPr/>
        </p:nvSpPr>
        <p:spPr>
          <a:xfrm>
            <a:off x="3493008" y="4105656"/>
            <a:ext cx="0" cy="274320"/>
          </a:xfrm>
          <a:prstGeom prst="line">
            <a:avLst/>
          </a:prstGeom>
          <a:noFill/>
          <a:ln w="16510">
            <a:solidFill>
              <a:srgbClr val="607084"/>
            </a:solidFill>
            <a:prstDash val="solid"/>
            <a:headEnd type="none"/>
            <a:tailEnd type="triangle"/>
          </a:ln>
        </p:spPr>
        <p:txBody>
          <a:bodyPr/>
          <a:lstStyle/>
          <a:p>
            <a:endParaRPr lang="en-JP"/>
          </a:p>
        </p:txBody>
      </p:sp>
      <p:sp>
        <p:nvSpPr>
          <p:cNvPr id="22" name="Shape 20"/>
          <p:cNvSpPr/>
          <p:nvPr/>
        </p:nvSpPr>
        <p:spPr>
          <a:xfrm>
            <a:off x="813816" y="4416552"/>
            <a:ext cx="5358384" cy="640080"/>
          </a:xfrm>
          <a:prstGeom prst="roundRect">
            <a:avLst>
              <a:gd name="adj" fmla="val 14286"/>
            </a:avLst>
          </a:prstGeom>
          <a:solidFill>
            <a:srgbClr val="DDF5EF"/>
          </a:solidFill>
          <a:ln w="8890">
            <a:solidFill>
              <a:srgbClr val="DDF5EF"/>
            </a:solidFill>
            <a:prstDash val="solid"/>
          </a:ln>
        </p:spPr>
        <p:txBody>
          <a:bodyPr/>
          <a:lstStyle/>
          <a:p>
            <a:endParaRPr lang="en-JP"/>
          </a:p>
        </p:txBody>
      </p:sp>
      <p:sp>
        <p:nvSpPr>
          <p:cNvPr id="23" name="Text 21"/>
          <p:cNvSpPr/>
          <p:nvPr/>
        </p:nvSpPr>
        <p:spPr>
          <a:xfrm>
            <a:off x="905256" y="4485132"/>
            <a:ext cx="5175504" cy="237744"/>
          </a:xfrm>
          <a:prstGeom prst="rect">
            <a:avLst/>
          </a:prstGeom>
          <a:noFill/>
          <a:ln/>
        </p:spPr>
        <p:txBody>
          <a:bodyPr wrap="square" lIns="0" tIns="0" rIns="0" bIns="0" rtlCol="0" anchor="ctr">
            <a:normAutofit/>
          </a:bodyPr>
          <a:lstStyle/>
          <a:p>
            <a:pPr marL="0" indent="0" algn="ctr">
              <a:lnSpc>
                <a:spcPct val="100000"/>
              </a:lnSpc>
              <a:buNone/>
            </a:pPr>
            <a:r>
              <a:rPr lang="en-US" sz="1300" b="1" dirty="0">
                <a:solidFill>
                  <a:srgbClr val="1D3957"/>
                </a:solidFill>
                <a:latin typeface="Aptos" pitchFamily="34" charset="0"/>
                <a:ea typeface="Aptos" pitchFamily="34" charset="-122"/>
                <a:cs typeface="Aptos" pitchFamily="34" charset="-120"/>
              </a:rPr>
              <a:t>New fc: 512→5 or 2048→5</a:t>
            </a:r>
            <a:endParaRPr lang="en-US" sz="1300" dirty="0"/>
          </a:p>
        </p:txBody>
      </p:sp>
      <p:sp>
        <p:nvSpPr>
          <p:cNvPr id="24" name="Text 22"/>
          <p:cNvSpPr/>
          <p:nvPr/>
        </p:nvSpPr>
        <p:spPr>
          <a:xfrm>
            <a:off x="905256" y="4754880"/>
            <a:ext cx="5175504" cy="173736"/>
          </a:xfrm>
          <a:prstGeom prst="rect">
            <a:avLst/>
          </a:prstGeom>
          <a:noFill/>
          <a:ln/>
        </p:spPr>
        <p:txBody>
          <a:bodyPr wrap="square" lIns="0" tIns="0" rIns="0" bIns="0" rtlCol="0" anchor="ctr">
            <a:normAutofit/>
          </a:bodyPr>
          <a:lstStyle/>
          <a:p>
            <a:pPr marL="0" indent="0" algn="ctr">
              <a:lnSpc>
                <a:spcPct val="100000"/>
              </a:lnSpc>
              <a:buNone/>
            </a:pPr>
            <a:r>
              <a:rPr lang="en-US" sz="1000" dirty="0">
                <a:solidFill>
                  <a:srgbClr val="607084"/>
                </a:solidFill>
                <a:latin typeface="Noto Sans CJK JP" pitchFamily="34" charset="0"/>
                <a:ea typeface="Noto Sans CJK JP" pitchFamily="34" charset="-122"/>
                <a:cs typeface="Noto Sans CJK JP" pitchFamily="34" charset="-120"/>
              </a:rPr>
              <a:t>Trainable / 学習可能</a:t>
            </a:r>
            <a:endParaRPr lang="en-US" sz="1000" dirty="0"/>
          </a:p>
        </p:txBody>
      </p:sp>
      <p:sp>
        <p:nvSpPr>
          <p:cNvPr id="25" name="Shape 23"/>
          <p:cNvSpPr/>
          <p:nvPr/>
        </p:nvSpPr>
        <p:spPr>
          <a:xfrm>
            <a:off x="6565392" y="1755648"/>
            <a:ext cx="4800600" cy="1572768"/>
          </a:xfrm>
          <a:prstGeom prst="roundRect">
            <a:avLst>
              <a:gd name="adj" fmla="val 6977"/>
            </a:avLst>
          </a:prstGeom>
          <a:solidFill>
            <a:srgbClr val="DDF5EF"/>
          </a:solidFill>
          <a:ln w="8890">
            <a:solidFill>
              <a:srgbClr val="CBD8E5"/>
            </a:solidFill>
            <a:prstDash val="solid"/>
          </a:ln>
        </p:spPr>
        <p:txBody>
          <a:bodyPr/>
          <a:lstStyle/>
          <a:p>
            <a:endParaRPr lang="en-JP"/>
          </a:p>
        </p:txBody>
      </p:sp>
      <p:sp>
        <p:nvSpPr>
          <p:cNvPr id="26" name="Text 24"/>
          <p:cNvSpPr/>
          <p:nvPr/>
        </p:nvSpPr>
        <p:spPr>
          <a:xfrm>
            <a:off x="6729984" y="1874520"/>
            <a:ext cx="4471416" cy="292608"/>
          </a:xfrm>
          <a:prstGeom prst="rect">
            <a:avLst/>
          </a:prstGeom>
          <a:noFill/>
          <a:ln/>
        </p:spPr>
        <p:txBody>
          <a:bodyPr wrap="square" lIns="0" tIns="0" rIns="0" bIns="0" rtlCol="0" anchor="ctr">
            <a:normAutofit/>
          </a:bodyPr>
          <a:lstStyle/>
          <a:p>
            <a:pPr marL="0" indent="0" algn="l">
              <a:lnSpc>
                <a:spcPct val="100000"/>
              </a:lnSpc>
              <a:buNone/>
            </a:pPr>
            <a:r>
              <a:rPr lang="en-US" sz="1700" b="1" dirty="0">
                <a:solidFill>
                  <a:srgbClr val="1D3957"/>
                </a:solidFill>
                <a:latin typeface="Aptos" pitchFamily="34" charset="0"/>
                <a:ea typeface="Aptos" pitchFamily="34" charset="-122"/>
                <a:cs typeface="Aptos" pitchFamily="34" charset="-120"/>
              </a:rPr>
              <a:t>Goal</a:t>
            </a:r>
            <a:endParaRPr lang="en-US" sz="1700" dirty="0"/>
          </a:p>
        </p:txBody>
      </p:sp>
      <p:sp>
        <p:nvSpPr>
          <p:cNvPr id="27" name="Text 25"/>
          <p:cNvSpPr/>
          <p:nvPr/>
        </p:nvSpPr>
        <p:spPr>
          <a:xfrm>
            <a:off x="6729984" y="2231136"/>
            <a:ext cx="4480560" cy="996696"/>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253547"/>
                </a:solidFill>
                <a:latin typeface="Noto Sans CJK JP" pitchFamily="34" charset="0"/>
                <a:ea typeface="Noto Sans CJK JP" pitchFamily="34" charset="-122"/>
                <a:cs typeface="Noto Sans CJK JP" pitchFamily="34" charset="-120"/>
              </a:rPr>
              <a:t>学習済みの特徴を使い、5種類の花を見分ける分類境界を学習します。</a:t>
            </a:r>
            <a:endParaRPr lang="en-US" sz="1300" dirty="0"/>
          </a:p>
        </p:txBody>
      </p:sp>
      <p:sp>
        <p:nvSpPr>
          <p:cNvPr id="28" name="Shape 26"/>
          <p:cNvSpPr/>
          <p:nvPr/>
        </p:nvSpPr>
        <p:spPr>
          <a:xfrm>
            <a:off x="6565392" y="3584448"/>
            <a:ext cx="4800600" cy="1572768"/>
          </a:xfrm>
          <a:prstGeom prst="roundRect">
            <a:avLst>
              <a:gd name="adj" fmla="val 6977"/>
            </a:avLst>
          </a:prstGeom>
          <a:solidFill>
            <a:srgbClr val="E9F3FC"/>
          </a:solidFill>
          <a:ln w="8890">
            <a:solidFill>
              <a:srgbClr val="CBD8E5"/>
            </a:solidFill>
            <a:prstDash val="solid"/>
          </a:ln>
        </p:spPr>
        <p:txBody>
          <a:bodyPr/>
          <a:lstStyle/>
          <a:p>
            <a:endParaRPr lang="en-JP"/>
          </a:p>
        </p:txBody>
      </p:sp>
      <p:sp>
        <p:nvSpPr>
          <p:cNvPr id="29" name="Text 27"/>
          <p:cNvSpPr/>
          <p:nvPr/>
        </p:nvSpPr>
        <p:spPr>
          <a:xfrm>
            <a:off x="6729984" y="3703320"/>
            <a:ext cx="4471416" cy="292608"/>
          </a:xfrm>
          <a:prstGeom prst="rect">
            <a:avLst/>
          </a:prstGeom>
          <a:noFill/>
          <a:ln/>
        </p:spPr>
        <p:txBody>
          <a:bodyPr wrap="square" lIns="0" tIns="0" rIns="0" bIns="0" rtlCol="0" anchor="ctr">
            <a:normAutofit/>
          </a:bodyPr>
          <a:lstStyle/>
          <a:p>
            <a:pPr marL="0" indent="0" algn="l">
              <a:lnSpc>
                <a:spcPct val="100000"/>
              </a:lnSpc>
              <a:buNone/>
            </a:pPr>
            <a:r>
              <a:rPr lang="en-US" sz="1700" b="1" dirty="0">
                <a:solidFill>
                  <a:srgbClr val="1D3957"/>
                </a:solidFill>
                <a:latin typeface="Aptos" pitchFamily="34" charset="0"/>
                <a:ea typeface="Aptos" pitchFamily="34" charset="-122"/>
                <a:cs typeface="Aptos" pitchFamily="34" charset="-120"/>
              </a:rPr>
              <a:t>Why start here?</a:t>
            </a:r>
            <a:endParaRPr lang="en-US" sz="1700" dirty="0"/>
          </a:p>
        </p:txBody>
      </p:sp>
      <p:sp>
        <p:nvSpPr>
          <p:cNvPr id="30" name="Text 28"/>
          <p:cNvSpPr/>
          <p:nvPr/>
        </p:nvSpPr>
        <p:spPr>
          <a:xfrm>
            <a:off x="6729984" y="4059936"/>
            <a:ext cx="4480560" cy="996696"/>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253547"/>
                </a:solidFill>
                <a:latin typeface="Noto Sans CJK JP" pitchFamily="34" charset="0"/>
                <a:ea typeface="Noto Sans CJK JP" pitchFamily="34" charset="-122"/>
                <a:cs typeface="Noto Sans CJK JP" pitchFamily="34" charset="-120"/>
              </a:rPr>
              <a:t>学習するパラメータが少なく、ランダムに初期化した分類層を先に学習できます。</a:t>
            </a:r>
            <a:endParaRPr lang="en-US" sz="1300" dirty="0"/>
          </a:p>
        </p:txBody>
      </p:sp>
      <p:sp>
        <p:nvSpPr>
          <p:cNvPr id="31" name="Shape 29"/>
          <p:cNvSpPr/>
          <p:nvPr/>
        </p:nvSpPr>
        <p:spPr>
          <a:xfrm>
            <a:off x="612648" y="5916168"/>
            <a:ext cx="10972800" cy="484632"/>
          </a:xfrm>
          <a:prstGeom prst="roundRect">
            <a:avLst>
              <a:gd name="adj" fmla="val 15094"/>
            </a:avLst>
          </a:prstGeom>
          <a:solidFill>
            <a:srgbClr val="FFF2DD"/>
          </a:solidFill>
          <a:ln w="8890">
            <a:solidFill>
              <a:srgbClr val="FFF2DD"/>
            </a:solidFill>
            <a:prstDash val="solid"/>
          </a:ln>
        </p:spPr>
        <p:txBody>
          <a:bodyPr/>
          <a:lstStyle/>
          <a:p>
            <a:endParaRPr lang="en-JP"/>
          </a:p>
        </p:txBody>
      </p:sp>
      <p:sp>
        <p:nvSpPr>
          <p:cNvPr id="32" name="Text 30"/>
          <p:cNvSpPr/>
          <p:nvPr/>
        </p:nvSpPr>
        <p:spPr>
          <a:xfrm>
            <a:off x="768096" y="5952744"/>
            <a:ext cx="5029200" cy="182880"/>
          </a:xfrm>
          <a:prstGeom prst="rect">
            <a:avLst/>
          </a:prstGeom>
          <a:noFill/>
          <a:ln/>
        </p:spPr>
        <p:txBody>
          <a:bodyPr wrap="square" lIns="0" tIns="0" rIns="0" bIns="0" rtlCol="0" anchor="ctr">
            <a:normAutofit lnSpcReduction="10000"/>
          </a:bodyPr>
          <a:lstStyle/>
          <a:p>
            <a:pPr marL="0" indent="0" algn="l">
              <a:lnSpc>
                <a:spcPct val="100000"/>
              </a:lnSpc>
              <a:buNone/>
            </a:pPr>
            <a:r>
              <a:rPr lang="en-US" sz="1210" b="1" dirty="0">
                <a:solidFill>
                  <a:srgbClr val="1D3957"/>
                </a:solidFill>
                <a:latin typeface="Aptos" pitchFamily="34" charset="0"/>
                <a:ea typeface="Aptos" pitchFamily="34" charset="-122"/>
                <a:cs typeface="Aptos" pitchFamily="34" charset="-120"/>
              </a:rPr>
              <a:t>All pretrained backbone weights remain unchanged in Phase A.</a:t>
            </a:r>
            <a:endParaRPr lang="en-US" sz="1210" dirty="0"/>
          </a:p>
        </p:txBody>
      </p:sp>
      <p:sp>
        <p:nvSpPr>
          <p:cNvPr id="33" name="Text 31"/>
          <p:cNvSpPr/>
          <p:nvPr/>
        </p:nvSpPr>
        <p:spPr>
          <a:xfrm>
            <a:off x="5760720" y="5943600"/>
            <a:ext cx="5669280" cy="219456"/>
          </a:xfrm>
          <a:prstGeom prst="rect">
            <a:avLst/>
          </a:prstGeom>
          <a:noFill/>
          <a:ln/>
        </p:spPr>
        <p:txBody>
          <a:bodyPr wrap="square" lIns="0" tIns="0" rIns="0" bIns="0" rtlCol="0" anchor="ctr">
            <a:normAutofit/>
          </a:bodyPr>
          <a:lstStyle/>
          <a:p>
            <a:pPr marL="0" indent="0" algn="l">
              <a:lnSpc>
                <a:spcPct val="100000"/>
              </a:lnSpc>
              <a:buNone/>
            </a:pPr>
            <a:r>
              <a:rPr lang="en-US" sz="1210" dirty="0">
                <a:solidFill>
                  <a:srgbClr val="1D3957"/>
                </a:solidFill>
                <a:latin typeface="Noto Sans CJK JP" pitchFamily="34" charset="0"/>
                <a:ea typeface="Noto Sans CJK JP" pitchFamily="34" charset="-122"/>
                <a:cs typeface="Noto Sans CJK JP" pitchFamily="34" charset="-120"/>
              </a:rPr>
              <a:t>第1段階では学習済みの本体は更新しません。</a:t>
            </a:r>
            <a:endParaRPr lang="en-US" sz="121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Phase A — code and learning rate</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第1段階のコードと学習率</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14</a:t>
            </a:r>
            <a:endParaRPr lang="en-US" sz="870" dirty="0"/>
          </a:p>
        </p:txBody>
      </p:sp>
      <p:sp>
        <p:nvSpPr>
          <p:cNvPr id="10" name="Shape 8"/>
          <p:cNvSpPr/>
          <p:nvPr/>
        </p:nvSpPr>
        <p:spPr>
          <a:xfrm>
            <a:off x="749808" y="1554480"/>
            <a:ext cx="10808208" cy="3364992"/>
          </a:xfrm>
          <a:prstGeom prst="roundRect">
            <a:avLst>
              <a:gd name="adj" fmla="val 2174"/>
            </a:avLst>
          </a:prstGeom>
          <a:solidFill>
            <a:srgbClr val="162E47"/>
          </a:solidFill>
          <a:ln w="8890">
            <a:solidFill>
              <a:srgbClr val="162E47"/>
            </a:solidFill>
            <a:prstDash val="solid"/>
          </a:ln>
        </p:spPr>
        <p:txBody>
          <a:bodyPr/>
          <a:lstStyle/>
          <a:p>
            <a:endParaRPr lang="en-JP"/>
          </a:p>
        </p:txBody>
      </p:sp>
      <p:sp>
        <p:nvSpPr>
          <p:cNvPr id="11" name="Text 9"/>
          <p:cNvSpPr/>
          <p:nvPr/>
        </p:nvSpPr>
        <p:spPr>
          <a:xfrm>
            <a:off x="896112" y="1682496"/>
            <a:ext cx="10533888" cy="311810"/>
          </a:xfrm>
          <a:prstGeom prst="rect">
            <a:avLst/>
          </a:prstGeom>
          <a:noFill/>
          <a:ln/>
        </p:spPr>
        <p:txBody>
          <a:bodyPr wrap="square" lIns="0" tIns="0" rIns="0" bIns="0" rtlCol="0" anchor="ctr">
            <a:normAutofit/>
          </a:bodyPr>
          <a:lstStyle/>
          <a:p>
            <a:pPr marL="0" indent="0" algn="l">
              <a:lnSpc>
                <a:spcPct val="100000"/>
              </a:lnSpc>
              <a:buNone/>
            </a:pPr>
            <a:r>
              <a:rPr lang="en-US" sz="1410" dirty="0">
                <a:solidFill>
                  <a:srgbClr val="A6B8C8"/>
                </a:solidFill>
                <a:latin typeface="Consolas" pitchFamily="34" charset="0"/>
                <a:ea typeface="Consolas" pitchFamily="34" charset="-122"/>
                <a:cs typeface="Consolas" pitchFamily="34" charset="-120"/>
              </a:rPr>
              <a:t># Freeze pretrained backbone</a:t>
            </a:r>
            <a:endParaRPr lang="en-US" sz="1410" dirty="0"/>
          </a:p>
        </p:txBody>
      </p:sp>
      <p:sp>
        <p:nvSpPr>
          <p:cNvPr id="12" name="Text 10"/>
          <p:cNvSpPr/>
          <p:nvPr/>
        </p:nvSpPr>
        <p:spPr>
          <a:xfrm>
            <a:off x="896112" y="1994306"/>
            <a:ext cx="10533888" cy="311810"/>
          </a:xfrm>
          <a:prstGeom prst="rect">
            <a:avLst/>
          </a:prstGeom>
          <a:noFill/>
          <a:ln/>
        </p:spPr>
        <p:txBody>
          <a:bodyPr wrap="square" lIns="0" tIns="0" rIns="0" bIns="0" rtlCol="0" anchor="ctr">
            <a:normAutofit/>
          </a:bodyPr>
          <a:lstStyle/>
          <a:p>
            <a:pPr marL="0" indent="0" algn="l">
              <a:lnSpc>
                <a:spcPct val="100000"/>
              </a:lnSpc>
              <a:buNone/>
            </a:pPr>
            <a:r>
              <a:rPr lang="en-US" sz="1410" dirty="0">
                <a:solidFill>
                  <a:srgbClr val="F4F8FC"/>
                </a:solidFill>
                <a:latin typeface="Consolas" pitchFamily="34" charset="0"/>
                <a:ea typeface="Consolas" pitchFamily="34" charset="-122"/>
                <a:cs typeface="Consolas" pitchFamily="34" charset="-120"/>
              </a:rPr>
              <a:t>for p in model.parameters():</a:t>
            </a:r>
            <a:endParaRPr lang="en-US" sz="1410" dirty="0"/>
          </a:p>
        </p:txBody>
      </p:sp>
      <p:sp>
        <p:nvSpPr>
          <p:cNvPr id="13" name="Text 11"/>
          <p:cNvSpPr/>
          <p:nvPr/>
        </p:nvSpPr>
        <p:spPr>
          <a:xfrm>
            <a:off x="896112" y="2306117"/>
            <a:ext cx="10533888" cy="311810"/>
          </a:xfrm>
          <a:prstGeom prst="rect">
            <a:avLst/>
          </a:prstGeom>
          <a:noFill/>
          <a:ln/>
        </p:spPr>
        <p:txBody>
          <a:bodyPr wrap="square" lIns="0" tIns="0" rIns="0" bIns="0" rtlCol="0" anchor="ctr">
            <a:normAutofit/>
          </a:bodyPr>
          <a:lstStyle/>
          <a:p>
            <a:pPr marL="0" indent="0" algn="l">
              <a:lnSpc>
                <a:spcPct val="100000"/>
              </a:lnSpc>
              <a:buNone/>
            </a:pPr>
            <a:r>
              <a:rPr lang="en-US" sz="1410" dirty="0">
                <a:solidFill>
                  <a:srgbClr val="F4F8FC"/>
                </a:solidFill>
                <a:latin typeface="Consolas" pitchFamily="34" charset="0"/>
                <a:ea typeface="Consolas" pitchFamily="34" charset="-122"/>
                <a:cs typeface="Consolas" pitchFamily="34" charset="-120"/>
              </a:rPr>
              <a:t>    p.requires_grad = False</a:t>
            </a:r>
            <a:endParaRPr lang="en-US" sz="1410" dirty="0"/>
          </a:p>
        </p:txBody>
      </p:sp>
      <p:sp>
        <p:nvSpPr>
          <p:cNvPr id="14" name="Text 12"/>
          <p:cNvSpPr/>
          <p:nvPr/>
        </p:nvSpPr>
        <p:spPr>
          <a:xfrm>
            <a:off x="896112" y="2617927"/>
            <a:ext cx="10533888" cy="311810"/>
          </a:xfrm>
          <a:prstGeom prst="rect">
            <a:avLst/>
          </a:prstGeom>
          <a:noFill/>
          <a:ln/>
        </p:spPr>
        <p:txBody>
          <a:bodyPr wrap="square" lIns="0" tIns="0" rIns="0" bIns="0" rtlCol="0" anchor="ctr">
            <a:normAutofit/>
          </a:bodyPr>
          <a:lstStyle/>
          <a:p>
            <a:pPr marL="0" indent="0" algn="l">
              <a:lnSpc>
                <a:spcPct val="100000"/>
              </a:lnSpc>
              <a:buNone/>
            </a:pPr>
            <a:endParaRPr lang="en-US" sz="1410" dirty="0"/>
          </a:p>
        </p:txBody>
      </p:sp>
      <p:sp>
        <p:nvSpPr>
          <p:cNvPr id="15" name="Text 13"/>
          <p:cNvSpPr/>
          <p:nvPr/>
        </p:nvSpPr>
        <p:spPr>
          <a:xfrm>
            <a:off x="896112" y="2929738"/>
            <a:ext cx="10533888" cy="311810"/>
          </a:xfrm>
          <a:prstGeom prst="rect">
            <a:avLst/>
          </a:prstGeom>
          <a:noFill/>
          <a:ln/>
        </p:spPr>
        <p:txBody>
          <a:bodyPr wrap="square" lIns="0" tIns="0" rIns="0" bIns="0" rtlCol="0" anchor="ctr">
            <a:normAutofit/>
          </a:bodyPr>
          <a:lstStyle/>
          <a:p>
            <a:pPr marL="0" indent="0" algn="l">
              <a:lnSpc>
                <a:spcPct val="100000"/>
              </a:lnSpc>
              <a:buNone/>
            </a:pPr>
            <a:r>
              <a:rPr lang="en-US" sz="1410" dirty="0">
                <a:solidFill>
                  <a:srgbClr val="A6B8C8"/>
                </a:solidFill>
                <a:latin typeface="Consolas" pitchFamily="34" charset="0"/>
                <a:ea typeface="Consolas" pitchFamily="34" charset="-122"/>
                <a:cs typeface="Consolas" pitchFamily="34" charset="-120"/>
              </a:rPr>
              <a:t># Learn only the new flower classifier</a:t>
            </a:r>
            <a:endParaRPr lang="en-US" sz="1410" dirty="0"/>
          </a:p>
        </p:txBody>
      </p:sp>
      <p:sp>
        <p:nvSpPr>
          <p:cNvPr id="16" name="Text 14"/>
          <p:cNvSpPr/>
          <p:nvPr/>
        </p:nvSpPr>
        <p:spPr>
          <a:xfrm>
            <a:off x="896112" y="3241548"/>
            <a:ext cx="10533888" cy="311810"/>
          </a:xfrm>
          <a:prstGeom prst="rect">
            <a:avLst/>
          </a:prstGeom>
          <a:noFill/>
          <a:ln/>
        </p:spPr>
        <p:txBody>
          <a:bodyPr wrap="square" lIns="0" tIns="0" rIns="0" bIns="0" rtlCol="0" anchor="ctr">
            <a:normAutofit/>
          </a:bodyPr>
          <a:lstStyle/>
          <a:p>
            <a:pPr marL="0" indent="0" algn="l">
              <a:lnSpc>
                <a:spcPct val="100000"/>
              </a:lnSpc>
              <a:buNone/>
            </a:pPr>
            <a:r>
              <a:rPr lang="en-US" sz="1410" dirty="0">
                <a:solidFill>
                  <a:srgbClr val="F4F8FC"/>
                </a:solidFill>
                <a:latin typeface="Consolas" pitchFamily="34" charset="0"/>
                <a:ea typeface="Consolas" pitchFamily="34" charset="-122"/>
                <a:cs typeface="Consolas" pitchFamily="34" charset="-120"/>
              </a:rPr>
              <a:t>for p in model.fc.parameters():</a:t>
            </a:r>
            <a:endParaRPr lang="en-US" sz="1410" dirty="0"/>
          </a:p>
        </p:txBody>
      </p:sp>
      <p:sp>
        <p:nvSpPr>
          <p:cNvPr id="17" name="Text 15"/>
          <p:cNvSpPr/>
          <p:nvPr/>
        </p:nvSpPr>
        <p:spPr>
          <a:xfrm>
            <a:off x="896112" y="3553358"/>
            <a:ext cx="10533888" cy="311810"/>
          </a:xfrm>
          <a:prstGeom prst="rect">
            <a:avLst/>
          </a:prstGeom>
          <a:noFill/>
          <a:ln/>
        </p:spPr>
        <p:txBody>
          <a:bodyPr wrap="square" lIns="0" tIns="0" rIns="0" bIns="0" rtlCol="0" anchor="ctr">
            <a:normAutofit/>
          </a:bodyPr>
          <a:lstStyle/>
          <a:p>
            <a:pPr marL="0" indent="0" algn="l">
              <a:lnSpc>
                <a:spcPct val="100000"/>
              </a:lnSpc>
              <a:buNone/>
            </a:pPr>
            <a:r>
              <a:rPr lang="en-US" sz="1410" dirty="0">
                <a:solidFill>
                  <a:srgbClr val="F4F8FC"/>
                </a:solidFill>
                <a:latin typeface="Consolas" pitchFamily="34" charset="0"/>
                <a:ea typeface="Consolas" pitchFamily="34" charset="-122"/>
                <a:cs typeface="Consolas" pitchFamily="34" charset="-120"/>
              </a:rPr>
              <a:t>    p.requires_grad = True</a:t>
            </a:r>
            <a:endParaRPr lang="en-US" sz="1410" dirty="0"/>
          </a:p>
        </p:txBody>
      </p:sp>
      <p:sp>
        <p:nvSpPr>
          <p:cNvPr id="18" name="Text 16"/>
          <p:cNvSpPr/>
          <p:nvPr/>
        </p:nvSpPr>
        <p:spPr>
          <a:xfrm>
            <a:off x="896112" y="3865169"/>
            <a:ext cx="10533888" cy="311810"/>
          </a:xfrm>
          <a:prstGeom prst="rect">
            <a:avLst/>
          </a:prstGeom>
          <a:noFill/>
          <a:ln/>
        </p:spPr>
        <p:txBody>
          <a:bodyPr wrap="square" lIns="0" tIns="0" rIns="0" bIns="0" rtlCol="0" anchor="ctr">
            <a:normAutofit/>
          </a:bodyPr>
          <a:lstStyle/>
          <a:p>
            <a:pPr marL="0" indent="0" algn="l">
              <a:lnSpc>
                <a:spcPct val="100000"/>
              </a:lnSpc>
              <a:buNone/>
            </a:pPr>
            <a:endParaRPr lang="en-US" sz="1410" dirty="0"/>
          </a:p>
        </p:txBody>
      </p:sp>
      <p:sp>
        <p:nvSpPr>
          <p:cNvPr id="19" name="Text 17"/>
          <p:cNvSpPr/>
          <p:nvPr/>
        </p:nvSpPr>
        <p:spPr>
          <a:xfrm>
            <a:off x="896112" y="4176979"/>
            <a:ext cx="10533888" cy="311810"/>
          </a:xfrm>
          <a:prstGeom prst="rect">
            <a:avLst/>
          </a:prstGeom>
          <a:noFill/>
          <a:ln/>
        </p:spPr>
        <p:txBody>
          <a:bodyPr wrap="square" lIns="0" tIns="0" rIns="0" bIns="0" rtlCol="0" anchor="ctr">
            <a:normAutofit/>
          </a:bodyPr>
          <a:lstStyle/>
          <a:p>
            <a:pPr marL="0" indent="0" algn="l">
              <a:lnSpc>
                <a:spcPct val="100000"/>
              </a:lnSpc>
              <a:buNone/>
            </a:pPr>
            <a:r>
              <a:rPr lang="en-US" sz="1410" dirty="0">
                <a:solidFill>
                  <a:srgbClr val="F4F8FC"/>
                </a:solidFill>
                <a:latin typeface="Consolas" pitchFamily="34" charset="0"/>
                <a:ea typeface="Consolas" pitchFamily="34" charset="-122"/>
                <a:cs typeface="Consolas" pitchFamily="34" charset="-120"/>
              </a:rPr>
              <a:t>optimizer = torch.optim.AdamW(</a:t>
            </a:r>
            <a:endParaRPr lang="en-US" sz="1410" dirty="0"/>
          </a:p>
        </p:txBody>
      </p:sp>
      <p:sp>
        <p:nvSpPr>
          <p:cNvPr id="20" name="Text 18"/>
          <p:cNvSpPr/>
          <p:nvPr/>
        </p:nvSpPr>
        <p:spPr>
          <a:xfrm>
            <a:off x="896112" y="4488790"/>
            <a:ext cx="10533888" cy="311810"/>
          </a:xfrm>
          <a:prstGeom prst="rect">
            <a:avLst/>
          </a:prstGeom>
          <a:noFill/>
          <a:ln/>
        </p:spPr>
        <p:txBody>
          <a:bodyPr wrap="square" lIns="0" tIns="0" rIns="0" bIns="0" rtlCol="0" anchor="ctr">
            <a:normAutofit/>
          </a:bodyPr>
          <a:lstStyle/>
          <a:p>
            <a:pPr marL="0" indent="0" algn="l">
              <a:lnSpc>
                <a:spcPct val="100000"/>
              </a:lnSpc>
              <a:buNone/>
            </a:pPr>
            <a:r>
              <a:rPr lang="en-US" sz="1410" dirty="0">
                <a:solidFill>
                  <a:srgbClr val="F4F8FC"/>
                </a:solidFill>
                <a:latin typeface="Consolas" pitchFamily="34" charset="0"/>
                <a:ea typeface="Consolas" pitchFamily="34" charset="-122"/>
                <a:cs typeface="Consolas" pitchFamily="34" charset="-120"/>
              </a:rPr>
              <a:t>    model.fc.parameters(), lr=1e-3, weight_decay=1e-4)</a:t>
            </a:r>
            <a:endParaRPr lang="en-US" sz="1410" dirty="0"/>
          </a:p>
        </p:txBody>
      </p:sp>
      <p:sp>
        <p:nvSpPr>
          <p:cNvPr id="21" name="Shape 19"/>
          <p:cNvSpPr/>
          <p:nvPr/>
        </p:nvSpPr>
        <p:spPr>
          <a:xfrm>
            <a:off x="978408" y="5157216"/>
            <a:ext cx="5001768" cy="731520"/>
          </a:xfrm>
          <a:prstGeom prst="roundRect">
            <a:avLst>
              <a:gd name="adj" fmla="val 12500"/>
            </a:avLst>
          </a:prstGeom>
          <a:solidFill>
            <a:srgbClr val="DDF5EF"/>
          </a:solidFill>
          <a:ln w="8890">
            <a:solidFill>
              <a:srgbClr val="DDF5EF"/>
            </a:solidFill>
            <a:prstDash val="solid"/>
          </a:ln>
        </p:spPr>
        <p:txBody>
          <a:bodyPr/>
          <a:lstStyle/>
          <a:p>
            <a:endParaRPr lang="en-JP"/>
          </a:p>
        </p:txBody>
      </p:sp>
      <p:sp>
        <p:nvSpPr>
          <p:cNvPr id="22" name="Text 20"/>
          <p:cNvSpPr/>
          <p:nvPr/>
        </p:nvSpPr>
        <p:spPr>
          <a:xfrm>
            <a:off x="1069848" y="5225796"/>
            <a:ext cx="4818888" cy="237744"/>
          </a:xfrm>
          <a:prstGeom prst="rect">
            <a:avLst/>
          </a:prstGeom>
          <a:noFill/>
          <a:ln/>
        </p:spPr>
        <p:txBody>
          <a:bodyPr wrap="square" lIns="0" tIns="0" rIns="0" bIns="0" rtlCol="0" anchor="ctr">
            <a:normAutofit lnSpcReduction="10000"/>
          </a:bodyPr>
          <a:lstStyle/>
          <a:p>
            <a:pPr marL="0" indent="0" algn="ctr">
              <a:lnSpc>
                <a:spcPct val="100000"/>
              </a:lnSpc>
              <a:buNone/>
            </a:pPr>
            <a:r>
              <a:rPr lang="en-US" sz="1700" b="1" dirty="0">
                <a:solidFill>
                  <a:srgbClr val="1D3957"/>
                </a:solidFill>
                <a:latin typeface="Aptos" pitchFamily="34" charset="0"/>
                <a:ea typeface="Aptos" pitchFamily="34" charset="-122"/>
                <a:cs typeface="Aptos" pitchFamily="34" charset="-120"/>
              </a:rPr>
              <a:t>Phase A: classifier lr = 0.001</a:t>
            </a:r>
            <a:endParaRPr lang="en-US" sz="1700" dirty="0"/>
          </a:p>
        </p:txBody>
      </p:sp>
      <p:sp>
        <p:nvSpPr>
          <p:cNvPr id="23" name="Text 21"/>
          <p:cNvSpPr/>
          <p:nvPr/>
        </p:nvSpPr>
        <p:spPr>
          <a:xfrm>
            <a:off x="1069848" y="5495544"/>
            <a:ext cx="4818888"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分類層だけを更新</a:t>
            </a:r>
            <a:endParaRPr lang="en-US" sz="1120" dirty="0"/>
          </a:p>
        </p:txBody>
      </p:sp>
      <p:sp>
        <p:nvSpPr>
          <p:cNvPr id="24" name="Shape 22"/>
          <p:cNvSpPr/>
          <p:nvPr/>
        </p:nvSpPr>
        <p:spPr>
          <a:xfrm>
            <a:off x="6199632" y="5157216"/>
            <a:ext cx="4983480" cy="731520"/>
          </a:xfrm>
          <a:prstGeom prst="roundRect">
            <a:avLst>
              <a:gd name="adj" fmla="val 12500"/>
            </a:avLst>
          </a:prstGeom>
          <a:solidFill>
            <a:srgbClr val="E9F3FC"/>
          </a:solidFill>
          <a:ln w="8890">
            <a:solidFill>
              <a:srgbClr val="E9F3FC"/>
            </a:solidFill>
            <a:prstDash val="solid"/>
          </a:ln>
        </p:spPr>
        <p:txBody>
          <a:bodyPr/>
          <a:lstStyle/>
          <a:p>
            <a:endParaRPr lang="en-JP"/>
          </a:p>
        </p:txBody>
      </p:sp>
      <p:sp>
        <p:nvSpPr>
          <p:cNvPr id="25" name="Text 23"/>
          <p:cNvSpPr/>
          <p:nvPr/>
        </p:nvSpPr>
        <p:spPr>
          <a:xfrm>
            <a:off x="6291072" y="5225796"/>
            <a:ext cx="4800600" cy="237744"/>
          </a:xfrm>
          <a:prstGeom prst="rect">
            <a:avLst/>
          </a:prstGeom>
          <a:noFill/>
          <a:ln/>
        </p:spPr>
        <p:txBody>
          <a:bodyPr wrap="square" lIns="0" tIns="0" rIns="0" bIns="0" rtlCol="0" anchor="ctr">
            <a:normAutofit lnSpcReduction="10000"/>
          </a:bodyPr>
          <a:lstStyle/>
          <a:p>
            <a:pPr marL="0" indent="0" algn="ctr">
              <a:lnSpc>
                <a:spcPct val="100000"/>
              </a:lnSpc>
              <a:buNone/>
            </a:pPr>
            <a:r>
              <a:rPr lang="en-US" sz="1700" b="1" dirty="0">
                <a:solidFill>
                  <a:srgbClr val="1D3957"/>
                </a:solidFill>
                <a:latin typeface="Aptos" pitchFamily="34" charset="0"/>
                <a:ea typeface="Aptos" pitchFamily="34" charset="-122"/>
                <a:cs typeface="Aptos" pitchFamily="34" charset="-120"/>
              </a:rPr>
              <a:t>CrossEntropyLoss on 5 logits</a:t>
            </a:r>
            <a:endParaRPr lang="en-US" sz="1700" dirty="0"/>
          </a:p>
        </p:txBody>
      </p:sp>
      <p:sp>
        <p:nvSpPr>
          <p:cNvPr id="26" name="Text 24"/>
          <p:cNvSpPr/>
          <p:nvPr/>
        </p:nvSpPr>
        <p:spPr>
          <a:xfrm>
            <a:off x="6291072" y="5495544"/>
            <a:ext cx="4800600"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5個のlogitから損失を計算</a:t>
            </a:r>
            <a:endParaRPr lang="en-US" sz="11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Phase B — fine-tuning</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第2段階：一部の学習済み層を微調整</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15</a:t>
            </a:r>
            <a:endParaRPr lang="en-US" sz="870" dirty="0"/>
          </a:p>
        </p:txBody>
      </p:sp>
      <p:sp>
        <p:nvSpPr>
          <p:cNvPr id="10" name="Shape 8"/>
          <p:cNvSpPr/>
          <p:nvPr/>
        </p:nvSpPr>
        <p:spPr>
          <a:xfrm>
            <a:off x="822960" y="1536192"/>
            <a:ext cx="5376672" cy="640080"/>
          </a:xfrm>
          <a:prstGeom prst="roundRect">
            <a:avLst>
              <a:gd name="adj" fmla="val 14286"/>
            </a:avLst>
          </a:prstGeom>
          <a:solidFill>
            <a:srgbClr val="E9F3FC"/>
          </a:solidFill>
          <a:ln w="8890">
            <a:solidFill>
              <a:srgbClr val="E9F3FC"/>
            </a:solidFill>
            <a:prstDash val="solid"/>
          </a:ln>
        </p:spPr>
        <p:txBody>
          <a:bodyPr/>
          <a:lstStyle/>
          <a:p>
            <a:endParaRPr lang="en-JP"/>
          </a:p>
        </p:txBody>
      </p:sp>
      <p:sp>
        <p:nvSpPr>
          <p:cNvPr id="11" name="Text 9"/>
          <p:cNvSpPr/>
          <p:nvPr/>
        </p:nvSpPr>
        <p:spPr>
          <a:xfrm>
            <a:off x="914400" y="1604772"/>
            <a:ext cx="5193792" cy="237744"/>
          </a:xfrm>
          <a:prstGeom prst="rect">
            <a:avLst/>
          </a:prstGeom>
          <a:noFill/>
          <a:ln/>
        </p:spPr>
        <p:txBody>
          <a:bodyPr wrap="square" lIns="0" tIns="0" rIns="0" bIns="0" rtlCol="0" anchor="ctr">
            <a:normAutofit/>
          </a:bodyPr>
          <a:lstStyle/>
          <a:p>
            <a:pPr marL="0" indent="0" algn="ctr">
              <a:lnSpc>
                <a:spcPct val="100000"/>
              </a:lnSpc>
              <a:buNone/>
            </a:pPr>
            <a:r>
              <a:rPr lang="en-US" sz="1300" b="1" dirty="0">
                <a:solidFill>
                  <a:srgbClr val="1D3957"/>
                </a:solidFill>
                <a:latin typeface="Aptos" pitchFamily="34" charset="0"/>
                <a:ea typeface="Aptos" pitchFamily="34" charset="-122"/>
                <a:cs typeface="Aptos" pitchFamily="34" charset="-120"/>
              </a:rPr>
              <a:t>Earlier ResNet layers</a:t>
            </a:r>
            <a:endParaRPr lang="en-US" sz="1300" dirty="0"/>
          </a:p>
        </p:txBody>
      </p:sp>
      <p:sp>
        <p:nvSpPr>
          <p:cNvPr id="12" name="Text 10"/>
          <p:cNvSpPr/>
          <p:nvPr/>
        </p:nvSpPr>
        <p:spPr>
          <a:xfrm>
            <a:off x="914400" y="1874520"/>
            <a:ext cx="5193792" cy="173736"/>
          </a:xfrm>
          <a:prstGeom prst="rect">
            <a:avLst/>
          </a:prstGeom>
          <a:noFill/>
          <a:ln/>
        </p:spPr>
        <p:txBody>
          <a:bodyPr wrap="square" lIns="0" tIns="0" rIns="0" bIns="0" rtlCol="0" anchor="ctr">
            <a:normAutofit/>
          </a:bodyPr>
          <a:lstStyle/>
          <a:p>
            <a:pPr marL="0" indent="0" algn="ctr">
              <a:lnSpc>
                <a:spcPct val="100000"/>
              </a:lnSpc>
              <a:buNone/>
            </a:pPr>
            <a:r>
              <a:rPr lang="en-US" sz="1000" dirty="0">
                <a:solidFill>
                  <a:srgbClr val="607084"/>
                </a:solidFill>
                <a:latin typeface="Noto Sans CJK JP" pitchFamily="34" charset="0"/>
                <a:ea typeface="Noto Sans CJK JP" pitchFamily="34" charset="-122"/>
                <a:cs typeface="Noto Sans CJK JP" pitchFamily="34" charset="-120"/>
              </a:rPr>
              <a:t>Frozen / 固定</a:t>
            </a:r>
            <a:endParaRPr lang="en-US" sz="1000" dirty="0"/>
          </a:p>
        </p:txBody>
      </p:sp>
      <p:sp>
        <p:nvSpPr>
          <p:cNvPr id="13" name="Shape 11"/>
          <p:cNvSpPr/>
          <p:nvPr/>
        </p:nvSpPr>
        <p:spPr>
          <a:xfrm>
            <a:off x="3511296" y="2185416"/>
            <a:ext cx="0" cy="265176"/>
          </a:xfrm>
          <a:prstGeom prst="line">
            <a:avLst/>
          </a:prstGeom>
          <a:noFill/>
          <a:ln w="16510">
            <a:solidFill>
              <a:srgbClr val="607084"/>
            </a:solidFill>
            <a:prstDash val="solid"/>
            <a:headEnd type="none"/>
            <a:tailEnd type="triangle"/>
          </a:ln>
        </p:spPr>
        <p:txBody>
          <a:bodyPr/>
          <a:lstStyle/>
          <a:p>
            <a:endParaRPr lang="en-JP"/>
          </a:p>
        </p:txBody>
      </p:sp>
      <p:sp>
        <p:nvSpPr>
          <p:cNvPr id="14" name="Shape 12"/>
          <p:cNvSpPr/>
          <p:nvPr/>
        </p:nvSpPr>
        <p:spPr>
          <a:xfrm>
            <a:off x="822960" y="2487168"/>
            <a:ext cx="5376672" cy="640080"/>
          </a:xfrm>
          <a:prstGeom prst="roundRect">
            <a:avLst>
              <a:gd name="adj" fmla="val 14286"/>
            </a:avLst>
          </a:prstGeom>
          <a:solidFill>
            <a:srgbClr val="DDF5EF"/>
          </a:solidFill>
          <a:ln w="8890">
            <a:solidFill>
              <a:srgbClr val="DDF5EF"/>
            </a:solidFill>
            <a:prstDash val="solid"/>
          </a:ln>
        </p:spPr>
        <p:txBody>
          <a:bodyPr/>
          <a:lstStyle/>
          <a:p>
            <a:endParaRPr lang="en-JP"/>
          </a:p>
        </p:txBody>
      </p:sp>
      <p:sp>
        <p:nvSpPr>
          <p:cNvPr id="15" name="Text 13"/>
          <p:cNvSpPr/>
          <p:nvPr/>
        </p:nvSpPr>
        <p:spPr>
          <a:xfrm>
            <a:off x="914400" y="2555748"/>
            <a:ext cx="5193792" cy="237744"/>
          </a:xfrm>
          <a:prstGeom prst="rect">
            <a:avLst/>
          </a:prstGeom>
          <a:noFill/>
          <a:ln/>
        </p:spPr>
        <p:txBody>
          <a:bodyPr wrap="square" lIns="0" tIns="0" rIns="0" bIns="0" rtlCol="0" anchor="ctr">
            <a:normAutofit/>
          </a:bodyPr>
          <a:lstStyle/>
          <a:p>
            <a:pPr marL="0" indent="0" algn="ctr">
              <a:lnSpc>
                <a:spcPct val="100000"/>
              </a:lnSpc>
              <a:buNone/>
            </a:pPr>
            <a:r>
              <a:rPr lang="en-US" sz="1300" b="1" dirty="0">
                <a:solidFill>
                  <a:srgbClr val="1D3957"/>
                </a:solidFill>
                <a:latin typeface="Aptos" pitchFamily="34" charset="0"/>
                <a:ea typeface="Aptos" pitchFamily="34" charset="-122"/>
                <a:cs typeface="Aptos" pitchFamily="34" charset="-120"/>
              </a:rPr>
              <a:t>Residual layer4</a:t>
            </a:r>
            <a:endParaRPr lang="en-US" sz="1300" dirty="0"/>
          </a:p>
        </p:txBody>
      </p:sp>
      <p:sp>
        <p:nvSpPr>
          <p:cNvPr id="16" name="Text 14"/>
          <p:cNvSpPr/>
          <p:nvPr/>
        </p:nvSpPr>
        <p:spPr>
          <a:xfrm>
            <a:off x="914400" y="2825496"/>
            <a:ext cx="5193792" cy="173736"/>
          </a:xfrm>
          <a:prstGeom prst="rect">
            <a:avLst/>
          </a:prstGeom>
          <a:noFill/>
          <a:ln/>
        </p:spPr>
        <p:txBody>
          <a:bodyPr wrap="square" lIns="0" tIns="0" rIns="0" bIns="0" rtlCol="0" anchor="ctr">
            <a:normAutofit/>
          </a:bodyPr>
          <a:lstStyle/>
          <a:p>
            <a:pPr marL="0" indent="0" algn="ctr">
              <a:lnSpc>
                <a:spcPct val="100000"/>
              </a:lnSpc>
              <a:buNone/>
            </a:pPr>
            <a:r>
              <a:rPr lang="en-US" sz="1000" dirty="0">
                <a:solidFill>
                  <a:srgbClr val="607084"/>
                </a:solidFill>
                <a:latin typeface="Noto Sans CJK JP" pitchFamily="34" charset="0"/>
                <a:ea typeface="Noto Sans CJK JP" pitchFamily="34" charset="-122"/>
                <a:cs typeface="Noto Sans CJK JP" pitchFamily="34" charset="-120"/>
              </a:rPr>
              <a:t>Trainable / 微調整</a:t>
            </a:r>
            <a:endParaRPr lang="en-US" sz="1000" dirty="0"/>
          </a:p>
        </p:txBody>
      </p:sp>
      <p:sp>
        <p:nvSpPr>
          <p:cNvPr id="17" name="Shape 15"/>
          <p:cNvSpPr/>
          <p:nvPr/>
        </p:nvSpPr>
        <p:spPr>
          <a:xfrm>
            <a:off x="3511296" y="3136392"/>
            <a:ext cx="0" cy="265176"/>
          </a:xfrm>
          <a:prstGeom prst="line">
            <a:avLst/>
          </a:prstGeom>
          <a:noFill/>
          <a:ln w="16510">
            <a:solidFill>
              <a:srgbClr val="607084"/>
            </a:solidFill>
            <a:prstDash val="solid"/>
            <a:headEnd type="none"/>
            <a:tailEnd type="triangle"/>
          </a:ln>
        </p:spPr>
        <p:txBody>
          <a:bodyPr/>
          <a:lstStyle/>
          <a:p>
            <a:endParaRPr lang="en-JP"/>
          </a:p>
        </p:txBody>
      </p:sp>
      <p:sp>
        <p:nvSpPr>
          <p:cNvPr id="18" name="Shape 16"/>
          <p:cNvSpPr/>
          <p:nvPr/>
        </p:nvSpPr>
        <p:spPr>
          <a:xfrm>
            <a:off x="822960" y="3438144"/>
            <a:ext cx="5376672" cy="640080"/>
          </a:xfrm>
          <a:prstGeom prst="roundRect">
            <a:avLst>
              <a:gd name="adj" fmla="val 14286"/>
            </a:avLst>
          </a:prstGeom>
          <a:solidFill>
            <a:srgbClr val="E9F3FC"/>
          </a:solidFill>
          <a:ln w="8890">
            <a:solidFill>
              <a:srgbClr val="E9F3FC"/>
            </a:solidFill>
            <a:prstDash val="solid"/>
          </a:ln>
        </p:spPr>
        <p:txBody>
          <a:bodyPr/>
          <a:lstStyle/>
          <a:p>
            <a:endParaRPr lang="en-JP"/>
          </a:p>
        </p:txBody>
      </p:sp>
      <p:sp>
        <p:nvSpPr>
          <p:cNvPr id="19" name="Text 17"/>
          <p:cNvSpPr/>
          <p:nvPr/>
        </p:nvSpPr>
        <p:spPr>
          <a:xfrm>
            <a:off x="914400" y="3506724"/>
            <a:ext cx="5193792" cy="237744"/>
          </a:xfrm>
          <a:prstGeom prst="rect">
            <a:avLst/>
          </a:prstGeom>
          <a:noFill/>
          <a:ln/>
        </p:spPr>
        <p:txBody>
          <a:bodyPr wrap="square" lIns="0" tIns="0" rIns="0" bIns="0" rtlCol="0" anchor="ctr">
            <a:normAutofit/>
          </a:bodyPr>
          <a:lstStyle/>
          <a:p>
            <a:pPr marL="0" indent="0" algn="ctr">
              <a:lnSpc>
                <a:spcPct val="100000"/>
              </a:lnSpc>
              <a:buNone/>
            </a:pPr>
            <a:r>
              <a:rPr lang="en-US" sz="1300" b="1" dirty="0">
                <a:solidFill>
                  <a:srgbClr val="1D3957"/>
                </a:solidFill>
                <a:latin typeface="Aptos" pitchFamily="34" charset="0"/>
                <a:ea typeface="Aptos" pitchFamily="34" charset="-122"/>
                <a:cs typeface="Aptos" pitchFamily="34" charset="-120"/>
              </a:rPr>
              <a:t>Adaptive average pooling</a:t>
            </a:r>
            <a:endParaRPr lang="en-US" sz="1300" dirty="0"/>
          </a:p>
        </p:txBody>
      </p:sp>
      <p:sp>
        <p:nvSpPr>
          <p:cNvPr id="20" name="Text 18"/>
          <p:cNvSpPr/>
          <p:nvPr/>
        </p:nvSpPr>
        <p:spPr>
          <a:xfrm>
            <a:off x="914400" y="3776472"/>
            <a:ext cx="5193792" cy="173736"/>
          </a:xfrm>
          <a:prstGeom prst="rect">
            <a:avLst/>
          </a:prstGeom>
          <a:noFill/>
          <a:ln/>
        </p:spPr>
        <p:txBody>
          <a:bodyPr wrap="square" lIns="0" tIns="0" rIns="0" bIns="0" rtlCol="0" anchor="ctr">
            <a:normAutofit/>
          </a:bodyPr>
          <a:lstStyle/>
          <a:p>
            <a:pPr marL="0" indent="0" algn="ctr">
              <a:lnSpc>
                <a:spcPct val="100000"/>
              </a:lnSpc>
              <a:buNone/>
            </a:pPr>
            <a:r>
              <a:rPr lang="en-US" sz="1000" dirty="0">
                <a:solidFill>
                  <a:srgbClr val="607084"/>
                </a:solidFill>
                <a:latin typeface="Noto Sans CJK JP" pitchFamily="34" charset="0"/>
                <a:ea typeface="Noto Sans CJK JP" pitchFamily="34" charset="-122"/>
                <a:cs typeface="Noto Sans CJK JP" pitchFamily="34" charset="-120"/>
              </a:rPr>
              <a:t>No learnable weights</a:t>
            </a:r>
            <a:endParaRPr lang="en-US" sz="1000" dirty="0"/>
          </a:p>
        </p:txBody>
      </p:sp>
      <p:sp>
        <p:nvSpPr>
          <p:cNvPr id="21" name="Shape 19"/>
          <p:cNvSpPr/>
          <p:nvPr/>
        </p:nvSpPr>
        <p:spPr>
          <a:xfrm>
            <a:off x="3511296" y="4087368"/>
            <a:ext cx="0" cy="265176"/>
          </a:xfrm>
          <a:prstGeom prst="line">
            <a:avLst/>
          </a:prstGeom>
          <a:noFill/>
          <a:ln w="16510">
            <a:solidFill>
              <a:srgbClr val="607084"/>
            </a:solidFill>
            <a:prstDash val="solid"/>
            <a:headEnd type="none"/>
            <a:tailEnd type="triangle"/>
          </a:ln>
        </p:spPr>
        <p:txBody>
          <a:bodyPr/>
          <a:lstStyle/>
          <a:p>
            <a:endParaRPr lang="en-JP"/>
          </a:p>
        </p:txBody>
      </p:sp>
      <p:sp>
        <p:nvSpPr>
          <p:cNvPr id="22" name="Shape 20"/>
          <p:cNvSpPr/>
          <p:nvPr/>
        </p:nvSpPr>
        <p:spPr>
          <a:xfrm>
            <a:off x="822960" y="4389120"/>
            <a:ext cx="5376672" cy="640080"/>
          </a:xfrm>
          <a:prstGeom prst="roundRect">
            <a:avLst>
              <a:gd name="adj" fmla="val 14286"/>
            </a:avLst>
          </a:prstGeom>
          <a:solidFill>
            <a:srgbClr val="F5F8FC"/>
          </a:solidFill>
          <a:ln w="8890">
            <a:solidFill>
              <a:srgbClr val="F5F8FC"/>
            </a:solidFill>
            <a:prstDash val="solid"/>
          </a:ln>
        </p:spPr>
        <p:txBody>
          <a:bodyPr/>
          <a:lstStyle/>
          <a:p>
            <a:endParaRPr lang="en-JP"/>
          </a:p>
        </p:txBody>
      </p:sp>
      <p:sp>
        <p:nvSpPr>
          <p:cNvPr id="23" name="Text 21"/>
          <p:cNvSpPr/>
          <p:nvPr/>
        </p:nvSpPr>
        <p:spPr>
          <a:xfrm>
            <a:off x="914400" y="4457700"/>
            <a:ext cx="5193792" cy="237744"/>
          </a:xfrm>
          <a:prstGeom prst="rect">
            <a:avLst/>
          </a:prstGeom>
          <a:noFill/>
          <a:ln/>
        </p:spPr>
        <p:txBody>
          <a:bodyPr wrap="square" lIns="0" tIns="0" rIns="0" bIns="0" rtlCol="0" anchor="ctr">
            <a:normAutofit/>
          </a:bodyPr>
          <a:lstStyle/>
          <a:p>
            <a:pPr marL="0" indent="0" algn="ctr">
              <a:lnSpc>
                <a:spcPct val="100000"/>
              </a:lnSpc>
              <a:buNone/>
            </a:pPr>
            <a:r>
              <a:rPr lang="en-US" sz="1300" b="1" dirty="0">
                <a:solidFill>
                  <a:srgbClr val="1D3957"/>
                </a:solidFill>
                <a:latin typeface="Aptos" pitchFamily="34" charset="0"/>
                <a:ea typeface="Aptos" pitchFamily="34" charset="-122"/>
                <a:cs typeface="Aptos" pitchFamily="34" charset="-120"/>
              </a:rPr>
              <a:t>Classification layer fc</a:t>
            </a:r>
            <a:endParaRPr lang="en-US" sz="1300" dirty="0"/>
          </a:p>
        </p:txBody>
      </p:sp>
      <p:sp>
        <p:nvSpPr>
          <p:cNvPr id="24" name="Text 22"/>
          <p:cNvSpPr/>
          <p:nvPr/>
        </p:nvSpPr>
        <p:spPr>
          <a:xfrm>
            <a:off x="914400" y="4727448"/>
            <a:ext cx="5193792" cy="173736"/>
          </a:xfrm>
          <a:prstGeom prst="rect">
            <a:avLst/>
          </a:prstGeom>
          <a:noFill/>
          <a:ln/>
        </p:spPr>
        <p:txBody>
          <a:bodyPr wrap="square" lIns="0" tIns="0" rIns="0" bIns="0" rtlCol="0" anchor="ctr">
            <a:normAutofit/>
          </a:bodyPr>
          <a:lstStyle/>
          <a:p>
            <a:pPr marL="0" indent="0" algn="ctr">
              <a:lnSpc>
                <a:spcPct val="100000"/>
              </a:lnSpc>
              <a:buNone/>
            </a:pPr>
            <a:r>
              <a:rPr lang="en-US" sz="1000" dirty="0">
                <a:solidFill>
                  <a:srgbClr val="607084"/>
                </a:solidFill>
                <a:latin typeface="Noto Sans CJK JP" pitchFamily="34" charset="0"/>
                <a:ea typeface="Noto Sans CJK JP" pitchFamily="34" charset="-122"/>
                <a:cs typeface="Noto Sans CJK JP" pitchFamily="34" charset="-120"/>
              </a:rPr>
              <a:t>Trainable / 再学習</a:t>
            </a:r>
            <a:endParaRPr lang="en-US" sz="1000" dirty="0"/>
          </a:p>
        </p:txBody>
      </p:sp>
      <p:sp>
        <p:nvSpPr>
          <p:cNvPr id="25" name="Shape 23"/>
          <p:cNvSpPr/>
          <p:nvPr/>
        </p:nvSpPr>
        <p:spPr>
          <a:xfrm>
            <a:off x="6620256" y="1700784"/>
            <a:ext cx="4736592" cy="1572768"/>
          </a:xfrm>
          <a:prstGeom prst="roundRect">
            <a:avLst>
              <a:gd name="adj" fmla="val 6977"/>
            </a:avLst>
          </a:prstGeom>
          <a:solidFill>
            <a:srgbClr val="DDF5EF"/>
          </a:solidFill>
          <a:ln w="8890">
            <a:solidFill>
              <a:srgbClr val="CBD8E5"/>
            </a:solidFill>
            <a:prstDash val="solid"/>
          </a:ln>
        </p:spPr>
        <p:txBody>
          <a:bodyPr/>
          <a:lstStyle/>
          <a:p>
            <a:endParaRPr lang="en-JP"/>
          </a:p>
        </p:txBody>
      </p:sp>
      <p:sp>
        <p:nvSpPr>
          <p:cNvPr id="26" name="Text 24"/>
          <p:cNvSpPr/>
          <p:nvPr/>
        </p:nvSpPr>
        <p:spPr>
          <a:xfrm>
            <a:off x="6784848" y="1819656"/>
            <a:ext cx="4407408" cy="292608"/>
          </a:xfrm>
          <a:prstGeom prst="rect">
            <a:avLst/>
          </a:prstGeom>
          <a:noFill/>
          <a:ln/>
        </p:spPr>
        <p:txBody>
          <a:bodyPr wrap="square" lIns="0" tIns="0" rIns="0" bIns="0" rtlCol="0" anchor="ctr">
            <a:normAutofit/>
          </a:bodyPr>
          <a:lstStyle/>
          <a:p>
            <a:pPr marL="0" indent="0" algn="l">
              <a:lnSpc>
                <a:spcPct val="100000"/>
              </a:lnSpc>
              <a:buNone/>
            </a:pPr>
            <a:r>
              <a:rPr lang="en-US" sz="1700" b="1" dirty="0">
                <a:solidFill>
                  <a:srgbClr val="1D3957"/>
                </a:solidFill>
                <a:latin typeface="Aptos" pitchFamily="34" charset="0"/>
                <a:ea typeface="Aptos" pitchFamily="34" charset="-122"/>
                <a:cs typeface="Aptos" pitchFamily="34" charset="-120"/>
              </a:rPr>
              <a:t>Change higher-level features</a:t>
            </a:r>
            <a:endParaRPr lang="en-US" sz="1700" dirty="0"/>
          </a:p>
        </p:txBody>
      </p:sp>
      <p:sp>
        <p:nvSpPr>
          <p:cNvPr id="27" name="Text 25"/>
          <p:cNvSpPr/>
          <p:nvPr/>
        </p:nvSpPr>
        <p:spPr>
          <a:xfrm>
            <a:off x="6784848" y="2176272"/>
            <a:ext cx="4416552" cy="996696"/>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253547"/>
                </a:solidFill>
                <a:latin typeface="Noto Sans CJK JP" pitchFamily="34" charset="0"/>
                <a:ea typeface="Noto Sans CJK JP" pitchFamily="34" charset="-122"/>
                <a:cs typeface="Noto Sans CJK JP" pitchFamily="34" charset="-120"/>
              </a:rPr>
              <a:t>最後の残差ステージを花の分類に合わせて調整します。</a:t>
            </a:r>
            <a:endParaRPr lang="en-US" sz="1300" dirty="0"/>
          </a:p>
        </p:txBody>
      </p:sp>
      <p:sp>
        <p:nvSpPr>
          <p:cNvPr id="28" name="Shape 26"/>
          <p:cNvSpPr/>
          <p:nvPr/>
        </p:nvSpPr>
        <p:spPr>
          <a:xfrm>
            <a:off x="6620256" y="3602736"/>
            <a:ext cx="4736592" cy="1572768"/>
          </a:xfrm>
          <a:prstGeom prst="roundRect">
            <a:avLst>
              <a:gd name="adj" fmla="val 6977"/>
            </a:avLst>
          </a:prstGeom>
          <a:solidFill>
            <a:srgbClr val="E9F3FC"/>
          </a:solidFill>
          <a:ln w="8890">
            <a:solidFill>
              <a:srgbClr val="CBD8E5"/>
            </a:solidFill>
            <a:prstDash val="solid"/>
          </a:ln>
        </p:spPr>
        <p:txBody>
          <a:bodyPr/>
          <a:lstStyle/>
          <a:p>
            <a:endParaRPr lang="en-JP"/>
          </a:p>
        </p:txBody>
      </p:sp>
      <p:sp>
        <p:nvSpPr>
          <p:cNvPr id="29" name="Text 27"/>
          <p:cNvSpPr/>
          <p:nvPr/>
        </p:nvSpPr>
        <p:spPr>
          <a:xfrm>
            <a:off x="6784848" y="3721608"/>
            <a:ext cx="4407408" cy="292608"/>
          </a:xfrm>
          <a:prstGeom prst="rect">
            <a:avLst/>
          </a:prstGeom>
          <a:noFill/>
          <a:ln/>
        </p:spPr>
        <p:txBody>
          <a:bodyPr wrap="square" lIns="0" tIns="0" rIns="0" bIns="0" rtlCol="0" anchor="ctr">
            <a:normAutofit/>
          </a:bodyPr>
          <a:lstStyle/>
          <a:p>
            <a:pPr marL="0" indent="0" algn="l">
              <a:lnSpc>
                <a:spcPct val="100000"/>
              </a:lnSpc>
              <a:buNone/>
            </a:pPr>
            <a:r>
              <a:rPr lang="en-US" sz="1700" b="1" dirty="0">
                <a:solidFill>
                  <a:srgbClr val="1D3957"/>
                </a:solidFill>
                <a:latin typeface="Aptos" pitchFamily="34" charset="0"/>
                <a:ea typeface="Aptos" pitchFamily="34" charset="-122"/>
                <a:cs typeface="Aptos" pitchFamily="34" charset="-120"/>
              </a:rPr>
              <a:t>Keep earlier features</a:t>
            </a:r>
            <a:endParaRPr lang="en-US" sz="1700" dirty="0"/>
          </a:p>
        </p:txBody>
      </p:sp>
      <p:sp>
        <p:nvSpPr>
          <p:cNvPr id="30" name="Text 28"/>
          <p:cNvSpPr/>
          <p:nvPr/>
        </p:nvSpPr>
        <p:spPr>
          <a:xfrm>
            <a:off x="6784848" y="4078224"/>
            <a:ext cx="4416552" cy="996696"/>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253547"/>
                </a:solidFill>
                <a:latin typeface="Noto Sans CJK JP" pitchFamily="34" charset="0"/>
                <a:ea typeface="Noto Sans CJK JP" pitchFamily="34" charset="-122"/>
                <a:cs typeface="Noto Sans CJK JP" pitchFamily="34" charset="-120"/>
              </a:rPr>
              <a:t>前半の一般的な特徴は保持し、大きく変えすぎないようにします。</a:t>
            </a:r>
            <a:endParaRPr lang="en-US" sz="1300" dirty="0"/>
          </a:p>
        </p:txBody>
      </p:sp>
      <p:sp>
        <p:nvSpPr>
          <p:cNvPr id="31" name="Shape 29"/>
          <p:cNvSpPr/>
          <p:nvPr/>
        </p:nvSpPr>
        <p:spPr>
          <a:xfrm>
            <a:off x="612648" y="5916168"/>
            <a:ext cx="10972800" cy="484632"/>
          </a:xfrm>
          <a:prstGeom prst="roundRect">
            <a:avLst>
              <a:gd name="adj" fmla="val 15094"/>
            </a:avLst>
          </a:prstGeom>
          <a:solidFill>
            <a:srgbClr val="FFF2DD"/>
          </a:solidFill>
          <a:ln w="8890">
            <a:solidFill>
              <a:srgbClr val="FFF2DD"/>
            </a:solidFill>
            <a:prstDash val="solid"/>
          </a:ln>
        </p:spPr>
        <p:txBody>
          <a:bodyPr/>
          <a:lstStyle/>
          <a:p>
            <a:endParaRPr lang="en-JP"/>
          </a:p>
        </p:txBody>
      </p:sp>
      <p:sp>
        <p:nvSpPr>
          <p:cNvPr id="32" name="Text 30"/>
          <p:cNvSpPr/>
          <p:nvPr/>
        </p:nvSpPr>
        <p:spPr>
          <a:xfrm>
            <a:off x="768096" y="5952744"/>
            <a:ext cx="5029200" cy="182880"/>
          </a:xfrm>
          <a:prstGeom prst="rect">
            <a:avLst/>
          </a:prstGeom>
          <a:noFill/>
          <a:ln/>
        </p:spPr>
        <p:txBody>
          <a:bodyPr wrap="square" lIns="0" tIns="0" rIns="0" bIns="0" rtlCol="0" anchor="ctr">
            <a:normAutofit lnSpcReduction="10000"/>
          </a:bodyPr>
          <a:lstStyle/>
          <a:p>
            <a:pPr marL="0" indent="0" algn="l">
              <a:lnSpc>
                <a:spcPct val="100000"/>
              </a:lnSpc>
              <a:buNone/>
            </a:pPr>
            <a:r>
              <a:rPr lang="en-US" sz="1210" b="1" dirty="0">
                <a:solidFill>
                  <a:srgbClr val="1D3957"/>
                </a:solidFill>
                <a:latin typeface="Aptos" pitchFamily="34" charset="0"/>
                <a:ea typeface="Aptos" pitchFamily="34" charset="-122"/>
                <a:cs typeface="Aptos" pitchFamily="34" charset="-120"/>
              </a:rPr>
              <a:t>Fine-tuning may help, but can also overfit; check validation loss.</a:t>
            </a:r>
            <a:endParaRPr lang="en-US" sz="1210" dirty="0"/>
          </a:p>
        </p:txBody>
      </p:sp>
      <p:sp>
        <p:nvSpPr>
          <p:cNvPr id="33" name="Text 31"/>
          <p:cNvSpPr/>
          <p:nvPr/>
        </p:nvSpPr>
        <p:spPr>
          <a:xfrm>
            <a:off x="5760720" y="5943600"/>
            <a:ext cx="5669280" cy="219456"/>
          </a:xfrm>
          <a:prstGeom prst="rect">
            <a:avLst/>
          </a:prstGeom>
          <a:noFill/>
          <a:ln/>
        </p:spPr>
        <p:txBody>
          <a:bodyPr wrap="square" lIns="0" tIns="0" rIns="0" bIns="0" rtlCol="0" anchor="ctr">
            <a:normAutofit/>
          </a:bodyPr>
          <a:lstStyle/>
          <a:p>
            <a:pPr marL="0" indent="0" algn="l">
              <a:lnSpc>
                <a:spcPct val="100000"/>
              </a:lnSpc>
              <a:buNone/>
            </a:pPr>
            <a:r>
              <a:rPr lang="en-US" sz="1210" dirty="0">
                <a:solidFill>
                  <a:srgbClr val="1D3957"/>
                </a:solidFill>
                <a:latin typeface="Noto Sans CJK JP" pitchFamily="34" charset="0"/>
                <a:ea typeface="Noto Sans CJK JP" pitchFamily="34" charset="-122"/>
                <a:cs typeface="Noto Sans CJK JP" pitchFamily="34" charset="-120"/>
              </a:rPr>
              <a:t>微調整による改善は保証されません。検証損失で確認します。</a:t>
            </a:r>
            <a:endParaRPr lang="en-US" sz="121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Why train on the same flowers twice?</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なぜ同じ花画像を2段階で学習するのか？</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16</a:t>
            </a:r>
            <a:endParaRPr lang="en-US" sz="870" dirty="0"/>
          </a:p>
        </p:txBody>
      </p:sp>
      <p:sp>
        <p:nvSpPr>
          <p:cNvPr id="10" name="Shape 8"/>
          <p:cNvSpPr/>
          <p:nvPr/>
        </p:nvSpPr>
        <p:spPr>
          <a:xfrm>
            <a:off x="658368" y="1463040"/>
            <a:ext cx="3822192" cy="548640"/>
          </a:xfrm>
          <a:prstGeom prst="rect">
            <a:avLst/>
          </a:prstGeom>
          <a:solidFill>
            <a:srgbClr val="1D3957"/>
          </a:solidFill>
          <a:ln w="3810">
            <a:solidFill>
              <a:srgbClr val="FFFFFF"/>
            </a:solidFill>
            <a:prstDash val="solid"/>
          </a:ln>
        </p:spPr>
        <p:txBody>
          <a:bodyPr/>
          <a:lstStyle/>
          <a:p>
            <a:endParaRPr lang="en-JP"/>
          </a:p>
        </p:txBody>
      </p:sp>
      <p:sp>
        <p:nvSpPr>
          <p:cNvPr id="11" name="Text 9"/>
          <p:cNvSpPr/>
          <p:nvPr/>
        </p:nvSpPr>
        <p:spPr>
          <a:xfrm>
            <a:off x="740664" y="1527048"/>
            <a:ext cx="3657600" cy="438912"/>
          </a:xfrm>
          <a:prstGeom prst="rect">
            <a:avLst/>
          </a:prstGeom>
          <a:noFill/>
          <a:ln/>
        </p:spPr>
        <p:txBody>
          <a:bodyPr wrap="square" lIns="0" tIns="0" rIns="0" bIns="0" rtlCol="0" anchor="ctr">
            <a:normAutofit/>
          </a:bodyPr>
          <a:lstStyle/>
          <a:p>
            <a:pPr marL="0" indent="0" algn="l">
              <a:lnSpc>
                <a:spcPct val="100000"/>
              </a:lnSpc>
              <a:buNone/>
            </a:pPr>
            <a:r>
              <a:rPr lang="en-US" sz="1240" b="1" dirty="0">
                <a:solidFill>
                  <a:srgbClr val="FFFFFF"/>
                </a:solidFill>
                <a:latin typeface="Aptos" pitchFamily="34" charset="0"/>
                <a:ea typeface="Aptos" pitchFamily="34" charset="-122"/>
                <a:cs typeface="Aptos" pitchFamily="34" charset="-120"/>
              </a:rPr>
              <a:t>Feature / 項目</a:t>
            </a:r>
            <a:endParaRPr lang="en-US" sz="1240" dirty="0"/>
          </a:p>
        </p:txBody>
      </p:sp>
      <p:sp>
        <p:nvSpPr>
          <p:cNvPr id="12" name="Shape 10"/>
          <p:cNvSpPr/>
          <p:nvPr/>
        </p:nvSpPr>
        <p:spPr>
          <a:xfrm>
            <a:off x="4480560" y="1463040"/>
            <a:ext cx="3502152" cy="548640"/>
          </a:xfrm>
          <a:prstGeom prst="rect">
            <a:avLst/>
          </a:prstGeom>
          <a:solidFill>
            <a:srgbClr val="1D3957"/>
          </a:solidFill>
          <a:ln w="3810">
            <a:solidFill>
              <a:srgbClr val="FFFFFF"/>
            </a:solidFill>
            <a:prstDash val="solid"/>
          </a:ln>
        </p:spPr>
        <p:txBody>
          <a:bodyPr/>
          <a:lstStyle/>
          <a:p>
            <a:endParaRPr lang="en-JP"/>
          </a:p>
        </p:txBody>
      </p:sp>
      <p:sp>
        <p:nvSpPr>
          <p:cNvPr id="13" name="Text 11"/>
          <p:cNvSpPr/>
          <p:nvPr/>
        </p:nvSpPr>
        <p:spPr>
          <a:xfrm>
            <a:off x="4562856" y="1527048"/>
            <a:ext cx="3337560" cy="438912"/>
          </a:xfrm>
          <a:prstGeom prst="rect">
            <a:avLst/>
          </a:prstGeom>
          <a:noFill/>
          <a:ln/>
        </p:spPr>
        <p:txBody>
          <a:bodyPr wrap="square" lIns="0" tIns="0" rIns="0" bIns="0" rtlCol="0" anchor="ctr">
            <a:normAutofit/>
          </a:bodyPr>
          <a:lstStyle/>
          <a:p>
            <a:pPr marL="0" indent="0" algn="ctr">
              <a:lnSpc>
                <a:spcPct val="100000"/>
              </a:lnSpc>
              <a:buNone/>
            </a:pPr>
            <a:r>
              <a:rPr lang="en-US" sz="1240" b="1" dirty="0">
                <a:solidFill>
                  <a:srgbClr val="FFFFFF"/>
                </a:solidFill>
                <a:latin typeface="Aptos" pitchFamily="34" charset="0"/>
                <a:ea typeface="Aptos" pitchFamily="34" charset="-122"/>
                <a:cs typeface="Aptos" pitchFamily="34" charset="-120"/>
              </a:rPr>
              <a:t>Phase A</a:t>
            </a:r>
            <a:endParaRPr lang="en-US" sz="1240" dirty="0"/>
          </a:p>
        </p:txBody>
      </p:sp>
      <p:sp>
        <p:nvSpPr>
          <p:cNvPr id="14" name="Shape 12"/>
          <p:cNvSpPr/>
          <p:nvPr/>
        </p:nvSpPr>
        <p:spPr>
          <a:xfrm>
            <a:off x="7982712" y="1463040"/>
            <a:ext cx="3502152" cy="548640"/>
          </a:xfrm>
          <a:prstGeom prst="rect">
            <a:avLst/>
          </a:prstGeom>
          <a:solidFill>
            <a:srgbClr val="1D3957"/>
          </a:solidFill>
          <a:ln w="3810">
            <a:solidFill>
              <a:srgbClr val="FFFFFF"/>
            </a:solidFill>
            <a:prstDash val="solid"/>
          </a:ln>
        </p:spPr>
        <p:txBody>
          <a:bodyPr/>
          <a:lstStyle/>
          <a:p>
            <a:endParaRPr lang="en-JP"/>
          </a:p>
        </p:txBody>
      </p:sp>
      <p:sp>
        <p:nvSpPr>
          <p:cNvPr id="15" name="Text 13"/>
          <p:cNvSpPr/>
          <p:nvPr/>
        </p:nvSpPr>
        <p:spPr>
          <a:xfrm>
            <a:off x="8065008" y="1527048"/>
            <a:ext cx="3337560" cy="438912"/>
          </a:xfrm>
          <a:prstGeom prst="rect">
            <a:avLst/>
          </a:prstGeom>
          <a:noFill/>
          <a:ln/>
        </p:spPr>
        <p:txBody>
          <a:bodyPr wrap="square" lIns="0" tIns="0" rIns="0" bIns="0" rtlCol="0" anchor="ctr">
            <a:normAutofit/>
          </a:bodyPr>
          <a:lstStyle/>
          <a:p>
            <a:pPr marL="0" indent="0" algn="ctr">
              <a:lnSpc>
                <a:spcPct val="100000"/>
              </a:lnSpc>
              <a:buNone/>
            </a:pPr>
            <a:r>
              <a:rPr lang="en-US" sz="1240" b="1" dirty="0">
                <a:solidFill>
                  <a:srgbClr val="FFFFFF"/>
                </a:solidFill>
                <a:latin typeface="Aptos" pitchFamily="34" charset="0"/>
                <a:ea typeface="Aptos" pitchFamily="34" charset="-122"/>
                <a:cs typeface="Aptos" pitchFamily="34" charset="-120"/>
              </a:rPr>
              <a:t>Phase B</a:t>
            </a:r>
            <a:endParaRPr lang="en-US" sz="1240" dirty="0"/>
          </a:p>
        </p:txBody>
      </p:sp>
      <p:sp>
        <p:nvSpPr>
          <p:cNvPr id="16" name="Shape 14"/>
          <p:cNvSpPr/>
          <p:nvPr/>
        </p:nvSpPr>
        <p:spPr>
          <a:xfrm>
            <a:off x="658368" y="2011680"/>
            <a:ext cx="3822192" cy="548640"/>
          </a:xfrm>
          <a:prstGeom prst="rect">
            <a:avLst/>
          </a:prstGeom>
          <a:solidFill>
            <a:srgbClr val="F5F8FC"/>
          </a:solidFill>
          <a:ln w="5715">
            <a:solidFill>
              <a:srgbClr val="CBD8E5"/>
            </a:solidFill>
            <a:prstDash val="solid"/>
          </a:ln>
        </p:spPr>
        <p:txBody>
          <a:bodyPr/>
          <a:lstStyle/>
          <a:p>
            <a:endParaRPr lang="en-JP"/>
          </a:p>
        </p:txBody>
      </p:sp>
      <p:sp>
        <p:nvSpPr>
          <p:cNvPr id="17" name="Text 15"/>
          <p:cNvSpPr/>
          <p:nvPr/>
        </p:nvSpPr>
        <p:spPr>
          <a:xfrm>
            <a:off x="731520" y="2057400"/>
            <a:ext cx="3675888" cy="47548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253547"/>
                </a:solidFill>
                <a:latin typeface="Aptos" pitchFamily="34" charset="0"/>
                <a:ea typeface="Aptos" pitchFamily="34" charset="-122"/>
                <a:cs typeface="Aptos" pitchFamily="34" charset="-120"/>
              </a:rPr>
              <a:t>Training images / 学習画像</a:t>
            </a:r>
            <a:endParaRPr lang="en-US" sz="1240" dirty="0"/>
          </a:p>
        </p:txBody>
      </p:sp>
      <p:sp>
        <p:nvSpPr>
          <p:cNvPr id="18" name="Shape 16"/>
          <p:cNvSpPr/>
          <p:nvPr/>
        </p:nvSpPr>
        <p:spPr>
          <a:xfrm>
            <a:off x="4480560" y="2011680"/>
            <a:ext cx="3502152" cy="548640"/>
          </a:xfrm>
          <a:prstGeom prst="rect">
            <a:avLst/>
          </a:prstGeom>
          <a:solidFill>
            <a:srgbClr val="F5F8FC"/>
          </a:solidFill>
          <a:ln w="5715">
            <a:solidFill>
              <a:srgbClr val="CBD8E5"/>
            </a:solidFill>
            <a:prstDash val="solid"/>
          </a:ln>
        </p:spPr>
        <p:txBody>
          <a:bodyPr/>
          <a:lstStyle/>
          <a:p>
            <a:endParaRPr lang="en-JP"/>
          </a:p>
        </p:txBody>
      </p:sp>
      <p:sp>
        <p:nvSpPr>
          <p:cNvPr id="19" name="Text 17"/>
          <p:cNvSpPr/>
          <p:nvPr/>
        </p:nvSpPr>
        <p:spPr>
          <a:xfrm>
            <a:off x="4553712" y="2057400"/>
            <a:ext cx="3355848" cy="475488"/>
          </a:xfrm>
          <a:prstGeom prst="rect">
            <a:avLst/>
          </a:prstGeom>
          <a:noFill/>
          <a:ln/>
        </p:spPr>
        <p:txBody>
          <a:bodyPr wrap="square" lIns="0" tIns="0" rIns="0" bIns="0" rtlCol="0" anchor="ctr">
            <a:normAutofit/>
          </a:bodyPr>
          <a:lstStyle/>
          <a:p>
            <a:pPr marL="0" indent="0" algn="ctr">
              <a:lnSpc>
                <a:spcPct val="100000"/>
              </a:lnSpc>
              <a:buNone/>
            </a:pPr>
            <a:r>
              <a:rPr lang="en-US" sz="1240" dirty="0">
                <a:solidFill>
                  <a:srgbClr val="1D3957"/>
                </a:solidFill>
                <a:latin typeface="Aptos" pitchFamily="34" charset="0"/>
                <a:ea typeface="Aptos" pitchFamily="34" charset="-122"/>
                <a:cs typeface="Aptos" pitchFamily="34" charset="-120"/>
              </a:rPr>
              <a:t>Same training split</a:t>
            </a:r>
            <a:endParaRPr lang="en-US" sz="1240" dirty="0"/>
          </a:p>
        </p:txBody>
      </p:sp>
      <p:sp>
        <p:nvSpPr>
          <p:cNvPr id="20" name="Shape 18"/>
          <p:cNvSpPr/>
          <p:nvPr/>
        </p:nvSpPr>
        <p:spPr>
          <a:xfrm>
            <a:off x="7982712" y="2011680"/>
            <a:ext cx="3502152" cy="548640"/>
          </a:xfrm>
          <a:prstGeom prst="rect">
            <a:avLst/>
          </a:prstGeom>
          <a:solidFill>
            <a:srgbClr val="F5F8FC"/>
          </a:solidFill>
          <a:ln w="5715">
            <a:solidFill>
              <a:srgbClr val="CBD8E5"/>
            </a:solidFill>
            <a:prstDash val="solid"/>
          </a:ln>
        </p:spPr>
        <p:txBody>
          <a:bodyPr/>
          <a:lstStyle/>
          <a:p>
            <a:endParaRPr lang="en-JP"/>
          </a:p>
        </p:txBody>
      </p:sp>
      <p:sp>
        <p:nvSpPr>
          <p:cNvPr id="21" name="Text 19"/>
          <p:cNvSpPr/>
          <p:nvPr/>
        </p:nvSpPr>
        <p:spPr>
          <a:xfrm>
            <a:off x="8055864" y="2057400"/>
            <a:ext cx="3355848" cy="475488"/>
          </a:xfrm>
          <a:prstGeom prst="rect">
            <a:avLst/>
          </a:prstGeom>
          <a:noFill/>
          <a:ln/>
        </p:spPr>
        <p:txBody>
          <a:bodyPr wrap="square" lIns="0" tIns="0" rIns="0" bIns="0" rtlCol="0" anchor="ctr">
            <a:normAutofit/>
          </a:bodyPr>
          <a:lstStyle/>
          <a:p>
            <a:pPr marL="0" indent="0" algn="ctr">
              <a:lnSpc>
                <a:spcPct val="100000"/>
              </a:lnSpc>
              <a:buNone/>
            </a:pPr>
            <a:r>
              <a:rPr lang="en-US" sz="1240" dirty="0">
                <a:solidFill>
                  <a:srgbClr val="1D3957"/>
                </a:solidFill>
                <a:latin typeface="Aptos" pitchFamily="34" charset="0"/>
                <a:ea typeface="Aptos" pitchFamily="34" charset="-122"/>
                <a:cs typeface="Aptos" pitchFamily="34" charset="-120"/>
              </a:rPr>
              <a:t>Same training split</a:t>
            </a:r>
            <a:endParaRPr lang="en-US" sz="1240" dirty="0"/>
          </a:p>
        </p:txBody>
      </p:sp>
      <p:sp>
        <p:nvSpPr>
          <p:cNvPr id="22" name="Shape 20"/>
          <p:cNvSpPr/>
          <p:nvPr/>
        </p:nvSpPr>
        <p:spPr>
          <a:xfrm>
            <a:off x="658368" y="2560320"/>
            <a:ext cx="3822192" cy="548640"/>
          </a:xfrm>
          <a:prstGeom prst="rect">
            <a:avLst/>
          </a:prstGeom>
          <a:solidFill>
            <a:srgbClr val="FFFFFF"/>
          </a:solidFill>
          <a:ln w="5715">
            <a:solidFill>
              <a:srgbClr val="CBD8E5"/>
            </a:solidFill>
            <a:prstDash val="solid"/>
          </a:ln>
        </p:spPr>
        <p:txBody>
          <a:bodyPr/>
          <a:lstStyle/>
          <a:p>
            <a:endParaRPr lang="en-JP"/>
          </a:p>
        </p:txBody>
      </p:sp>
      <p:sp>
        <p:nvSpPr>
          <p:cNvPr id="23" name="Text 21"/>
          <p:cNvSpPr/>
          <p:nvPr/>
        </p:nvSpPr>
        <p:spPr>
          <a:xfrm>
            <a:off x="731520" y="2606040"/>
            <a:ext cx="3675888" cy="47548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253547"/>
                </a:solidFill>
                <a:latin typeface="Aptos" pitchFamily="34" charset="0"/>
                <a:ea typeface="Aptos" pitchFamily="34" charset="-122"/>
                <a:cs typeface="Aptos" pitchFamily="34" charset="-120"/>
              </a:rPr>
              <a:t>Earlier ResNet</a:t>
            </a:r>
            <a:endParaRPr lang="en-US" sz="1240" dirty="0"/>
          </a:p>
        </p:txBody>
      </p:sp>
      <p:sp>
        <p:nvSpPr>
          <p:cNvPr id="24" name="Shape 22"/>
          <p:cNvSpPr/>
          <p:nvPr/>
        </p:nvSpPr>
        <p:spPr>
          <a:xfrm>
            <a:off x="4480560" y="2560320"/>
            <a:ext cx="3502152" cy="548640"/>
          </a:xfrm>
          <a:prstGeom prst="rect">
            <a:avLst/>
          </a:prstGeom>
          <a:solidFill>
            <a:srgbClr val="FFFFFF"/>
          </a:solidFill>
          <a:ln w="5715">
            <a:solidFill>
              <a:srgbClr val="CBD8E5"/>
            </a:solidFill>
            <a:prstDash val="solid"/>
          </a:ln>
        </p:spPr>
        <p:txBody>
          <a:bodyPr/>
          <a:lstStyle/>
          <a:p>
            <a:endParaRPr lang="en-JP"/>
          </a:p>
        </p:txBody>
      </p:sp>
      <p:sp>
        <p:nvSpPr>
          <p:cNvPr id="25" name="Text 23"/>
          <p:cNvSpPr/>
          <p:nvPr/>
        </p:nvSpPr>
        <p:spPr>
          <a:xfrm>
            <a:off x="4553712" y="2606040"/>
            <a:ext cx="3355848" cy="475488"/>
          </a:xfrm>
          <a:prstGeom prst="rect">
            <a:avLst/>
          </a:prstGeom>
          <a:noFill/>
          <a:ln/>
        </p:spPr>
        <p:txBody>
          <a:bodyPr wrap="square" lIns="0" tIns="0" rIns="0" bIns="0" rtlCol="0" anchor="ctr">
            <a:normAutofit/>
          </a:bodyPr>
          <a:lstStyle/>
          <a:p>
            <a:pPr marL="0" indent="0" algn="ctr">
              <a:lnSpc>
                <a:spcPct val="100000"/>
              </a:lnSpc>
              <a:buNone/>
            </a:pPr>
            <a:r>
              <a:rPr lang="en-US" sz="1240" dirty="0">
                <a:solidFill>
                  <a:srgbClr val="1D3957"/>
                </a:solidFill>
                <a:latin typeface="Aptos" pitchFamily="34" charset="0"/>
                <a:ea typeface="Aptos" pitchFamily="34" charset="-122"/>
                <a:cs typeface="Aptos" pitchFamily="34" charset="-120"/>
              </a:rPr>
              <a:t>Frozen</a:t>
            </a:r>
            <a:endParaRPr lang="en-US" sz="1240" dirty="0"/>
          </a:p>
        </p:txBody>
      </p:sp>
      <p:sp>
        <p:nvSpPr>
          <p:cNvPr id="26" name="Shape 24"/>
          <p:cNvSpPr/>
          <p:nvPr/>
        </p:nvSpPr>
        <p:spPr>
          <a:xfrm>
            <a:off x="7982712" y="2560320"/>
            <a:ext cx="3502152" cy="548640"/>
          </a:xfrm>
          <a:prstGeom prst="rect">
            <a:avLst/>
          </a:prstGeom>
          <a:solidFill>
            <a:srgbClr val="FFFFFF"/>
          </a:solidFill>
          <a:ln w="5715">
            <a:solidFill>
              <a:srgbClr val="CBD8E5"/>
            </a:solidFill>
            <a:prstDash val="solid"/>
          </a:ln>
        </p:spPr>
        <p:txBody>
          <a:bodyPr/>
          <a:lstStyle/>
          <a:p>
            <a:endParaRPr lang="en-JP"/>
          </a:p>
        </p:txBody>
      </p:sp>
      <p:sp>
        <p:nvSpPr>
          <p:cNvPr id="27" name="Text 25"/>
          <p:cNvSpPr/>
          <p:nvPr/>
        </p:nvSpPr>
        <p:spPr>
          <a:xfrm>
            <a:off x="8055864" y="2606040"/>
            <a:ext cx="3355848" cy="475488"/>
          </a:xfrm>
          <a:prstGeom prst="rect">
            <a:avLst/>
          </a:prstGeom>
          <a:noFill/>
          <a:ln/>
        </p:spPr>
        <p:txBody>
          <a:bodyPr wrap="square" lIns="0" tIns="0" rIns="0" bIns="0" rtlCol="0" anchor="ctr">
            <a:normAutofit/>
          </a:bodyPr>
          <a:lstStyle/>
          <a:p>
            <a:pPr marL="0" indent="0" algn="ctr">
              <a:lnSpc>
                <a:spcPct val="100000"/>
              </a:lnSpc>
              <a:buNone/>
            </a:pPr>
            <a:r>
              <a:rPr lang="en-US" sz="1240" dirty="0">
                <a:solidFill>
                  <a:srgbClr val="1D3957"/>
                </a:solidFill>
                <a:latin typeface="Aptos" pitchFamily="34" charset="0"/>
                <a:ea typeface="Aptos" pitchFamily="34" charset="-122"/>
                <a:cs typeface="Aptos" pitchFamily="34" charset="-120"/>
              </a:rPr>
              <a:t>Frozen</a:t>
            </a:r>
            <a:endParaRPr lang="en-US" sz="1240" dirty="0"/>
          </a:p>
        </p:txBody>
      </p:sp>
      <p:sp>
        <p:nvSpPr>
          <p:cNvPr id="28" name="Shape 26"/>
          <p:cNvSpPr/>
          <p:nvPr/>
        </p:nvSpPr>
        <p:spPr>
          <a:xfrm>
            <a:off x="658368" y="3108960"/>
            <a:ext cx="3822192" cy="548640"/>
          </a:xfrm>
          <a:prstGeom prst="rect">
            <a:avLst/>
          </a:prstGeom>
          <a:solidFill>
            <a:srgbClr val="F5F8FC"/>
          </a:solidFill>
          <a:ln w="5715">
            <a:solidFill>
              <a:srgbClr val="CBD8E5"/>
            </a:solidFill>
            <a:prstDash val="solid"/>
          </a:ln>
        </p:spPr>
        <p:txBody>
          <a:bodyPr/>
          <a:lstStyle/>
          <a:p>
            <a:endParaRPr lang="en-JP"/>
          </a:p>
        </p:txBody>
      </p:sp>
      <p:sp>
        <p:nvSpPr>
          <p:cNvPr id="29" name="Text 27"/>
          <p:cNvSpPr/>
          <p:nvPr/>
        </p:nvSpPr>
        <p:spPr>
          <a:xfrm>
            <a:off x="731520" y="3154680"/>
            <a:ext cx="3675888" cy="47548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253547"/>
                </a:solidFill>
                <a:latin typeface="Aptos" pitchFamily="34" charset="0"/>
                <a:ea typeface="Aptos" pitchFamily="34" charset="-122"/>
                <a:cs typeface="Aptos" pitchFamily="34" charset="-120"/>
              </a:rPr>
              <a:t>layer4</a:t>
            </a:r>
            <a:endParaRPr lang="en-US" sz="1240" dirty="0"/>
          </a:p>
        </p:txBody>
      </p:sp>
      <p:sp>
        <p:nvSpPr>
          <p:cNvPr id="30" name="Shape 28"/>
          <p:cNvSpPr/>
          <p:nvPr/>
        </p:nvSpPr>
        <p:spPr>
          <a:xfrm>
            <a:off x="4480560" y="3108960"/>
            <a:ext cx="3502152" cy="548640"/>
          </a:xfrm>
          <a:prstGeom prst="rect">
            <a:avLst/>
          </a:prstGeom>
          <a:solidFill>
            <a:srgbClr val="F5F8FC"/>
          </a:solidFill>
          <a:ln w="5715">
            <a:solidFill>
              <a:srgbClr val="CBD8E5"/>
            </a:solidFill>
            <a:prstDash val="solid"/>
          </a:ln>
        </p:spPr>
        <p:txBody>
          <a:bodyPr/>
          <a:lstStyle/>
          <a:p>
            <a:endParaRPr lang="en-JP"/>
          </a:p>
        </p:txBody>
      </p:sp>
      <p:sp>
        <p:nvSpPr>
          <p:cNvPr id="31" name="Text 29"/>
          <p:cNvSpPr/>
          <p:nvPr/>
        </p:nvSpPr>
        <p:spPr>
          <a:xfrm>
            <a:off x="4553712" y="3154680"/>
            <a:ext cx="3355848" cy="475488"/>
          </a:xfrm>
          <a:prstGeom prst="rect">
            <a:avLst/>
          </a:prstGeom>
          <a:noFill/>
          <a:ln/>
        </p:spPr>
        <p:txBody>
          <a:bodyPr wrap="square" lIns="0" tIns="0" rIns="0" bIns="0" rtlCol="0" anchor="ctr">
            <a:normAutofit/>
          </a:bodyPr>
          <a:lstStyle/>
          <a:p>
            <a:pPr marL="0" indent="0" algn="ctr">
              <a:lnSpc>
                <a:spcPct val="100000"/>
              </a:lnSpc>
              <a:buNone/>
            </a:pPr>
            <a:r>
              <a:rPr lang="en-US" sz="1240" dirty="0">
                <a:solidFill>
                  <a:srgbClr val="1D3957"/>
                </a:solidFill>
                <a:latin typeface="Aptos" pitchFamily="34" charset="0"/>
                <a:ea typeface="Aptos" pitchFamily="34" charset="-122"/>
                <a:cs typeface="Aptos" pitchFamily="34" charset="-120"/>
              </a:rPr>
              <a:t>Frozen</a:t>
            </a:r>
            <a:endParaRPr lang="en-US" sz="1240" dirty="0"/>
          </a:p>
        </p:txBody>
      </p:sp>
      <p:sp>
        <p:nvSpPr>
          <p:cNvPr id="32" name="Shape 30"/>
          <p:cNvSpPr/>
          <p:nvPr/>
        </p:nvSpPr>
        <p:spPr>
          <a:xfrm>
            <a:off x="7982712" y="3108960"/>
            <a:ext cx="3502152" cy="548640"/>
          </a:xfrm>
          <a:prstGeom prst="rect">
            <a:avLst/>
          </a:prstGeom>
          <a:solidFill>
            <a:srgbClr val="F5F8FC"/>
          </a:solidFill>
          <a:ln w="5715">
            <a:solidFill>
              <a:srgbClr val="CBD8E5"/>
            </a:solidFill>
            <a:prstDash val="solid"/>
          </a:ln>
        </p:spPr>
        <p:txBody>
          <a:bodyPr/>
          <a:lstStyle/>
          <a:p>
            <a:endParaRPr lang="en-JP"/>
          </a:p>
        </p:txBody>
      </p:sp>
      <p:sp>
        <p:nvSpPr>
          <p:cNvPr id="33" name="Text 31"/>
          <p:cNvSpPr/>
          <p:nvPr/>
        </p:nvSpPr>
        <p:spPr>
          <a:xfrm>
            <a:off x="8055864" y="3154680"/>
            <a:ext cx="3355848" cy="475488"/>
          </a:xfrm>
          <a:prstGeom prst="rect">
            <a:avLst/>
          </a:prstGeom>
          <a:noFill/>
          <a:ln/>
        </p:spPr>
        <p:txBody>
          <a:bodyPr wrap="square" lIns="0" tIns="0" rIns="0" bIns="0" rtlCol="0" anchor="ctr">
            <a:normAutofit/>
          </a:bodyPr>
          <a:lstStyle/>
          <a:p>
            <a:pPr marL="0" indent="0" algn="ctr">
              <a:lnSpc>
                <a:spcPct val="100000"/>
              </a:lnSpc>
              <a:buNone/>
            </a:pPr>
            <a:r>
              <a:rPr lang="en-US" sz="1240" dirty="0">
                <a:solidFill>
                  <a:srgbClr val="1D3957"/>
                </a:solidFill>
                <a:latin typeface="Aptos" pitchFamily="34" charset="0"/>
                <a:ea typeface="Aptos" pitchFamily="34" charset="-122"/>
                <a:cs typeface="Aptos" pitchFamily="34" charset="-120"/>
              </a:rPr>
              <a:t>Trainable</a:t>
            </a:r>
            <a:endParaRPr lang="en-US" sz="1240" dirty="0"/>
          </a:p>
        </p:txBody>
      </p:sp>
      <p:sp>
        <p:nvSpPr>
          <p:cNvPr id="34" name="Shape 32"/>
          <p:cNvSpPr/>
          <p:nvPr/>
        </p:nvSpPr>
        <p:spPr>
          <a:xfrm>
            <a:off x="658368" y="3657600"/>
            <a:ext cx="3822192" cy="548640"/>
          </a:xfrm>
          <a:prstGeom prst="rect">
            <a:avLst/>
          </a:prstGeom>
          <a:solidFill>
            <a:srgbClr val="FFFFFF"/>
          </a:solidFill>
          <a:ln w="5715">
            <a:solidFill>
              <a:srgbClr val="CBD8E5"/>
            </a:solidFill>
            <a:prstDash val="solid"/>
          </a:ln>
        </p:spPr>
        <p:txBody>
          <a:bodyPr/>
          <a:lstStyle/>
          <a:p>
            <a:endParaRPr lang="en-JP"/>
          </a:p>
        </p:txBody>
      </p:sp>
      <p:sp>
        <p:nvSpPr>
          <p:cNvPr id="35" name="Text 33"/>
          <p:cNvSpPr/>
          <p:nvPr/>
        </p:nvSpPr>
        <p:spPr>
          <a:xfrm>
            <a:off x="731520" y="3703320"/>
            <a:ext cx="3675888" cy="47548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253547"/>
                </a:solidFill>
                <a:latin typeface="Aptos" pitchFamily="34" charset="0"/>
                <a:ea typeface="Aptos" pitchFamily="34" charset="-122"/>
                <a:cs typeface="Aptos" pitchFamily="34" charset="-120"/>
              </a:rPr>
              <a:t>fc classifier</a:t>
            </a:r>
            <a:endParaRPr lang="en-US" sz="1240" dirty="0"/>
          </a:p>
        </p:txBody>
      </p:sp>
      <p:sp>
        <p:nvSpPr>
          <p:cNvPr id="36" name="Shape 34"/>
          <p:cNvSpPr/>
          <p:nvPr/>
        </p:nvSpPr>
        <p:spPr>
          <a:xfrm>
            <a:off x="4480560" y="3657600"/>
            <a:ext cx="3502152" cy="548640"/>
          </a:xfrm>
          <a:prstGeom prst="rect">
            <a:avLst/>
          </a:prstGeom>
          <a:solidFill>
            <a:srgbClr val="FFFFFF"/>
          </a:solidFill>
          <a:ln w="5715">
            <a:solidFill>
              <a:srgbClr val="CBD8E5"/>
            </a:solidFill>
            <a:prstDash val="solid"/>
          </a:ln>
        </p:spPr>
        <p:txBody>
          <a:bodyPr/>
          <a:lstStyle/>
          <a:p>
            <a:endParaRPr lang="en-JP"/>
          </a:p>
        </p:txBody>
      </p:sp>
      <p:sp>
        <p:nvSpPr>
          <p:cNvPr id="37" name="Text 35"/>
          <p:cNvSpPr/>
          <p:nvPr/>
        </p:nvSpPr>
        <p:spPr>
          <a:xfrm>
            <a:off x="4553712" y="3703320"/>
            <a:ext cx="3355848" cy="475488"/>
          </a:xfrm>
          <a:prstGeom prst="rect">
            <a:avLst/>
          </a:prstGeom>
          <a:noFill/>
          <a:ln/>
        </p:spPr>
        <p:txBody>
          <a:bodyPr wrap="square" lIns="0" tIns="0" rIns="0" bIns="0" rtlCol="0" anchor="ctr">
            <a:normAutofit/>
          </a:bodyPr>
          <a:lstStyle/>
          <a:p>
            <a:pPr marL="0" indent="0" algn="ctr">
              <a:lnSpc>
                <a:spcPct val="100000"/>
              </a:lnSpc>
              <a:buNone/>
            </a:pPr>
            <a:r>
              <a:rPr lang="en-US" sz="1240" dirty="0">
                <a:solidFill>
                  <a:srgbClr val="1D3957"/>
                </a:solidFill>
                <a:latin typeface="Aptos" pitchFamily="34" charset="0"/>
                <a:ea typeface="Aptos" pitchFamily="34" charset="-122"/>
                <a:cs typeface="Aptos" pitchFamily="34" charset="-120"/>
              </a:rPr>
              <a:t>Trainable</a:t>
            </a:r>
            <a:endParaRPr lang="en-US" sz="1240" dirty="0"/>
          </a:p>
        </p:txBody>
      </p:sp>
      <p:sp>
        <p:nvSpPr>
          <p:cNvPr id="38" name="Shape 36"/>
          <p:cNvSpPr/>
          <p:nvPr/>
        </p:nvSpPr>
        <p:spPr>
          <a:xfrm>
            <a:off x="7982712" y="3657600"/>
            <a:ext cx="3502152" cy="548640"/>
          </a:xfrm>
          <a:prstGeom prst="rect">
            <a:avLst/>
          </a:prstGeom>
          <a:solidFill>
            <a:srgbClr val="FFFFFF"/>
          </a:solidFill>
          <a:ln w="5715">
            <a:solidFill>
              <a:srgbClr val="CBD8E5"/>
            </a:solidFill>
            <a:prstDash val="solid"/>
          </a:ln>
        </p:spPr>
        <p:txBody>
          <a:bodyPr/>
          <a:lstStyle/>
          <a:p>
            <a:endParaRPr lang="en-JP"/>
          </a:p>
        </p:txBody>
      </p:sp>
      <p:sp>
        <p:nvSpPr>
          <p:cNvPr id="39" name="Text 37"/>
          <p:cNvSpPr/>
          <p:nvPr/>
        </p:nvSpPr>
        <p:spPr>
          <a:xfrm>
            <a:off x="8055864" y="3703320"/>
            <a:ext cx="3355848" cy="475488"/>
          </a:xfrm>
          <a:prstGeom prst="rect">
            <a:avLst/>
          </a:prstGeom>
          <a:noFill/>
          <a:ln/>
        </p:spPr>
        <p:txBody>
          <a:bodyPr wrap="square" lIns="0" tIns="0" rIns="0" bIns="0" rtlCol="0" anchor="ctr">
            <a:normAutofit/>
          </a:bodyPr>
          <a:lstStyle/>
          <a:p>
            <a:pPr marL="0" indent="0" algn="ctr">
              <a:lnSpc>
                <a:spcPct val="100000"/>
              </a:lnSpc>
              <a:buNone/>
            </a:pPr>
            <a:r>
              <a:rPr lang="en-US" sz="1240" dirty="0">
                <a:solidFill>
                  <a:srgbClr val="1D3957"/>
                </a:solidFill>
                <a:latin typeface="Aptos" pitchFamily="34" charset="0"/>
                <a:ea typeface="Aptos" pitchFamily="34" charset="-122"/>
                <a:cs typeface="Aptos" pitchFamily="34" charset="-120"/>
              </a:rPr>
              <a:t>Trainable again</a:t>
            </a:r>
            <a:endParaRPr lang="en-US" sz="1240" dirty="0"/>
          </a:p>
        </p:txBody>
      </p:sp>
      <p:sp>
        <p:nvSpPr>
          <p:cNvPr id="40" name="Shape 38"/>
          <p:cNvSpPr/>
          <p:nvPr/>
        </p:nvSpPr>
        <p:spPr>
          <a:xfrm>
            <a:off x="658368" y="4206240"/>
            <a:ext cx="3822192" cy="548640"/>
          </a:xfrm>
          <a:prstGeom prst="rect">
            <a:avLst/>
          </a:prstGeom>
          <a:solidFill>
            <a:srgbClr val="F5F8FC"/>
          </a:solidFill>
          <a:ln w="5715">
            <a:solidFill>
              <a:srgbClr val="CBD8E5"/>
            </a:solidFill>
            <a:prstDash val="solid"/>
          </a:ln>
        </p:spPr>
        <p:txBody>
          <a:bodyPr/>
          <a:lstStyle/>
          <a:p>
            <a:endParaRPr lang="en-JP"/>
          </a:p>
        </p:txBody>
      </p:sp>
      <p:sp>
        <p:nvSpPr>
          <p:cNvPr id="41" name="Text 39"/>
          <p:cNvSpPr/>
          <p:nvPr/>
        </p:nvSpPr>
        <p:spPr>
          <a:xfrm>
            <a:off x="731520" y="4251960"/>
            <a:ext cx="3675888" cy="47548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253547"/>
                </a:solidFill>
                <a:latin typeface="Aptos" pitchFamily="34" charset="0"/>
                <a:ea typeface="Aptos" pitchFamily="34" charset="-122"/>
                <a:cs typeface="Aptos" pitchFamily="34" charset="-120"/>
              </a:rPr>
              <a:t>Starts from</a:t>
            </a:r>
            <a:endParaRPr lang="en-US" sz="1240" dirty="0"/>
          </a:p>
        </p:txBody>
      </p:sp>
      <p:sp>
        <p:nvSpPr>
          <p:cNvPr id="42" name="Shape 40"/>
          <p:cNvSpPr/>
          <p:nvPr/>
        </p:nvSpPr>
        <p:spPr>
          <a:xfrm>
            <a:off x="4480560" y="4206240"/>
            <a:ext cx="3502152" cy="548640"/>
          </a:xfrm>
          <a:prstGeom prst="rect">
            <a:avLst/>
          </a:prstGeom>
          <a:solidFill>
            <a:srgbClr val="F5F8FC"/>
          </a:solidFill>
          <a:ln w="5715">
            <a:solidFill>
              <a:srgbClr val="CBD8E5"/>
            </a:solidFill>
            <a:prstDash val="solid"/>
          </a:ln>
        </p:spPr>
        <p:txBody>
          <a:bodyPr/>
          <a:lstStyle/>
          <a:p>
            <a:endParaRPr lang="en-JP"/>
          </a:p>
        </p:txBody>
      </p:sp>
      <p:sp>
        <p:nvSpPr>
          <p:cNvPr id="43" name="Text 41"/>
          <p:cNvSpPr/>
          <p:nvPr/>
        </p:nvSpPr>
        <p:spPr>
          <a:xfrm>
            <a:off x="4553712" y="4251960"/>
            <a:ext cx="3355848" cy="475488"/>
          </a:xfrm>
          <a:prstGeom prst="rect">
            <a:avLst/>
          </a:prstGeom>
          <a:noFill/>
          <a:ln/>
        </p:spPr>
        <p:txBody>
          <a:bodyPr wrap="square" lIns="0" tIns="0" rIns="0" bIns="0" rtlCol="0" anchor="ctr">
            <a:normAutofit/>
          </a:bodyPr>
          <a:lstStyle/>
          <a:p>
            <a:pPr marL="0" indent="0" algn="ctr">
              <a:lnSpc>
                <a:spcPct val="100000"/>
              </a:lnSpc>
              <a:buNone/>
            </a:pPr>
            <a:r>
              <a:rPr lang="en-US" sz="1240" dirty="0">
                <a:solidFill>
                  <a:srgbClr val="1D3957"/>
                </a:solidFill>
                <a:latin typeface="Aptos" pitchFamily="34" charset="0"/>
                <a:ea typeface="Aptos" pitchFamily="34" charset="-122"/>
                <a:cs typeface="Aptos" pitchFamily="34" charset="-120"/>
              </a:rPr>
              <a:t>Pretrained + new fc</a:t>
            </a:r>
            <a:endParaRPr lang="en-US" sz="1240" dirty="0"/>
          </a:p>
        </p:txBody>
      </p:sp>
      <p:sp>
        <p:nvSpPr>
          <p:cNvPr id="44" name="Shape 42"/>
          <p:cNvSpPr/>
          <p:nvPr/>
        </p:nvSpPr>
        <p:spPr>
          <a:xfrm>
            <a:off x="7982712" y="4206240"/>
            <a:ext cx="3502152" cy="548640"/>
          </a:xfrm>
          <a:prstGeom prst="rect">
            <a:avLst/>
          </a:prstGeom>
          <a:solidFill>
            <a:srgbClr val="F5F8FC"/>
          </a:solidFill>
          <a:ln w="5715">
            <a:solidFill>
              <a:srgbClr val="CBD8E5"/>
            </a:solidFill>
            <a:prstDash val="solid"/>
          </a:ln>
        </p:spPr>
        <p:txBody>
          <a:bodyPr/>
          <a:lstStyle/>
          <a:p>
            <a:endParaRPr lang="en-JP"/>
          </a:p>
        </p:txBody>
      </p:sp>
      <p:sp>
        <p:nvSpPr>
          <p:cNvPr id="45" name="Text 43"/>
          <p:cNvSpPr/>
          <p:nvPr/>
        </p:nvSpPr>
        <p:spPr>
          <a:xfrm>
            <a:off x="8055864" y="4251960"/>
            <a:ext cx="3355848" cy="475488"/>
          </a:xfrm>
          <a:prstGeom prst="rect">
            <a:avLst/>
          </a:prstGeom>
          <a:noFill/>
          <a:ln/>
        </p:spPr>
        <p:txBody>
          <a:bodyPr wrap="square" lIns="0" tIns="0" rIns="0" bIns="0" rtlCol="0" anchor="ctr">
            <a:normAutofit/>
          </a:bodyPr>
          <a:lstStyle/>
          <a:p>
            <a:pPr marL="0" indent="0" algn="ctr">
              <a:lnSpc>
                <a:spcPct val="100000"/>
              </a:lnSpc>
              <a:buNone/>
            </a:pPr>
            <a:r>
              <a:rPr lang="en-US" sz="1240" dirty="0">
                <a:solidFill>
                  <a:srgbClr val="1D3957"/>
                </a:solidFill>
                <a:latin typeface="Aptos" pitchFamily="34" charset="0"/>
                <a:ea typeface="Aptos" pitchFamily="34" charset="-122"/>
                <a:cs typeface="Aptos" pitchFamily="34" charset="-120"/>
              </a:rPr>
              <a:t>Best Phase A weights</a:t>
            </a:r>
            <a:endParaRPr lang="en-US" sz="1240" dirty="0"/>
          </a:p>
        </p:txBody>
      </p:sp>
      <p:sp>
        <p:nvSpPr>
          <p:cNvPr id="46" name="Shape 44"/>
          <p:cNvSpPr/>
          <p:nvPr/>
        </p:nvSpPr>
        <p:spPr>
          <a:xfrm>
            <a:off x="658368" y="4754880"/>
            <a:ext cx="3822192" cy="548640"/>
          </a:xfrm>
          <a:prstGeom prst="rect">
            <a:avLst/>
          </a:prstGeom>
          <a:solidFill>
            <a:srgbClr val="FFFFFF"/>
          </a:solidFill>
          <a:ln w="5715">
            <a:solidFill>
              <a:srgbClr val="CBD8E5"/>
            </a:solidFill>
            <a:prstDash val="solid"/>
          </a:ln>
        </p:spPr>
        <p:txBody>
          <a:bodyPr/>
          <a:lstStyle/>
          <a:p>
            <a:endParaRPr lang="en-JP"/>
          </a:p>
        </p:txBody>
      </p:sp>
      <p:sp>
        <p:nvSpPr>
          <p:cNvPr id="47" name="Text 45"/>
          <p:cNvSpPr/>
          <p:nvPr/>
        </p:nvSpPr>
        <p:spPr>
          <a:xfrm>
            <a:off x="731520" y="4800600"/>
            <a:ext cx="3675888" cy="475488"/>
          </a:xfrm>
          <a:prstGeom prst="rect">
            <a:avLst/>
          </a:prstGeom>
          <a:noFill/>
          <a:ln/>
        </p:spPr>
        <p:txBody>
          <a:bodyPr wrap="square" lIns="0" tIns="0" rIns="0" bIns="0" rtlCol="0" anchor="ctr">
            <a:normAutofit/>
          </a:bodyPr>
          <a:lstStyle/>
          <a:p>
            <a:pPr marL="0" indent="0" algn="l">
              <a:lnSpc>
                <a:spcPct val="100000"/>
              </a:lnSpc>
              <a:buNone/>
            </a:pPr>
            <a:r>
              <a:rPr lang="en-US" sz="1240" dirty="0">
                <a:solidFill>
                  <a:srgbClr val="253547"/>
                </a:solidFill>
                <a:latin typeface="Aptos" pitchFamily="34" charset="0"/>
                <a:ea typeface="Aptos" pitchFamily="34" charset="-122"/>
                <a:cs typeface="Aptos" pitchFamily="34" charset="-120"/>
              </a:rPr>
              <a:t>Purpose</a:t>
            </a:r>
            <a:endParaRPr lang="en-US" sz="1240" dirty="0"/>
          </a:p>
        </p:txBody>
      </p:sp>
      <p:sp>
        <p:nvSpPr>
          <p:cNvPr id="48" name="Shape 46"/>
          <p:cNvSpPr/>
          <p:nvPr/>
        </p:nvSpPr>
        <p:spPr>
          <a:xfrm>
            <a:off x="4480560" y="4754880"/>
            <a:ext cx="3502152" cy="548640"/>
          </a:xfrm>
          <a:prstGeom prst="rect">
            <a:avLst/>
          </a:prstGeom>
          <a:solidFill>
            <a:srgbClr val="FFFFFF"/>
          </a:solidFill>
          <a:ln w="5715">
            <a:solidFill>
              <a:srgbClr val="CBD8E5"/>
            </a:solidFill>
            <a:prstDash val="solid"/>
          </a:ln>
        </p:spPr>
        <p:txBody>
          <a:bodyPr/>
          <a:lstStyle/>
          <a:p>
            <a:endParaRPr lang="en-JP"/>
          </a:p>
        </p:txBody>
      </p:sp>
      <p:sp>
        <p:nvSpPr>
          <p:cNvPr id="49" name="Text 47"/>
          <p:cNvSpPr/>
          <p:nvPr/>
        </p:nvSpPr>
        <p:spPr>
          <a:xfrm>
            <a:off x="4553712" y="4800600"/>
            <a:ext cx="3355848" cy="475488"/>
          </a:xfrm>
          <a:prstGeom prst="rect">
            <a:avLst/>
          </a:prstGeom>
          <a:noFill/>
          <a:ln/>
        </p:spPr>
        <p:txBody>
          <a:bodyPr wrap="square" lIns="0" tIns="0" rIns="0" bIns="0" rtlCol="0" anchor="ctr">
            <a:normAutofit/>
          </a:bodyPr>
          <a:lstStyle/>
          <a:p>
            <a:pPr marL="0" indent="0" algn="ctr">
              <a:lnSpc>
                <a:spcPct val="100000"/>
              </a:lnSpc>
              <a:buNone/>
            </a:pPr>
            <a:r>
              <a:rPr lang="en-US" sz="1240" dirty="0">
                <a:solidFill>
                  <a:srgbClr val="1D3957"/>
                </a:solidFill>
                <a:latin typeface="Aptos" pitchFamily="34" charset="0"/>
                <a:ea typeface="Aptos" pitchFamily="34" charset="-122"/>
                <a:cs typeface="Aptos" pitchFamily="34" charset="-120"/>
              </a:rPr>
              <a:t>Learn class boundary</a:t>
            </a:r>
            <a:endParaRPr lang="en-US" sz="1240" dirty="0"/>
          </a:p>
        </p:txBody>
      </p:sp>
      <p:sp>
        <p:nvSpPr>
          <p:cNvPr id="50" name="Shape 48"/>
          <p:cNvSpPr/>
          <p:nvPr/>
        </p:nvSpPr>
        <p:spPr>
          <a:xfrm>
            <a:off x="7982712" y="4754880"/>
            <a:ext cx="3502152" cy="548640"/>
          </a:xfrm>
          <a:prstGeom prst="rect">
            <a:avLst/>
          </a:prstGeom>
          <a:solidFill>
            <a:srgbClr val="FFFFFF"/>
          </a:solidFill>
          <a:ln w="5715">
            <a:solidFill>
              <a:srgbClr val="CBD8E5"/>
            </a:solidFill>
            <a:prstDash val="solid"/>
          </a:ln>
        </p:spPr>
        <p:txBody>
          <a:bodyPr/>
          <a:lstStyle/>
          <a:p>
            <a:endParaRPr lang="en-JP"/>
          </a:p>
        </p:txBody>
      </p:sp>
      <p:sp>
        <p:nvSpPr>
          <p:cNvPr id="51" name="Text 49"/>
          <p:cNvSpPr/>
          <p:nvPr/>
        </p:nvSpPr>
        <p:spPr>
          <a:xfrm>
            <a:off x="8055864" y="4800600"/>
            <a:ext cx="3355848" cy="475488"/>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1D3957"/>
                </a:solidFill>
                <a:latin typeface="Aptos" pitchFamily="34" charset="0"/>
                <a:ea typeface="Aptos" pitchFamily="34" charset="-122"/>
                <a:cs typeface="Aptos" pitchFamily="34" charset="-120"/>
              </a:rPr>
              <a:t>Adapt features + classifier</a:t>
            </a:r>
            <a:endParaRPr lang="en-US" sz="1120" dirty="0"/>
          </a:p>
        </p:txBody>
      </p:sp>
      <p:sp>
        <p:nvSpPr>
          <p:cNvPr id="52" name="Shape 50"/>
          <p:cNvSpPr/>
          <p:nvPr/>
        </p:nvSpPr>
        <p:spPr>
          <a:xfrm>
            <a:off x="749808" y="5404104"/>
            <a:ext cx="10671048" cy="841248"/>
          </a:xfrm>
          <a:prstGeom prst="roundRect">
            <a:avLst>
              <a:gd name="adj" fmla="val 10870"/>
            </a:avLst>
          </a:prstGeom>
          <a:solidFill>
            <a:srgbClr val="DDF5EF"/>
          </a:solidFill>
          <a:ln w="8890">
            <a:solidFill>
              <a:srgbClr val="DDF5EF"/>
            </a:solidFill>
            <a:prstDash val="solid"/>
          </a:ln>
        </p:spPr>
        <p:txBody>
          <a:bodyPr/>
          <a:lstStyle/>
          <a:p>
            <a:endParaRPr lang="en-JP"/>
          </a:p>
        </p:txBody>
      </p:sp>
      <p:sp>
        <p:nvSpPr>
          <p:cNvPr id="53" name="Text 51"/>
          <p:cNvSpPr/>
          <p:nvPr/>
        </p:nvSpPr>
        <p:spPr>
          <a:xfrm>
            <a:off x="923544" y="5513832"/>
            <a:ext cx="10323576" cy="393192"/>
          </a:xfrm>
          <a:prstGeom prst="rect">
            <a:avLst/>
          </a:prstGeom>
          <a:noFill/>
          <a:ln/>
        </p:spPr>
        <p:txBody>
          <a:bodyPr wrap="square" lIns="0" tIns="0" rIns="0" bIns="0" rtlCol="0" anchor="ctr">
            <a:normAutofit/>
          </a:bodyPr>
          <a:lstStyle/>
          <a:p>
            <a:pPr marL="0" indent="0" algn="l">
              <a:lnSpc>
                <a:spcPct val="100000"/>
              </a:lnSpc>
              <a:buNone/>
            </a:pPr>
            <a:r>
              <a:rPr lang="en-US" sz="1700" b="1" dirty="0">
                <a:solidFill>
                  <a:srgbClr val="1D3957"/>
                </a:solidFill>
                <a:latin typeface="Aptos" pitchFamily="34" charset="0"/>
                <a:ea typeface="Aptos" pitchFamily="34" charset="-122"/>
                <a:cs typeface="Aptos" pitchFamily="34" charset="-120"/>
              </a:rPr>
              <a:t>The classifier is trained twice—intentionally.</a:t>
            </a:r>
            <a:endParaRPr lang="en-US" sz="1700" dirty="0"/>
          </a:p>
        </p:txBody>
      </p:sp>
      <p:sp>
        <p:nvSpPr>
          <p:cNvPr id="54" name="Text 52"/>
          <p:cNvSpPr/>
          <p:nvPr/>
        </p:nvSpPr>
        <p:spPr>
          <a:xfrm>
            <a:off x="923544" y="5980176"/>
            <a:ext cx="10323576" cy="155448"/>
          </a:xfrm>
          <a:prstGeom prst="rect">
            <a:avLst/>
          </a:prstGeom>
          <a:noFill/>
          <a:ln/>
        </p:spPr>
        <p:txBody>
          <a:bodyPr wrap="square" lIns="0" tIns="0" rIns="0" bIns="0" rtlCol="0" anchor="t">
            <a:normAutofit fontScale="92500" lnSpcReduction="20000"/>
          </a:bodyPr>
          <a:lstStyle/>
          <a:p>
            <a:pPr marL="0" indent="0" algn="l">
              <a:lnSpc>
                <a:spcPct val="100000"/>
              </a:lnSpc>
              <a:buNone/>
            </a:pPr>
            <a:r>
              <a:rPr lang="en-US" sz="1300" dirty="0">
                <a:solidFill>
                  <a:srgbClr val="253547"/>
                </a:solidFill>
                <a:latin typeface="Noto Sans CJK JP" pitchFamily="34" charset="0"/>
                <a:ea typeface="Noto Sans CJK JP" pitchFamily="34" charset="-122"/>
                <a:cs typeface="Noto Sans CJK JP" pitchFamily="34" charset="-120"/>
              </a:rPr>
              <a:t>第2段階で特徴表現が変わるため、分類層も新しい特徴に合わせて調整する必要があります。</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Phase B — different learning rates</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第2段階：層ごとに異なる学習率</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17</a:t>
            </a:r>
            <a:endParaRPr lang="en-US" sz="870" dirty="0"/>
          </a:p>
        </p:txBody>
      </p:sp>
      <p:sp>
        <p:nvSpPr>
          <p:cNvPr id="10" name="Shape 8"/>
          <p:cNvSpPr/>
          <p:nvPr/>
        </p:nvSpPr>
        <p:spPr>
          <a:xfrm>
            <a:off x="740664" y="1563624"/>
            <a:ext cx="10817352" cy="3538728"/>
          </a:xfrm>
          <a:prstGeom prst="roundRect">
            <a:avLst>
              <a:gd name="adj" fmla="val 2067"/>
            </a:avLst>
          </a:prstGeom>
          <a:solidFill>
            <a:srgbClr val="162E47"/>
          </a:solidFill>
          <a:ln w="8890">
            <a:solidFill>
              <a:srgbClr val="162E47"/>
            </a:solidFill>
            <a:prstDash val="solid"/>
          </a:ln>
        </p:spPr>
        <p:txBody>
          <a:bodyPr/>
          <a:lstStyle/>
          <a:p>
            <a:endParaRPr lang="en-JP"/>
          </a:p>
        </p:txBody>
      </p:sp>
      <p:sp>
        <p:nvSpPr>
          <p:cNvPr id="11" name="Text 9"/>
          <p:cNvSpPr/>
          <p:nvPr/>
        </p:nvSpPr>
        <p:spPr>
          <a:xfrm>
            <a:off x="886968" y="1691640"/>
            <a:ext cx="10543032" cy="347472"/>
          </a:xfrm>
          <a:prstGeom prst="rect">
            <a:avLst/>
          </a:prstGeom>
          <a:noFill/>
          <a:ln/>
        </p:spPr>
        <p:txBody>
          <a:bodyPr wrap="square" lIns="0" tIns="0" rIns="0" bIns="0" rtlCol="0" anchor="ctr">
            <a:normAutofit/>
          </a:bodyPr>
          <a:lstStyle/>
          <a:p>
            <a:pPr marL="0" indent="0" algn="l">
              <a:lnSpc>
                <a:spcPct val="100000"/>
              </a:lnSpc>
              <a:buNone/>
            </a:pPr>
            <a:r>
              <a:rPr lang="en-US" sz="1340" dirty="0">
                <a:solidFill>
                  <a:srgbClr val="F4F8FC"/>
                </a:solidFill>
                <a:latin typeface="Consolas" pitchFamily="34" charset="0"/>
                <a:ea typeface="Consolas" pitchFamily="34" charset="-122"/>
                <a:cs typeface="Consolas" pitchFamily="34" charset="-120"/>
              </a:rPr>
              <a:t>for p in model.parameters(): p.requires_grad = False</a:t>
            </a:r>
            <a:endParaRPr lang="en-US" sz="1340" dirty="0"/>
          </a:p>
        </p:txBody>
      </p:sp>
      <p:sp>
        <p:nvSpPr>
          <p:cNvPr id="12" name="Text 10"/>
          <p:cNvSpPr/>
          <p:nvPr/>
        </p:nvSpPr>
        <p:spPr>
          <a:xfrm>
            <a:off x="886968" y="2039112"/>
            <a:ext cx="10543032" cy="347472"/>
          </a:xfrm>
          <a:prstGeom prst="rect">
            <a:avLst/>
          </a:prstGeom>
          <a:noFill/>
          <a:ln/>
        </p:spPr>
        <p:txBody>
          <a:bodyPr wrap="square" lIns="0" tIns="0" rIns="0" bIns="0" rtlCol="0" anchor="ctr">
            <a:normAutofit/>
          </a:bodyPr>
          <a:lstStyle/>
          <a:p>
            <a:pPr marL="0" indent="0" algn="l">
              <a:lnSpc>
                <a:spcPct val="100000"/>
              </a:lnSpc>
              <a:buNone/>
            </a:pPr>
            <a:r>
              <a:rPr lang="en-US" sz="1340" dirty="0">
                <a:solidFill>
                  <a:srgbClr val="F4F8FC"/>
                </a:solidFill>
                <a:latin typeface="Consolas" pitchFamily="34" charset="0"/>
                <a:ea typeface="Consolas" pitchFamily="34" charset="-122"/>
                <a:cs typeface="Consolas" pitchFamily="34" charset="-120"/>
              </a:rPr>
              <a:t>for p in model.layer4.parameters(): p.requires_grad = True</a:t>
            </a:r>
            <a:endParaRPr lang="en-US" sz="1340" dirty="0"/>
          </a:p>
        </p:txBody>
      </p:sp>
      <p:sp>
        <p:nvSpPr>
          <p:cNvPr id="13" name="Text 11"/>
          <p:cNvSpPr/>
          <p:nvPr/>
        </p:nvSpPr>
        <p:spPr>
          <a:xfrm>
            <a:off x="886968" y="2386584"/>
            <a:ext cx="10543032" cy="347472"/>
          </a:xfrm>
          <a:prstGeom prst="rect">
            <a:avLst/>
          </a:prstGeom>
          <a:noFill/>
          <a:ln/>
        </p:spPr>
        <p:txBody>
          <a:bodyPr wrap="square" lIns="0" tIns="0" rIns="0" bIns="0" rtlCol="0" anchor="ctr">
            <a:normAutofit/>
          </a:bodyPr>
          <a:lstStyle/>
          <a:p>
            <a:pPr marL="0" indent="0" algn="l">
              <a:lnSpc>
                <a:spcPct val="100000"/>
              </a:lnSpc>
              <a:buNone/>
            </a:pPr>
            <a:r>
              <a:rPr lang="en-US" sz="1340" dirty="0">
                <a:solidFill>
                  <a:srgbClr val="F4F8FC"/>
                </a:solidFill>
                <a:latin typeface="Consolas" pitchFamily="34" charset="0"/>
                <a:ea typeface="Consolas" pitchFamily="34" charset="-122"/>
                <a:cs typeface="Consolas" pitchFamily="34" charset="-120"/>
              </a:rPr>
              <a:t>for p in model.fc.parameters(): p.requires_grad = True</a:t>
            </a:r>
            <a:endParaRPr lang="en-US" sz="1340" dirty="0"/>
          </a:p>
        </p:txBody>
      </p:sp>
      <p:sp>
        <p:nvSpPr>
          <p:cNvPr id="14" name="Text 12"/>
          <p:cNvSpPr/>
          <p:nvPr/>
        </p:nvSpPr>
        <p:spPr>
          <a:xfrm>
            <a:off x="886968" y="2734056"/>
            <a:ext cx="10543032" cy="347472"/>
          </a:xfrm>
          <a:prstGeom prst="rect">
            <a:avLst/>
          </a:prstGeom>
          <a:noFill/>
          <a:ln/>
        </p:spPr>
        <p:txBody>
          <a:bodyPr wrap="square" lIns="0" tIns="0" rIns="0" bIns="0" rtlCol="0" anchor="ctr">
            <a:normAutofit/>
          </a:bodyPr>
          <a:lstStyle/>
          <a:p>
            <a:pPr marL="0" indent="0" algn="l">
              <a:lnSpc>
                <a:spcPct val="100000"/>
              </a:lnSpc>
              <a:buNone/>
            </a:pPr>
            <a:endParaRPr lang="en-US" sz="1340" dirty="0"/>
          </a:p>
        </p:txBody>
      </p:sp>
      <p:sp>
        <p:nvSpPr>
          <p:cNvPr id="15" name="Text 13"/>
          <p:cNvSpPr/>
          <p:nvPr/>
        </p:nvSpPr>
        <p:spPr>
          <a:xfrm>
            <a:off x="886968" y="3081528"/>
            <a:ext cx="10543032" cy="347472"/>
          </a:xfrm>
          <a:prstGeom prst="rect">
            <a:avLst/>
          </a:prstGeom>
          <a:noFill/>
          <a:ln/>
        </p:spPr>
        <p:txBody>
          <a:bodyPr wrap="square" lIns="0" tIns="0" rIns="0" bIns="0" rtlCol="0" anchor="ctr">
            <a:normAutofit/>
          </a:bodyPr>
          <a:lstStyle/>
          <a:p>
            <a:pPr marL="0" indent="0" algn="l">
              <a:lnSpc>
                <a:spcPct val="100000"/>
              </a:lnSpc>
              <a:buNone/>
            </a:pPr>
            <a:r>
              <a:rPr lang="en-US" sz="1340" dirty="0">
                <a:solidFill>
                  <a:srgbClr val="F4F8FC"/>
                </a:solidFill>
                <a:latin typeface="Consolas" pitchFamily="34" charset="0"/>
                <a:ea typeface="Consolas" pitchFamily="34" charset="-122"/>
                <a:cs typeface="Consolas" pitchFamily="34" charset="-120"/>
              </a:rPr>
              <a:t>optimizer = torch.optim.AdamW([</a:t>
            </a:r>
            <a:endParaRPr lang="en-US" sz="1340" dirty="0"/>
          </a:p>
        </p:txBody>
      </p:sp>
      <p:sp>
        <p:nvSpPr>
          <p:cNvPr id="16" name="Text 14"/>
          <p:cNvSpPr/>
          <p:nvPr/>
        </p:nvSpPr>
        <p:spPr>
          <a:xfrm>
            <a:off x="886968" y="3429000"/>
            <a:ext cx="10543032" cy="347472"/>
          </a:xfrm>
          <a:prstGeom prst="rect">
            <a:avLst/>
          </a:prstGeom>
          <a:noFill/>
          <a:ln/>
        </p:spPr>
        <p:txBody>
          <a:bodyPr wrap="square" lIns="0" tIns="0" rIns="0" bIns="0" rtlCol="0" anchor="ctr">
            <a:normAutofit/>
          </a:bodyPr>
          <a:lstStyle/>
          <a:p>
            <a:pPr marL="0" indent="0" algn="l">
              <a:lnSpc>
                <a:spcPct val="100000"/>
              </a:lnSpc>
              <a:buNone/>
            </a:pPr>
            <a:r>
              <a:rPr lang="en-US" sz="1340" dirty="0">
                <a:solidFill>
                  <a:srgbClr val="D2E8FF"/>
                </a:solidFill>
                <a:latin typeface="Consolas" pitchFamily="34" charset="0"/>
                <a:ea typeface="Consolas" pitchFamily="34" charset="-122"/>
                <a:cs typeface="Consolas" pitchFamily="34" charset="-120"/>
              </a:rPr>
              <a:t>    {'params': model.layer4.parameters(), 'lr': 1e-5},</a:t>
            </a:r>
            <a:endParaRPr lang="en-US" sz="1340" dirty="0"/>
          </a:p>
        </p:txBody>
      </p:sp>
      <p:sp>
        <p:nvSpPr>
          <p:cNvPr id="17" name="Text 15"/>
          <p:cNvSpPr/>
          <p:nvPr/>
        </p:nvSpPr>
        <p:spPr>
          <a:xfrm>
            <a:off x="886968" y="3776472"/>
            <a:ext cx="10543032" cy="347472"/>
          </a:xfrm>
          <a:prstGeom prst="rect">
            <a:avLst/>
          </a:prstGeom>
          <a:noFill/>
          <a:ln/>
        </p:spPr>
        <p:txBody>
          <a:bodyPr wrap="square" lIns="0" tIns="0" rIns="0" bIns="0" rtlCol="0" anchor="ctr">
            <a:normAutofit/>
          </a:bodyPr>
          <a:lstStyle/>
          <a:p>
            <a:pPr marL="0" indent="0" algn="l">
              <a:lnSpc>
                <a:spcPct val="100000"/>
              </a:lnSpc>
              <a:buNone/>
            </a:pPr>
            <a:r>
              <a:rPr lang="en-US" sz="1340" dirty="0">
                <a:solidFill>
                  <a:srgbClr val="D2E8FF"/>
                </a:solidFill>
                <a:latin typeface="Consolas" pitchFamily="34" charset="0"/>
                <a:ea typeface="Consolas" pitchFamily="34" charset="-122"/>
                <a:cs typeface="Consolas" pitchFamily="34" charset="-120"/>
              </a:rPr>
              <a:t>    {'params': model.fc.parameters(),     'lr': 1e-4},</a:t>
            </a:r>
            <a:endParaRPr lang="en-US" sz="1340" dirty="0"/>
          </a:p>
        </p:txBody>
      </p:sp>
      <p:sp>
        <p:nvSpPr>
          <p:cNvPr id="18" name="Text 16"/>
          <p:cNvSpPr/>
          <p:nvPr/>
        </p:nvSpPr>
        <p:spPr>
          <a:xfrm>
            <a:off x="886968" y="4123944"/>
            <a:ext cx="10543032" cy="347472"/>
          </a:xfrm>
          <a:prstGeom prst="rect">
            <a:avLst/>
          </a:prstGeom>
          <a:noFill/>
          <a:ln/>
        </p:spPr>
        <p:txBody>
          <a:bodyPr wrap="square" lIns="0" tIns="0" rIns="0" bIns="0" rtlCol="0" anchor="ctr">
            <a:normAutofit/>
          </a:bodyPr>
          <a:lstStyle/>
          <a:p>
            <a:pPr marL="0" indent="0" algn="l">
              <a:lnSpc>
                <a:spcPct val="100000"/>
              </a:lnSpc>
              <a:buNone/>
            </a:pPr>
            <a:r>
              <a:rPr lang="en-US" sz="1340" dirty="0">
                <a:solidFill>
                  <a:srgbClr val="F4F8FC"/>
                </a:solidFill>
                <a:latin typeface="Consolas" pitchFamily="34" charset="0"/>
                <a:ea typeface="Consolas" pitchFamily="34" charset="-122"/>
                <a:cs typeface="Consolas" pitchFamily="34" charset="-120"/>
              </a:rPr>
              <a:t>], weight_decay=1e-4)</a:t>
            </a:r>
            <a:endParaRPr lang="en-US" sz="1340" dirty="0"/>
          </a:p>
        </p:txBody>
      </p:sp>
      <p:sp>
        <p:nvSpPr>
          <p:cNvPr id="19" name="Shape 17"/>
          <p:cNvSpPr/>
          <p:nvPr/>
        </p:nvSpPr>
        <p:spPr>
          <a:xfrm>
            <a:off x="804672" y="5330952"/>
            <a:ext cx="5138928" cy="822960"/>
          </a:xfrm>
          <a:prstGeom prst="roundRect">
            <a:avLst>
              <a:gd name="adj" fmla="val 11111"/>
            </a:avLst>
          </a:prstGeom>
          <a:solidFill>
            <a:srgbClr val="E9F3FC"/>
          </a:solidFill>
          <a:ln w="8890">
            <a:solidFill>
              <a:srgbClr val="E9F3FC"/>
            </a:solidFill>
            <a:prstDash val="solid"/>
          </a:ln>
        </p:spPr>
        <p:txBody>
          <a:bodyPr/>
          <a:lstStyle/>
          <a:p>
            <a:endParaRPr lang="en-JP"/>
          </a:p>
        </p:txBody>
      </p:sp>
      <p:sp>
        <p:nvSpPr>
          <p:cNvPr id="20" name="Text 18"/>
          <p:cNvSpPr/>
          <p:nvPr/>
        </p:nvSpPr>
        <p:spPr>
          <a:xfrm>
            <a:off x="896112" y="5399532"/>
            <a:ext cx="4956048" cy="237744"/>
          </a:xfrm>
          <a:prstGeom prst="rect">
            <a:avLst/>
          </a:prstGeom>
          <a:noFill/>
          <a:ln/>
        </p:spPr>
        <p:txBody>
          <a:bodyPr wrap="square" lIns="0" tIns="0" rIns="0" bIns="0" rtlCol="0" anchor="ctr">
            <a:normAutofit lnSpcReduction="10000"/>
          </a:bodyPr>
          <a:lstStyle/>
          <a:p>
            <a:pPr marL="0" indent="0" algn="ctr">
              <a:lnSpc>
                <a:spcPct val="100000"/>
              </a:lnSpc>
              <a:buNone/>
            </a:pPr>
            <a:r>
              <a:rPr lang="en-US" sz="1600" b="1" dirty="0">
                <a:solidFill>
                  <a:srgbClr val="1D3957"/>
                </a:solidFill>
                <a:latin typeface="Aptos" pitchFamily="34" charset="0"/>
                <a:ea typeface="Aptos" pitchFamily="34" charset="-122"/>
                <a:cs typeface="Aptos" pitchFamily="34" charset="-120"/>
              </a:rPr>
              <a:t>layer4: 0.00001</a:t>
            </a:r>
            <a:endParaRPr lang="en-US" sz="1600" dirty="0"/>
          </a:p>
        </p:txBody>
      </p:sp>
      <p:sp>
        <p:nvSpPr>
          <p:cNvPr id="21" name="Text 19"/>
          <p:cNvSpPr/>
          <p:nvPr/>
        </p:nvSpPr>
        <p:spPr>
          <a:xfrm>
            <a:off x="896112" y="5669280"/>
            <a:ext cx="4956048" cy="173736"/>
          </a:xfrm>
          <a:prstGeom prst="rect">
            <a:avLst/>
          </a:prstGeom>
          <a:noFill/>
          <a:ln/>
        </p:spPr>
        <p:txBody>
          <a:bodyPr wrap="square" lIns="0" tIns="0" rIns="0" bIns="0" rtlCol="0" anchor="ctr">
            <a:normAutofit/>
          </a:bodyPr>
          <a:lstStyle/>
          <a:p>
            <a:pPr marL="0" indent="0" algn="ctr">
              <a:lnSpc>
                <a:spcPct val="100000"/>
              </a:lnSpc>
              <a:buNone/>
            </a:pPr>
            <a:r>
              <a:rPr lang="en-US" sz="1100" dirty="0">
                <a:solidFill>
                  <a:srgbClr val="607084"/>
                </a:solidFill>
                <a:latin typeface="Noto Sans CJK JP" pitchFamily="34" charset="0"/>
                <a:ea typeface="Noto Sans CJK JP" pitchFamily="34" charset="-122"/>
                <a:cs typeface="Noto Sans CJK JP" pitchFamily="34" charset="-120"/>
              </a:rPr>
              <a:t>小さな学習率で事前学習済み重みを調整</a:t>
            </a:r>
            <a:endParaRPr lang="en-US" sz="1100" dirty="0"/>
          </a:p>
        </p:txBody>
      </p:sp>
      <p:sp>
        <p:nvSpPr>
          <p:cNvPr id="22" name="Shape 20"/>
          <p:cNvSpPr/>
          <p:nvPr/>
        </p:nvSpPr>
        <p:spPr>
          <a:xfrm>
            <a:off x="6263640" y="5330952"/>
            <a:ext cx="5074920" cy="822960"/>
          </a:xfrm>
          <a:prstGeom prst="roundRect">
            <a:avLst>
              <a:gd name="adj" fmla="val 11111"/>
            </a:avLst>
          </a:prstGeom>
          <a:solidFill>
            <a:srgbClr val="DDF5EF"/>
          </a:solidFill>
          <a:ln w="8890">
            <a:solidFill>
              <a:srgbClr val="DDF5EF"/>
            </a:solidFill>
            <a:prstDash val="solid"/>
          </a:ln>
        </p:spPr>
        <p:txBody>
          <a:bodyPr/>
          <a:lstStyle/>
          <a:p>
            <a:endParaRPr lang="en-JP"/>
          </a:p>
        </p:txBody>
      </p:sp>
      <p:sp>
        <p:nvSpPr>
          <p:cNvPr id="23" name="Text 21"/>
          <p:cNvSpPr/>
          <p:nvPr/>
        </p:nvSpPr>
        <p:spPr>
          <a:xfrm>
            <a:off x="6355080" y="5399532"/>
            <a:ext cx="4892040" cy="237744"/>
          </a:xfrm>
          <a:prstGeom prst="rect">
            <a:avLst/>
          </a:prstGeom>
          <a:noFill/>
          <a:ln/>
        </p:spPr>
        <p:txBody>
          <a:bodyPr wrap="square" lIns="0" tIns="0" rIns="0" bIns="0" rtlCol="0" anchor="ctr">
            <a:normAutofit lnSpcReduction="10000"/>
          </a:bodyPr>
          <a:lstStyle/>
          <a:p>
            <a:pPr marL="0" indent="0" algn="ctr">
              <a:lnSpc>
                <a:spcPct val="100000"/>
              </a:lnSpc>
              <a:buNone/>
            </a:pPr>
            <a:r>
              <a:rPr lang="en-US" sz="1600" b="1" dirty="0">
                <a:solidFill>
                  <a:srgbClr val="1D3957"/>
                </a:solidFill>
                <a:latin typeface="Aptos" pitchFamily="34" charset="0"/>
                <a:ea typeface="Aptos" pitchFamily="34" charset="-122"/>
                <a:cs typeface="Aptos" pitchFamily="34" charset="-120"/>
              </a:rPr>
              <a:t>fc: 0.0001</a:t>
            </a:r>
            <a:endParaRPr lang="en-US" sz="1600" dirty="0"/>
          </a:p>
        </p:txBody>
      </p:sp>
      <p:sp>
        <p:nvSpPr>
          <p:cNvPr id="24" name="Text 22"/>
          <p:cNvSpPr/>
          <p:nvPr/>
        </p:nvSpPr>
        <p:spPr>
          <a:xfrm>
            <a:off x="6355080" y="5669280"/>
            <a:ext cx="4892040" cy="173736"/>
          </a:xfrm>
          <a:prstGeom prst="rect">
            <a:avLst/>
          </a:prstGeom>
          <a:noFill/>
          <a:ln/>
        </p:spPr>
        <p:txBody>
          <a:bodyPr wrap="square" lIns="0" tIns="0" rIns="0" bIns="0" rtlCol="0" anchor="ctr">
            <a:normAutofit/>
          </a:bodyPr>
          <a:lstStyle/>
          <a:p>
            <a:pPr marL="0" indent="0" algn="ctr">
              <a:lnSpc>
                <a:spcPct val="100000"/>
              </a:lnSpc>
              <a:buNone/>
            </a:pPr>
            <a:r>
              <a:rPr lang="en-US" sz="1100" dirty="0">
                <a:solidFill>
                  <a:srgbClr val="607084"/>
                </a:solidFill>
                <a:latin typeface="Noto Sans CJK JP" pitchFamily="34" charset="0"/>
                <a:ea typeface="Noto Sans CJK JP" pitchFamily="34" charset="-122"/>
                <a:cs typeface="Noto Sans CJK JP" pitchFamily="34" charset="-120"/>
              </a:rPr>
              <a:t>分類層はやや大きな学習率</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Notebook settings: quick lesson vs. full run</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授業用の短縮モードと全データ学習</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18</a:t>
            </a:r>
            <a:endParaRPr lang="en-US" sz="870" dirty="0"/>
          </a:p>
        </p:txBody>
      </p:sp>
      <p:sp>
        <p:nvSpPr>
          <p:cNvPr id="10" name="Shape 8"/>
          <p:cNvSpPr/>
          <p:nvPr/>
        </p:nvSpPr>
        <p:spPr>
          <a:xfrm>
            <a:off x="640080" y="1444752"/>
            <a:ext cx="3163824" cy="530352"/>
          </a:xfrm>
          <a:prstGeom prst="rect">
            <a:avLst/>
          </a:prstGeom>
          <a:solidFill>
            <a:srgbClr val="1D3957"/>
          </a:solidFill>
          <a:ln w="3810">
            <a:solidFill>
              <a:srgbClr val="FFFFFF"/>
            </a:solidFill>
            <a:prstDash val="solid"/>
          </a:ln>
        </p:spPr>
        <p:txBody>
          <a:bodyPr/>
          <a:lstStyle/>
          <a:p>
            <a:endParaRPr lang="en-JP"/>
          </a:p>
        </p:txBody>
      </p:sp>
      <p:sp>
        <p:nvSpPr>
          <p:cNvPr id="11" name="Text 9"/>
          <p:cNvSpPr/>
          <p:nvPr/>
        </p:nvSpPr>
        <p:spPr>
          <a:xfrm>
            <a:off x="722376" y="1508760"/>
            <a:ext cx="2999232" cy="420624"/>
          </a:xfrm>
          <a:prstGeom prst="rect">
            <a:avLst/>
          </a:prstGeom>
          <a:noFill/>
          <a:ln/>
        </p:spPr>
        <p:txBody>
          <a:bodyPr wrap="square" lIns="0" tIns="0" rIns="0" bIns="0" rtlCol="0" anchor="ctr">
            <a:normAutofit/>
          </a:bodyPr>
          <a:lstStyle/>
          <a:p>
            <a:pPr marL="0" indent="0" algn="l">
              <a:lnSpc>
                <a:spcPct val="100000"/>
              </a:lnSpc>
              <a:buNone/>
            </a:pPr>
            <a:r>
              <a:rPr lang="en-US" sz="1150" b="1" dirty="0">
                <a:solidFill>
                  <a:srgbClr val="FFFFFF"/>
                </a:solidFill>
                <a:latin typeface="Aptos" pitchFamily="34" charset="0"/>
                <a:ea typeface="Aptos" pitchFamily="34" charset="-122"/>
                <a:cs typeface="Aptos" pitchFamily="34" charset="-120"/>
              </a:rPr>
              <a:t>Setting / 設定</a:t>
            </a:r>
            <a:endParaRPr lang="en-US" sz="1150" dirty="0"/>
          </a:p>
        </p:txBody>
      </p:sp>
      <p:sp>
        <p:nvSpPr>
          <p:cNvPr id="12" name="Shape 10"/>
          <p:cNvSpPr/>
          <p:nvPr/>
        </p:nvSpPr>
        <p:spPr>
          <a:xfrm>
            <a:off x="3803904" y="1444752"/>
            <a:ext cx="3858768" cy="530352"/>
          </a:xfrm>
          <a:prstGeom prst="rect">
            <a:avLst/>
          </a:prstGeom>
          <a:solidFill>
            <a:srgbClr val="1D3957"/>
          </a:solidFill>
          <a:ln w="3810">
            <a:solidFill>
              <a:srgbClr val="FFFFFF"/>
            </a:solidFill>
            <a:prstDash val="solid"/>
          </a:ln>
        </p:spPr>
        <p:txBody>
          <a:bodyPr/>
          <a:lstStyle/>
          <a:p>
            <a:endParaRPr lang="en-JP"/>
          </a:p>
        </p:txBody>
      </p:sp>
      <p:sp>
        <p:nvSpPr>
          <p:cNvPr id="13" name="Text 11"/>
          <p:cNvSpPr/>
          <p:nvPr/>
        </p:nvSpPr>
        <p:spPr>
          <a:xfrm>
            <a:off x="3886200" y="1508760"/>
            <a:ext cx="3694176" cy="420624"/>
          </a:xfrm>
          <a:prstGeom prst="rect">
            <a:avLst/>
          </a:prstGeom>
          <a:noFill/>
          <a:ln/>
        </p:spPr>
        <p:txBody>
          <a:bodyPr wrap="square" lIns="0" tIns="0" rIns="0" bIns="0" rtlCol="0" anchor="ctr">
            <a:normAutofit/>
          </a:bodyPr>
          <a:lstStyle/>
          <a:p>
            <a:pPr marL="0" indent="0" algn="ctr">
              <a:lnSpc>
                <a:spcPct val="100000"/>
              </a:lnSpc>
              <a:buNone/>
            </a:pPr>
            <a:r>
              <a:rPr lang="en-US" sz="1150" b="1" dirty="0">
                <a:solidFill>
                  <a:srgbClr val="FFFFFF"/>
                </a:solidFill>
                <a:latin typeface="Aptos" pitchFamily="34" charset="0"/>
                <a:ea typeface="Aptos" pitchFamily="34" charset="-122"/>
                <a:cs typeface="Aptos" pitchFamily="34" charset="-120"/>
              </a:rPr>
              <a:t>CPU quick demo</a:t>
            </a:r>
            <a:endParaRPr lang="en-US" sz="1150" dirty="0"/>
          </a:p>
        </p:txBody>
      </p:sp>
      <p:sp>
        <p:nvSpPr>
          <p:cNvPr id="14" name="Shape 12"/>
          <p:cNvSpPr/>
          <p:nvPr/>
        </p:nvSpPr>
        <p:spPr>
          <a:xfrm>
            <a:off x="7662672" y="1444752"/>
            <a:ext cx="3840480" cy="530352"/>
          </a:xfrm>
          <a:prstGeom prst="rect">
            <a:avLst/>
          </a:prstGeom>
          <a:solidFill>
            <a:srgbClr val="1D3957"/>
          </a:solidFill>
          <a:ln w="3810">
            <a:solidFill>
              <a:srgbClr val="FFFFFF"/>
            </a:solidFill>
            <a:prstDash val="solid"/>
          </a:ln>
        </p:spPr>
        <p:txBody>
          <a:bodyPr/>
          <a:lstStyle/>
          <a:p>
            <a:endParaRPr lang="en-JP"/>
          </a:p>
        </p:txBody>
      </p:sp>
      <p:sp>
        <p:nvSpPr>
          <p:cNvPr id="15" name="Text 13"/>
          <p:cNvSpPr/>
          <p:nvPr/>
        </p:nvSpPr>
        <p:spPr>
          <a:xfrm>
            <a:off x="7744968" y="1508760"/>
            <a:ext cx="3675888" cy="420624"/>
          </a:xfrm>
          <a:prstGeom prst="rect">
            <a:avLst/>
          </a:prstGeom>
          <a:noFill/>
          <a:ln/>
        </p:spPr>
        <p:txBody>
          <a:bodyPr wrap="square" lIns="0" tIns="0" rIns="0" bIns="0" rtlCol="0" anchor="ctr">
            <a:normAutofit/>
          </a:bodyPr>
          <a:lstStyle/>
          <a:p>
            <a:pPr marL="0" indent="0" algn="ctr">
              <a:lnSpc>
                <a:spcPct val="100000"/>
              </a:lnSpc>
              <a:buNone/>
            </a:pPr>
            <a:r>
              <a:rPr lang="en-US" sz="1150" b="1" dirty="0">
                <a:solidFill>
                  <a:srgbClr val="FFFFFF"/>
                </a:solidFill>
                <a:latin typeface="Aptos" pitchFamily="34" charset="0"/>
                <a:ea typeface="Aptos" pitchFamily="34" charset="-122"/>
                <a:cs typeface="Aptos" pitchFamily="34" charset="-120"/>
              </a:rPr>
              <a:t>Full run (GPU/MPS)</a:t>
            </a:r>
            <a:endParaRPr lang="en-US" sz="1150" dirty="0"/>
          </a:p>
        </p:txBody>
      </p:sp>
      <p:sp>
        <p:nvSpPr>
          <p:cNvPr id="16" name="Shape 14"/>
          <p:cNvSpPr/>
          <p:nvPr/>
        </p:nvSpPr>
        <p:spPr>
          <a:xfrm>
            <a:off x="640080" y="1975104"/>
            <a:ext cx="3163824" cy="530352"/>
          </a:xfrm>
          <a:prstGeom prst="rect">
            <a:avLst/>
          </a:prstGeom>
          <a:solidFill>
            <a:srgbClr val="F5F8FC"/>
          </a:solidFill>
          <a:ln w="5715">
            <a:solidFill>
              <a:srgbClr val="CBD8E5"/>
            </a:solidFill>
            <a:prstDash val="solid"/>
          </a:ln>
        </p:spPr>
        <p:txBody>
          <a:bodyPr/>
          <a:lstStyle/>
          <a:p>
            <a:endParaRPr lang="en-JP"/>
          </a:p>
        </p:txBody>
      </p:sp>
      <p:sp>
        <p:nvSpPr>
          <p:cNvPr id="17" name="Text 15"/>
          <p:cNvSpPr/>
          <p:nvPr/>
        </p:nvSpPr>
        <p:spPr>
          <a:xfrm>
            <a:off x="713232" y="2020824"/>
            <a:ext cx="3017520" cy="457200"/>
          </a:xfrm>
          <a:prstGeom prst="rect">
            <a:avLst/>
          </a:prstGeom>
          <a:noFill/>
          <a:ln/>
        </p:spPr>
        <p:txBody>
          <a:bodyPr wrap="square" lIns="0" tIns="0" rIns="0" bIns="0" rtlCol="0" anchor="ctr">
            <a:normAutofit/>
          </a:bodyPr>
          <a:lstStyle/>
          <a:p>
            <a:pPr marL="0" indent="0" algn="l">
              <a:lnSpc>
                <a:spcPct val="100000"/>
              </a:lnSpc>
              <a:buNone/>
            </a:pPr>
            <a:r>
              <a:rPr lang="en-US" sz="1150" dirty="0">
                <a:solidFill>
                  <a:srgbClr val="253547"/>
                </a:solidFill>
                <a:latin typeface="Aptos" pitchFamily="34" charset="0"/>
                <a:ea typeface="Aptos" pitchFamily="34" charset="-122"/>
                <a:cs typeface="Aptos" pitchFamily="34" charset="-120"/>
              </a:rPr>
              <a:t>Default model</a:t>
            </a:r>
            <a:endParaRPr lang="en-US" sz="1150" dirty="0"/>
          </a:p>
        </p:txBody>
      </p:sp>
      <p:sp>
        <p:nvSpPr>
          <p:cNvPr id="18" name="Shape 16"/>
          <p:cNvSpPr/>
          <p:nvPr/>
        </p:nvSpPr>
        <p:spPr>
          <a:xfrm>
            <a:off x="3803904" y="1975104"/>
            <a:ext cx="3858768" cy="530352"/>
          </a:xfrm>
          <a:prstGeom prst="rect">
            <a:avLst/>
          </a:prstGeom>
          <a:solidFill>
            <a:srgbClr val="F5F8FC"/>
          </a:solidFill>
          <a:ln w="5715">
            <a:solidFill>
              <a:srgbClr val="CBD8E5"/>
            </a:solidFill>
            <a:prstDash val="solid"/>
          </a:ln>
        </p:spPr>
        <p:txBody>
          <a:bodyPr/>
          <a:lstStyle/>
          <a:p>
            <a:endParaRPr lang="en-JP"/>
          </a:p>
        </p:txBody>
      </p:sp>
      <p:sp>
        <p:nvSpPr>
          <p:cNvPr id="19" name="Text 17"/>
          <p:cNvSpPr/>
          <p:nvPr/>
        </p:nvSpPr>
        <p:spPr>
          <a:xfrm>
            <a:off x="3877056" y="2020824"/>
            <a:ext cx="3712464" cy="457200"/>
          </a:xfrm>
          <a:prstGeom prst="rect">
            <a:avLst/>
          </a:prstGeom>
          <a:noFill/>
          <a:ln/>
        </p:spPr>
        <p:txBody>
          <a:bodyPr wrap="square" lIns="0" tIns="0" rIns="0" bIns="0" rtlCol="0" anchor="ctr">
            <a:normAutofit/>
          </a:bodyPr>
          <a:lstStyle/>
          <a:p>
            <a:pPr marL="0" indent="0" algn="ctr">
              <a:lnSpc>
                <a:spcPct val="100000"/>
              </a:lnSpc>
              <a:buNone/>
            </a:pPr>
            <a:r>
              <a:rPr lang="en-US" sz="1150" dirty="0">
                <a:solidFill>
                  <a:srgbClr val="1D3957"/>
                </a:solidFill>
                <a:latin typeface="Aptos" pitchFamily="34" charset="0"/>
                <a:ea typeface="Aptos" pitchFamily="34" charset="-122"/>
                <a:cs typeface="Aptos" pitchFamily="34" charset="-120"/>
              </a:rPr>
              <a:t>ResNet18</a:t>
            </a:r>
            <a:endParaRPr lang="en-US" sz="1150" dirty="0"/>
          </a:p>
        </p:txBody>
      </p:sp>
      <p:sp>
        <p:nvSpPr>
          <p:cNvPr id="20" name="Shape 18"/>
          <p:cNvSpPr/>
          <p:nvPr/>
        </p:nvSpPr>
        <p:spPr>
          <a:xfrm>
            <a:off x="7662672" y="1975104"/>
            <a:ext cx="3840480" cy="530352"/>
          </a:xfrm>
          <a:prstGeom prst="rect">
            <a:avLst/>
          </a:prstGeom>
          <a:solidFill>
            <a:srgbClr val="F5F8FC"/>
          </a:solidFill>
          <a:ln w="5715">
            <a:solidFill>
              <a:srgbClr val="CBD8E5"/>
            </a:solidFill>
            <a:prstDash val="solid"/>
          </a:ln>
        </p:spPr>
        <p:txBody>
          <a:bodyPr/>
          <a:lstStyle/>
          <a:p>
            <a:endParaRPr lang="en-JP"/>
          </a:p>
        </p:txBody>
      </p:sp>
      <p:sp>
        <p:nvSpPr>
          <p:cNvPr id="21" name="Text 19"/>
          <p:cNvSpPr/>
          <p:nvPr/>
        </p:nvSpPr>
        <p:spPr>
          <a:xfrm>
            <a:off x="7735824" y="2020824"/>
            <a:ext cx="3694176" cy="457200"/>
          </a:xfrm>
          <a:prstGeom prst="rect">
            <a:avLst/>
          </a:prstGeom>
          <a:noFill/>
          <a:ln/>
        </p:spPr>
        <p:txBody>
          <a:bodyPr wrap="square" lIns="0" tIns="0" rIns="0" bIns="0" rtlCol="0" anchor="ctr">
            <a:normAutofit/>
          </a:bodyPr>
          <a:lstStyle/>
          <a:p>
            <a:pPr marL="0" indent="0" algn="ctr">
              <a:lnSpc>
                <a:spcPct val="100000"/>
              </a:lnSpc>
              <a:buNone/>
            </a:pPr>
            <a:r>
              <a:rPr lang="en-US" sz="1150" dirty="0">
                <a:solidFill>
                  <a:srgbClr val="1D3957"/>
                </a:solidFill>
                <a:latin typeface="Aptos" pitchFamily="34" charset="0"/>
                <a:ea typeface="Aptos" pitchFamily="34" charset="-122"/>
                <a:cs typeface="Aptos" pitchFamily="34" charset="-120"/>
              </a:rPr>
              <a:t>ResNet18 (or ResNet50)</a:t>
            </a:r>
            <a:endParaRPr lang="en-US" sz="1150" dirty="0"/>
          </a:p>
        </p:txBody>
      </p:sp>
      <p:sp>
        <p:nvSpPr>
          <p:cNvPr id="22" name="Shape 20"/>
          <p:cNvSpPr/>
          <p:nvPr/>
        </p:nvSpPr>
        <p:spPr>
          <a:xfrm>
            <a:off x="640080" y="2505456"/>
            <a:ext cx="3163824" cy="530352"/>
          </a:xfrm>
          <a:prstGeom prst="rect">
            <a:avLst/>
          </a:prstGeom>
          <a:solidFill>
            <a:srgbClr val="FFFFFF"/>
          </a:solidFill>
          <a:ln w="5715">
            <a:solidFill>
              <a:srgbClr val="CBD8E5"/>
            </a:solidFill>
            <a:prstDash val="solid"/>
          </a:ln>
        </p:spPr>
        <p:txBody>
          <a:bodyPr/>
          <a:lstStyle/>
          <a:p>
            <a:endParaRPr lang="en-JP"/>
          </a:p>
        </p:txBody>
      </p:sp>
      <p:sp>
        <p:nvSpPr>
          <p:cNvPr id="23" name="Text 21"/>
          <p:cNvSpPr/>
          <p:nvPr/>
        </p:nvSpPr>
        <p:spPr>
          <a:xfrm>
            <a:off x="713232" y="2551176"/>
            <a:ext cx="3017520" cy="457200"/>
          </a:xfrm>
          <a:prstGeom prst="rect">
            <a:avLst/>
          </a:prstGeom>
          <a:noFill/>
          <a:ln/>
        </p:spPr>
        <p:txBody>
          <a:bodyPr wrap="square" lIns="0" tIns="0" rIns="0" bIns="0" rtlCol="0" anchor="ctr">
            <a:normAutofit/>
          </a:bodyPr>
          <a:lstStyle/>
          <a:p>
            <a:pPr marL="0" indent="0" algn="l">
              <a:lnSpc>
                <a:spcPct val="100000"/>
              </a:lnSpc>
              <a:buNone/>
            </a:pPr>
            <a:r>
              <a:rPr lang="en-US" sz="1150" dirty="0">
                <a:solidFill>
                  <a:srgbClr val="253547"/>
                </a:solidFill>
                <a:latin typeface="Aptos" pitchFamily="34" charset="0"/>
                <a:ea typeface="Aptos" pitchFamily="34" charset="-122"/>
                <a:cs typeface="Aptos" pitchFamily="34" charset="-120"/>
              </a:rPr>
              <a:t>Train samples</a:t>
            </a:r>
            <a:endParaRPr lang="en-US" sz="1150" dirty="0"/>
          </a:p>
        </p:txBody>
      </p:sp>
      <p:sp>
        <p:nvSpPr>
          <p:cNvPr id="24" name="Shape 22"/>
          <p:cNvSpPr/>
          <p:nvPr/>
        </p:nvSpPr>
        <p:spPr>
          <a:xfrm>
            <a:off x="3803904" y="2505456"/>
            <a:ext cx="3858768" cy="530352"/>
          </a:xfrm>
          <a:prstGeom prst="rect">
            <a:avLst/>
          </a:prstGeom>
          <a:solidFill>
            <a:srgbClr val="FFFFFF"/>
          </a:solidFill>
          <a:ln w="5715">
            <a:solidFill>
              <a:srgbClr val="CBD8E5"/>
            </a:solidFill>
            <a:prstDash val="solid"/>
          </a:ln>
        </p:spPr>
        <p:txBody>
          <a:bodyPr/>
          <a:lstStyle/>
          <a:p>
            <a:endParaRPr lang="en-JP"/>
          </a:p>
        </p:txBody>
      </p:sp>
      <p:sp>
        <p:nvSpPr>
          <p:cNvPr id="25" name="Text 23"/>
          <p:cNvSpPr/>
          <p:nvPr/>
        </p:nvSpPr>
        <p:spPr>
          <a:xfrm>
            <a:off x="3877056" y="2551176"/>
            <a:ext cx="3712464" cy="457200"/>
          </a:xfrm>
          <a:prstGeom prst="rect">
            <a:avLst/>
          </a:prstGeom>
          <a:noFill/>
          <a:ln/>
        </p:spPr>
        <p:txBody>
          <a:bodyPr wrap="square" lIns="0" tIns="0" rIns="0" bIns="0" rtlCol="0" anchor="ctr">
            <a:normAutofit/>
          </a:bodyPr>
          <a:lstStyle/>
          <a:p>
            <a:pPr marL="0" indent="0" algn="ctr">
              <a:lnSpc>
                <a:spcPct val="100000"/>
              </a:lnSpc>
              <a:buNone/>
            </a:pPr>
            <a:r>
              <a:rPr lang="en-US" sz="1150" dirty="0">
                <a:solidFill>
                  <a:srgbClr val="1D3957"/>
                </a:solidFill>
                <a:latin typeface="Aptos" pitchFamily="34" charset="0"/>
                <a:ea typeface="Aptos" pitchFamily="34" charset="-122"/>
                <a:cs typeface="Aptos" pitchFamily="34" charset="-120"/>
              </a:rPr>
              <a:t>75 per class = up to 375</a:t>
            </a:r>
            <a:endParaRPr lang="en-US" sz="1150" dirty="0"/>
          </a:p>
        </p:txBody>
      </p:sp>
      <p:sp>
        <p:nvSpPr>
          <p:cNvPr id="26" name="Shape 24"/>
          <p:cNvSpPr/>
          <p:nvPr/>
        </p:nvSpPr>
        <p:spPr>
          <a:xfrm>
            <a:off x="7662672" y="2505456"/>
            <a:ext cx="3840480" cy="530352"/>
          </a:xfrm>
          <a:prstGeom prst="rect">
            <a:avLst/>
          </a:prstGeom>
          <a:solidFill>
            <a:srgbClr val="FFFFFF"/>
          </a:solidFill>
          <a:ln w="5715">
            <a:solidFill>
              <a:srgbClr val="CBD8E5"/>
            </a:solidFill>
            <a:prstDash val="solid"/>
          </a:ln>
        </p:spPr>
        <p:txBody>
          <a:bodyPr/>
          <a:lstStyle/>
          <a:p>
            <a:endParaRPr lang="en-JP"/>
          </a:p>
        </p:txBody>
      </p:sp>
      <p:sp>
        <p:nvSpPr>
          <p:cNvPr id="27" name="Text 25"/>
          <p:cNvSpPr/>
          <p:nvPr/>
        </p:nvSpPr>
        <p:spPr>
          <a:xfrm>
            <a:off x="7735824" y="2551176"/>
            <a:ext cx="3694176" cy="457200"/>
          </a:xfrm>
          <a:prstGeom prst="rect">
            <a:avLst/>
          </a:prstGeom>
          <a:noFill/>
          <a:ln/>
        </p:spPr>
        <p:txBody>
          <a:bodyPr wrap="square" lIns="0" tIns="0" rIns="0" bIns="0" rtlCol="0" anchor="ctr">
            <a:normAutofit/>
          </a:bodyPr>
          <a:lstStyle/>
          <a:p>
            <a:pPr marL="0" indent="0" algn="ctr">
              <a:lnSpc>
                <a:spcPct val="100000"/>
              </a:lnSpc>
              <a:buNone/>
            </a:pPr>
            <a:r>
              <a:rPr lang="en-US" sz="1150" dirty="0">
                <a:solidFill>
                  <a:srgbClr val="1D3957"/>
                </a:solidFill>
                <a:latin typeface="Aptos" pitchFamily="34" charset="0"/>
                <a:ea typeface="Aptos" pitchFamily="34" charset="-122"/>
                <a:cs typeface="Aptos" pitchFamily="34" charset="-120"/>
              </a:rPr>
              <a:t>Full 70% split</a:t>
            </a:r>
            <a:endParaRPr lang="en-US" sz="1150" dirty="0"/>
          </a:p>
        </p:txBody>
      </p:sp>
      <p:sp>
        <p:nvSpPr>
          <p:cNvPr id="28" name="Shape 26"/>
          <p:cNvSpPr/>
          <p:nvPr/>
        </p:nvSpPr>
        <p:spPr>
          <a:xfrm>
            <a:off x="640080" y="3035808"/>
            <a:ext cx="3163824" cy="530352"/>
          </a:xfrm>
          <a:prstGeom prst="rect">
            <a:avLst/>
          </a:prstGeom>
          <a:solidFill>
            <a:srgbClr val="F5F8FC"/>
          </a:solidFill>
          <a:ln w="5715">
            <a:solidFill>
              <a:srgbClr val="CBD8E5"/>
            </a:solidFill>
            <a:prstDash val="solid"/>
          </a:ln>
        </p:spPr>
        <p:txBody>
          <a:bodyPr/>
          <a:lstStyle/>
          <a:p>
            <a:endParaRPr lang="en-JP"/>
          </a:p>
        </p:txBody>
      </p:sp>
      <p:sp>
        <p:nvSpPr>
          <p:cNvPr id="29" name="Text 27"/>
          <p:cNvSpPr/>
          <p:nvPr/>
        </p:nvSpPr>
        <p:spPr>
          <a:xfrm>
            <a:off x="713232" y="3081528"/>
            <a:ext cx="3017520" cy="457200"/>
          </a:xfrm>
          <a:prstGeom prst="rect">
            <a:avLst/>
          </a:prstGeom>
          <a:noFill/>
          <a:ln/>
        </p:spPr>
        <p:txBody>
          <a:bodyPr wrap="square" lIns="0" tIns="0" rIns="0" bIns="0" rtlCol="0" anchor="ctr">
            <a:normAutofit/>
          </a:bodyPr>
          <a:lstStyle/>
          <a:p>
            <a:pPr marL="0" indent="0" algn="l">
              <a:lnSpc>
                <a:spcPct val="100000"/>
              </a:lnSpc>
              <a:buNone/>
            </a:pPr>
            <a:r>
              <a:rPr lang="en-US" sz="1150" dirty="0">
                <a:solidFill>
                  <a:srgbClr val="253547"/>
                </a:solidFill>
                <a:latin typeface="Aptos" pitchFamily="34" charset="0"/>
                <a:ea typeface="Aptos" pitchFamily="34" charset="-122"/>
                <a:cs typeface="Aptos" pitchFamily="34" charset="-120"/>
              </a:rPr>
              <a:t>Validation samples</a:t>
            </a:r>
            <a:endParaRPr lang="en-US" sz="1150" dirty="0"/>
          </a:p>
        </p:txBody>
      </p:sp>
      <p:sp>
        <p:nvSpPr>
          <p:cNvPr id="30" name="Shape 28"/>
          <p:cNvSpPr/>
          <p:nvPr/>
        </p:nvSpPr>
        <p:spPr>
          <a:xfrm>
            <a:off x="3803904" y="3035808"/>
            <a:ext cx="3858768" cy="530352"/>
          </a:xfrm>
          <a:prstGeom prst="rect">
            <a:avLst/>
          </a:prstGeom>
          <a:solidFill>
            <a:srgbClr val="F5F8FC"/>
          </a:solidFill>
          <a:ln w="5715">
            <a:solidFill>
              <a:srgbClr val="CBD8E5"/>
            </a:solidFill>
            <a:prstDash val="solid"/>
          </a:ln>
        </p:spPr>
        <p:txBody>
          <a:bodyPr/>
          <a:lstStyle/>
          <a:p>
            <a:endParaRPr lang="en-JP"/>
          </a:p>
        </p:txBody>
      </p:sp>
      <p:sp>
        <p:nvSpPr>
          <p:cNvPr id="31" name="Text 29"/>
          <p:cNvSpPr/>
          <p:nvPr/>
        </p:nvSpPr>
        <p:spPr>
          <a:xfrm>
            <a:off x="3877056" y="3081528"/>
            <a:ext cx="3712464" cy="457200"/>
          </a:xfrm>
          <a:prstGeom prst="rect">
            <a:avLst/>
          </a:prstGeom>
          <a:noFill/>
          <a:ln/>
        </p:spPr>
        <p:txBody>
          <a:bodyPr wrap="square" lIns="0" tIns="0" rIns="0" bIns="0" rtlCol="0" anchor="ctr">
            <a:normAutofit/>
          </a:bodyPr>
          <a:lstStyle/>
          <a:p>
            <a:pPr marL="0" indent="0" algn="ctr">
              <a:lnSpc>
                <a:spcPct val="100000"/>
              </a:lnSpc>
              <a:buNone/>
            </a:pPr>
            <a:r>
              <a:rPr lang="en-US" sz="1150" dirty="0">
                <a:solidFill>
                  <a:srgbClr val="1D3957"/>
                </a:solidFill>
                <a:latin typeface="Aptos" pitchFamily="34" charset="0"/>
                <a:ea typeface="Aptos" pitchFamily="34" charset="-122"/>
                <a:cs typeface="Aptos" pitchFamily="34" charset="-120"/>
              </a:rPr>
              <a:t>20 per class = up to 100</a:t>
            </a:r>
            <a:endParaRPr lang="en-US" sz="1150" dirty="0"/>
          </a:p>
        </p:txBody>
      </p:sp>
      <p:sp>
        <p:nvSpPr>
          <p:cNvPr id="32" name="Shape 30"/>
          <p:cNvSpPr/>
          <p:nvPr/>
        </p:nvSpPr>
        <p:spPr>
          <a:xfrm>
            <a:off x="7662672" y="3035808"/>
            <a:ext cx="3840480" cy="530352"/>
          </a:xfrm>
          <a:prstGeom prst="rect">
            <a:avLst/>
          </a:prstGeom>
          <a:solidFill>
            <a:srgbClr val="F5F8FC"/>
          </a:solidFill>
          <a:ln w="5715">
            <a:solidFill>
              <a:srgbClr val="CBD8E5"/>
            </a:solidFill>
            <a:prstDash val="solid"/>
          </a:ln>
        </p:spPr>
        <p:txBody>
          <a:bodyPr/>
          <a:lstStyle/>
          <a:p>
            <a:endParaRPr lang="en-JP"/>
          </a:p>
        </p:txBody>
      </p:sp>
      <p:sp>
        <p:nvSpPr>
          <p:cNvPr id="33" name="Text 31"/>
          <p:cNvSpPr/>
          <p:nvPr/>
        </p:nvSpPr>
        <p:spPr>
          <a:xfrm>
            <a:off x="7735824" y="3081528"/>
            <a:ext cx="3694176" cy="457200"/>
          </a:xfrm>
          <a:prstGeom prst="rect">
            <a:avLst/>
          </a:prstGeom>
          <a:noFill/>
          <a:ln/>
        </p:spPr>
        <p:txBody>
          <a:bodyPr wrap="square" lIns="0" tIns="0" rIns="0" bIns="0" rtlCol="0" anchor="ctr">
            <a:normAutofit/>
          </a:bodyPr>
          <a:lstStyle/>
          <a:p>
            <a:pPr marL="0" indent="0" algn="ctr">
              <a:lnSpc>
                <a:spcPct val="100000"/>
              </a:lnSpc>
              <a:buNone/>
            </a:pPr>
            <a:r>
              <a:rPr lang="en-US" sz="1150" dirty="0">
                <a:solidFill>
                  <a:srgbClr val="1D3957"/>
                </a:solidFill>
                <a:latin typeface="Aptos" pitchFamily="34" charset="0"/>
                <a:ea typeface="Aptos" pitchFamily="34" charset="-122"/>
                <a:cs typeface="Aptos" pitchFamily="34" charset="-120"/>
              </a:rPr>
              <a:t>Full 15% split</a:t>
            </a:r>
            <a:endParaRPr lang="en-US" sz="1150" dirty="0"/>
          </a:p>
        </p:txBody>
      </p:sp>
      <p:sp>
        <p:nvSpPr>
          <p:cNvPr id="34" name="Shape 32"/>
          <p:cNvSpPr/>
          <p:nvPr/>
        </p:nvSpPr>
        <p:spPr>
          <a:xfrm>
            <a:off x="640080" y="3566160"/>
            <a:ext cx="3163824" cy="530352"/>
          </a:xfrm>
          <a:prstGeom prst="rect">
            <a:avLst/>
          </a:prstGeom>
          <a:solidFill>
            <a:srgbClr val="FFFFFF"/>
          </a:solidFill>
          <a:ln w="5715">
            <a:solidFill>
              <a:srgbClr val="CBD8E5"/>
            </a:solidFill>
            <a:prstDash val="solid"/>
          </a:ln>
        </p:spPr>
        <p:txBody>
          <a:bodyPr/>
          <a:lstStyle/>
          <a:p>
            <a:endParaRPr lang="en-JP"/>
          </a:p>
        </p:txBody>
      </p:sp>
      <p:sp>
        <p:nvSpPr>
          <p:cNvPr id="35" name="Text 33"/>
          <p:cNvSpPr/>
          <p:nvPr/>
        </p:nvSpPr>
        <p:spPr>
          <a:xfrm>
            <a:off x="713232" y="3611880"/>
            <a:ext cx="3017520" cy="457200"/>
          </a:xfrm>
          <a:prstGeom prst="rect">
            <a:avLst/>
          </a:prstGeom>
          <a:noFill/>
          <a:ln/>
        </p:spPr>
        <p:txBody>
          <a:bodyPr wrap="square" lIns="0" tIns="0" rIns="0" bIns="0" rtlCol="0" anchor="ctr">
            <a:normAutofit/>
          </a:bodyPr>
          <a:lstStyle/>
          <a:p>
            <a:pPr marL="0" indent="0" algn="l">
              <a:lnSpc>
                <a:spcPct val="100000"/>
              </a:lnSpc>
              <a:buNone/>
            </a:pPr>
            <a:r>
              <a:rPr lang="en-US" sz="1150" dirty="0">
                <a:solidFill>
                  <a:srgbClr val="253547"/>
                </a:solidFill>
                <a:latin typeface="Aptos" pitchFamily="34" charset="0"/>
                <a:ea typeface="Aptos" pitchFamily="34" charset="-122"/>
                <a:cs typeface="Aptos" pitchFamily="34" charset="-120"/>
              </a:rPr>
              <a:t>Test samples</a:t>
            </a:r>
            <a:endParaRPr lang="en-US" sz="1150" dirty="0"/>
          </a:p>
        </p:txBody>
      </p:sp>
      <p:sp>
        <p:nvSpPr>
          <p:cNvPr id="36" name="Shape 34"/>
          <p:cNvSpPr/>
          <p:nvPr/>
        </p:nvSpPr>
        <p:spPr>
          <a:xfrm>
            <a:off x="3803904" y="3566160"/>
            <a:ext cx="3858768" cy="530352"/>
          </a:xfrm>
          <a:prstGeom prst="rect">
            <a:avLst/>
          </a:prstGeom>
          <a:solidFill>
            <a:srgbClr val="FFFFFF"/>
          </a:solidFill>
          <a:ln w="5715">
            <a:solidFill>
              <a:srgbClr val="CBD8E5"/>
            </a:solidFill>
            <a:prstDash val="solid"/>
          </a:ln>
        </p:spPr>
        <p:txBody>
          <a:bodyPr/>
          <a:lstStyle/>
          <a:p>
            <a:endParaRPr lang="en-JP"/>
          </a:p>
        </p:txBody>
      </p:sp>
      <p:sp>
        <p:nvSpPr>
          <p:cNvPr id="37" name="Text 35"/>
          <p:cNvSpPr/>
          <p:nvPr/>
        </p:nvSpPr>
        <p:spPr>
          <a:xfrm>
            <a:off x="3877056" y="3611880"/>
            <a:ext cx="3712464" cy="457200"/>
          </a:xfrm>
          <a:prstGeom prst="rect">
            <a:avLst/>
          </a:prstGeom>
          <a:noFill/>
          <a:ln/>
        </p:spPr>
        <p:txBody>
          <a:bodyPr wrap="square" lIns="0" tIns="0" rIns="0" bIns="0" rtlCol="0" anchor="ctr">
            <a:normAutofit/>
          </a:bodyPr>
          <a:lstStyle/>
          <a:p>
            <a:pPr marL="0" indent="0" algn="ctr">
              <a:lnSpc>
                <a:spcPct val="100000"/>
              </a:lnSpc>
              <a:buNone/>
            </a:pPr>
            <a:r>
              <a:rPr lang="en-US" sz="1150" dirty="0">
                <a:solidFill>
                  <a:srgbClr val="1D3957"/>
                </a:solidFill>
                <a:latin typeface="Aptos" pitchFamily="34" charset="0"/>
                <a:ea typeface="Aptos" pitchFamily="34" charset="-122"/>
                <a:cs typeface="Aptos" pitchFamily="34" charset="-120"/>
              </a:rPr>
              <a:t>Full 15% test split</a:t>
            </a:r>
            <a:endParaRPr lang="en-US" sz="1150" dirty="0"/>
          </a:p>
        </p:txBody>
      </p:sp>
      <p:sp>
        <p:nvSpPr>
          <p:cNvPr id="38" name="Shape 36"/>
          <p:cNvSpPr/>
          <p:nvPr/>
        </p:nvSpPr>
        <p:spPr>
          <a:xfrm>
            <a:off x="7662672" y="3566160"/>
            <a:ext cx="3840480" cy="530352"/>
          </a:xfrm>
          <a:prstGeom prst="rect">
            <a:avLst/>
          </a:prstGeom>
          <a:solidFill>
            <a:srgbClr val="FFFFFF"/>
          </a:solidFill>
          <a:ln w="5715">
            <a:solidFill>
              <a:srgbClr val="CBD8E5"/>
            </a:solidFill>
            <a:prstDash val="solid"/>
          </a:ln>
        </p:spPr>
        <p:txBody>
          <a:bodyPr/>
          <a:lstStyle/>
          <a:p>
            <a:endParaRPr lang="en-JP"/>
          </a:p>
        </p:txBody>
      </p:sp>
      <p:sp>
        <p:nvSpPr>
          <p:cNvPr id="39" name="Text 37"/>
          <p:cNvSpPr/>
          <p:nvPr/>
        </p:nvSpPr>
        <p:spPr>
          <a:xfrm>
            <a:off x="7735824" y="3611880"/>
            <a:ext cx="3694176" cy="457200"/>
          </a:xfrm>
          <a:prstGeom prst="rect">
            <a:avLst/>
          </a:prstGeom>
          <a:noFill/>
          <a:ln/>
        </p:spPr>
        <p:txBody>
          <a:bodyPr wrap="square" lIns="0" tIns="0" rIns="0" bIns="0" rtlCol="0" anchor="ctr">
            <a:normAutofit/>
          </a:bodyPr>
          <a:lstStyle/>
          <a:p>
            <a:pPr marL="0" indent="0" algn="ctr">
              <a:lnSpc>
                <a:spcPct val="100000"/>
              </a:lnSpc>
              <a:buNone/>
            </a:pPr>
            <a:r>
              <a:rPr lang="en-US" sz="1150" dirty="0">
                <a:solidFill>
                  <a:srgbClr val="1D3957"/>
                </a:solidFill>
                <a:latin typeface="Aptos" pitchFamily="34" charset="0"/>
                <a:ea typeface="Aptos" pitchFamily="34" charset="-122"/>
                <a:cs typeface="Aptos" pitchFamily="34" charset="-120"/>
              </a:rPr>
              <a:t>Full 15% test split</a:t>
            </a:r>
            <a:endParaRPr lang="en-US" sz="1150" dirty="0"/>
          </a:p>
        </p:txBody>
      </p:sp>
      <p:sp>
        <p:nvSpPr>
          <p:cNvPr id="40" name="Shape 38"/>
          <p:cNvSpPr/>
          <p:nvPr/>
        </p:nvSpPr>
        <p:spPr>
          <a:xfrm>
            <a:off x="640080" y="4096512"/>
            <a:ext cx="3163824" cy="530352"/>
          </a:xfrm>
          <a:prstGeom prst="rect">
            <a:avLst/>
          </a:prstGeom>
          <a:solidFill>
            <a:srgbClr val="F5F8FC"/>
          </a:solidFill>
          <a:ln w="5715">
            <a:solidFill>
              <a:srgbClr val="CBD8E5"/>
            </a:solidFill>
            <a:prstDash val="solid"/>
          </a:ln>
        </p:spPr>
        <p:txBody>
          <a:bodyPr/>
          <a:lstStyle/>
          <a:p>
            <a:endParaRPr lang="en-JP"/>
          </a:p>
        </p:txBody>
      </p:sp>
      <p:sp>
        <p:nvSpPr>
          <p:cNvPr id="41" name="Text 39"/>
          <p:cNvSpPr/>
          <p:nvPr/>
        </p:nvSpPr>
        <p:spPr>
          <a:xfrm>
            <a:off x="713232" y="4142232"/>
            <a:ext cx="3017520" cy="457200"/>
          </a:xfrm>
          <a:prstGeom prst="rect">
            <a:avLst/>
          </a:prstGeom>
          <a:noFill/>
          <a:ln/>
        </p:spPr>
        <p:txBody>
          <a:bodyPr wrap="square" lIns="0" tIns="0" rIns="0" bIns="0" rtlCol="0" anchor="ctr">
            <a:normAutofit/>
          </a:bodyPr>
          <a:lstStyle/>
          <a:p>
            <a:pPr marL="0" indent="0" algn="l">
              <a:lnSpc>
                <a:spcPct val="100000"/>
              </a:lnSpc>
              <a:buNone/>
            </a:pPr>
            <a:r>
              <a:rPr lang="en-US" sz="1150" dirty="0">
                <a:solidFill>
                  <a:srgbClr val="253547"/>
                </a:solidFill>
                <a:latin typeface="Aptos" pitchFamily="34" charset="0"/>
                <a:ea typeface="Aptos" pitchFamily="34" charset="-122"/>
                <a:cs typeface="Aptos" pitchFamily="34" charset="-120"/>
              </a:rPr>
              <a:t>Phase A epochs</a:t>
            </a:r>
            <a:endParaRPr lang="en-US" sz="1150" dirty="0"/>
          </a:p>
        </p:txBody>
      </p:sp>
      <p:sp>
        <p:nvSpPr>
          <p:cNvPr id="42" name="Shape 40"/>
          <p:cNvSpPr/>
          <p:nvPr/>
        </p:nvSpPr>
        <p:spPr>
          <a:xfrm>
            <a:off x="3803904" y="4096512"/>
            <a:ext cx="3858768" cy="530352"/>
          </a:xfrm>
          <a:prstGeom prst="rect">
            <a:avLst/>
          </a:prstGeom>
          <a:solidFill>
            <a:srgbClr val="F5F8FC"/>
          </a:solidFill>
          <a:ln w="5715">
            <a:solidFill>
              <a:srgbClr val="CBD8E5"/>
            </a:solidFill>
            <a:prstDash val="solid"/>
          </a:ln>
        </p:spPr>
        <p:txBody>
          <a:bodyPr/>
          <a:lstStyle/>
          <a:p>
            <a:endParaRPr lang="en-JP"/>
          </a:p>
        </p:txBody>
      </p:sp>
      <p:sp>
        <p:nvSpPr>
          <p:cNvPr id="43" name="Text 41"/>
          <p:cNvSpPr/>
          <p:nvPr/>
        </p:nvSpPr>
        <p:spPr>
          <a:xfrm>
            <a:off x="3877056" y="4142232"/>
            <a:ext cx="3712464" cy="457200"/>
          </a:xfrm>
          <a:prstGeom prst="rect">
            <a:avLst/>
          </a:prstGeom>
          <a:noFill/>
          <a:ln/>
        </p:spPr>
        <p:txBody>
          <a:bodyPr wrap="square" lIns="0" tIns="0" rIns="0" bIns="0" rtlCol="0" anchor="ctr">
            <a:normAutofit/>
          </a:bodyPr>
          <a:lstStyle/>
          <a:p>
            <a:pPr marL="0" indent="0" algn="ctr">
              <a:lnSpc>
                <a:spcPct val="100000"/>
              </a:lnSpc>
              <a:buNone/>
            </a:pPr>
            <a:r>
              <a:rPr lang="en-US" sz="1150" dirty="0">
                <a:solidFill>
                  <a:srgbClr val="1D3957"/>
                </a:solidFill>
                <a:latin typeface="Aptos" pitchFamily="34" charset="0"/>
                <a:ea typeface="Aptos" pitchFamily="34" charset="-122"/>
                <a:cs typeface="Aptos" pitchFamily="34" charset="-120"/>
              </a:rPr>
              <a:t>2</a:t>
            </a:r>
            <a:endParaRPr lang="en-US" sz="1150" dirty="0"/>
          </a:p>
        </p:txBody>
      </p:sp>
      <p:sp>
        <p:nvSpPr>
          <p:cNvPr id="44" name="Shape 42"/>
          <p:cNvSpPr/>
          <p:nvPr/>
        </p:nvSpPr>
        <p:spPr>
          <a:xfrm>
            <a:off x="7662672" y="4096512"/>
            <a:ext cx="3840480" cy="530352"/>
          </a:xfrm>
          <a:prstGeom prst="rect">
            <a:avLst/>
          </a:prstGeom>
          <a:solidFill>
            <a:srgbClr val="F5F8FC"/>
          </a:solidFill>
          <a:ln w="5715">
            <a:solidFill>
              <a:srgbClr val="CBD8E5"/>
            </a:solidFill>
            <a:prstDash val="solid"/>
          </a:ln>
        </p:spPr>
        <p:txBody>
          <a:bodyPr/>
          <a:lstStyle/>
          <a:p>
            <a:endParaRPr lang="en-JP"/>
          </a:p>
        </p:txBody>
      </p:sp>
      <p:sp>
        <p:nvSpPr>
          <p:cNvPr id="45" name="Text 43"/>
          <p:cNvSpPr/>
          <p:nvPr/>
        </p:nvSpPr>
        <p:spPr>
          <a:xfrm>
            <a:off x="7735824" y="4142232"/>
            <a:ext cx="3694176" cy="457200"/>
          </a:xfrm>
          <a:prstGeom prst="rect">
            <a:avLst/>
          </a:prstGeom>
          <a:noFill/>
          <a:ln/>
        </p:spPr>
        <p:txBody>
          <a:bodyPr wrap="square" lIns="0" tIns="0" rIns="0" bIns="0" rtlCol="0" anchor="ctr">
            <a:normAutofit/>
          </a:bodyPr>
          <a:lstStyle/>
          <a:p>
            <a:pPr marL="0" indent="0" algn="ctr">
              <a:lnSpc>
                <a:spcPct val="100000"/>
              </a:lnSpc>
              <a:buNone/>
            </a:pPr>
            <a:r>
              <a:rPr lang="en-US" sz="1150" dirty="0">
                <a:solidFill>
                  <a:srgbClr val="1D3957"/>
                </a:solidFill>
                <a:latin typeface="Aptos" pitchFamily="34" charset="0"/>
                <a:ea typeface="Aptos" pitchFamily="34" charset="-122"/>
                <a:cs typeface="Aptos" pitchFamily="34" charset="-120"/>
              </a:rPr>
              <a:t>3</a:t>
            </a:r>
            <a:endParaRPr lang="en-US" sz="1150" dirty="0"/>
          </a:p>
        </p:txBody>
      </p:sp>
      <p:sp>
        <p:nvSpPr>
          <p:cNvPr id="46" name="Shape 44"/>
          <p:cNvSpPr/>
          <p:nvPr/>
        </p:nvSpPr>
        <p:spPr>
          <a:xfrm>
            <a:off x="640080" y="4626864"/>
            <a:ext cx="3163824" cy="530352"/>
          </a:xfrm>
          <a:prstGeom prst="rect">
            <a:avLst/>
          </a:prstGeom>
          <a:solidFill>
            <a:srgbClr val="FFFFFF"/>
          </a:solidFill>
          <a:ln w="5715">
            <a:solidFill>
              <a:srgbClr val="CBD8E5"/>
            </a:solidFill>
            <a:prstDash val="solid"/>
          </a:ln>
        </p:spPr>
        <p:txBody>
          <a:bodyPr/>
          <a:lstStyle/>
          <a:p>
            <a:endParaRPr lang="en-JP"/>
          </a:p>
        </p:txBody>
      </p:sp>
      <p:sp>
        <p:nvSpPr>
          <p:cNvPr id="47" name="Text 45"/>
          <p:cNvSpPr/>
          <p:nvPr/>
        </p:nvSpPr>
        <p:spPr>
          <a:xfrm>
            <a:off x="713232" y="4672584"/>
            <a:ext cx="3017520" cy="457200"/>
          </a:xfrm>
          <a:prstGeom prst="rect">
            <a:avLst/>
          </a:prstGeom>
          <a:noFill/>
          <a:ln/>
        </p:spPr>
        <p:txBody>
          <a:bodyPr wrap="square" lIns="0" tIns="0" rIns="0" bIns="0" rtlCol="0" anchor="ctr">
            <a:normAutofit/>
          </a:bodyPr>
          <a:lstStyle/>
          <a:p>
            <a:pPr marL="0" indent="0" algn="l">
              <a:lnSpc>
                <a:spcPct val="100000"/>
              </a:lnSpc>
              <a:buNone/>
            </a:pPr>
            <a:r>
              <a:rPr lang="en-US" sz="1150" dirty="0">
                <a:solidFill>
                  <a:srgbClr val="253547"/>
                </a:solidFill>
                <a:latin typeface="Aptos" pitchFamily="34" charset="0"/>
                <a:ea typeface="Aptos" pitchFamily="34" charset="-122"/>
                <a:cs typeface="Aptos" pitchFamily="34" charset="-120"/>
              </a:rPr>
              <a:t>Phase B epochs</a:t>
            </a:r>
            <a:endParaRPr lang="en-US" sz="1150" dirty="0"/>
          </a:p>
        </p:txBody>
      </p:sp>
      <p:sp>
        <p:nvSpPr>
          <p:cNvPr id="48" name="Shape 46"/>
          <p:cNvSpPr/>
          <p:nvPr/>
        </p:nvSpPr>
        <p:spPr>
          <a:xfrm>
            <a:off x="3803904" y="4626864"/>
            <a:ext cx="3858768" cy="530352"/>
          </a:xfrm>
          <a:prstGeom prst="rect">
            <a:avLst/>
          </a:prstGeom>
          <a:solidFill>
            <a:srgbClr val="FFFFFF"/>
          </a:solidFill>
          <a:ln w="5715">
            <a:solidFill>
              <a:srgbClr val="CBD8E5"/>
            </a:solidFill>
            <a:prstDash val="solid"/>
          </a:ln>
        </p:spPr>
        <p:txBody>
          <a:bodyPr/>
          <a:lstStyle/>
          <a:p>
            <a:endParaRPr lang="en-JP"/>
          </a:p>
        </p:txBody>
      </p:sp>
      <p:sp>
        <p:nvSpPr>
          <p:cNvPr id="49" name="Text 47"/>
          <p:cNvSpPr/>
          <p:nvPr/>
        </p:nvSpPr>
        <p:spPr>
          <a:xfrm>
            <a:off x="3877056" y="4672584"/>
            <a:ext cx="3712464" cy="457200"/>
          </a:xfrm>
          <a:prstGeom prst="rect">
            <a:avLst/>
          </a:prstGeom>
          <a:noFill/>
          <a:ln/>
        </p:spPr>
        <p:txBody>
          <a:bodyPr wrap="square" lIns="0" tIns="0" rIns="0" bIns="0" rtlCol="0" anchor="ctr">
            <a:normAutofit/>
          </a:bodyPr>
          <a:lstStyle/>
          <a:p>
            <a:pPr marL="0" indent="0" algn="ctr">
              <a:lnSpc>
                <a:spcPct val="100000"/>
              </a:lnSpc>
              <a:buNone/>
            </a:pPr>
            <a:r>
              <a:rPr lang="en-US" sz="1150" dirty="0">
                <a:solidFill>
                  <a:srgbClr val="1D3957"/>
                </a:solidFill>
                <a:latin typeface="Aptos" pitchFamily="34" charset="0"/>
                <a:ea typeface="Aptos" pitchFamily="34" charset="-122"/>
                <a:cs typeface="Aptos" pitchFamily="34" charset="-120"/>
              </a:rPr>
              <a:t>1</a:t>
            </a:r>
            <a:endParaRPr lang="en-US" sz="1150" dirty="0"/>
          </a:p>
        </p:txBody>
      </p:sp>
      <p:sp>
        <p:nvSpPr>
          <p:cNvPr id="50" name="Shape 48"/>
          <p:cNvSpPr/>
          <p:nvPr/>
        </p:nvSpPr>
        <p:spPr>
          <a:xfrm>
            <a:off x="7662672" y="4626864"/>
            <a:ext cx="3840480" cy="530352"/>
          </a:xfrm>
          <a:prstGeom prst="rect">
            <a:avLst/>
          </a:prstGeom>
          <a:solidFill>
            <a:srgbClr val="FFFFFF"/>
          </a:solidFill>
          <a:ln w="5715">
            <a:solidFill>
              <a:srgbClr val="CBD8E5"/>
            </a:solidFill>
            <a:prstDash val="solid"/>
          </a:ln>
        </p:spPr>
        <p:txBody>
          <a:bodyPr/>
          <a:lstStyle/>
          <a:p>
            <a:endParaRPr lang="en-JP"/>
          </a:p>
        </p:txBody>
      </p:sp>
      <p:sp>
        <p:nvSpPr>
          <p:cNvPr id="51" name="Text 49"/>
          <p:cNvSpPr/>
          <p:nvPr/>
        </p:nvSpPr>
        <p:spPr>
          <a:xfrm>
            <a:off x="7735824" y="4672584"/>
            <a:ext cx="3694176" cy="457200"/>
          </a:xfrm>
          <a:prstGeom prst="rect">
            <a:avLst/>
          </a:prstGeom>
          <a:noFill/>
          <a:ln/>
        </p:spPr>
        <p:txBody>
          <a:bodyPr wrap="square" lIns="0" tIns="0" rIns="0" bIns="0" rtlCol="0" anchor="ctr">
            <a:normAutofit/>
          </a:bodyPr>
          <a:lstStyle/>
          <a:p>
            <a:pPr marL="0" indent="0" algn="ctr">
              <a:lnSpc>
                <a:spcPct val="100000"/>
              </a:lnSpc>
              <a:buNone/>
            </a:pPr>
            <a:r>
              <a:rPr lang="en-US" sz="1150" dirty="0">
                <a:solidFill>
                  <a:srgbClr val="1D3957"/>
                </a:solidFill>
                <a:latin typeface="Aptos" pitchFamily="34" charset="0"/>
                <a:ea typeface="Aptos" pitchFamily="34" charset="-122"/>
                <a:cs typeface="Aptos" pitchFamily="34" charset="-120"/>
              </a:rPr>
              <a:t>3</a:t>
            </a:r>
            <a:endParaRPr lang="en-US" sz="1150" dirty="0"/>
          </a:p>
        </p:txBody>
      </p:sp>
      <p:sp>
        <p:nvSpPr>
          <p:cNvPr id="52" name="Shape 50"/>
          <p:cNvSpPr/>
          <p:nvPr/>
        </p:nvSpPr>
        <p:spPr>
          <a:xfrm>
            <a:off x="640080" y="5157216"/>
            <a:ext cx="3163824" cy="530352"/>
          </a:xfrm>
          <a:prstGeom prst="rect">
            <a:avLst/>
          </a:prstGeom>
          <a:solidFill>
            <a:srgbClr val="F5F8FC"/>
          </a:solidFill>
          <a:ln w="5715">
            <a:solidFill>
              <a:srgbClr val="CBD8E5"/>
            </a:solidFill>
            <a:prstDash val="solid"/>
          </a:ln>
        </p:spPr>
        <p:txBody>
          <a:bodyPr/>
          <a:lstStyle/>
          <a:p>
            <a:endParaRPr lang="en-JP"/>
          </a:p>
        </p:txBody>
      </p:sp>
      <p:sp>
        <p:nvSpPr>
          <p:cNvPr id="53" name="Text 51"/>
          <p:cNvSpPr/>
          <p:nvPr/>
        </p:nvSpPr>
        <p:spPr>
          <a:xfrm>
            <a:off x="713232" y="5202936"/>
            <a:ext cx="3017520" cy="457200"/>
          </a:xfrm>
          <a:prstGeom prst="rect">
            <a:avLst/>
          </a:prstGeom>
          <a:noFill/>
          <a:ln/>
        </p:spPr>
        <p:txBody>
          <a:bodyPr wrap="square" lIns="0" tIns="0" rIns="0" bIns="0" rtlCol="0" anchor="ctr">
            <a:normAutofit/>
          </a:bodyPr>
          <a:lstStyle/>
          <a:p>
            <a:pPr marL="0" indent="0" algn="l">
              <a:lnSpc>
                <a:spcPct val="100000"/>
              </a:lnSpc>
              <a:buNone/>
            </a:pPr>
            <a:r>
              <a:rPr lang="en-US" sz="1150" dirty="0">
                <a:solidFill>
                  <a:srgbClr val="253547"/>
                </a:solidFill>
                <a:latin typeface="Aptos" pitchFamily="34" charset="0"/>
                <a:ea typeface="Aptos" pitchFamily="34" charset="-122"/>
                <a:cs typeface="Aptos" pitchFamily="34" charset="-120"/>
              </a:rPr>
              <a:t>Batch size</a:t>
            </a:r>
            <a:endParaRPr lang="en-US" sz="1150" dirty="0"/>
          </a:p>
        </p:txBody>
      </p:sp>
      <p:sp>
        <p:nvSpPr>
          <p:cNvPr id="54" name="Shape 52"/>
          <p:cNvSpPr/>
          <p:nvPr/>
        </p:nvSpPr>
        <p:spPr>
          <a:xfrm>
            <a:off x="3803904" y="5157216"/>
            <a:ext cx="3858768" cy="530352"/>
          </a:xfrm>
          <a:prstGeom prst="rect">
            <a:avLst/>
          </a:prstGeom>
          <a:solidFill>
            <a:srgbClr val="F5F8FC"/>
          </a:solidFill>
          <a:ln w="5715">
            <a:solidFill>
              <a:srgbClr val="CBD8E5"/>
            </a:solidFill>
            <a:prstDash val="solid"/>
          </a:ln>
        </p:spPr>
        <p:txBody>
          <a:bodyPr/>
          <a:lstStyle/>
          <a:p>
            <a:endParaRPr lang="en-JP"/>
          </a:p>
        </p:txBody>
      </p:sp>
      <p:sp>
        <p:nvSpPr>
          <p:cNvPr id="55" name="Text 53"/>
          <p:cNvSpPr/>
          <p:nvPr/>
        </p:nvSpPr>
        <p:spPr>
          <a:xfrm>
            <a:off x="3877056" y="5202936"/>
            <a:ext cx="3712464" cy="457200"/>
          </a:xfrm>
          <a:prstGeom prst="rect">
            <a:avLst/>
          </a:prstGeom>
          <a:noFill/>
          <a:ln/>
        </p:spPr>
        <p:txBody>
          <a:bodyPr wrap="square" lIns="0" tIns="0" rIns="0" bIns="0" rtlCol="0" anchor="ctr">
            <a:normAutofit/>
          </a:bodyPr>
          <a:lstStyle/>
          <a:p>
            <a:pPr marL="0" indent="0" algn="ctr">
              <a:lnSpc>
                <a:spcPct val="100000"/>
              </a:lnSpc>
              <a:buNone/>
            </a:pPr>
            <a:r>
              <a:rPr lang="en-US" sz="1150" dirty="0">
                <a:solidFill>
                  <a:srgbClr val="1D3957"/>
                </a:solidFill>
                <a:latin typeface="Aptos" pitchFamily="34" charset="0"/>
                <a:ea typeface="Aptos" pitchFamily="34" charset="-122"/>
                <a:cs typeface="Aptos" pitchFamily="34" charset="-120"/>
              </a:rPr>
              <a:t>16</a:t>
            </a:r>
            <a:endParaRPr lang="en-US" sz="1150" dirty="0"/>
          </a:p>
        </p:txBody>
      </p:sp>
      <p:sp>
        <p:nvSpPr>
          <p:cNvPr id="56" name="Shape 54"/>
          <p:cNvSpPr/>
          <p:nvPr/>
        </p:nvSpPr>
        <p:spPr>
          <a:xfrm>
            <a:off x="7662672" y="5157216"/>
            <a:ext cx="3840480" cy="530352"/>
          </a:xfrm>
          <a:prstGeom prst="rect">
            <a:avLst/>
          </a:prstGeom>
          <a:solidFill>
            <a:srgbClr val="F5F8FC"/>
          </a:solidFill>
          <a:ln w="5715">
            <a:solidFill>
              <a:srgbClr val="CBD8E5"/>
            </a:solidFill>
            <a:prstDash val="solid"/>
          </a:ln>
        </p:spPr>
        <p:txBody>
          <a:bodyPr/>
          <a:lstStyle/>
          <a:p>
            <a:endParaRPr lang="en-JP"/>
          </a:p>
        </p:txBody>
      </p:sp>
      <p:sp>
        <p:nvSpPr>
          <p:cNvPr id="57" name="Text 55"/>
          <p:cNvSpPr/>
          <p:nvPr/>
        </p:nvSpPr>
        <p:spPr>
          <a:xfrm>
            <a:off x="7735824" y="5202936"/>
            <a:ext cx="3694176" cy="457200"/>
          </a:xfrm>
          <a:prstGeom prst="rect">
            <a:avLst/>
          </a:prstGeom>
          <a:noFill/>
          <a:ln/>
        </p:spPr>
        <p:txBody>
          <a:bodyPr wrap="square" lIns="0" tIns="0" rIns="0" bIns="0" rtlCol="0" anchor="ctr">
            <a:normAutofit/>
          </a:bodyPr>
          <a:lstStyle/>
          <a:p>
            <a:pPr marL="0" indent="0" algn="ctr">
              <a:lnSpc>
                <a:spcPct val="100000"/>
              </a:lnSpc>
              <a:buNone/>
            </a:pPr>
            <a:r>
              <a:rPr lang="en-US" sz="1030" dirty="0">
                <a:solidFill>
                  <a:srgbClr val="1D3957"/>
                </a:solidFill>
                <a:latin typeface="Aptos" pitchFamily="34" charset="0"/>
                <a:ea typeface="Aptos" pitchFamily="34" charset="-122"/>
                <a:cs typeface="Aptos" pitchFamily="34" charset="-120"/>
              </a:rPr>
              <a:t>32 (ResNet18) / 16 (ResNet50)</a:t>
            </a:r>
            <a:endParaRPr lang="en-US" sz="1030" dirty="0"/>
          </a:p>
        </p:txBody>
      </p:sp>
      <p:sp>
        <p:nvSpPr>
          <p:cNvPr id="58" name="Shape 56"/>
          <p:cNvSpPr/>
          <p:nvPr/>
        </p:nvSpPr>
        <p:spPr>
          <a:xfrm>
            <a:off x="612648" y="5916168"/>
            <a:ext cx="10972800" cy="484632"/>
          </a:xfrm>
          <a:prstGeom prst="roundRect">
            <a:avLst>
              <a:gd name="adj" fmla="val 15094"/>
            </a:avLst>
          </a:prstGeom>
          <a:solidFill>
            <a:srgbClr val="FFF2DD"/>
          </a:solidFill>
          <a:ln w="8890">
            <a:solidFill>
              <a:srgbClr val="FFF2DD"/>
            </a:solidFill>
            <a:prstDash val="solid"/>
          </a:ln>
        </p:spPr>
        <p:txBody>
          <a:bodyPr/>
          <a:lstStyle/>
          <a:p>
            <a:endParaRPr lang="en-JP"/>
          </a:p>
        </p:txBody>
      </p:sp>
      <p:sp>
        <p:nvSpPr>
          <p:cNvPr id="59" name="Text 57"/>
          <p:cNvSpPr/>
          <p:nvPr/>
        </p:nvSpPr>
        <p:spPr>
          <a:xfrm>
            <a:off x="768096" y="5952744"/>
            <a:ext cx="5029200" cy="182880"/>
          </a:xfrm>
          <a:prstGeom prst="rect">
            <a:avLst/>
          </a:prstGeom>
          <a:noFill/>
          <a:ln/>
        </p:spPr>
        <p:txBody>
          <a:bodyPr wrap="square" lIns="0" tIns="0" rIns="0" bIns="0" rtlCol="0" anchor="ctr">
            <a:normAutofit fontScale="92500"/>
          </a:bodyPr>
          <a:lstStyle/>
          <a:p>
            <a:pPr marL="0" indent="0" algn="l">
              <a:lnSpc>
                <a:spcPct val="100000"/>
              </a:lnSpc>
              <a:buNone/>
            </a:pPr>
            <a:r>
              <a:rPr lang="en-US" sz="1210" b="1" dirty="0">
                <a:solidFill>
                  <a:srgbClr val="1D3957"/>
                </a:solidFill>
                <a:latin typeface="Aptos" pitchFamily="34" charset="0"/>
                <a:ea typeface="Aptos" pitchFamily="34" charset="-122"/>
                <a:cs typeface="Aptos" pitchFamily="34" charset="-120"/>
              </a:rPr>
              <a:t>QUICK_DEMO depends on DEVICE.type == "cpu"; change settings as needed.</a:t>
            </a:r>
            <a:endParaRPr lang="en-US" sz="1210" dirty="0"/>
          </a:p>
        </p:txBody>
      </p:sp>
      <p:sp>
        <p:nvSpPr>
          <p:cNvPr id="60" name="Text 58"/>
          <p:cNvSpPr/>
          <p:nvPr/>
        </p:nvSpPr>
        <p:spPr>
          <a:xfrm>
            <a:off x="5760720" y="5943600"/>
            <a:ext cx="5669280" cy="219456"/>
          </a:xfrm>
          <a:prstGeom prst="rect">
            <a:avLst/>
          </a:prstGeom>
          <a:noFill/>
          <a:ln/>
        </p:spPr>
        <p:txBody>
          <a:bodyPr wrap="square" lIns="0" tIns="0" rIns="0" bIns="0" rtlCol="0" anchor="ctr">
            <a:normAutofit/>
          </a:bodyPr>
          <a:lstStyle/>
          <a:p>
            <a:pPr marL="0" indent="0" algn="l">
              <a:lnSpc>
                <a:spcPct val="100000"/>
              </a:lnSpc>
              <a:buNone/>
            </a:pPr>
            <a:r>
              <a:rPr lang="en-US" sz="1210" dirty="0">
                <a:solidFill>
                  <a:srgbClr val="1D3957"/>
                </a:solidFill>
                <a:latin typeface="Noto Sans CJK JP" pitchFamily="34" charset="0"/>
                <a:ea typeface="Noto Sans CJK JP" pitchFamily="34" charset="-122"/>
                <a:cs typeface="Noto Sans CJK JP" pitchFamily="34" charset="-120"/>
              </a:rPr>
              <a:t>CPU環境では短縮モードが有効。設定は変更できます。</a:t>
            </a:r>
            <a:endParaRPr lang="en-US" sz="121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What happens in one training batch?</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1バッチの学習では何が起きる？</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19</a:t>
            </a:r>
            <a:endParaRPr lang="en-US" sz="870" dirty="0"/>
          </a:p>
        </p:txBody>
      </p:sp>
      <p:sp>
        <p:nvSpPr>
          <p:cNvPr id="10" name="Shape 8"/>
          <p:cNvSpPr/>
          <p:nvPr/>
        </p:nvSpPr>
        <p:spPr>
          <a:xfrm>
            <a:off x="658368" y="1847088"/>
            <a:ext cx="2587752" cy="1014984"/>
          </a:xfrm>
          <a:prstGeom prst="roundRect">
            <a:avLst>
              <a:gd name="adj" fmla="val 9009"/>
            </a:avLst>
          </a:prstGeom>
          <a:solidFill>
            <a:srgbClr val="E9F3FC"/>
          </a:solidFill>
          <a:ln w="8890">
            <a:solidFill>
              <a:srgbClr val="E9F3FC"/>
            </a:solidFill>
            <a:prstDash val="solid"/>
          </a:ln>
        </p:spPr>
        <p:txBody>
          <a:bodyPr/>
          <a:lstStyle/>
          <a:p>
            <a:endParaRPr lang="en-JP"/>
          </a:p>
        </p:txBody>
      </p:sp>
      <p:sp>
        <p:nvSpPr>
          <p:cNvPr id="11" name="Text 9"/>
          <p:cNvSpPr/>
          <p:nvPr/>
        </p:nvSpPr>
        <p:spPr>
          <a:xfrm>
            <a:off x="749808" y="1915668"/>
            <a:ext cx="2404872" cy="237744"/>
          </a:xfrm>
          <a:prstGeom prst="rect">
            <a:avLst/>
          </a:prstGeom>
          <a:noFill/>
          <a:ln/>
        </p:spPr>
        <p:txBody>
          <a:bodyPr wrap="square" lIns="0" tIns="0" rIns="0" bIns="0" rtlCol="0" anchor="ctr">
            <a:normAutofit lnSpcReduction="10000"/>
          </a:bodyPr>
          <a:lstStyle/>
          <a:p>
            <a:pPr marL="0" indent="0" algn="ctr">
              <a:lnSpc>
                <a:spcPct val="100000"/>
              </a:lnSpc>
              <a:buNone/>
            </a:pPr>
            <a:r>
              <a:rPr lang="en-US" sz="1700" b="1" dirty="0">
                <a:solidFill>
                  <a:srgbClr val="1D3957"/>
                </a:solidFill>
                <a:latin typeface="Aptos" pitchFamily="34" charset="0"/>
                <a:ea typeface="Aptos" pitchFamily="34" charset="-122"/>
                <a:cs typeface="Aptos" pitchFamily="34" charset="-120"/>
              </a:rPr>
              <a:t>1  Forward</a:t>
            </a:r>
            <a:endParaRPr lang="en-US" sz="1700" dirty="0"/>
          </a:p>
        </p:txBody>
      </p:sp>
      <p:sp>
        <p:nvSpPr>
          <p:cNvPr id="12" name="Text 10"/>
          <p:cNvSpPr/>
          <p:nvPr/>
        </p:nvSpPr>
        <p:spPr>
          <a:xfrm>
            <a:off x="749808" y="2185416"/>
            <a:ext cx="2404872" cy="173736"/>
          </a:xfrm>
          <a:prstGeom prst="rect">
            <a:avLst/>
          </a:prstGeom>
          <a:noFill/>
          <a:ln/>
        </p:spPr>
        <p:txBody>
          <a:bodyPr wrap="square" lIns="0" tIns="0" rIns="0" bIns="0" rtlCol="0" anchor="ctr">
            <a:normAutofit lnSpcReduction="10000"/>
          </a:bodyPr>
          <a:lstStyle/>
          <a:p>
            <a:pPr marL="0" indent="0" algn="ctr">
              <a:lnSpc>
                <a:spcPct val="100000"/>
              </a:lnSpc>
              <a:buNone/>
            </a:pPr>
            <a:r>
              <a:rPr lang="en-US" sz="1200" dirty="0">
                <a:solidFill>
                  <a:srgbClr val="607084"/>
                </a:solidFill>
                <a:latin typeface="Noto Sans CJK JP" pitchFamily="34" charset="0"/>
                <a:ea typeface="Noto Sans CJK JP" pitchFamily="34" charset="-122"/>
                <a:cs typeface="Noto Sans CJK JP" pitchFamily="34" charset="-120"/>
              </a:rPr>
              <a:t>順伝播</a:t>
            </a:r>
            <a:endParaRPr lang="en-US" sz="1200" dirty="0"/>
          </a:p>
        </p:txBody>
      </p:sp>
      <p:sp>
        <p:nvSpPr>
          <p:cNvPr id="13" name="Shape 11"/>
          <p:cNvSpPr/>
          <p:nvPr/>
        </p:nvSpPr>
        <p:spPr>
          <a:xfrm>
            <a:off x="3291840" y="2350008"/>
            <a:ext cx="219456" cy="0"/>
          </a:xfrm>
          <a:prstGeom prst="line">
            <a:avLst/>
          </a:prstGeom>
          <a:noFill/>
          <a:ln w="25400">
            <a:solidFill>
              <a:srgbClr val="607084"/>
            </a:solidFill>
            <a:prstDash val="solid"/>
            <a:headEnd type="none"/>
            <a:tailEnd type="triangle"/>
          </a:ln>
        </p:spPr>
        <p:txBody>
          <a:bodyPr/>
          <a:lstStyle/>
          <a:p>
            <a:endParaRPr lang="en-JP"/>
          </a:p>
        </p:txBody>
      </p:sp>
      <p:sp>
        <p:nvSpPr>
          <p:cNvPr id="14" name="Shape 12"/>
          <p:cNvSpPr/>
          <p:nvPr/>
        </p:nvSpPr>
        <p:spPr>
          <a:xfrm>
            <a:off x="3566160" y="1847088"/>
            <a:ext cx="2587752" cy="1014984"/>
          </a:xfrm>
          <a:prstGeom prst="roundRect">
            <a:avLst>
              <a:gd name="adj" fmla="val 9009"/>
            </a:avLst>
          </a:prstGeom>
          <a:solidFill>
            <a:srgbClr val="E9F3FC"/>
          </a:solidFill>
          <a:ln w="8890">
            <a:solidFill>
              <a:srgbClr val="E9F3FC"/>
            </a:solidFill>
            <a:prstDash val="solid"/>
          </a:ln>
        </p:spPr>
        <p:txBody>
          <a:bodyPr/>
          <a:lstStyle/>
          <a:p>
            <a:endParaRPr lang="en-JP"/>
          </a:p>
        </p:txBody>
      </p:sp>
      <p:sp>
        <p:nvSpPr>
          <p:cNvPr id="15" name="Text 13"/>
          <p:cNvSpPr/>
          <p:nvPr/>
        </p:nvSpPr>
        <p:spPr>
          <a:xfrm>
            <a:off x="3657600" y="1915668"/>
            <a:ext cx="2404872" cy="237744"/>
          </a:xfrm>
          <a:prstGeom prst="rect">
            <a:avLst/>
          </a:prstGeom>
          <a:noFill/>
          <a:ln/>
        </p:spPr>
        <p:txBody>
          <a:bodyPr wrap="square" lIns="0" tIns="0" rIns="0" bIns="0" rtlCol="0" anchor="ctr">
            <a:normAutofit lnSpcReduction="10000"/>
          </a:bodyPr>
          <a:lstStyle/>
          <a:p>
            <a:pPr marL="0" indent="0" algn="ctr">
              <a:lnSpc>
                <a:spcPct val="100000"/>
              </a:lnSpc>
              <a:buNone/>
            </a:pPr>
            <a:r>
              <a:rPr lang="en-US" sz="1700" b="1" dirty="0">
                <a:solidFill>
                  <a:srgbClr val="1D3957"/>
                </a:solidFill>
                <a:latin typeface="Aptos" pitchFamily="34" charset="0"/>
                <a:ea typeface="Aptos" pitchFamily="34" charset="-122"/>
                <a:cs typeface="Aptos" pitchFamily="34" charset="-120"/>
              </a:rPr>
              <a:t>2  Loss</a:t>
            </a:r>
            <a:endParaRPr lang="en-US" sz="1700" dirty="0"/>
          </a:p>
        </p:txBody>
      </p:sp>
      <p:sp>
        <p:nvSpPr>
          <p:cNvPr id="16" name="Text 14"/>
          <p:cNvSpPr/>
          <p:nvPr/>
        </p:nvSpPr>
        <p:spPr>
          <a:xfrm>
            <a:off x="3657600" y="2185416"/>
            <a:ext cx="2404872" cy="173736"/>
          </a:xfrm>
          <a:prstGeom prst="rect">
            <a:avLst/>
          </a:prstGeom>
          <a:noFill/>
          <a:ln/>
        </p:spPr>
        <p:txBody>
          <a:bodyPr wrap="square" lIns="0" tIns="0" rIns="0" bIns="0" rtlCol="0" anchor="ctr">
            <a:normAutofit lnSpcReduction="10000"/>
          </a:bodyPr>
          <a:lstStyle/>
          <a:p>
            <a:pPr marL="0" indent="0" algn="ctr">
              <a:lnSpc>
                <a:spcPct val="100000"/>
              </a:lnSpc>
              <a:buNone/>
            </a:pPr>
            <a:r>
              <a:rPr lang="en-US" sz="1200" dirty="0">
                <a:solidFill>
                  <a:srgbClr val="607084"/>
                </a:solidFill>
                <a:latin typeface="Noto Sans CJK JP" pitchFamily="34" charset="0"/>
                <a:ea typeface="Noto Sans CJK JP" pitchFamily="34" charset="-122"/>
                <a:cs typeface="Noto Sans CJK JP" pitchFamily="34" charset="-120"/>
              </a:rPr>
              <a:t>損失を計算</a:t>
            </a:r>
            <a:endParaRPr lang="en-US" sz="1200" dirty="0"/>
          </a:p>
        </p:txBody>
      </p:sp>
      <p:sp>
        <p:nvSpPr>
          <p:cNvPr id="17" name="Shape 15"/>
          <p:cNvSpPr/>
          <p:nvPr/>
        </p:nvSpPr>
        <p:spPr>
          <a:xfrm>
            <a:off x="6199632" y="2350008"/>
            <a:ext cx="219456" cy="0"/>
          </a:xfrm>
          <a:prstGeom prst="line">
            <a:avLst/>
          </a:prstGeom>
          <a:noFill/>
          <a:ln w="25400">
            <a:solidFill>
              <a:srgbClr val="607084"/>
            </a:solidFill>
            <a:prstDash val="solid"/>
            <a:headEnd type="none"/>
            <a:tailEnd type="triangle"/>
          </a:ln>
        </p:spPr>
        <p:txBody>
          <a:bodyPr/>
          <a:lstStyle/>
          <a:p>
            <a:endParaRPr lang="en-JP"/>
          </a:p>
        </p:txBody>
      </p:sp>
      <p:sp>
        <p:nvSpPr>
          <p:cNvPr id="18" name="Shape 16"/>
          <p:cNvSpPr/>
          <p:nvPr/>
        </p:nvSpPr>
        <p:spPr>
          <a:xfrm>
            <a:off x="6473952" y="1847088"/>
            <a:ext cx="2587752" cy="1014984"/>
          </a:xfrm>
          <a:prstGeom prst="roundRect">
            <a:avLst>
              <a:gd name="adj" fmla="val 9009"/>
            </a:avLst>
          </a:prstGeom>
          <a:solidFill>
            <a:srgbClr val="E9F3FC"/>
          </a:solidFill>
          <a:ln w="8890">
            <a:solidFill>
              <a:srgbClr val="E9F3FC"/>
            </a:solidFill>
            <a:prstDash val="solid"/>
          </a:ln>
        </p:spPr>
        <p:txBody>
          <a:bodyPr/>
          <a:lstStyle/>
          <a:p>
            <a:endParaRPr lang="en-JP"/>
          </a:p>
        </p:txBody>
      </p:sp>
      <p:sp>
        <p:nvSpPr>
          <p:cNvPr id="19" name="Text 17"/>
          <p:cNvSpPr/>
          <p:nvPr/>
        </p:nvSpPr>
        <p:spPr>
          <a:xfrm>
            <a:off x="6565392" y="1915668"/>
            <a:ext cx="2404872" cy="237744"/>
          </a:xfrm>
          <a:prstGeom prst="rect">
            <a:avLst/>
          </a:prstGeom>
          <a:noFill/>
          <a:ln/>
        </p:spPr>
        <p:txBody>
          <a:bodyPr wrap="square" lIns="0" tIns="0" rIns="0" bIns="0" rtlCol="0" anchor="ctr">
            <a:normAutofit lnSpcReduction="10000"/>
          </a:bodyPr>
          <a:lstStyle/>
          <a:p>
            <a:pPr marL="0" indent="0" algn="ctr">
              <a:lnSpc>
                <a:spcPct val="100000"/>
              </a:lnSpc>
              <a:buNone/>
            </a:pPr>
            <a:r>
              <a:rPr lang="en-US" sz="1700" b="1" dirty="0">
                <a:solidFill>
                  <a:srgbClr val="1D3957"/>
                </a:solidFill>
                <a:latin typeface="Aptos" pitchFamily="34" charset="0"/>
                <a:ea typeface="Aptos" pitchFamily="34" charset="-122"/>
                <a:cs typeface="Aptos" pitchFamily="34" charset="-120"/>
              </a:rPr>
              <a:t>3  Backward</a:t>
            </a:r>
            <a:endParaRPr lang="en-US" sz="1700" dirty="0"/>
          </a:p>
        </p:txBody>
      </p:sp>
      <p:sp>
        <p:nvSpPr>
          <p:cNvPr id="20" name="Text 18"/>
          <p:cNvSpPr/>
          <p:nvPr/>
        </p:nvSpPr>
        <p:spPr>
          <a:xfrm>
            <a:off x="6565392" y="2185416"/>
            <a:ext cx="2404872" cy="173736"/>
          </a:xfrm>
          <a:prstGeom prst="rect">
            <a:avLst/>
          </a:prstGeom>
          <a:noFill/>
          <a:ln/>
        </p:spPr>
        <p:txBody>
          <a:bodyPr wrap="square" lIns="0" tIns="0" rIns="0" bIns="0" rtlCol="0" anchor="ctr">
            <a:normAutofit lnSpcReduction="10000"/>
          </a:bodyPr>
          <a:lstStyle/>
          <a:p>
            <a:pPr marL="0" indent="0" algn="ctr">
              <a:lnSpc>
                <a:spcPct val="100000"/>
              </a:lnSpc>
              <a:buNone/>
            </a:pPr>
            <a:r>
              <a:rPr lang="en-US" sz="1200" dirty="0">
                <a:solidFill>
                  <a:srgbClr val="607084"/>
                </a:solidFill>
                <a:latin typeface="Noto Sans CJK JP" pitchFamily="34" charset="0"/>
                <a:ea typeface="Noto Sans CJK JP" pitchFamily="34" charset="-122"/>
                <a:cs typeface="Noto Sans CJK JP" pitchFamily="34" charset="-120"/>
              </a:rPr>
              <a:t>勾配を計算</a:t>
            </a:r>
            <a:endParaRPr lang="en-US" sz="1200" dirty="0"/>
          </a:p>
        </p:txBody>
      </p:sp>
      <p:sp>
        <p:nvSpPr>
          <p:cNvPr id="21" name="Shape 19"/>
          <p:cNvSpPr/>
          <p:nvPr/>
        </p:nvSpPr>
        <p:spPr>
          <a:xfrm>
            <a:off x="9107424" y="2350008"/>
            <a:ext cx="219456" cy="0"/>
          </a:xfrm>
          <a:prstGeom prst="line">
            <a:avLst/>
          </a:prstGeom>
          <a:noFill/>
          <a:ln w="25400">
            <a:solidFill>
              <a:srgbClr val="607084"/>
            </a:solidFill>
            <a:prstDash val="solid"/>
            <a:headEnd type="none"/>
            <a:tailEnd type="triangle"/>
          </a:ln>
        </p:spPr>
        <p:txBody>
          <a:bodyPr/>
          <a:lstStyle/>
          <a:p>
            <a:endParaRPr lang="en-JP"/>
          </a:p>
        </p:txBody>
      </p:sp>
      <p:sp>
        <p:nvSpPr>
          <p:cNvPr id="22" name="Shape 20"/>
          <p:cNvSpPr/>
          <p:nvPr/>
        </p:nvSpPr>
        <p:spPr>
          <a:xfrm>
            <a:off x="9381744" y="1847088"/>
            <a:ext cx="2587752" cy="1014984"/>
          </a:xfrm>
          <a:prstGeom prst="roundRect">
            <a:avLst>
              <a:gd name="adj" fmla="val 9009"/>
            </a:avLst>
          </a:prstGeom>
          <a:solidFill>
            <a:srgbClr val="DDF5EF"/>
          </a:solidFill>
          <a:ln w="8890">
            <a:solidFill>
              <a:srgbClr val="DDF5EF"/>
            </a:solidFill>
            <a:prstDash val="solid"/>
          </a:ln>
        </p:spPr>
        <p:txBody>
          <a:bodyPr/>
          <a:lstStyle/>
          <a:p>
            <a:endParaRPr lang="en-JP"/>
          </a:p>
        </p:txBody>
      </p:sp>
      <p:sp>
        <p:nvSpPr>
          <p:cNvPr id="23" name="Text 21"/>
          <p:cNvSpPr/>
          <p:nvPr/>
        </p:nvSpPr>
        <p:spPr>
          <a:xfrm>
            <a:off x="9473184" y="1915668"/>
            <a:ext cx="2404872" cy="237744"/>
          </a:xfrm>
          <a:prstGeom prst="rect">
            <a:avLst/>
          </a:prstGeom>
          <a:noFill/>
          <a:ln/>
        </p:spPr>
        <p:txBody>
          <a:bodyPr wrap="square" lIns="0" tIns="0" rIns="0" bIns="0" rtlCol="0" anchor="ctr">
            <a:normAutofit lnSpcReduction="10000"/>
          </a:bodyPr>
          <a:lstStyle/>
          <a:p>
            <a:pPr marL="0" indent="0" algn="ctr">
              <a:lnSpc>
                <a:spcPct val="100000"/>
              </a:lnSpc>
              <a:buNone/>
            </a:pPr>
            <a:r>
              <a:rPr lang="en-US" sz="1700" b="1" dirty="0">
                <a:solidFill>
                  <a:srgbClr val="1D3957"/>
                </a:solidFill>
                <a:latin typeface="Aptos" pitchFamily="34" charset="0"/>
                <a:ea typeface="Aptos" pitchFamily="34" charset="-122"/>
                <a:cs typeface="Aptos" pitchFamily="34" charset="-120"/>
              </a:rPr>
              <a:t>4  Update</a:t>
            </a:r>
            <a:endParaRPr lang="en-US" sz="1700" dirty="0"/>
          </a:p>
        </p:txBody>
      </p:sp>
      <p:sp>
        <p:nvSpPr>
          <p:cNvPr id="24" name="Text 22"/>
          <p:cNvSpPr/>
          <p:nvPr/>
        </p:nvSpPr>
        <p:spPr>
          <a:xfrm>
            <a:off x="9473184" y="2185416"/>
            <a:ext cx="2404872" cy="173736"/>
          </a:xfrm>
          <a:prstGeom prst="rect">
            <a:avLst/>
          </a:prstGeom>
          <a:noFill/>
          <a:ln/>
        </p:spPr>
        <p:txBody>
          <a:bodyPr wrap="square" lIns="0" tIns="0" rIns="0" bIns="0" rtlCol="0" anchor="ctr">
            <a:normAutofit lnSpcReduction="10000"/>
          </a:bodyPr>
          <a:lstStyle/>
          <a:p>
            <a:pPr marL="0" indent="0" algn="ctr">
              <a:lnSpc>
                <a:spcPct val="100000"/>
              </a:lnSpc>
              <a:buNone/>
            </a:pPr>
            <a:r>
              <a:rPr lang="en-US" sz="1200" dirty="0">
                <a:solidFill>
                  <a:srgbClr val="607084"/>
                </a:solidFill>
                <a:latin typeface="Noto Sans CJK JP" pitchFamily="34" charset="0"/>
                <a:ea typeface="Noto Sans CJK JP" pitchFamily="34" charset="-122"/>
                <a:cs typeface="Noto Sans CJK JP" pitchFamily="34" charset="-120"/>
              </a:rPr>
              <a:t>学習可能な重みを更新</a:t>
            </a:r>
            <a:endParaRPr lang="en-US" sz="1200" dirty="0"/>
          </a:p>
        </p:txBody>
      </p:sp>
      <p:sp>
        <p:nvSpPr>
          <p:cNvPr id="25" name="Shape 23"/>
          <p:cNvSpPr/>
          <p:nvPr/>
        </p:nvSpPr>
        <p:spPr>
          <a:xfrm>
            <a:off x="1938528" y="3447288"/>
            <a:ext cx="8330184" cy="1874520"/>
          </a:xfrm>
          <a:prstGeom prst="roundRect">
            <a:avLst>
              <a:gd name="adj" fmla="val 3902"/>
            </a:avLst>
          </a:prstGeom>
          <a:solidFill>
            <a:srgbClr val="162E47"/>
          </a:solidFill>
          <a:ln w="8890">
            <a:solidFill>
              <a:srgbClr val="162E47"/>
            </a:solidFill>
            <a:prstDash val="solid"/>
          </a:ln>
        </p:spPr>
        <p:txBody>
          <a:bodyPr/>
          <a:lstStyle/>
          <a:p>
            <a:endParaRPr lang="en-JP"/>
          </a:p>
        </p:txBody>
      </p:sp>
      <p:sp>
        <p:nvSpPr>
          <p:cNvPr id="26" name="Text 24"/>
          <p:cNvSpPr/>
          <p:nvPr/>
        </p:nvSpPr>
        <p:spPr>
          <a:xfrm>
            <a:off x="2084832" y="3575304"/>
            <a:ext cx="8055864" cy="325526"/>
          </a:xfrm>
          <a:prstGeom prst="rect">
            <a:avLst/>
          </a:prstGeom>
          <a:noFill/>
          <a:ln/>
        </p:spPr>
        <p:txBody>
          <a:bodyPr wrap="square" lIns="0" tIns="0" rIns="0" bIns="0" rtlCol="0" anchor="ctr">
            <a:normAutofit/>
          </a:bodyPr>
          <a:lstStyle/>
          <a:p>
            <a:pPr marL="0" indent="0" algn="l">
              <a:lnSpc>
                <a:spcPct val="100000"/>
              </a:lnSpc>
              <a:buNone/>
            </a:pPr>
            <a:r>
              <a:rPr lang="en-US" sz="1700" dirty="0">
                <a:solidFill>
                  <a:srgbClr val="F4F8FC"/>
                </a:solidFill>
                <a:latin typeface="Consolas" pitchFamily="34" charset="0"/>
                <a:ea typeface="Consolas" pitchFamily="34" charset="-122"/>
                <a:cs typeface="Consolas" pitchFamily="34" charset="-120"/>
              </a:rPr>
              <a:t>logits = model(images)</a:t>
            </a:r>
            <a:endParaRPr lang="en-US" sz="1700" dirty="0"/>
          </a:p>
        </p:txBody>
      </p:sp>
      <p:sp>
        <p:nvSpPr>
          <p:cNvPr id="27" name="Text 25"/>
          <p:cNvSpPr/>
          <p:nvPr/>
        </p:nvSpPr>
        <p:spPr>
          <a:xfrm>
            <a:off x="2084832" y="3900830"/>
            <a:ext cx="8055864" cy="325526"/>
          </a:xfrm>
          <a:prstGeom prst="rect">
            <a:avLst/>
          </a:prstGeom>
          <a:noFill/>
          <a:ln/>
        </p:spPr>
        <p:txBody>
          <a:bodyPr wrap="square" lIns="0" tIns="0" rIns="0" bIns="0" rtlCol="0" anchor="ctr">
            <a:normAutofit/>
          </a:bodyPr>
          <a:lstStyle/>
          <a:p>
            <a:pPr marL="0" indent="0" algn="l">
              <a:lnSpc>
                <a:spcPct val="100000"/>
              </a:lnSpc>
              <a:buNone/>
            </a:pPr>
            <a:r>
              <a:rPr lang="en-US" sz="1700" dirty="0">
                <a:solidFill>
                  <a:srgbClr val="F4F8FC"/>
                </a:solidFill>
                <a:latin typeface="Consolas" pitchFamily="34" charset="0"/>
                <a:ea typeface="Consolas" pitchFamily="34" charset="-122"/>
                <a:cs typeface="Consolas" pitchFamily="34" charset="-120"/>
              </a:rPr>
              <a:t>loss = criterion(logits, labels)</a:t>
            </a:r>
            <a:endParaRPr lang="en-US" sz="1700" dirty="0"/>
          </a:p>
        </p:txBody>
      </p:sp>
      <p:sp>
        <p:nvSpPr>
          <p:cNvPr id="28" name="Text 26"/>
          <p:cNvSpPr/>
          <p:nvPr/>
        </p:nvSpPr>
        <p:spPr>
          <a:xfrm>
            <a:off x="2084832" y="4226357"/>
            <a:ext cx="8055864" cy="325526"/>
          </a:xfrm>
          <a:prstGeom prst="rect">
            <a:avLst/>
          </a:prstGeom>
          <a:noFill/>
          <a:ln/>
        </p:spPr>
        <p:txBody>
          <a:bodyPr wrap="square" lIns="0" tIns="0" rIns="0" bIns="0" rtlCol="0" anchor="ctr">
            <a:normAutofit/>
          </a:bodyPr>
          <a:lstStyle/>
          <a:p>
            <a:pPr marL="0" indent="0" algn="l">
              <a:lnSpc>
                <a:spcPct val="100000"/>
              </a:lnSpc>
              <a:buNone/>
            </a:pPr>
            <a:r>
              <a:rPr lang="en-US" sz="1700" dirty="0">
                <a:solidFill>
                  <a:srgbClr val="F4F8FC"/>
                </a:solidFill>
                <a:latin typeface="Consolas" pitchFamily="34" charset="0"/>
                <a:ea typeface="Consolas" pitchFamily="34" charset="-122"/>
                <a:cs typeface="Consolas" pitchFamily="34" charset="-120"/>
              </a:rPr>
              <a:t>optimizer.zero_grad()</a:t>
            </a:r>
            <a:endParaRPr lang="en-US" sz="1700" dirty="0"/>
          </a:p>
        </p:txBody>
      </p:sp>
      <p:sp>
        <p:nvSpPr>
          <p:cNvPr id="29" name="Text 27"/>
          <p:cNvSpPr/>
          <p:nvPr/>
        </p:nvSpPr>
        <p:spPr>
          <a:xfrm>
            <a:off x="2084832" y="4551883"/>
            <a:ext cx="8055864" cy="325526"/>
          </a:xfrm>
          <a:prstGeom prst="rect">
            <a:avLst/>
          </a:prstGeom>
          <a:noFill/>
          <a:ln/>
        </p:spPr>
        <p:txBody>
          <a:bodyPr wrap="square" lIns="0" tIns="0" rIns="0" bIns="0" rtlCol="0" anchor="ctr">
            <a:normAutofit/>
          </a:bodyPr>
          <a:lstStyle/>
          <a:p>
            <a:pPr marL="0" indent="0" algn="l">
              <a:lnSpc>
                <a:spcPct val="100000"/>
              </a:lnSpc>
              <a:buNone/>
            </a:pPr>
            <a:r>
              <a:rPr lang="en-US" sz="1700" dirty="0">
                <a:solidFill>
                  <a:srgbClr val="F4F8FC"/>
                </a:solidFill>
                <a:latin typeface="Consolas" pitchFamily="34" charset="0"/>
                <a:ea typeface="Consolas" pitchFamily="34" charset="-122"/>
                <a:cs typeface="Consolas" pitchFamily="34" charset="-120"/>
              </a:rPr>
              <a:t>loss.backward()</a:t>
            </a:r>
            <a:endParaRPr lang="en-US" sz="1700" dirty="0"/>
          </a:p>
        </p:txBody>
      </p:sp>
      <p:sp>
        <p:nvSpPr>
          <p:cNvPr id="30" name="Text 28"/>
          <p:cNvSpPr/>
          <p:nvPr/>
        </p:nvSpPr>
        <p:spPr>
          <a:xfrm>
            <a:off x="2084832" y="4877410"/>
            <a:ext cx="8055864" cy="325526"/>
          </a:xfrm>
          <a:prstGeom prst="rect">
            <a:avLst/>
          </a:prstGeom>
          <a:noFill/>
          <a:ln/>
        </p:spPr>
        <p:txBody>
          <a:bodyPr wrap="square" lIns="0" tIns="0" rIns="0" bIns="0" rtlCol="0" anchor="ctr">
            <a:normAutofit/>
          </a:bodyPr>
          <a:lstStyle/>
          <a:p>
            <a:pPr marL="0" indent="0" algn="l">
              <a:lnSpc>
                <a:spcPct val="100000"/>
              </a:lnSpc>
              <a:buNone/>
            </a:pPr>
            <a:r>
              <a:rPr lang="en-US" sz="1700" dirty="0">
                <a:solidFill>
                  <a:srgbClr val="F4F8FC"/>
                </a:solidFill>
                <a:latin typeface="Consolas" pitchFamily="34" charset="0"/>
                <a:ea typeface="Consolas" pitchFamily="34" charset="-122"/>
                <a:cs typeface="Consolas" pitchFamily="34" charset="-120"/>
              </a:rPr>
              <a:t>optimizer.step()</a:t>
            </a:r>
            <a:endParaRPr lang="en-US" sz="1700" dirty="0"/>
          </a:p>
        </p:txBody>
      </p:sp>
      <p:sp>
        <p:nvSpPr>
          <p:cNvPr id="31" name="Shape 29"/>
          <p:cNvSpPr/>
          <p:nvPr/>
        </p:nvSpPr>
        <p:spPr>
          <a:xfrm>
            <a:off x="612648" y="5916168"/>
            <a:ext cx="10972800" cy="484632"/>
          </a:xfrm>
          <a:prstGeom prst="roundRect">
            <a:avLst>
              <a:gd name="adj" fmla="val 15094"/>
            </a:avLst>
          </a:prstGeom>
          <a:solidFill>
            <a:srgbClr val="DDF5EF"/>
          </a:solidFill>
          <a:ln w="8890">
            <a:solidFill>
              <a:srgbClr val="DDF5EF"/>
            </a:solidFill>
            <a:prstDash val="solid"/>
          </a:ln>
        </p:spPr>
        <p:txBody>
          <a:bodyPr/>
          <a:lstStyle/>
          <a:p>
            <a:endParaRPr lang="en-JP"/>
          </a:p>
        </p:txBody>
      </p:sp>
      <p:sp>
        <p:nvSpPr>
          <p:cNvPr id="32" name="Text 30"/>
          <p:cNvSpPr/>
          <p:nvPr/>
        </p:nvSpPr>
        <p:spPr>
          <a:xfrm>
            <a:off x="768096" y="5952744"/>
            <a:ext cx="5029200" cy="182880"/>
          </a:xfrm>
          <a:prstGeom prst="rect">
            <a:avLst/>
          </a:prstGeom>
          <a:noFill/>
          <a:ln/>
        </p:spPr>
        <p:txBody>
          <a:bodyPr wrap="square" lIns="0" tIns="0" rIns="0" bIns="0" rtlCol="0" anchor="ctr">
            <a:normAutofit lnSpcReduction="10000"/>
          </a:bodyPr>
          <a:lstStyle/>
          <a:p>
            <a:pPr marL="0" indent="0" algn="l">
              <a:lnSpc>
                <a:spcPct val="100000"/>
              </a:lnSpc>
              <a:buNone/>
            </a:pPr>
            <a:r>
              <a:rPr lang="en-US" sz="1210" b="1" dirty="0">
                <a:solidFill>
                  <a:srgbClr val="1D3957"/>
                </a:solidFill>
                <a:latin typeface="Aptos" pitchFamily="34" charset="0"/>
                <a:ea typeface="Aptos" pitchFamily="34" charset="-122"/>
                <a:cs typeface="Aptos" pitchFamily="34" charset="-120"/>
              </a:rPr>
              <a:t>Validation uses no weight updates and picks the best checkpoint.</a:t>
            </a:r>
            <a:endParaRPr lang="en-US" sz="1210" dirty="0"/>
          </a:p>
        </p:txBody>
      </p:sp>
      <p:sp>
        <p:nvSpPr>
          <p:cNvPr id="33" name="Text 31"/>
          <p:cNvSpPr/>
          <p:nvPr/>
        </p:nvSpPr>
        <p:spPr>
          <a:xfrm>
            <a:off x="5760720" y="5943600"/>
            <a:ext cx="5669280" cy="219456"/>
          </a:xfrm>
          <a:prstGeom prst="rect">
            <a:avLst/>
          </a:prstGeom>
          <a:noFill/>
          <a:ln/>
        </p:spPr>
        <p:txBody>
          <a:bodyPr wrap="square" lIns="0" tIns="0" rIns="0" bIns="0" rtlCol="0" anchor="ctr">
            <a:normAutofit/>
          </a:bodyPr>
          <a:lstStyle/>
          <a:p>
            <a:pPr marL="0" indent="0" algn="l">
              <a:lnSpc>
                <a:spcPct val="100000"/>
              </a:lnSpc>
              <a:buNone/>
            </a:pPr>
            <a:r>
              <a:rPr lang="en-US" sz="1210" dirty="0">
                <a:solidFill>
                  <a:srgbClr val="1D3957"/>
                </a:solidFill>
                <a:latin typeface="Noto Sans CJK JP" pitchFamily="34" charset="0"/>
                <a:ea typeface="Noto Sans CJK JP" pitchFamily="34" charset="-122"/>
                <a:cs typeface="Noto Sans CJK JP" pitchFamily="34" charset="-120"/>
              </a:rPr>
              <a:t>検証時は重みを更新せず、検証損失が最小のモデルを保存します。</a:t>
            </a:r>
            <a:endParaRPr lang="en-US" sz="121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How do we choose the final model?</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最終モデルは何を基準に選ぶ？</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20</a:t>
            </a:r>
            <a:endParaRPr lang="en-US" sz="870" dirty="0"/>
          </a:p>
        </p:txBody>
      </p:sp>
      <p:sp>
        <p:nvSpPr>
          <p:cNvPr id="10" name="Shape 8"/>
          <p:cNvSpPr/>
          <p:nvPr/>
        </p:nvSpPr>
        <p:spPr>
          <a:xfrm>
            <a:off x="1005840" y="1527048"/>
            <a:ext cx="4681728" cy="923544"/>
          </a:xfrm>
          <a:prstGeom prst="roundRect">
            <a:avLst>
              <a:gd name="adj" fmla="val 9901"/>
            </a:avLst>
          </a:prstGeom>
          <a:solidFill>
            <a:srgbClr val="E9F3FC"/>
          </a:solidFill>
          <a:ln w="8890">
            <a:solidFill>
              <a:srgbClr val="E9F3FC"/>
            </a:solidFill>
            <a:prstDash val="solid"/>
          </a:ln>
        </p:spPr>
        <p:txBody>
          <a:bodyPr/>
          <a:lstStyle/>
          <a:p>
            <a:endParaRPr lang="en-JP"/>
          </a:p>
        </p:txBody>
      </p:sp>
      <p:sp>
        <p:nvSpPr>
          <p:cNvPr id="11" name="Text 9"/>
          <p:cNvSpPr/>
          <p:nvPr/>
        </p:nvSpPr>
        <p:spPr>
          <a:xfrm>
            <a:off x="1097280" y="1595628"/>
            <a:ext cx="4498848" cy="237744"/>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D3957"/>
                </a:solidFill>
                <a:latin typeface="Aptos" pitchFamily="34" charset="0"/>
                <a:ea typeface="Aptos" pitchFamily="34" charset="-122"/>
                <a:cs typeface="Aptos" pitchFamily="34" charset="-120"/>
              </a:rPr>
              <a:t>Head-only best checkpoint</a:t>
            </a:r>
            <a:endParaRPr lang="en-US" sz="1400" dirty="0"/>
          </a:p>
        </p:txBody>
      </p:sp>
      <p:sp>
        <p:nvSpPr>
          <p:cNvPr id="12" name="Text 10"/>
          <p:cNvSpPr/>
          <p:nvPr/>
        </p:nvSpPr>
        <p:spPr>
          <a:xfrm>
            <a:off x="1097280" y="1865376"/>
            <a:ext cx="4498848"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第1段階の最良モデル</a:t>
            </a:r>
            <a:endParaRPr lang="en-US" sz="1120" dirty="0"/>
          </a:p>
        </p:txBody>
      </p:sp>
      <p:sp>
        <p:nvSpPr>
          <p:cNvPr id="13" name="Shape 11"/>
          <p:cNvSpPr/>
          <p:nvPr/>
        </p:nvSpPr>
        <p:spPr>
          <a:xfrm>
            <a:off x="6446520" y="1527048"/>
            <a:ext cx="4681728" cy="923544"/>
          </a:xfrm>
          <a:prstGeom prst="roundRect">
            <a:avLst>
              <a:gd name="adj" fmla="val 9901"/>
            </a:avLst>
          </a:prstGeom>
          <a:solidFill>
            <a:srgbClr val="DDF5EF"/>
          </a:solidFill>
          <a:ln w="8890">
            <a:solidFill>
              <a:srgbClr val="DDF5EF"/>
            </a:solidFill>
            <a:prstDash val="solid"/>
          </a:ln>
        </p:spPr>
        <p:txBody>
          <a:bodyPr/>
          <a:lstStyle/>
          <a:p>
            <a:endParaRPr lang="en-JP"/>
          </a:p>
        </p:txBody>
      </p:sp>
      <p:sp>
        <p:nvSpPr>
          <p:cNvPr id="14" name="Text 12"/>
          <p:cNvSpPr/>
          <p:nvPr/>
        </p:nvSpPr>
        <p:spPr>
          <a:xfrm>
            <a:off x="6537960" y="1595628"/>
            <a:ext cx="4498848" cy="237744"/>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D3957"/>
                </a:solidFill>
                <a:latin typeface="Aptos" pitchFamily="34" charset="0"/>
                <a:ea typeface="Aptos" pitchFamily="34" charset="-122"/>
                <a:cs typeface="Aptos" pitchFamily="34" charset="-120"/>
              </a:rPr>
              <a:t>Fine-tuned best checkpoint</a:t>
            </a:r>
            <a:endParaRPr lang="en-US" sz="1400" dirty="0"/>
          </a:p>
        </p:txBody>
      </p:sp>
      <p:sp>
        <p:nvSpPr>
          <p:cNvPr id="15" name="Text 13"/>
          <p:cNvSpPr/>
          <p:nvPr/>
        </p:nvSpPr>
        <p:spPr>
          <a:xfrm>
            <a:off x="6537960" y="1865376"/>
            <a:ext cx="4498848"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第2段階の最良モデル</a:t>
            </a:r>
            <a:endParaRPr lang="en-US" sz="1120" dirty="0"/>
          </a:p>
        </p:txBody>
      </p:sp>
      <p:sp>
        <p:nvSpPr>
          <p:cNvPr id="16" name="Shape 14"/>
          <p:cNvSpPr/>
          <p:nvPr/>
        </p:nvSpPr>
        <p:spPr>
          <a:xfrm>
            <a:off x="3401568" y="2496312"/>
            <a:ext cx="1417320" cy="758952"/>
          </a:xfrm>
          <a:prstGeom prst="line">
            <a:avLst/>
          </a:prstGeom>
          <a:noFill/>
          <a:ln w="22860">
            <a:solidFill>
              <a:srgbClr val="1D3957"/>
            </a:solidFill>
            <a:prstDash val="solid"/>
            <a:headEnd type="none"/>
            <a:tailEnd type="triangle"/>
          </a:ln>
        </p:spPr>
        <p:txBody>
          <a:bodyPr/>
          <a:lstStyle/>
          <a:p>
            <a:endParaRPr lang="en-JP"/>
          </a:p>
        </p:txBody>
      </p:sp>
      <p:sp>
        <p:nvSpPr>
          <p:cNvPr id="17" name="Shape 15"/>
          <p:cNvSpPr/>
          <p:nvPr/>
        </p:nvSpPr>
        <p:spPr>
          <a:xfrm flipH="1">
            <a:off x="6858000" y="2496312"/>
            <a:ext cx="1947672" cy="795528"/>
          </a:xfrm>
          <a:prstGeom prst="line">
            <a:avLst/>
          </a:prstGeom>
          <a:noFill/>
          <a:ln w="22860">
            <a:solidFill>
              <a:srgbClr val="1D3957"/>
            </a:solidFill>
            <a:prstDash val="solid"/>
            <a:headEnd type="none"/>
            <a:tailEnd type="triangle"/>
          </a:ln>
        </p:spPr>
        <p:txBody>
          <a:bodyPr/>
          <a:lstStyle/>
          <a:p>
            <a:endParaRPr lang="en-JP"/>
          </a:p>
        </p:txBody>
      </p:sp>
      <p:sp>
        <p:nvSpPr>
          <p:cNvPr id="18" name="Shape 16"/>
          <p:cNvSpPr/>
          <p:nvPr/>
        </p:nvSpPr>
        <p:spPr>
          <a:xfrm>
            <a:off x="4626864" y="3300984"/>
            <a:ext cx="2825496" cy="914400"/>
          </a:xfrm>
          <a:prstGeom prst="roundRect">
            <a:avLst>
              <a:gd name="adj" fmla="val 10000"/>
            </a:avLst>
          </a:prstGeom>
          <a:solidFill>
            <a:srgbClr val="FFF2DD"/>
          </a:solidFill>
          <a:ln w="8890">
            <a:solidFill>
              <a:srgbClr val="FFF2DD"/>
            </a:solidFill>
            <a:prstDash val="solid"/>
          </a:ln>
        </p:spPr>
        <p:txBody>
          <a:bodyPr/>
          <a:lstStyle/>
          <a:p>
            <a:endParaRPr lang="en-JP"/>
          </a:p>
        </p:txBody>
      </p:sp>
      <p:sp>
        <p:nvSpPr>
          <p:cNvPr id="19" name="Text 17"/>
          <p:cNvSpPr/>
          <p:nvPr/>
        </p:nvSpPr>
        <p:spPr>
          <a:xfrm>
            <a:off x="4718304" y="3369564"/>
            <a:ext cx="2642616" cy="237744"/>
          </a:xfrm>
          <a:prstGeom prst="rect">
            <a:avLst/>
          </a:prstGeom>
          <a:noFill/>
          <a:ln/>
        </p:spPr>
        <p:txBody>
          <a:bodyPr wrap="square" lIns="0" tIns="0" rIns="0" bIns="0" rtlCol="0" anchor="ctr">
            <a:normAutofit/>
          </a:bodyPr>
          <a:lstStyle/>
          <a:p>
            <a:pPr marL="0" indent="0" algn="ctr">
              <a:lnSpc>
                <a:spcPct val="100000"/>
              </a:lnSpc>
              <a:buNone/>
            </a:pPr>
            <a:r>
              <a:rPr lang="en-US" sz="1350" b="1" dirty="0">
                <a:solidFill>
                  <a:srgbClr val="1D3957"/>
                </a:solidFill>
                <a:latin typeface="Aptos" pitchFamily="34" charset="0"/>
                <a:ea typeface="Aptos" pitchFamily="34" charset="-122"/>
                <a:cs typeface="Aptos" pitchFamily="34" charset="-120"/>
              </a:rPr>
              <a:t>Compare validation loss</a:t>
            </a:r>
            <a:endParaRPr lang="en-US" sz="1350" dirty="0"/>
          </a:p>
        </p:txBody>
      </p:sp>
      <p:sp>
        <p:nvSpPr>
          <p:cNvPr id="20" name="Text 18"/>
          <p:cNvSpPr/>
          <p:nvPr/>
        </p:nvSpPr>
        <p:spPr>
          <a:xfrm>
            <a:off x="4718304" y="3639312"/>
            <a:ext cx="2642616"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検証損失の小さい方を選ぶ</a:t>
            </a:r>
            <a:endParaRPr lang="en-US" sz="1120" dirty="0"/>
          </a:p>
        </p:txBody>
      </p:sp>
      <p:sp>
        <p:nvSpPr>
          <p:cNvPr id="21" name="Shape 19"/>
          <p:cNvSpPr/>
          <p:nvPr/>
        </p:nvSpPr>
        <p:spPr>
          <a:xfrm>
            <a:off x="6025896" y="4279392"/>
            <a:ext cx="0" cy="493776"/>
          </a:xfrm>
          <a:prstGeom prst="line">
            <a:avLst/>
          </a:prstGeom>
          <a:noFill/>
          <a:ln w="22860">
            <a:solidFill>
              <a:srgbClr val="1D3957"/>
            </a:solidFill>
            <a:prstDash val="solid"/>
            <a:headEnd type="none"/>
            <a:tailEnd type="triangle"/>
          </a:ln>
        </p:spPr>
        <p:txBody>
          <a:bodyPr/>
          <a:lstStyle/>
          <a:p>
            <a:endParaRPr lang="en-JP"/>
          </a:p>
        </p:txBody>
      </p:sp>
      <p:sp>
        <p:nvSpPr>
          <p:cNvPr id="22" name="Shape 20"/>
          <p:cNvSpPr/>
          <p:nvPr/>
        </p:nvSpPr>
        <p:spPr>
          <a:xfrm>
            <a:off x="3374136" y="4809744"/>
            <a:ext cx="5340096" cy="941832"/>
          </a:xfrm>
          <a:prstGeom prst="roundRect">
            <a:avLst>
              <a:gd name="adj" fmla="val 9709"/>
            </a:avLst>
          </a:prstGeom>
          <a:solidFill>
            <a:srgbClr val="F5F8FC"/>
          </a:solidFill>
          <a:ln w="8890">
            <a:solidFill>
              <a:srgbClr val="CBD8E5"/>
            </a:solidFill>
            <a:prstDash val="solid"/>
          </a:ln>
        </p:spPr>
        <p:txBody>
          <a:bodyPr/>
          <a:lstStyle/>
          <a:p>
            <a:endParaRPr lang="en-JP"/>
          </a:p>
        </p:txBody>
      </p:sp>
      <p:sp>
        <p:nvSpPr>
          <p:cNvPr id="23" name="Text 21"/>
          <p:cNvSpPr/>
          <p:nvPr/>
        </p:nvSpPr>
        <p:spPr>
          <a:xfrm>
            <a:off x="3465576" y="4878324"/>
            <a:ext cx="5157216" cy="237744"/>
          </a:xfrm>
          <a:prstGeom prst="rect">
            <a:avLst/>
          </a:prstGeom>
          <a:noFill/>
          <a:ln/>
        </p:spPr>
        <p:txBody>
          <a:bodyPr wrap="square" lIns="0" tIns="0" rIns="0" bIns="0" rtlCol="0" anchor="ctr">
            <a:normAutofit lnSpcReduction="10000"/>
          </a:bodyPr>
          <a:lstStyle/>
          <a:p>
            <a:pPr marL="0" indent="0" algn="ctr">
              <a:lnSpc>
                <a:spcPct val="100000"/>
              </a:lnSpc>
              <a:buNone/>
            </a:pPr>
            <a:r>
              <a:rPr lang="en-US" sz="1700" b="1" dirty="0">
                <a:solidFill>
                  <a:srgbClr val="1D3957"/>
                </a:solidFill>
                <a:latin typeface="Aptos" pitchFamily="34" charset="0"/>
                <a:ea typeface="Aptos" pitchFamily="34" charset="-122"/>
                <a:cs typeface="Aptos" pitchFamily="34" charset="-120"/>
              </a:rPr>
              <a:t>Evaluate test images ONCE</a:t>
            </a:r>
            <a:endParaRPr lang="en-US" sz="1700" dirty="0"/>
          </a:p>
        </p:txBody>
      </p:sp>
      <p:sp>
        <p:nvSpPr>
          <p:cNvPr id="24" name="Text 22"/>
          <p:cNvSpPr/>
          <p:nvPr/>
        </p:nvSpPr>
        <p:spPr>
          <a:xfrm>
            <a:off x="3465576" y="5148072"/>
            <a:ext cx="5157216"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最後に独立テストデータで評価</a:t>
            </a:r>
            <a:endParaRPr lang="en-US" sz="11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Reading training curves (illustration)</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学習曲線の読み方（模式例）</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21</a:t>
            </a:r>
            <a:endParaRPr lang="en-US" sz="870" dirty="0"/>
          </a:p>
        </p:txBody>
      </p:sp>
      <p:sp>
        <p:nvSpPr>
          <p:cNvPr id="10" name="Shape 8"/>
          <p:cNvSpPr/>
          <p:nvPr/>
        </p:nvSpPr>
        <p:spPr>
          <a:xfrm>
            <a:off x="1197864" y="1865376"/>
            <a:ext cx="9637776" cy="3383280"/>
          </a:xfrm>
          <a:prstGeom prst="roundRect">
            <a:avLst>
              <a:gd name="adj" fmla="val 1622"/>
            </a:avLst>
          </a:prstGeom>
          <a:solidFill>
            <a:srgbClr val="FBFCFE"/>
          </a:solidFill>
          <a:ln w="8890">
            <a:solidFill>
              <a:srgbClr val="CBD8E5"/>
            </a:solidFill>
            <a:prstDash val="solid"/>
          </a:ln>
        </p:spPr>
        <p:txBody>
          <a:bodyPr/>
          <a:lstStyle/>
          <a:p>
            <a:endParaRPr lang="en-JP"/>
          </a:p>
        </p:txBody>
      </p:sp>
      <p:sp>
        <p:nvSpPr>
          <p:cNvPr id="11" name="Shape 9"/>
          <p:cNvSpPr/>
          <p:nvPr/>
        </p:nvSpPr>
        <p:spPr>
          <a:xfrm>
            <a:off x="1746504" y="2139696"/>
            <a:ext cx="8906256" cy="0"/>
          </a:xfrm>
          <a:prstGeom prst="line">
            <a:avLst/>
          </a:prstGeom>
          <a:noFill/>
          <a:ln w="8890">
            <a:solidFill>
              <a:srgbClr val="E4EDF4"/>
            </a:solidFill>
            <a:prstDash val="solid"/>
            <a:headEnd type="none"/>
            <a:tailEnd type="none"/>
          </a:ln>
        </p:spPr>
        <p:txBody>
          <a:bodyPr/>
          <a:lstStyle/>
          <a:p>
            <a:endParaRPr lang="en-JP"/>
          </a:p>
        </p:txBody>
      </p:sp>
      <p:sp>
        <p:nvSpPr>
          <p:cNvPr id="12" name="Shape 10"/>
          <p:cNvSpPr/>
          <p:nvPr/>
        </p:nvSpPr>
        <p:spPr>
          <a:xfrm>
            <a:off x="1746504" y="2834640"/>
            <a:ext cx="8906256" cy="0"/>
          </a:xfrm>
          <a:prstGeom prst="line">
            <a:avLst/>
          </a:prstGeom>
          <a:noFill/>
          <a:ln w="8890">
            <a:solidFill>
              <a:srgbClr val="E4EDF4"/>
            </a:solidFill>
            <a:prstDash val="solid"/>
            <a:headEnd type="none"/>
            <a:tailEnd type="none"/>
          </a:ln>
        </p:spPr>
        <p:txBody>
          <a:bodyPr/>
          <a:lstStyle/>
          <a:p>
            <a:endParaRPr lang="en-JP"/>
          </a:p>
        </p:txBody>
      </p:sp>
      <p:sp>
        <p:nvSpPr>
          <p:cNvPr id="13" name="Shape 11"/>
          <p:cNvSpPr/>
          <p:nvPr/>
        </p:nvSpPr>
        <p:spPr>
          <a:xfrm>
            <a:off x="1746504" y="3529584"/>
            <a:ext cx="8906256" cy="0"/>
          </a:xfrm>
          <a:prstGeom prst="line">
            <a:avLst/>
          </a:prstGeom>
          <a:noFill/>
          <a:ln w="8890">
            <a:solidFill>
              <a:srgbClr val="E4EDF4"/>
            </a:solidFill>
            <a:prstDash val="solid"/>
            <a:headEnd type="none"/>
            <a:tailEnd type="none"/>
          </a:ln>
        </p:spPr>
        <p:txBody>
          <a:bodyPr/>
          <a:lstStyle/>
          <a:p>
            <a:endParaRPr lang="en-JP"/>
          </a:p>
        </p:txBody>
      </p:sp>
      <p:sp>
        <p:nvSpPr>
          <p:cNvPr id="14" name="Shape 12"/>
          <p:cNvSpPr/>
          <p:nvPr/>
        </p:nvSpPr>
        <p:spPr>
          <a:xfrm>
            <a:off x="1746504" y="4224528"/>
            <a:ext cx="8906256" cy="0"/>
          </a:xfrm>
          <a:prstGeom prst="line">
            <a:avLst/>
          </a:prstGeom>
          <a:noFill/>
          <a:ln w="8890">
            <a:solidFill>
              <a:srgbClr val="E4EDF4"/>
            </a:solidFill>
            <a:prstDash val="solid"/>
            <a:headEnd type="none"/>
            <a:tailEnd type="none"/>
          </a:ln>
        </p:spPr>
        <p:txBody>
          <a:bodyPr/>
          <a:lstStyle/>
          <a:p>
            <a:endParaRPr lang="en-JP"/>
          </a:p>
        </p:txBody>
      </p:sp>
      <p:sp>
        <p:nvSpPr>
          <p:cNvPr id="15" name="Shape 13"/>
          <p:cNvSpPr/>
          <p:nvPr/>
        </p:nvSpPr>
        <p:spPr>
          <a:xfrm>
            <a:off x="1746504" y="4919472"/>
            <a:ext cx="8906256" cy="0"/>
          </a:xfrm>
          <a:prstGeom prst="line">
            <a:avLst/>
          </a:prstGeom>
          <a:noFill/>
          <a:ln w="8890">
            <a:solidFill>
              <a:srgbClr val="E4EDF4"/>
            </a:solidFill>
            <a:prstDash val="solid"/>
            <a:headEnd type="none"/>
            <a:tailEnd type="none"/>
          </a:ln>
        </p:spPr>
        <p:txBody>
          <a:bodyPr/>
          <a:lstStyle/>
          <a:p>
            <a:endParaRPr lang="en-JP"/>
          </a:p>
        </p:txBody>
      </p:sp>
      <p:sp>
        <p:nvSpPr>
          <p:cNvPr id="16" name="Shape 14"/>
          <p:cNvSpPr/>
          <p:nvPr/>
        </p:nvSpPr>
        <p:spPr>
          <a:xfrm>
            <a:off x="1819656" y="2292858"/>
            <a:ext cx="1572768" cy="1010412"/>
          </a:xfrm>
          <a:prstGeom prst="line">
            <a:avLst/>
          </a:prstGeom>
          <a:noFill/>
          <a:ln w="35560">
            <a:solidFill>
              <a:srgbClr val="21679D"/>
            </a:solidFill>
            <a:prstDash val="solid"/>
            <a:headEnd type="none"/>
            <a:tailEnd type="none"/>
          </a:ln>
        </p:spPr>
        <p:txBody>
          <a:bodyPr/>
          <a:lstStyle/>
          <a:p>
            <a:endParaRPr lang="en-JP"/>
          </a:p>
        </p:txBody>
      </p:sp>
      <p:sp>
        <p:nvSpPr>
          <p:cNvPr id="17" name="Shape 15"/>
          <p:cNvSpPr/>
          <p:nvPr/>
        </p:nvSpPr>
        <p:spPr>
          <a:xfrm>
            <a:off x="1819656" y="2137410"/>
            <a:ext cx="1572768" cy="893826"/>
          </a:xfrm>
          <a:prstGeom prst="line">
            <a:avLst/>
          </a:prstGeom>
          <a:noFill/>
          <a:ln w="35560">
            <a:solidFill>
              <a:srgbClr val="D86770"/>
            </a:solidFill>
            <a:prstDash val="solid"/>
            <a:headEnd type="none"/>
            <a:tailEnd type="none"/>
          </a:ln>
        </p:spPr>
        <p:txBody>
          <a:bodyPr/>
          <a:lstStyle/>
          <a:p>
            <a:endParaRPr lang="en-JP"/>
          </a:p>
        </p:txBody>
      </p:sp>
      <p:sp>
        <p:nvSpPr>
          <p:cNvPr id="18" name="Shape 16"/>
          <p:cNvSpPr/>
          <p:nvPr/>
        </p:nvSpPr>
        <p:spPr>
          <a:xfrm>
            <a:off x="3392424" y="3303270"/>
            <a:ext cx="1572768" cy="582930"/>
          </a:xfrm>
          <a:prstGeom prst="line">
            <a:avLst/>
          </a:prstGeom>
          <a:noFill/>
          <a:ln w="35560">
            <a:solidFill>
              <a:srgbClr val="21679D"/>
            </a:solidFill>
            <a:prstDash val="solid"/>
            <a:headEnd type="none"/>
            <a:tailEnd type="none"/>
          </a:ln>
        </p:spPr>
        <p:txBody>
          <a:bodyPr/>
          <a:lstStyle/>
          <a:p>
            <a:endParaRPr lang="en-JP"/>
          </a:p>
        </p:txBody>
      </p:sp>
      <p:sp>
        <p:nvSpPr>
          <p:cNvPr id="19" name="Shape 17"/>
          <p:cNvSpPr/>
          <p:nvPr/>
        </p:nvSpPr>
        <p:spPr>
          <a:xfrm>
            <a:off x="3392424" y="3031236"/>
            <a:ext cx="1572768" cy="349758"/>
          </a:xfrm>
          <a:prstGeom prst="line">
            <a:avLst/>
          </a:prstGeom>
          <a:noFill/>
          <a:ln w="35560">
            <a:solidFill>
              <a:srgbClr val="D86770"/>
            </a:solidFill>
            <a:prstDash val="solid"/>
            <a:headEnd type="none"/>
            <a:tailEnd type="none"/>
          </a:ln>
        </p:spPr>
        <p:txBody>
          <a:bodyPr/>
          <a:lstStyle/>
          <a:p>
            <a:endParaRPr lang="en-JP"/>
          </a:p>
        </p:txBody>
      </p:sp>
      <p:sp>
        <p:nvSpPr>
          <p:cNvPr id="20" name="Shape 18"/>
          <p:cNvSpPr/>
          <p:nvPr/>
        </p:nvSpPr>
        <p:spPr>
          <a:xfrm>
            <a:off x="4965192" y="3886200"/>
            <a:ext cx="1572768" cy="233172"/>
          </a:xfrm>
          <a:prstGeom prst="line">
            <a:avLst/>
          </a:prstGeom>
          <a:noFill/>
          <a:ln w="35560">
            <a:solidFill>
              <a:srgbClr val="21679D"/>
            </a:solidFill>
            <a:prstDash val="solid"/>
            <a:headEnd type="none"/>
            <a:tailEnd type="none"/>
          </a:ln>
        </p:spPr>
        <p:txBody>
          <a:bodyPr/>
          <a:lstStyle/>
          <a:p>
            <a:endParaRPr lang="en-JP"/>
          </a:p>
        </p:txBody>
      </p:sp>
      <p:sp>
        <p:nvSpPr>
          <p:cNvPr id="21" name="Shape 19"/>
          <p:cNvSpPr/>
          <p:nvPr/>
        </p:nvSpPr>
        <p:spPr>
          <a:xfrm>
            <a:off x="4965192" y="3380994"/>
            <a:ext cx="1572768" cy="194310"/>
          </a:xfrm>
          <a:prstGeom prst="line">
            <a:avLst/>
          </a:prstGeom>
          <a:noFill/>
          <a:ln w="35560">
            <a:solidFill>
              <a:srgbClr val="D86770"/>
            </a:solidFill>
            <a:prstDash val="solid"/>
            <a:headEnd type="none"/>
            <a:tailEnd type="none"/>
          </a:ln>
        </p:spPr>
        <p:txBody>
          <a:bodyPr/>
          <a:lstStyle/>
          <a:p>
            <a:endParaRPr lang="en-JP"/>
          </a:p>
        </p:txBody>
      </p:sp>
      <p:sp>
        <p:nvSpPr>
          <p:cNvPr id="22" name="Shape 20"/>
          <p:cNvSpPr/>
          <p:nvPr/>
        </p:nvSpPr>
        <p:spPr>
          <a:xfrm>
            <a:off x="6537960" y="4119372"/>
            <a:ext cx="1572768" cy="194310"/>
          </a:xfrm>
          <a:prstGeom prst="line">
            <a:avLst/>
          </a:prstGeom>
          <a:noFill/>
          <a:ln w="35560">
            <a:solidFill>
              <a:srgbClr val="21679D"/>
            </a:solidFill>
            <a:prstDash val="solid"/>
            <a:headEnd type="none"/>
            <a:tailEnd type="none"/>
          </a:ln>
        </p:spPr>
        <p:txBody>
          <a:bodyPr/>
          <a:lstStyle/>
          <a:p>
            <a:endParaRPr lang="en-JP"/>
          </a:p>
        </p:txBody>
      </p:sp>
      <p:sp>
        <p:nvSpPr>
          <p:cNvPr id="23" name="Shape 21"/>
          <p:cNvSpPr/>
          <p:nvPr/>
        </p:nvSpPr>
        <p:spPr>
          <a:xfrm>
            <a:off x="6537960" y="3575304"/>
            <a:ext cx="1572768" cy="77724"/>
          </a:xfrm>
          <a:prstGeom prst="line">
            <a:avLst/>
          </a:prstGeom>
          <a:noFill/>
          <a:ln w="35560">
            <a:solidFill>
              <a:srgbClr val="D86770"/>
            </a:solidFill>
            <a:prstDash val="solid"/>
            <a:headEnd type="none"/>
            <a:tailEnd type="none"/>
          </a:ln>
        </p:spPr>
        <p:txBody>
          <a:bodyPr/>
          <a:lstStyle/>
          <a:p>
            <a:endParaRPr lang="en-JP"/>
          </a:p>
        </p:txBody>
      </p:sp>
      <p:sp>
        <p:nvSpPr>
          <p:cNvPr id="24" name="Shape 22"/>
          <p:cNvSpPr/>
          <p:nvPr/>
        </p:nvSpPr>
        <p:spPr>
          <a:xfrm>
            <a:off x="8110728" y="4313682"/>
            <a:ext cx="1572768" cy="194310"/>
          </a:xfrm>
          <a:prstGeom prst="line">
            <a:avLst/>
          </a:prstGeom>
          <a:noFill/>
          <a:ln w="35560">
            <a:solidFill>
              <a:srgbClr val="21679D"/>
            </a:solidFill>
            <a:prstDash val="solid"/>
            <a:headEnd type="none"/>
            <a:tailEnd type="none"/>
          </a:ln>
        </p:spPr>
        <p:txBody>
          <a:bodyPr/>
          <a:lstStyle/>
          <a:p>
            <a:endParaRPr lang="en-JP"/>
          </a:p>
        </p:txBody>
      </p:sp>
      <p:sp>
        <p:nvSpPr>
          <p:cNvPr id="25" name="Shape 23"/>
          <p:cNvSpPr/>
          <p:nvPr/>
        </p:nvSpPr>
        <p:spPr>
          <a:xfrm>
            <a:off x="8110728" y="3653028"/>
            <a:ext cx="1572768" cy="0"/>
          </a:xfrm>
          <a:prstGeom prst="line">
            <a:avLst/>
          </a:prstGeom>
          <a:noFill/>
          <a:ln w="35560">
            <a:solidFill>
              <a:srgbClr val="D86770"/>
            </a:solidFill>
            <a:prstDash val="solid"/>
            <a:headEnd type="none"/>
            <a:tailEnd type="none"/>
          </a:ln>
        </p:spPr>
        <p:txBody>
          <a:bodyPr/>
          <a:lstStyle/>
          <a:p>
            <a:endParaRPr lang="en-JP"/>
          </a:p>
        </p:txBody>
      </p:sp>
      <p:sp>
        <p:nvSpPr>
          <p:cNvPr id="26" name="Shape 24"/>
          <p:cNvSpPr/>
          <p:nvPr/>
        </p:nvSpPr>
        <p:spPr>
          <a:xfrm>
            <a:off x="1769364" y="2242566"/>
            <a:ext cx="100584" cy="100584"/>
          </a:xfrm>
          <a:prstGeom prst="ellipse">
            <a:avLst/>
          </a:prstGeom>
          <a:solidFill>
            <a:srgbClr val="21679D"/>
          </a:solidFill>
          <a:ln w="10160">
            <a:solidFill>
              <a:srgbClr val="21679D"/>
            </a:solidFill>
            <a:prstDash val="solid"/>
          </a:ln>
        </p:spPr>
        <p:txBody>
          <a:bodyPr/>
          <a:lstStyle/>
          <a:p>
            <a:endParaRPr lang="en-JP"/>
          </a:p>
        </p:txBody>
      </p:sp>
      <p:sp>
        <p:nvSpPr>
          <p:cNvPr id="27" name="Shape 25"/>
          <p:cNvSpPr/>
          <p:nvPr/>
        </p:nvSpPr>
        <p:spPr>
          <a:xfrm>
            <a:off x="1769364" y="2087118"/>
            <a:ext cx="100584" cy="100584"/>
          </a:xfrm>
          <a:prstGeom prst="ellipse">
            <a:avLst/>
          </a:prstGeom>
          <a:solidFill>
            <a:srgbClr val="D86770"/>
          </a:solidFill>
          <a:ln w="10160">
            <a:solidFill>
              <a:srgbClr val="D86770"/>
            </a:solidFill>
            <a:prstDash val="solid"/>
          </a:ln>
        </p:spPr>
        <p:txBody>
          <a:bodyPr/>
          <a:lstStyle/>
          <a:p>
            <a:endParaRPr lang="en-JP"/>
          </a:p>
        </p:txBody>
      </p:sp>
      <p:sp>
        <p:nvSpPr>
          <p:cNvPr id="28" name="Text 26"/>
          <p:cNvSpPr/>
          <p:nvPr/>
        </p:nvSpPr>
        <p:spPr>
          <a:xfrm>
            <a:off x="1709928" y="4928616"/>
            <a:ext cx="228600" cy="173736"/>
          </a:xfrm>
          <a:prstGeom prst="rect">
            <a:avLst/>
          </a:prstGeom>
          <a:noFill/>
          <a:ln/>
        </p:spPr>
        <p:txBody>
          <a:bodyPr wrap="square" lIns="0" tIns="0" rIns="0" bIns="0" rtlCol="0" anchor="ctr">
            <a:normAutofit/>
          </a:bodyPr>
          <a:lstStyle/>
          <a:p>
            <a:pPr marL="0" indent="0" algn="ctr">
              <a:lnSpc>
                <a:spcPct val="100000"/>
              </a:lnSpc>
              <a:buNone/>
            </a:pPr>
            <a:r>
              <a:rPr lang="en-US" sz="1100" dirty="0">
                <a:solidFill>
                  <a:srgbClr val="607084"/>
                </a:solidFill>
                <a:latin typeface="Aptos" pitchFamily="34" charset="0"/>
                <a:ea typeface="Aptos" pitchFamily="34" charset="-122"/>
                <a:cs typeface="Aptos" pitchFamily="34" charset="-120"/>
              </a:rPr>
              <a:t>1</a:t>
            </a:r>
            <a:endParaRPr lang="en-US" sz="1100" dirty="0"/>
          </a:p>
        </p:txBody>
      </p:sp>
      <p:sp>
        <p:nvSpPr>
          <p:cNvPr id="29" name="Shape 27"/>
          <p:cNvSpPr/>
          <p:nvPr/>
        </p:nvSpPr>
        <p:spPr>
          <a:xfrm>
            <a:off x="3342132" y="3252978"/>
            <a:ext cx="100584" cy="100584"/>
          </a:xfrm>
          <a:prstGeom prst="ellipse">
            <a:avLst/>
          </a:prstGeom>
          <a:solidFill>
            <a:srgbClr val="21679D"/>
          </a:solidFill>
          <a:ln w="10160">
            <a:solidFill>
              <a:srgbClr val="21679D"/>
            </a:solidFill>
            <a:prstDash val="solid"/>
          </a:ln>
        </p:spPr>
        <p:txBody>
          <a:bodyPr/>
          <a:lstStyle/>
          <a:p>
            <a:endParaRPr lang="en-JP"/>
          </a:p>
        </p:txBody>
      </p:sp>
      <p:sp>
        <p:nvSpPr>
          <p:cNvPr id="30" name="Shape 28"/>
          <p:cNvSpPr/>
          <p:nvPr/>
        </p:nvSpPr>
        <p:spPr>
          <a:xfrm>
            <a:off x="3342132" y="2980944"/>
            <a:ext cx="100584" cy="100584"/>
          </a:xfrm>
          <a:prstGeom prst="ellipse">
            <a:avLst/>
          </a:prstGeom>
          <a:solidFill>
            <a:srgbClr val="D86770"/>
          </a:solidFill>
          <a:ln w="10160">
            <a:solidFill>
              <a:srgbClr val="D86770"/>
            </a:solidFill>
            <a:prstDash val="solid"/>
          </a:ln>
        </p:spPr>
        <p:txBody>
          <a:bodyPr/>
          <a:lstStyle/>
          <a:p>
            <a:endParaRPr lang="en-JP"/>
          </a:p>
        </p:txBody>
      </p:sp>
      <p:sp>
        <p:nvSpPr>
          <p:cNvPr id="31" name="Text 29"/>
          <p:cNvSpPr/>
          <p:nvPr/>
        </p:nvSpPr>
        <p:spPr>
          <a:xfrm>
            <a:off x="3282696" y="4928616"/>
            <a:ext cx="228600" cy="173736"/>
          </a:xfrm>
          <a:prstGeom prst="rect">
            <a:avLst/>
          </a:prstGeom>
          <a:noFill/>
          <a:ln/>
        </p:spPr>
        <p:txBody>
          <a:bodyPr wrap="square" lIns="0" tIns="0" rIns="0" bIns="0" rtlCol="0" anchor="ctr">
            <a:normAutofit/>
          </a:bodyPr>
          <a:lstStyle/>
          <a:p>
            <a:pPr marL="0" indent="0" algn="ctr">
              <a:lnSpc>
                <a:spcPct val="100000"/>
              </a:lnSpc>
              <a:buNone/>
            </a:pPr>
            <a:r>
              <a:rPr lang="en-US" sz="1100" dirty="0">
                <a:solidFill>
                  <a:srgbClr val="607084"/>
                </a:solidFill>
                <a:latin typeface="Aptos" pitchFamily="34" charset="0"/>
                <a:ea typeface="Aptos" pitchFamily="34" charset="-122"/>
                <a:cs typeface="Aptos" pitchFamily="34" charset="-120"/>
              </a:rPr>
              <a:t>2</a:t>
            </a:r>
            <a:endParaRPr lang="en-US" sz="1100" dirty="0"/>
          </a:p>
        </p:txBody>
      </p:sp>
      <p:sp>
        <p:nvSpPr>
          <p:cNvPr id="32" name="Shape 30"/>
          <p:cNvSpPr/>
          <p:nvPr/>
        </p:nvSpPr>
        <p:spPr>
          <a:xfrm>
            <a:off x="4914900" y="3835908"/>
            <a:ext cx="100584" cy="100584"/>
          </a:xfrm>
          <a:prstGeom prst="ellipse">
            <a:avLst/>
          </a:prstGeom>
          <a:solidFill>
            <a:srgbClr val="21679D"/>
          </a:solidFill>
          <a:ln w="10160">
            <a:solidFill>
              <a:srgbClr val="21679D"/>
            </a:solidFill>
            <a:prstDash val="solid"/>
          </a:ln>
        </p:spPr>
        <p:txBody>
          <a:bodyPr/>
          <a:lstStyle/>
          <a:p>
            <a:endParaRPr lang="en-JP"/>
          </a:p>
        </p:txBody>
      </p:sp>
      <p:sp>
        <p:nvSpPr>
          <p:cNvPr id="33" name="Shape 31"/>
          <p:cNvSpPr/>
          <p:nvPr/>
        </p:nvSpPr>
        <p:spPr>
          <a:xfrm>
            <a:off x="4914900" y="3330702"/>
            <a:ext cx="100584" cy="100584"/>
          </a:xfrm>
          <a:prstGeom prst="ellipse">
            <a:avLst/>
          </a:prstGeom>
          <a:solidFill>
            <a:srgbClr val="D86770"/>
          </a:solidFill>
          <a:ln w="10160">
            <a:solidFill>
              <a:srgbClr val="D86770"/>
            </a:solidFill>
            <a:prstDash val="solid"/>
          </a:ln>
        </p:spPr>
        <p:txBody>
          <a:bodyPr/>
          <a:lstStyle/>
          <a:p>
            <a:endParaRPr lang="en-JP"/>
          </a:p>
        </p:txBody>
      </p:sp>
      <p:sp>
        <p:nvSpPr>
          <p:cNvPr id="34" name="Text 32"/>
          <p:cNvSpPr/>
          <p:nvPr/>
        </p:nvSpPr>
        <p:spPr>
          <a:xfrm>
            <a:off x="4855464" y="4928616"/>
            <a:ext cx="228600" cy="173736"/>
          </a:xfrm>
          <a:prstGeom prst="rect">
            <a:avLst/>
          </a:prstGeom>
          <a:noFill/>
          <a:ln/>
        </p:spPr>
        <p:txBody>
          <a:bodyPr wrap="square" lIns="0" tIns="0" rIns="0" bIns="0" rtlCol="0" anchor="ctr">
            <a:normAutofit/>
          </a:bodyPr>
          <a:lstStyle/>
          <a:p>
            <a:pPr marL="0" indent="0" algn="ctr">
              <a:lnSpc>
                <a:spcPct val="100000"/>
              </a:lnSpc>
              <a:buNone/>
            </a:pPr>
            <a:r>
              <a:rPr lang="en-US" sz="1100" dirty="0">
                <a:solidFill>
                  <a:srgbClr val="607084"/>
                </a:solidFill>
                <a:latin typeface="Aptos" pitchFamily="34" charset="0"/>
                <a:ea typeface="Aptos" pitchFamily="34" charset="-122"/>
                <a:cs typeface="Aptos" pitchFamily="34" charset="-120"/>
              </a:rPr>
              <a:t>3</a:t>
            </a:r>
            <a:endParaRPr lang="en-US" sz="1100" dirty="0"/>
          </a:p>
        </p:txBody>
      </p:sp>
      <p:sp>
        <p:nvSpPr>
          <p:cNvPr id="35" name="Shape 33"/>
          <p:cNvSpPr/>
          <p:nvPr/>
        </p:nvSpPr>
        <p:spPr>
          <a:xfrm>
            <a:off x="6487668" y="4069080"/>
            <a:ext cx="100584" cy="100584"/>
          </a:xfrm>
          <a:prstGeom prst="ellipse">
            <a:avLst/>
          </a:prstGeom>
          <a:solidFill>
            <a:srgbClr val="21679D"/>
          </a:solidFill>
          <a:ln w="10160">
            <a:solidFill>
              <a:srgbClr val="21679D"/>
            </a:solidFill>
            <a:prstDash val="solid"/>
          </a:ln>
        </p:spPr>
        <p:txBody>
          <a:bodyPr/>
          <a:lstStyle/>
          <a:p>
            <a:endParaRPr lang="en-JP"/>
          </a:p>
        </p:txBody>
      </p:sp>
      <p:sp>
        <p:nvSpPr>
          <p:cNvPr id="36" name="Shape 34"/>
          <p:cNvSpPr/>
          <p:nvPr/>
        </p:nvSpPr>
        <p:spPr>
          <a:xfrm>
            <a:off x="6487668" y="3525012"/>
            <a:ext cx="100584" cy="100584"/>
          </a:xfrm>
          <a:prstGeom prst="ellipse">
            <a:avLst/>
          </a:prstGeom>
          <a:solidFill>
            <a:srgbClr val="D86770"/>
          </a:solidFill>
          <a:ln w="10160">
            <a:solidFill>
              <a:srgbClr val="D86770"/>
            </a:solidFill>
            <a:prstDash val="solid"/>
          </a:ln>
        </p:spPr>
        <p:txBody>
          <a:bodyPr/>
          <a:lstStyle/>
          <a:p>
            <a:endParaRPr lang="en-JP"/>
          </a:p>
        </p:txBody>
      </p:sp>
      <p:sp>
        <p:nvSpPr>
          <p:cNvPr id="37" name="Text 35"/>
          <p:cNvSpPr/>
          <p:nvPr/>
        </p:nvSpPr>
        <p:spPr>
          <a:xfrm>
            <a:off x="6428232" y="4928616"/>
            <a:ext cx="228600" cy="173736"/>
          </a:xfrm>
          <a:prstGeom prst="rect">
            <a:avLst/>
          </a:prstGeom>
          <a:noFill/>
          <a:ln/>
        </p:spPr>
        <p:txBody>
          <a:bodyPr wrap="square" lIns="0" tIns="0" rIns="0" bIns="0" rtlCol="0" anchor="ctr">
            <a:normAutofit/>
          </a:bodyPr>
          <a:lstStyle/>
          <a:p>
            <a:pPr marL="0" indent="0" algn="ctr">
              <a:lnSpc>
                <a:spcPct val="100000"/>
              </a:lnSpc>
              <a:buNone/>
            </a:pPr>
            <a:r>
              <a:rPr lang="en-US" sz="1100" dirty="0">
                <a:solidFill>
                  <a:srgbClr val="607084"/>
                </a:solidFill>
                <a:latin typeface="Aptos" pitchFamily="34" charset="0"/>
                <a:ea typeface="Aptos" pitchFamily="34" charset="-122"/>
                <a:cs typeface="Aptos" pitchFamily="34" charset="-120"/>
              </a:rPr>
              <a:t>4</a:t>
            </a:r>
            <a:endParaRPr lang="en-US" sz="1100" dirty="0"/>
          </a:p>
        </p:txBody>
      </p:sp>
      <p:sp>
        <p:nvSpPr>
          <p:cNvPr id="38" name="Shape 36"/>
          <p:cNvSpPr/>
          <p:nvPr/>
        </p:nvSpPr>
        <p:spPr>
          <a:xfrm>
            <a:off x="8060436" y="4263390"/>
            <a:ext cx="100584" cy="100584"/>
          </a:xfrm>
          <a:prstGeom prst="ellipse">
            <a:avLst/>
          </a:prstGeom>
          <a:solidFill>
            <a:srgbClr val="21679D"/>
          </a:solidFill>
          <a:ln w="10160">
            <a:solidFill>
              <a:srgbClr val="21679D"/>
            </a:solidFill>
            <a:prstDash val="solid"/>
          </a:ln>
        </p:spPr>
        <p:txBody>
          <a:bodyPr/>
          <a:lstStyle/>
          <a:p>
            <a:endParaRPr lang="en-JP"/>
          </a:p>
        </p:txBody>
      </p:sp>
      <p:sp>
        <p:nvSpPr>
          <p:cNvPr id="39" name="Shape 37"/>
          <p:cNvSpPr/>
          <p:nvPr/>
        </p:nvSpPr>
        <p:spPr>
          <a:xfrm>
            <a:off x="8060436" y="3602736"/>
            <a:ext cx="100584" cy="100584"/>
          </a:xfrm>
          <a:prstGeom prst="ellipse">
            <a:avLst/>
          </a:prstGeom>
          <a:solidFill>
            <a:srgbClr val="D86770"/>
          </a:solidFill>
          <a:ln w="10160">
            <a:solidFill>
              <a:srgbClr val="D86770"/>
            </a:solidFill>
            <a:prstDash val="solid"/>
          </a:ln>
        </p:spPr>
        <p:txBody>
          <a:bodyPr/>
          <a:lstStyle/>
          <a:p>
            <a:endParaRPr lang="en-JP"/>
          </a:p>
        </p:txBody>
      </p:sp>
      <p:sp>
        <p:nvSpPr>
          <p:cNvPr id="40" name="Text 38"/>
          <p:cNvSpPr/>
          <p:nvPr/>
        </p:nvSpPr>
        <p:spPr>
          <a:xfrm>
            <a:off x="8001000" y="4928616"/>
            <a:ext cx="228600" cy="173736"/>
          </a:xfrm>
          <a:prstGeom prst="rect">
            <a:avLst/>
          </a:prstGeom>
          <a:noFill/>
          <a:ln/>
        </p:spPr>
        <p:txBody>
          <a:bodyPr wrap="square" lIns="0" tIns="0" rIns="0" bIns="0" rtlCol="0" anchor="ctr">
            <a:normAutofit/>
          </a:bodyPr>
          <a:lstStyle/>
          <a:p>
            <a:pPr marL="0" indent="0" algn="ctr">
              <a:lnSpc>
                <a:spcPct val="100000"/>
              </a:lnSpc>
              <a:buNone/>
            </a:pPr>
            <a:r>
              <a:rPr lang="en-US" sz="1100" dirty="0">
                <a:solidFill>
                  <a:srgbClr val="607084"/>
                </a:solidFill>
                <a:latin typeface="Aptos" pitchFamily="34" charset="0"/>
                <a:ea typeface="Aptos" pitchFamily="34" charset="-122"/>
                <a:cs typeface="Aptos" pitchFamily="34" charset="-120"/>
              </a:rPr>
              <a:t>5</a:t>
            </a:r>
            <a:endParaRPr lang="en-US" sz="1100" dirty="0"/>
          </a:p>
        </p:txBody>
      </p:sp>
      <p:sp>
        <p:nvSpPr>
          <p:cNvPr id="41" name="Shape 39"/>
          <p:cNvSpPr/>
          <p:nvPr/>
        </p:nvSpPr>
        <p:spPr>
          <a:xfrm>
            <a:off x="9633204" y="4457700"/>
            <a:ext cx="100584" cy="100584"/>
          </a:xfrm>
          <a:prstGeom prst="ellipse">
            <a:avLst/>
          </a:prstGeom>
          <a:solidFill>
            <a:srgbClr val="21679D"/>
          </a:solidFill>
          <a:ln w="10160">
            <a:solidFill>
              <a:srgbClr val="21679D"/>
            </a:solidFill>
            <a:prstDash val="solid"/>
          </a:ln>
        </p:spPr>
        <p:txBody>
          <a:bodyPr/>
          <a:lstStyle/>
          <a:p>
            <a:endParaRPr lang="en-JP"/>
          </a:p>
        </p:txBody>
      </p:sp>
      <p:sp>
        <p:nvSpPr>
          <p:cNvPr id="42" name="Shape 40"/>
          <p:cNvSpPr/>
          <p:nvPr/>
        </p:nvSpPr>
        <p:spPr>
          <a:xfrm>
            <a:off x="9633204" y="3447288"/>
            <a:ext cx="100584" cy="100584"/>
          </a:xfrm>
          <a:prstGeom prst="ellipse">
            <a:avLst/>
          </a:prstGeom>
          <a:solidFill>
            <a:srgbClr val="D86770"/>
          </a:solidFill>
          <a:ln w="10160">
            <a:solidFill>
              <a:srgbClr val="D86770"/>
            </a:solidFill>
            <a:prstDash val="solid"/>
          </a:ln>
        </p:spPr>
        <p:txBody>
          <a:bodyPr/>
          <a:lstStyle/>
          <a:p>
            <a:endParaRPr lang="en-JP"/>
          </a:p>
        </p:txBody>
      </p:sp>
      <p:sp>
        <p:nvSpPr>
          <p:cNvPr id="43" name="Text 41"/>
          <p:cNvSpPr/>
          <p:nvPr/>
        </p:nvSpPr>
        <p:spPr>
          <a:xfrm>
            <a:off x="9573768" y="4928616"/>
            <a:ext cx="228600" cy="173736"/>
          </a:xfrm>
          <a:prstGeom prst="rect">
            <a:avLst/>
          </a:prstGeom>
          <a:noFill/>
          <a:ln/>
        </p:spPr>
        <p:txBody>
          <a:bodyPr wrap="square" lIns="0" tIns="0" rIns="0" bIns="0" rtlCol="0" anchor="ctr">
            <a:normAutofit/>
          </a:bodyPr>
          <a:lstStyle/>
          <a:p>
            <a:pPr marL="0" indent="0" algn="ctr">
              <a:lnSpc>
                <a:spcPct val="100000"/>
              </a:lnSpc>
              <a:buNone/>
            </a:pPr>
            <a:r>
              <a:rPr lang="en-US" sz="1100" dirty="0">
                <a:solidFill>
                  <a:srgbClr val="607084"/>
                </a:solidFill>
                <a:latin typeface="Aptos" pitchFamily="34" charset="0"/>
                <a:ea typeface="Aptos" pitchFamily="34" charset="-122"/>
                <a:cs typeface="Aptos" pitchFamily="34" charset="-120"/>
              </a:rPr>
              <a:t>6</a:t>
            </a:r>
            <a:endParaRPr lang="en-US" sz="1100" dirty="0"/>
          </a:p>
        </p:txBody>
      </p:sp>
      <p:sp>
        <p:nvSpPr>
          <p:cNvPr id="44" name="Shape 42"/>
          <p:cNvSpPr/>
          <p:nvPr/>
        </p:nvSpPr>
        <p:spPr>
          <a:xfrm>
            <a:off x="5751576" y="2112264"/>
            <a:ext cx="0" cy="2679192"/>
          </a:xfrm>
          <a:prstGeom prst="line">
            <a:avLst/>
          </a:prstGeom>
          <a:noFill/>
          <a:ln w="16510">
            <a:solidFill>
              <a:srgbClr val="607084"/>
            </a:solidFill>
            <a:prstDash val="dash"/>
            <a:headEnd type="none"/>
            <a:tailEnd type="none"/>
          </a:ln>
        </p:spPr>
        <p:txBody>
          <a:bodyPr/>
          <a:lstStyle/>
          <a:p>
            <a:endParaRPr lang="en-JP"/>
          </a:p>
        </p:txBody>
      </p:sp>
      <p:sp>
        <p:nvSpPr>
          <p:cNvPr id="45" name="Text 43"/>
          <p:cNvSpPr/>
          <p:nvPr/>
        </p:nvSpPr>
        <p:spPr>
          <a:xfrm>
            <a:off x="2112264" y="1389888"/>
            <a:ext cx="2103120" cy="210312"/>
          </a:xfrm>
          <a:prstGeom prst="rect">
            <a:avLst/>
          </a:prstGeom>
          <a:noFill/>
          <a:ln/>
        </p:spPr>
        <p:txBody>
          <a:bodyPr wrap="square" lIns="0" tIns="0" rIns="0" bIns="0" rtlCol="0" anchor="ctr">
            <a:normAutofit/>
          </a:bodyPr>
          <a:lstStyle/>
          <a:p>
            <a:pPr marL="0" indent="0" algn="l">
              <a:lnSpc>
                <a:spcPct val="100000"/>
              </a:lnSpc>
              <a:buNone/>
            </a:pPr>
            <a:r>
              <a:rPr lang="en-US" sz="1300" b="1" dirty="0">
                <a:solidFill>
                  <a:srgbClr val="21679D"/>
                </a:solidFill>
                <a:latin typeface="Aptos" pitchFamily="34" charset="0"/>
                <a:ea typeface="Aptos" pitchFamily="34" charset="-122"/>
                <a:cs typeface="Aptos" pitchFamily="34" charset="-120"/>
              </a:rPr>
              <a:t>Phase A</a:t>
            </a:r>
            <a:endParaRPr lang="en-US" sz="1300" dirty="0"/>
          </a:p>
        </p:txBody>
      </p:sp>
      <p:sp>
        <p:nvSpPr>
          <p:cNvPr id="46" name="Text 44"/>
          <p:cNvSpPr/>
          <p:nvPr/>
        </p:nvSpPr>
        <p:spPr>
          <a:xfrm>
            <a:off x="7324344" y="1389888"/>
            <a:ext cx="2103120" cy="210312"/>
          </a:xfrm>
          <a:prstGeom prst="rect">
            <a:avLst/>
          </a:prstGeom>
          <a:noFill/>
          <a:ln/>
        </p:spPr>
        <p:txBody>
          <a:bodyPr wrap="square" lIns="0" tIns="0" rIns="0" bIns="0" rtlCol="0" anchor="ctr">
            <a:normAutofit/>
          </a:bodyPr>
          <a:lstStyle/>
          <a:p>
            <a:pPr marL="0" indent="0" algn="l">
              <a:lnSpc>
                <a:spcPct val="100000"/>
              </a:lnSpc>
              <a:buNone/>
            </a:pPr>
            <a:r>
              <a:rPr lang="en-US" sz="1300" b="1" dirty="0">
                <a:solidFill>
                  <a:srgbClr val="137C78"/>
                </a:solidFill>
                <a:latin typeface="Aptos" pitchFamily="34" charset="0"/>
                <a:ea typeface="Aptos" pitchFamily="34" charset="-122"/>
                <a:cs typeface="Aptos" pitchFamily="34" charset="-120"/>
              </a:rPr>
              <a:t>Phase B</a:t>
            </a:r>
            <a:endParaRPr lang="en-US" sz="1300" dirty="0"/>
          </a:p>
        </p:txBody>
      </p:sp>
      <p:sp>
        <p:nvSpPr>
          <p:cNvPr id="47" name="Shape 45"/>
          <p:cNvSpPr/>
          <p:nvPr/>
        </p:nvSpPr>
        <p:spPr>
          <a:xfrm>
            <a:off x="2130552" y="5477256"/>
            <a:ext cx="1664208" cy="320040"/>
          </a:xfrm>
          <a:prstGeom prst="roundRect">
            <a:avLst>
              <a:gd name="adj" fmla="val 37143"/>
            </a:avLst>
          </a:prstGeom>
          <a:solidFill>
            <a:srgbClr val="E9F3FC"/>
          </a:solidFill>
          <a:ln w="8890">
            <a:solidFill>
              <a:srgbClr val="E9F3FC"/>
            </a:solidFill>
            <a:prstDash val="solid"/>
          </a:ln>
        </p:spPr>
        <p:txBody>
          <a:bodyPr/>
          <a:lstStyle/>
          <a:p>
            <a:endParaRPr lang="en-JP"/>
          </a:p>
        </p:txBody>
      </p:sp>
      <p:sp>
        <p:nvSpPr>
          <p:cNvPr id="48" name="Text 46"/>
          <p:cNvSpPr/>
          <p:nvPr/>
        </p:nvSpPr>
        <p:spPr>
          <a:xfrm>
            <a:off x="2221992" y="5504688"/>
            <a:ext cx="1481328" cy="246888"/>
          </a:xfrm>
          <a:prstGeom prst="rect">
            <a:avLst/>
          </a:prstGeom>
          <a:noFill/>
          <a:ln/>
        </p:spPr>
        <p:txBody>
          <a:bodyPr wrap="square" lIns="0" tIns="0" rIns="0" bIns="0" rtlCol="0" anchor="ctr">
            <a:normAutofit/>
          </a:bodyPr>
          <a:lstStyle/>
          <a:p>
            <a:pPr marL="0" indent="0" algn="ctr">
              <a:lnSpc>
                <a:spcPct val="100000"/>
              </a:lnSpc>
              <a:buNone/>
            </a:pPr>
            <a:r>
              <a:rPr lang="en-US" sz="1130" b="1" dirty="0">
                <a:solidFill>
                  <a:srgbClr val="21679D"/>
                </a:solidFill>
                <a:latin typeface="Aptos" pitchFamily="34" charset="0"/>
                <a:ea typeface="Aptos" pitchFamily="34" charset="-122"/>
                <a:cs typeface="Aptos" pitchFamily="34" charset="-120"/>
              </a:rPr>
              <a:t>Train loss</a:t>
            </a:r>
            <a:endParaRPr lang="en-US" sz="1130" dirty="0"/>
          </a:p>
        </p:txBody>
      </p:sp>
      <p:sp>
        <p:nvSpPr>
          <p:cNvPr id="49" name="Shape 47"/>
          <p:cNvSpPr/>
          <p:nvPr/>
        </p:nvSpPr>
        <p:spPr>
          <a:xfrm>
            <a:off x="4087368" y="5477256"/>
            <a:ext cx="2020824" cy="320040"/>
          </a:xfrm>
          <a:prstGeom prst="roundRect">
            <a:avLst>
              <a:gd name="adj" fmla="val 37143"/>
            </a:avLst>
          </a:prstGeom>
          <a:solidFill>
            <a:srgbClr val="FCEBED"/>
          </a:solidFill>
          <a:ln w="8890">
            <a:solidFill>
              <a:srgbClr val="FCEBED"/>
            </a:solidFill>
            <a:prstDash val="solid"/>
          </a:ln>
        </p:spPr>
        <p:txBody>
          <a:bodyPr/>
          <a:lstStyle/>
          <a:p>
            <a:endParaRPr lang="en-JP"/>
          </a:p>
        </p:txBody>
      </p:sp>
      <p:sp>
        <p:nvSpPr>
          <p:cNvPr id="50" name="Text 48"/>
          <p:cNvSpPr/>
          <p:nvPr/>
        </p:nvSpPr>
        <p:spPr>
          <a:xfrm>
            <a:off x="4178808" y="5504688"/>
            <a:ext cx="1837944" cy="246888"/>
          </a:xfrm>
          <a:prstGeom prst="rect">
            <a:avLst/>
          </a:prstGeom>
          <a:noFill/>
          <a:ln/>
        </p:spPr>
        <p:txBody>
          <a:bodyPr wrap="square" lIns="0" tIns="0" rIns="0" bIns="0" rtlCol="0" anchor="ctr">
            <a:normAutofit/>
          </a:bodyPr>
          <a:lstStyle/>
          <a:p>
            <a:pPr marL="0" indent="0" algn="ctr">
              <a:lnSpc>
                <a:spcPct val="100000"/>
              </a:lnSpc>
              <a:buNone/>
            </a:pPr>
            <a:r>
              <a:rPr lang="en-US" sz="1130" b="1" dirty="0">
                <a:solidFill>
                  <a:srgbClr val="D86770"/>
                </a:solidFill>
                <a:latin typeface="Aptos" pitchFamily="34" charset="0"/>
                <a:ea typeface="Aptos" pitchFamily="34" charset="-122"/>
                <a:cs typeface="Aptos" pitchFamily="34" charset="-120"/>
              </a:rPr>
              <a:t>Validation loss</a:t>
            </a:r>
            <a:endParaRPr lang="en-US" sz="1130" dirty="0"/>
          </a:p>
        </p:txBody>
      </p:sp>
      <p:sp>
        <p:nvSpPr>
          <p:cNvPr id="51" name="Text 49"/>
          <p:cNvSpPr/>
          <p:nvPr/>
        </p:nvSpPr>
        <p:spPr>
          <a:xfrm>
            <a:off x="6446520" y="5541264"/>
            <a:ext cx="4736592" cy="182880"/>
          </a:xfrm>
          <a:prstGeom prst="rect">
            <a:avLst/>
          </a:prstGeom>
          <a:noFill/>
          <a:ln/>
        </p:spPr>
        <p:txBody>
          <a:bodyPr wrap="square" lIns="0" tIns="0" rIns="0" bIns="0" rtlCol="0" anchor="ctr">
            <a:normAutofit/>
          </a:bodyPr>
          <a:lstStyle/>
          <a:p>
            <a:pPr marL="0" indent="0" algn="l">
              <a:lnSpc>
                <a:spcPct val="100000"/>
              </a:lnSpc>
              <a:buNone/>
            </a:pPr>
            <a:r>
              <a:rPr lang="en-US" sz="1000" dirty="0">
                <a:solidFill>
                  <a:srgbClr val="607084"/>
                </a:solidFill>
                <a:latin typeface="Aptos" pitchFamily="34" charset="0"/>
                <a:ea typeface="Aptos" pitchFamily="34" charset="-122"/>
                <a:cs typeface="Aptos" pitchFamily="34" charset="-120"/>
              </a:rPr>
              <a:t>Illustrative curves — NOT notebook results / 模式例（実験結果ではありません）</a:t>
            </a:r>
            <a:endParaRPr lang="en-US" sz="1000" dirty="0"/>
          </a:p>
        </p:txBody>
      </p:sp>
      <p:sp>
        <p:nvSpPr>
          <p:cNvPr id="52" name="Shape 50"/>
          <p:cNvSpPr/>
          <p:nvPr/>
        </p:nvSpPr>
        <p:spPr>
          <a:xfrm>
            <a:off x="612648" y="5916168"/>
            <a:ext cx="10972800" cy="484632"/>
          </a:xfrm>
          <a:prstGeom prst="roundRect">
            <a:avLst>
              <a:gd name="adj" fmla="val 15094"/>
            </a:avLst>
          </a:prstGeom>
          <a:solidFill>
            <a:srgbClr val="FFF2DD"/>
          </a:solidFill>
          <a:ln w="8890">
            <a:solidFill>
              <a:srgbClr val="FFF2DD"/>
            </a:solidFill>
            <a:prstDash val="solid"/>
          </a:ln>
        </p:spPr>
        <p:txBody>
          <a:bodyPr/>
          <a:lstStyle/>
          <a:p>
            <a:endParaRPr lang="en-JP"/>
          </a:p>
        </p:txBody>
      </p:sp>
      <p:sp>
        <p:nvSpPr>
          <p:cNvPr id="53" name="Text 51"/>
          <p:cNvSpPr/>
          <p:nvPr/>
        </p:nvSpPr>
        <p:spPr>
          <a:xfrm>
            <a:off x="768096" y="5952744"/>
            <a:ext cx="5029200" cy="182880"/>
          </a:xfrm>
          <a:prstGeom prst="rect">
            <a:avLst/>
          </a:prstGeom>
          <a:noFill/>
          <a:ln/>
        </p:spPr>
        <p:txBody>
          <a:bodyPr wrap="square" lIns="0" tIns="0" rIns="0" bIns="0" rtlCol="0" anchor="ctr">
            <a:normAutofit lnSpcReduction="10000"/>
          </a:bodyPr>
          <a:lstStyle/>
          <a:p>
            <a:pPr marL="0" indent="0" algn="l">
              <a:lnSpc>
                <a:spcPct val="100000"/>
              </a:lnSpc>
              <a:buNone/>
            </a:pPr>
            <a:r>
              <a:rPr lang="en-US" sz="1210" b="1" dirty="0">
                <a:solidFill>
                  <a:srgbClr val="1D3957"/>
                </a:solidFill>
                <a:latin typeface="Aptos" pitchFamily="34" charset="0"/>
                <a:ea typeface="Aptos" pitchFamily="34" charset="-122"/>
                <a:cs typeface="Aptos" pitchFamily="34" charset="-120"/>
              </a:rPr>
              <a:t>If validation loss rises while train loss falls, check for overfitting.</a:t>
            </a:r>
            <a:endParaRPr lang="en-US" sz="1210" dirty="0"/>
          </a:p>
        </p:txBody>
      </p:sp>
      <p:sp>
        <p:nvSpPr>
          <p:cNvPr id="54" name="Text 52"/>
          <p:cNvSpPr/>
          <p:nvPr/>
        </p:nvSpPr>
        <p:spPr>
          <a:xfrm>
            <a:off x="5760720" y="5943600"/>
            <a:ext cx="5669280" cy="219456"/>
          </a:xfrm>
          <a:prstGeom prst="rect">
            <a:avLst/>
          </a:prstGeom>
          <a:noFill/>
          <a:ln/>
        </p:spPr>
        <p:txBody>
          <a:bodyPr wrap="square" lIns="0" tIns="0" rIns="0" bIns="0" rtlCol="0" anchor="ctr">
            <a:normAutofit/>
          </a:bodyPr>
          <a:lstStyle/>
          <a:p>
            <a:pPr marL="0" indent="0" algn="l">
              <a:lnSpc>
                <a:spcPct val="100000"/>
              </a:lnSpc>
              <a:buNone/>
            </a:pPr>
            <a:r>
              <a:rPr lang="en-US" sz="1210" dirty="0">
                <a:solidFill>
                  <a:srgbClr val="1D3957"/>
                </a:solidFill>
                <a:latin typeface="Noto Sans CJK JP" pitchFamily="34" charset="0"/>
                <a:ea typeface="Noto Sans CJK JP" pitchFamily="34" charset="-122"/>
                <a:cs typeface="Noto Sans CJK JP" pitchFamily="34" charset="-120"/>
              </a:rPr>
              <a:t>学習損失だけ低下し検証損失が上昇すれば過学習を疑います。</a:t>
            </a:r>
            <a:endParaRPr lang="en-US" sz="121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Evaluate the test set: confusion matrix</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テスト結果を混同行列で確認する</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22</a:t>
            </a:r>
            <a:endParaRPr lang="en-US" sz="870" dirty="0"/>
          </a:p>
        </p:txBody>
      </p:sp>
      <p:sp>
        <p:nvSpPr>
          <p:cNvPr id="10" name="Text 8"/>
          <p:cNvSpPr/>
          <p:nvPr/>
        </p:nvSpPr>
        <p:spPr>
          <a:xfrm>
            <a:off x="969264" y="1572768"/>
            <a:ext cx="685800" cy="182880"/>
          </a:xfrm>
          <a:prstGeom prst="rect">
            <a:avLst/>
          </a:prstGeom>
          <a:noFill/>
          <a:ln/>
        </p:spPr>
        <p:txBody>
          <a:bodyPr wrap="square" lIns="0" tIns="0" rIns="0" bIns="0" rtlCol="0" anchor="ctr">
            <a:normAutofit/>
          </a:bodyPr>
          <a:lstStyle/>
          <a:p>
            <a:pPr marL="0" indent="0" algn="ctr">
              <a:lnSpc>
                <a:spcPct val="100000"/>
              </a:lnSpc>
              <a:buNone/>
            </a:pPr>
            <a:r>
              <a:rPr lang="en-US" sz="1050" dirty="0">
                <a:solidFill>
                  <a:srgbClr val="607084"/>
                </a:solidFill>
                <a:latin typeface="Aptos" pitchFamily="34" charset="0"/>
                <a:ea typeface="Aptos" pitchFamily="34" charset="-122"/>
                <a:cs typeface="Aptos" pitchFamily="34" charset="-120"/>
              </a:rPr>
              <a:t>daisy</a:t>
            </a:r>
            <a:endParaRPr lang="en-US" sz="1050" dirty="0"/>
          </a:p>
        </p:txBody>
      </p:sp>
      <p:sp>
        <p:nvSpPr>
          <p:cNvPr id="11" name="Text 9"/>
          <p:cNvSpPr/>
          <p:nvPr/>
        </p:nvSpPr>
        <p:spPr>
          <a:xfrm>
            <a:off x="201168" y="2112264"/>
            <a:ext cx="758952" cy="182880"/>
          </a:xfrm>
          <a:prstGeom prst="rect">
            <a:avLst/>
          </a:prstGeom>
          <a:noFill/>
          <a:ln/>
        </p:spPr>
        <p:txBody>
          <a:bodyPr wrap="square" lIns="0" tIns="0" rIns="0" bIns="0" rtlCol="0" anchor="ctr">
            <a:normAutofit/>
          </a:bodyPr>
          <a:lstStyle/>
          <a:p>
            <a:pPr marL="0" indent="0" algn="r">
              <a:lnSpc>
                <a:spcPct val="100000"/>
              </a:lnSpc>
              <a:buNone/>
            </a:pPr>
            <a:r>
              <a:rPr lang="en-US" sz="1020" dirty="0">
                <a:solidFill>
                  <a:srgbClr val="607084"/>
                </a:solidFill>
                <a:latin typeface="Aptos" pitchFamily="34" charset="0"/>
                <a:ea typeface="Aptos" pitchFamily="34" charset="-122"/>
                <a:cs typeface="Aptos" pitchFamily="34" charset="-120"/>
              </a:rPr>
              <a:t>daisy</a:t>
            </a:r>
            <a:endParaRPr lang="en-US" sz="1020" dirty="0"/>
          </a:p>
        </p:txBody>
      </p:sp>
      <p:sp>
        <p:nvSpPr>
          <p:cNvPr id="12" name="Text 10"/>
          <p:cNvSpPr/>
          <p:nvPr/>
        </p:nvSpPr>
        <p:spPr>
          <a:xfrm>
            <a:off x="1627632" y="1572768"/>
            <a:ext cx="685800" cy="182880"/>
          </a:xfrm>
          <a:prstGeom prst="rect">
            <a:avLst/>
          </a:prstGeom>
          <a:noFill/>
          <a:ln/>
        </p:spPr>
        <p:txBody>
          <a:bodyPr wrap="square" lIns="0" tIns="0" rIns="0" bIns="0" rtlCol="0" anchor="ctr">
            <a:normAutofit/>
          </a:bodyPr>
          <a:lstStyle/>
          <a:p>
            <a:pPr marL="0" indent="0" algn="ctr">
              <a:lnSpc>
                <a:spcPct val="100000"/>
              </a:lnSpc>
              <a:buNone/>
            </a:pPr>
            <a:r>
              <a:rPr lang="en-US" sz="1050" dirty="0">
                <a:solidFill>
                  <a:srgbClr val="607084"/>
                </a:solidFill>
                <a:latin typeface="Aptos" pitchFamily="34" charset="0"/>
                <a:ea typeface="Aptos" pitchFamily="34" charset="-122"/>
                <a:cs typeface="Aptos" pitchFamily="34" charset="-120"/>
              </a:rPr>
              <a:t>dandelion</a:t>
            </a:r>
            <a:endParaRPr lang="en-US" sz="1050" dirty="0"/>
          </a:p>
        </p:txBody>
      </p:sp>
      <p:sp>
        <p:nvSpPr>
          <p:cNvPr id="13" name="Text 11"/>
          <p:cNvSpPr/>
          <p:nvPr/>
        </p:nvSpPr>
        <p:spPr>
          <a:xfrm>
            <a:off x="201168" y="2770632"/>
            <a:ext cx="758952" cy="182880"/>
          </a:xfrm>
          <a:prstGeom prst="rect">
            <a:avLst/>
          </a:prstGeom>
          <a:noFill/>
          <a:ln/>
        </p:spPr>
        <p:txBody>
          <a:bodyPr wrap="square" lIns="0" tIns="0" rIns="0" bIns="0" rtlCol="0" anchor="ctr">
            <a:normAutofit/>
          </a:bodyPr>
          <a:lstStyle/>
          <a:p>
            <a:pPr marL="0" indent="0" algn="r">
              <a:lnSpc>
                <a:spcPct val="100000"/>
              </a:lnSpc>
              <a:buNone/>
            </a:pPr>
            <a:r>
              <a:rPr lang="en-US" sz="1020" dirty="0">
                <a:solidFill>
                  <a:srgbClr val="607084"/>
                </a:solidFill>
                <a:latin typeface="Aptos" pitchFamily="34" charset="0"/>
                <a:ea typeface="Aptos" pitchFamily="34" charset="-122"/>
                <a:cs typeface="Aptos" pitchFamily="34" charset="-120"/>
              </a:rPr>
              <a:t>dandelion</a:t>
            </a:r>
            <a:endParaRPr lang="en-US" sz="1020" dirty="0"/>
          </a:p>
        </p:txBody>
      </p:sp>
      <p:sp>
        <p:nvSpPr>
          <p:cNvPr id="14" name="Text 12"/>
          <p:cNvSpPr/>
          <p:nvPr/>
        </p:nvSpPr>
        <p:spPr>
          <a:xfrm>
            <a:off x="2286000" y="1572768"/>
            <a:ext cx="685800" cy="182880"/>
          </a:xfrm>
          <a:prstGeom prst="rect">
            <a:avLst/>
          </a:prstGeom>
          <a:noFill/>
          <a:ln/>
        </p:spPr>
        <p:txBody>
          <a:bodyPr wrap="square" lIns="0" tIns="0" rIns="0" bIns="0" rtlCol="0" anchor="ctr">
            <a:normAutofit/>
          </a:bodyPr>
          <a:lstStyle/>
          <a:p>
            <a:pPr marL="0" indent="0" algn="ctr">
              <a:lnSpc>
                <a:spcPct val="100000"/>
              </a:lnSpc>
              <a:buNone/>
            </a:pPr>
            <a:r>
              <a:rPr lang="en-US" sz="1050" dirty="0">
                <a:solidFill>
                  <a:srgbClr val="607084"/>
                </a:solidFill>
                <a:latin typeface="Aptos" pitchFamily="34" charset="0"/>
                <a:ea typeface="Aptos" pitchFamily="34" charset="-122"/>
                <a:cs typeface="Aptos" pitchFamily="34" charset="-120"/>
              </a:rPr>
              <a:t>roses</a:t>
            </a:r>
            <a:endParaRPr lang="en-US" sz="1050" dirty="0"/>
          </a:p>
        </p:txBody>
      </p:sp>
      <p:sp>
        <p:nvSpPr>
          <p:cNvPr id="15" name="Text 13"/>
          <p:cNvSpPr/>
          <p:nvPr/>
        </p:nvSpPr>
        <p:spPr>
          <a:xfrm>
            <a:off x="201168" y="3429000"/>
            <a:ext cx="758952" cy="182880"/>
          </a:xfrm>
          <a:prstGeom prst="rect">
            <a:avLst/>
          </a:prstGeom>
          <a:noFill/>
          <a:ln/>
        </p:spPr>
        <p:txBody>
          <a:bodyPr wrap="square" lIns="0" tIns="0" rIns="0" bIns="0" rtlCol="0" anchor="ctr">
            <a:normAutofit/>
          </a:bodyPr>
          <a:lstStyle/>
          <a:p>
            <a:pPr marL="0" indent="0" algn="r">
              <a:lnSpc>
                <a:spcPct val="100000"/>
              </a:lnSpc>
              <a:buNone/>
            </a:pPr>
            <a:r>
              <a:rPr lang="en-US" sz="1020" dirty="0">
                <a:solidFill>
                  <a:srgbClr val="607084"/>
                </a:solidFill>
                <a:latin typeface="Aptos" pitchFamily="34" charset="0"/>
                <a:ea typeface="Aptos" pitchFamily="34" charset="-122"/>
                <a:cs typeface="Aptos" pitchFamily="34" charset="-120"/>
              </a:rPr>
              <a:t>roses</a:t>
            </a:r>
            <a:endParaRPr lang="en-US" sz="1020" dirty="0"/>
          </a:p>
        </p:txBody>
      </p:sp>
      <p:sp>
        <p:nvSpPr>
          <p:cNvPr id="16" name="Text 14"/>
          <p:cNvSpPr/>
          <p:nvPr/>
        </p:nvSpPr>
        <p:spPr>
          <a:xfrm>
            <a:off x="2944368" y="1572768"/>
            <a:ext cx="685800" cy="182880"/>
          </a:xfrm>
          <a:prstGeom prst="rect">
            <a:avLst/>
          </a:prstGeom>
          <a:noFill/>
          <a:ln/>
        </p:spPr>
        <p:txBody>
          <a:bodyPr wrap="square" lIns="0" tIns="0" rIns="0" bIns="0" rtlCol="0" anchor="ctr">
            <a:normAutofit/>
          </a:bodyPr>
          <a:lstStyle/>
          <a:p>
            <a:pPr marL="0" indent="0" algn="ctr">
              <a:lnSpc>
                <a:spcPct val="100000"/>
              </a:lnSpc>
              <a:buNone/>
            </a:pPr>
            <a:r>
              <a:rPr lang="en-US" sz="1050" dirty="0">
                <a:solidFill>
                  <a:srgbClr val="607084"/>
                </a:solidFill>
                <a:latin typeface="Aptos" pitchFamily="34" charset="0"/>
                <a:ea typeface="Aptos" pitchFamily="34" charset="-122"/>
                <a:cs typeface="Aptos" pitchFamily="34" charset="-120"/>
              </a:rPr>
              <a:t>sunflowers</a:t>
            </a:r>
            <a:endParaRPr lang="en-US" sz="1050" dirty="0"/>
          </a:p>
        </p:txBody>
      </p:sp>
      <p:sp>
        <p:nvSpPr>
          <p:cNvPr id="17" name="Text 15"/>
          <p:cNvSpPr/>
          <p:nvPr/>
        </p:nvSpPr>
        <p:spPr>
          <a:xfrm>
            <a:off x="201168" y="4087368"/>
            <a:ext cx="758952" cy="182880"/>
          </a:xfrm>
          <a:prstGeom prst="rect">
            <a:avLst/>
          </a:prstGeom>
          <a:noFill/>
          <a:ln/>
        </p:spPr>
        <p:txBody>
          <a:bodyPr wrap="square" lIns="0" tIns="0" rIns="0" bIns="0" rtlCol="0" anchor="ctr">
            <a:normAutofit/>
          </a:bodyPr>
          <a:lstStyle/>
          <a:p>
            <a:pPr marL="0" indent="0" algn="r">
              <a:lnSpc>
                <a:spcPct val="100000"/>
              </a:lnSpc>
              <a:buNone/>
            </a:pPr>
            <a:r>
              <a:rPr lang="en-US" sz="1020" dirty="0">
                <a:solidFill>
                  <a:srgbClr val="607084"/>
                </a:solidFill>
                <a:latin typeface="Aptos" pitchFamily="34" charset="0"/>
                <a:ea typeface="Aptos" pitchFamily="34" charset="-122"/>
                <a:cs typeface="Aptos" pitchFamily="34" charset="-120"/>
              </a:rPr>
              <a:t>sunflowers</a:t>
            </a:r>
            <a:endParaRPr lang="en-US" sz="1020" dirty="0"/>
          </a:p>
        </p:txBody>
      </p:sp>
      <p:sp>
        <p:nvSpPr>
          <p:cNvPr id="18" name="Text 16"/>
          <p:cNvSpPr/>
          <p:nvPr/>
        </p:nvSpPr>
        <p:spPr>
          <a:xfrm>
            <a:off x="3602736" y="1572768"/>
            <a:ext cx="685800" cy="182880"/>
          </a:xfrm>
          <a:prstGeom prst="rect">
            <a:avLst/>
          </a:prstGeom>
          <a:noFill/>
          <a:ln/>
        </p:spPr>
        <p:txBody>
          <a:bodyPr wrap="square" lIns="0" tIns="0" rIns="0" bIns="0" rtlCol="0" anchor="ctr">
            <a:normAutofit/>
          </a:bodyPr>
          <a:lstStyle/>
          <a:p>
            <a:pPr marL="0" indent="0" algn="ctr">
              <a:lnSpc>
                <a:spcPct val="100000"/>
              </a:lnSpc>
              <a:buNone/>
            </a:pPr>
            <a:r>
              <a:rPr lang="en-US" sz="1050" dirty="0">
                <a:solidFill>
                  <a:srgbClr val="607084"/>
                </a:solidFill>
                <a:latin typeface="Aptos" pitchFamily="34" charset="0"/>
                <a:ea typeface="Aptos" pitchFamily="34" charset="-122"/>
                <a:cs typeface="Aptos" pitchFamily="34" charset="-120"/>
              </a:rPr>
              <a:t>tulips</a:t>
            </a:r>
            <a:endParaRPr lang="en-US" sz="1050" dirty="0"/>
          </a:p>
        </p:txBody>
      </p:sp>
      <p:sp>
        <p:nvSpPr>
          <p:cNvPr id="19" name="Text 17"/>
          <p:cNvSpPr/>
          <p:nvPr/>
        </p:nvSpPr>
        <p:spPr>
          <a:xfrm>
            <a:off x="201168" y="4745736"/>
            <a:ext cx="758952" cy="182880"/>
          </a:xfrm>
          <a:prstGeom prst="rect">
            <a:avLst/>
          </a:prstGeom>
          <a:noFill/>
          <a:ln/>
        </p:spPr>
        <p:txBody>
          <a:bodyPr wrap="square" lIns="0" tIns="0" rIns="0" bIns="0" rtlCol="0" anchor="ctr">
            <a:normAutofit/>
          </a:bodyPr>
          <a:lstStyle/>
          <a:p>
            <a:pPr marL="0" indent="0" algn="r">
              <a:lnSpc>
                <a:spcPct val="100000"/>
              </a:lnSpc>
              <a:buNone/>
            </a:pPr>
            <a:r>
              <a:rPr lang="en-US" sz="1020" dirty="0">
                <a:solidFill>
                  <a:srgbClr val="607084"/>
                </a:solidFill>
                <a:latin typeface="Aptos" pitchFamily="34" charset="0"/>
                <a:ea typeface="Aptos" pitchFamily="34" charset="-122"/>
                <a:cs typeface="Aptos" pitchFamily="34" charset="-120"/>
              </a:rPr>
              <a:t>tulips</a:t>
            </a:r>
            <a:endParaRPr lang="en-US" sz="1020" dirty="0"/>
          </a:p>
        </p:txBody>
      </p:sp>
      <p:sp>
        <p:nvSpPr>
          <p:cNvPr id="20" name="Shape 18"/>
          <p:cNvSpPr/>
          <p:nvPr/>
        </p:nvSpPr>
        <p:spPr>
          <a:xfrm>
            <a:off x="978408" y="1938528"/>
            <a:ext cx="626364" cy="626364"/>
          </a:xfrm>
          <a:prstGeom prst="rect">
            <a:avLst/>
          </a:prstGeom>
          <a:solidFill>
            <a:srgbClr val="B8DBF6"/>
          </a:solidFill>
          <a:ln w="6350">
            <a:solidFill>
              <a:srgbClr val="FFFFFF"/>
            </a:solidFill>
            <a:prstDash val="solid"/>
          </a:ln>
        </p:spPr>
        <p:txBody>
          <a:bodyPr/>
          <a:lstStyle/>
          <a:p>
            <a:endParaRPr lang="en-JP"/>
          </a:p>
        </p:txBody>
      </p:sp>
      <p:sp>
        <p:nvSpPr>
          <p:cNvPr id="21" name="Text 19"/>
          <p:cNvSpPr/>
          <p:nvPr/>
        </p:nvSpPr>
        <p:spPr>
          <a:xfrm>
            <a:off x="978408" y="2103120"/>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b="1" dirty="0">
                <a:solidFill>
                  <a:srgbClr val="21679D"/>
                </a:solidFill>
                <a:latin typeface="Aptos" pitchFamily="34" charset="0"/>
                <a:ea typeface="Aptos" pitchFamily="34" charset="-122"/>
                <a:cs typeface="Aptos" pitchFamily="34" charset="-120"/>
              </a:rPr>
              <a:t>21</a:t>
            </a:r>
            <a:endParaRPr lang="en-US" sz="1800" dirty="0"/>
          </a:p>
        </p:txBody>
      </p:sp>
      <p:sp>
        <p:nvSpPr>
          <p:cNvPr id="22" name="Shape 20"/>
          <p:cNvSpPr/>
          <p:nvPr/>
        </p:nvSpPr>
        <p:spPr>
          <a:xfrm>
            <a:off x="1636776" y="1938528"/>
            <a:ext cx="626364" cy="626364"/>
          </a:xfrm>
          <a:prstGeom prst="rect">
            <a:avLst/>
          </a:prstGeom>
          <a:solidFill>
            <a:srgbClr val="F8FBFE"/>
          </a:solidFill>
          <a:ln w="6350">
            <a:solidFill>
              <a:srgbClr val="FFFFFF"/>
            </a:solidFill>
            <a:prstDash val="solid"/>
          </a:ln>
        </p:spPr>
        <p:txBody>
          <a:bodyPr/>
          <a:lstStyle/>
          <a:p>
            <a:endParaRPr lang="en-JP"/>
          </a:p>
        </p:txBody>
      </p:sp>
      <p:sp>
        <p:nvSpPr>
          <p:cNvPr id="23" name="Text 21"/>
          <p:cNvSpPr/>
          <p:nvPr/>
        </p:nvSpPr>
        <p:spPr>
          <a:xfrm>
            <a:off x="1636776" y="2103120"/>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dirty="0">
                <a:solidFill>
                  <a:srgbClr val="607084"/>
                </a:solidFill>
                <a:latin typeface="Aptos" pitchFamily="34" charset="0"/>
                <a:ea typeface="Aptos" pitchFamily="34" charset="-122"/>
                <a:cs typeface="Aptos" pitchFamily="34" charset="-120"/>
              </a:rPr>
              <a:t>1</a:t>
            </a:r>
            <a:endParaRPr lang="en-US" sz="1800" dirty="0"/>
          </a:p>
        </p:txBody>
      </p:sp>
      <p:sp>
        <p:nvSpPr>
          <p:cNvPr id="24" name="Shape 22"/>
          <p:cNvSpPr/>
          <p:nvPr/>
        </p:nvSpPr>
        <p:spPr>
          <a:xfrm>
            <a:off x="2295144" y="1938528"/>
            <a:ext cx="626364" cy="626364"/>
          </a:xfrm>
          <a:prstGeom prst="rect">
            <a:avLst/>
          </a:prstGeom>
          <a:solidFill>
            <a:srgbClr val="F8FBFE"/>
          </a:solidFill>
          <a:ln w="6350">
            <a:solidFill>
              <a:srgbClr val="FFFFFF"/>
            </a:solidFill>
            <a:prstDash val="solid"/>
          </a:ln>
        </p:spPr>
        <p:txBody>
          <a:bodyPr/>
          <a:lstStyle/>
          <a:p>
            <a:endParaRPr lang="en-JP"/>
          </a:p>
        </p:txBody>
      </p:sp>
      <p:sp>
        <p:nvSpPr>
          <p:cNvPr id="25" name="Text 23"/>
          <p:cNvSpPr/>
          <p:nvPr/>
        </p:nvSpPr>
        <p:spPr>
          <a:xfrm>
            <a:off x="2295144" y="2103120"/>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dirty="0">
                <a:solidFill>
                  <a:srgbClr val="607084"/>
                </a:solidFill>
                <a:latin typeface="Aptos" pitchFamily="34" charset="0"/>
                <a:ea typeface="Aptos" pitchFamily="34" charset="-122"/>
                <a:cs typeface="Aptos" pitchFamily="34" charset="-120"/>
              </a:rPr>
              <a:t>0</a:t>
            </a:r>
            <a:endParaRPr lang="en-US" sz="1800" dirty="0"/>
          </a:p>
        </p:txBody>
      </p:sp>
      <p:sp>
        <p:nvSpPr>
          <p:cNvPr id="26" name="Shape 24"/>
          <p:cNvSpPr/>
          <p:nvPr/>
        </p:nvSpPr>
        <p:spPr>
          <a:xfrm>
            <a:off x="2953512" y="1938528"/>
            <a:ext cx="626364" cy="626364"/>
          </a:xfrm>
          <a:prstGeom prst="rect">
            <a:avLst/>
          </a:prstGeom>
          <a:solidFill>
            <a:srgbClr val="F8FBFE"/>
          </a:solidFill>
          <a:ln w="6350">
            <a:solidFill>
              <a:srgbClr val="FFFFFF"/>
            </a:solidFill>
            <a:prstDash val="solid"/>
          </a:ln>
        </p:spPr>
        <p:txBody>
          <a:bodyPr/>
          <a:lstStyle/>
          <a:p>
            <a:endParaRPr lang="en-JP"/>
          </a:p>
        </p:txBody>
      </p:sp>
      <p:sp>
        <p:nvSpPr>
          <p:cNvPr id="27" name="Text 25"/>
          <p:cNvSpPr/>
          <p:nvPr/>
        </p:nvSpPr>
        <p:spPr>
          <a:xfrm>
            <a:off x="2953512" y="2103120"/>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dirty="0">
                <a:solidFill>
                  <a:srgbClr val="607084"/>
                </a:solidFill>
                <a:latin typeface="Aptos" pitchFamily="34" charset="0"/>
                <a:ea typeface="Aptos" pitchFamily="34" charset="-122"/>
                <a:cs typeface="Aptos" pitchFamily="34" charset="-120"/>
              </a:rPr>
              <a:t>0</a:t>
            </a:r>
            <a:endParaRPr lang="en-US" sz="1800" dirty="0"/>
          </a:p>
        </p:txBody>
      </p:sp>
      <p:sp>
        <p:nvSpPr>
          <p:cNvPr id="28" name="Shape 26"/>
          <p:cNvSpPr/>
          <p:nvPr/>
        </p:nvSpPr>
        <p:spPr>
          <a:xfrm>
            <a:off x="3611880" y="1938528"/>
            <a:ext cx="626364" cy="626364"/>
          </a:xfrm>
          <a:prstGeom prst="rect">
            <a:avLst/>
          </a:prstGeom>
          <a:solidFill>
            <a:srgbClr val="F8FBFE"/>
          </a:solidFill>
          <a:ln w="6350">
            <a:solidFill>
              <a:srgbClr val="FFFFFF"/>
            </a:solidFill>
            <a:prstDash val="solid"/>
          </a:ln>
        </p:spPr>
        <p:txBody>
          <a:bodyPr/>
          <a:lstStyle/>
          <a:p>
            <a:endParaRPr lang="en-JP"/>
          </a:p>
        </p:txBody>
      </p:sp>
      <p:sp>
        <p:nvSpPr>
          <p:cNvPr id="29" name="Text 27"/>
          <p:cNvSpPr/>
          <p:nvPr/>
        </p:nvSpPr>
        <p:spPr>
          <a:xfrm>
            <a:off x="3611880" y="2103120"/>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dirty="0">
                <a:solidFill>
                  <a:srgbClr val="607084"/>
                </a:solidFill>
                <a:latin typeface="Aptos" pitchFamily="34" charset="0"/>
                <a:ea typeface="Aptos" pitchFamily="34" charset="-122"/>
                <a:cs typeface="Aptos" pitchFamily="34" charset="-120"/>
              </a:rPr>
              <a:t>0</a:t>
            </a:r>
            <a:endParaRPr lang="en-US" sz="1800" dirty="0"/>
          </a:p>
        </p:txBody>
      </p:sp>
      <p:sp>
        <p:nvSpPr>
          <p:cNvPr id="30" name="Shape 28"/>
          <p:cNvSpPr/>
          <p:nvPr/>
        </p:nvSpPr>
        <p:spPr>
          <a:xfrm>
            <a:off x="978408" y="2596896"/>
            <a:ext cx="626364" cy="626364"/>
          </a:xfrm>
          <a:prstGeom prst="rect">
            <a:avLst/>
          </a:prstGeom>
          <a:solidFill>
            <a:srgbClr val="E1EFFA"/>
          </a:solidFill>
          <a:ln w="6350">
            <a:solidFill>
              <a:srgbClr val="FFFFFF"/>
            </a:solidFill>
            <a:prstDash val="solid"/>
          </a:ln>
        </p:spPr>
        <p:txBody>
          <a:bodyPr/>
          <a:lstStyle/>
          <a:p>
            <a:endParaRPr lang="en-JP"/>
          </a:p>
        </p:txBody>
      </p:sp>
      <p:sp>
        <p:nvSpPr>
          <p:cNvPr id="31" name="Text 29"/>
          <p:cNvSpPr/>
          <p:nvPr/>
        </p:nvSpPr>
        <p:spPr>
          <a:xfrm>
            <a:off x="978408" y="2761488"/>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dirty="0">
                <a:solidFill>
                  <a:srgbClr val="607084"/>
                </a:solidFill>
                <a:latin typeface="Aptos" pitchFamily="34" charset="0"/>
                <a:ea typeface="Aptos" pitchFamily="34" charset="-122"/>
                <a:cs typeface="Aptos" pitchFamily="34" charset="-120"/>
              </a:rPr>
              <a:t>2</a:t>
            </a:r>
            <a:endParaRPr lang="en-US" sz="1800" dirty="0"/>
          </a:p>
        </p:txBody>
      </p:sp>
      <p:sp>
        <p:nvSpPr>
          <p:cNvPr id="32" name="Shape 30"/>
          <p:cNvSpPr/>
          <p:nvPr/>
        </p:nvSpPr>
        <p:spPr>
          <a:xfrm>
            <a:off x="1636776" y="2596896"/>
            <a:ext cx="626364" cy="626364"/>
          </a:xfrm>
          <a:prstGeom prst="rect">
            <a:avLst/>
          </a:prstGeom>
          <a:solidFill>
            <a:srgbClr val="B8DBF6"/>
          </a:solidFill>
          <a:ln w="6350">
            <a:solidFill>
              <a:srgbClr val="FFFFFF"/>
            </a:solidFill>
            <a:prstDash val="solid"/>
          </a:ln>
        </p:spPr>
        <p:txBody>
          <a:bodyPr/>
          <a:lstStyle/>
          <a:p>
            <a:endParaRPr lang="en-JP"/>
          </a:p>
        </p:txBody>
      </p:sp>
      <p:sp>
        <p:nvSpPr>
          <p:cNvPr id="33" name="Text 31"/>
          <p:cNvSpPr/>
          <p:nvPr/>
        </p:nvSpPr>
        <p:spPr>
          <a:xfrm>
            <a:off x="1636776" y="2761488"/>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b="1" dirty="0">
                <a:solidFill>
                  <a:srgbClr val="21679D"/>
                </a:solidFill>
                <a:latin typeface="Aptos" pitchFamily="34" charset="0"/>
                <a:ea typeface="Aptos" pitchFamily="34" charset="-122"/>
                <a:cs typeface="Aptos" pitchFamily="34" charset="-120"/>
              </a:rPr>
              <a:t>19</a:t>
            </a:r>
            <a:endParaRPr lang="en-US" sz="1800" dirty="0"/>
          </a:p>
        </p:txBody>
      </p:sp>
      <p:sp>
        <p:nvSpPr>
          <p:cNvPr id="34" name="Shape 32"/>
          <p:cNvSpPr/>
          <p:nvPr/>
        </p:nvSpPr>
        <p:spPr>
          <a:xfrm>
            <a:off x="2295144" y="2596896"/>
            <a:ext cx="626364" cy="626364"/>
          </a:xfrm>
          <a:prstGeom prst="rect">
            <a:avLst/>
          </a:prstGeom>
          <a:solidFill>
            <a:srgbClr val="F8FBFE"/>
          </a:solidFill>
          <a:ln w="6350">
            <a:solidFill>
              <a:srgbClr val="FFFFFF"/>
            </a:solidFill>
            <a:prstDash val="solid"/>
          </a:ln>
        </p:spPr>
        <p:txBody>
          <a:bodyPr/>
          <a:lstStyle/>
          <a:p>
            <a:endParaRPr lang="en-JP"/>
          </a:p>
        </p:txBody>
      </p:sp>
      <p:sp>
        <p:nvSpPr>
          <p:cNvPr id="35" name="Text 33"/>
          <p:cNvSpPr/>
          <p:nvPr/>
        </p:nvSpPr>
        <p:spPr>
          <a:xfrm>
            <a:off x="2295144" y="2761488"/>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dirty="0">
                <a:solidFill>
                  <a:srgbClr val="607084"/>
                </a:solidFill>
                <a:latin typeface="Aptos" pitchFamily="34" charset="0"/>
                <a:ea typeface="Aptos" pitchFamily="34" charset="-122"/>
                <a:cs typeface="Aptos" pitchFamily="34" charset="-120"/>
              </a:rPr>
              <a:t>1</a:t>
            </a:r>
            <a:endParaRPr lang="en-US" sz="1800" dirty="0"/>
          </a:p>
        </p:txBody>
      </p:sp>
      <p:sp>
        <p:nvSpPr>
          <p:cNvPr id="36" name="Shape 34"/>
          <p:cNvSpPr/>
          <p:nvPr/>
        </p:nvSpPr>
        <p:spPr>
          <a:xfrm>
            <a:off x="2953512" y="2596896"/>
            <a:ext cx="626364" cy="626364"/>
          </a:xfrm>
          <a:prstGeom prst="rect">
            <a:avLst/>
          </a:prstGeom>
          <a:solidFill>
            <a:srgbClr val="F8FBFE"/>
          </a:solidFill>
          <a:ln w="6350">
            <a:solidFill>
              <a:srgbClr val="FFFFFF"/>
            </a:solidFill>
            <a:prstDash val="solid"/>
          </a:ln>
        </p:spPr>
        <p:txBody>
          <a:bodyPr/>
          <a:lstStyle/>
          <a:p>
            <a:endParaRPr lang="en-JP"/>
          </a:p>
        </p:txBody>
      </p:sp>
      <p:sp>
        <p:nvSpPr>
          <p:cNvPr id="37" name="Text 35"/>
          <p:cNvSpPr/>
          <p:nvPr/>
        </p:nvSpPr>
        <p:spPr>
          <a:xfrm>
            <a:off x="2953512" y="2761488"/>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dirty="0">
                <a:solidFill>
                  <a:srgbClr val="607084"/>
                </a:solidFill>
                <a:latin typeface="Aptos" pitchFamily="34" charset="0"/>
                <a:ea typeface="Aptos" pitchFamily="34" charset="-122"/>
                <a:cs typeface="Aptos" pitchFamily="34" charset="-120"/>
              </a:rPr>
              <a:t>0</a:t>
            </a:r>
            <a:endParaRPr lang="en-US" sz="1800" dirty="0"/>
          </a:p>
        </p:txBody>
      </p:sp>
      <p:sp>
        <p:nvSpPr>
          <p:cNvPr id="38" name="Shape 36"/>
          <p:cNvSpPr/>
          <p:nvPr/>
        </p:nvSpPr>
        <p:spPr>
          <a:xfrm>
            <a:off x="3611880" y="2596896"/>
            <a:ext cx="626364" cy="626364"/>
          </a:xfrm>
          <a:prstGeom prst="rect">
            <a:avLst/>
          </a:prstGeom>
          <a:solidFill>
            <a:srgbClr val="F8FBFE"/>
          </a:solidFill>
          <a:ln w="6350">
            <a:solidFill>
              <a:srgbClr val="FFFFFF"/>
            </a:solidFill>
            <a:prstDash val="solid"/>
          </a:ln>
        </p:spPr>
        <p:txBody>
          <a:bodyPr/>
          <a:lstStyle/>
          <a:p>
            <a:endParaRPr lang="en-JP"/>
          </a:p>
        </p:txBody>
      </p:sp>
      <p:sp>
        <p:nvSpPr>
          <p:cNvPr id="39" name="Text 37"/>
          <p:cNvSpPr/>
          <p:nvPr/>
        </p:nvSpPr>
        <p:spPr>
          <a:xfrm>
            <a:off x="3611880" y="2761488"/>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dirty="0">
                <a:solidFill>
                  <a:srgbClr val="607084"/>
                </a:solidFill>
                <a:latin typeface="Aptos" pitchFamily="34" charset="0"/>
                <a:ea typeface="Aptos" pitchFamily="34" charset="-122"/>
                <a:cs typeface="Aptos" pitchFamily="34" charset="-120"/>
              </a:rPr>
              <a:t>0</a:t>
            </a:r>
            <a:endParaRPr lang="en-US" sz="1800" dirty="0"/>
          </a:p>
        </p:txBody>
      </p:sp>
      <p:sp>
        <p:nvSpPr>
          <p:cNvPr id="40" name="Shape 38"/>
          <p:cNvSpPr/>
          <p:nvPr/>
        </p:nvSpPr>
        <p:spPr>
          <a:xfrm>
            <a:off x="978408" y="3255264"/>
            <a:ext cx="626364" cy="626364"/>
          </a:xfrm>
          <a:prstGeom prst="rect">
            <a:avLst/>
          </a:prstGeom>
          <a:solidFill>
            <a:srgbClr val="F8FBFE"/>
          </a:solidFill>
          <a:ln w="6350">
            <a:solidFill>
              <a:srgbClr val="FFFFFF"/>
            </a:solidFill>
            <a:prstDash val="solid"/>
          </a:ln>
        </p:spPr>
        <p:txBody>
          <a:bodyPr/>
          <a:lstStyle/>
          <a:p>
            <a:endParaRPr lang="en-JP"/>
          </a:p>
        </p:txBody>
      </p:sp>
      <p:sp>
        <p:nvSpPr>
          <p:cNvPr id="41" name="Text 39"/>
          <p:cNvSpPr/>
          <p:nvPr/>
        </p:nvSpPr>
        <p:spPr>
          <a:xfrm>
            <a:off x="978408" y="3419856"/>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dirty="0">
                <a:solidFill>
                  <a:srgbClr val="607084"/>
                </a:solidFill>
                <a:latin typeface="Aptos" pitchFamily="34" charset="0"/>
                <a:ea typeface="Aptos" pitchFamily="34" charset="-122"/>
                <a:cs typeface="Aptos" pitchFamily="34" charset="-120"/>
              </a:rPr>
              <a:t>0</a:t>
            </a:r>
            <a:endParaRPr lang="en-US" sz="1800" dirty="0"/>
          </a:p>
        </p:txBody>
      </p:sp>
      <p:sp>
        <p:nvSpPr>
          <p:cNvPr id="42" name="Shape 40"/>
          <p:cNvSpPr/>
          <p:nvPr/>
        </p:nvSpPr>
        <p:spPr>
          <a:xfrm>
            <a:off x="1636776" y="3255264"/>
            <a:ext cx="626364" cy="626364"/>
          </a:xfrm>
          <a:prstGeom prst="rect">
            <a:avLst/>
          </a:prstGeom>
          <a:solidFill>
            <a:srgbClr val="F8FBFE"/>
          </a:solidFill>
          <a:ln w="6350">
            <a:solidFill>
              <a:srgbClr val="FFFFFF"/>
            </a:solidFill>
            <a:prstDash val="solid"/>
          </a:ln>
        </p:spPr>
        <p:txBody>
          <a:bodyPr/>
          <a:lstStyle/>
          <a:p>
            <a:endParaRPr lang="en-JP"/>
          </a:p>
        </p:txBody>
      </p:sp>
      <p:sp>
        <p:nvSpPr>
          <p:cNvPr id="43" name="Text 41"/>
          <p:cNvSpPr/>
          <p:nvPr/>
        </p:nvSpPr>
        <p:spPr>
          <a:xfrm>
            <a:off x="1636776" y="3419856"/>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dirty="0">
                <a:solidFill>
                  <a:srgbClr val="607084"/>
                </a:solidFill>
                <a:latin typeface="Aptos" pitchFamily="34" charset="0"/>
                <a:ea typeface="Aptos" pitchFamily="34" charset="-122"/>
                <a:cs typeface="Aptos" pitchFamily="34" charset="-120"/>
              </a:rPr>
              <a:t>1</a:t>
            </a:r>
            <a:endParaRPr lang="en-US" sz="1800" dirty="0"/>
          </a:p>
        </p:txBody>
      </p:sp>
      <p:sp>
        <p:nvSpPr>
          <p:cNvPr id="44" name="Shape 42"/>
          <p:cNvSpPr/>
          <p:nvPr/>
        </p:nvSpPr>
        <p:spPr>
          <a:xfrm>
            <a:off x="2295144" y="3255264"/>
            <a:ext cx="626364" cy="626364"/>
          </a:xfrm>
          <a:prstGeom prst="rect">
            <a:avLst/>
          </a:prstGeom>
          <a:solidFill>
            <a:srgbClr val="B8DBF6"/>
          </a:solidFill>
          <a:ln w="6350">
            <a:solidFill>
              <a:srgbClr val="FFFFFF"/>
            </a:solidFill>
            <a:prstDash val="solid"/>
          </a:ln>
        </p:spPr>
        <p:txBody>
          <a:bodyPr/>
          <a:lstStyle/>
          <a:p>
            <a:endParaRPr lang="en-JP"/>
          </a:p>
        </p:txBody>
      </p:sp>
      <p:sp>
        <p:nvSpPr>
          <p:cNvPr id="45" name="Text 43"/>
          <p:cNvSpPr/>
          <p:nvPr/>
        </p:nvSpPr>
        <p:spPr>
          <a:xfrm>
            <a:off x="2295144" y="3419856"/>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b="1" dirty="0">
                <a:solidFill>
                  <a:srgbClr val="21679D"/>
                </a:solidFill>
                <a:latin typeface="Aptos" pitchFamily="34" charset="0"/>
                <a:ea typeface="Aptos" pitchFamily="34" charset="-122"/>
                <a:cs typeface="Aptos" pitchFamily="34" charset="-120"/>
              </a:rPr>
              <a:t>20</a:t>
            </a:r>
            <a:endParaRPr lang="en-US" sz="1800" dirty="0"/>
          </a:p>
        </p:txBody>
      </p:sp>
      <p:sp>
        <p:nvSpPr>
          <p:cNvPr id="46" name="Shape 44"/>
          <p:cNvSpPr/>
          <p:nvPr/>
        </p:nvSpPr>
        <p:spPr>
          <a:xfrm>
            <a:off x="2953512" y="3255264"/>
            <a:ext cx="626364" cy="626364"/>
          </a:xfrm>
          <a:prstGeom prst="rect">
            <a:avLst/>
          </a:prstGeom>
          <a:solidFill>
            <a:srgbClr val="F8FBFE"/>
          </a:solidFill>
          <a:ln w="6350">
            <a:solidFill>
              <a:srgbClr val="FFFFFF"/>
            </a:solidFill>
            <a:prstDash val="solid"/>
          </a:ln>
        </p:spPr>
        <p:txBody>
          <a:bodyPr/>
          <a:lstStyle/>
          <a:p>
            <a:endParaRPr lang="en-JP"/>
          </a:p>
        </p:txBody>
      </p:sp>
      <p:sp>
        <p:nvSpPr>
          <p:cNvPr id="47" name="Text 45"/>
          <p:cNvSpPr/>
          <p:nvPr/>
        </p:nvSpPr>
        <p:spPr>
          <a:xfrm>
            <a:off x="2953512" y="3419856"/>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dirty="0">
                <a:solidFill>
                  <a:srgbClr val="607084"/>
                </a:solidFill>
                <a:latin typeface="Aptos" pitchFamily="34" charset="0"/>
                <a:ea typeface="Aptos" pitchFamily="34" charset="-122"/>
                <a:cs typeface="Aptos" pitchFamily="34" charset="-120"/>
              </a:rPr>
              <a:t>0</a:t>
            </a:r>
            <a:endParaRPr lang="en-US" sz="1800" dirty="0"/>
          </a:p>
        </p:txBody>
      </p:sp>
      <p:sp>
        <p:nvSpPr>
          <p:cNvPr id="48" name="Shape 46"/>
          <p:cNvSpPr/>
          <p:nvPr/>
        </p:nvSpPr>
        <p:spPr>
          <a:xfrm>
            <a:off x="3611880" y="3255264"/>
            <a:ext cx="626364" cy="626364"/>
          </a:xfrm>
          <a:prstGeom prst="rect">
            <a:avLst/>
          </a:prstGeom>
          <a:solidFill>
            <a:srgbClr val="F8FBFE"/>
          </a:solidFill>
          <a:ln w="6350">
            <a:solidFill>
              <a:srgbClr val="FFFFFF"/>
            </a:solidFill>
            <a:prstDash val="solid"/>
          </a:ln>
        </p:spPr>
        <p:txBody>
          <a:bodyPr/>
          <a:lstStyle/>
          <a:p>
            <a:endParaRPr lang="en-JP"/>
          </a:p>
        </p:txBody>
      </p:sp>
      <p:sp>
        <p:nvSpPr>
          <p:cNvPr id="49" name="Text 47"/>
          <p:cNvSpPr/>
          <p:nvPr/>
        </p:nvSpPr>
        <p:spPr>
          <a:xfrm>
            <a:off x="3611880" y="3419856"/>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dirty="0">
                <a:solidFill>
                  <a:srgbClr val="607084"/>
                </a:solidFill>
                <a:latin typeface="Aptos" pitchFamily="34" charset="0"/>
                <a:ea typeface="Aptos" pitchFamily="34" charset="-122"/>
                <a:cs typeface="Aptos" pitchFamily="34" charset="-120"/>
              </a:rPr>
              <a:t>1</a:t>
            </a:r>
            <a:endParaRPr lang="en-US" sz="1800" dirty="0"/>
          </a:p>
        </p:txBody>
      </p:sp>
      <p:sp>
        <p:nvSpPr>
          <p:cNvPr id="50" name="Shape 48"/>
          <p:cNvSpPr/>
          <p:nvPr/>
        </p:nvSpPr>
        <p:spPr>
          <a:xfrm>
            <a:off x="978408" y="3913632"/>
            <a:ext cx="626364" cy="626364"/>
          </a:xfrm>
          <a:prstGeom prst="rect">
            <a:avLst/>
          </a:prstGeom>
          <a:solidFill>
            <a:srgbClr val="F8FBFE"/>
          </a:solidFill>
          <a:ln w="6350">
            <a:solidFill>
              <a:srgbClr val="FFFFFF"/>
            </a:solidFill>
            <a:prstDash val="solid"/>
          </a:ln>
        </p:spPr>
        <p:txBody>
          <a:bodyPr/>
          <a:lstStyle/>
          <a:p>
            <a:endParaRPr lang="en-JP"/>
          </a:p>
        </p:txBody>
      </p:sp>
      <p:sp>
        <p:nvSpPr>
          <p:cNvPr id="51" name="Text 49"/>
          <p:cNvSpPr/>
          <p:nvPr/>
        </p:nvSpPr>
        <p:spPr>
          <a:xfrm>
            <a:off x="978408" y="4078224"/>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dirty="0">
                <a:solidFill>
                  <a:srgbClr val="607084"/>
                </a:solidFill>
                <a:latin typeface="Aptos" pitchFamily="34" charset="0"/>
                <a:ea typeface="Aptos" pitchFamily="34" charset="-122"/>
                <a:cs typeface="Aptos" pitchFamily="34" charset="-120"/>
              </a:rPr>
              <a:t>0</a:t>
            </a:r>
            <a:endParaRPr lang="en-US" sz="1800" dirty="0"/>
          </a:p>
        </p:txBody>
      </p:sp>
      <p:sp>
        <p:nvSpPr>
          <p:cNvPr id="52" name="Shape 50"/>
          <p:cNvSpPr/>
          <p:nvPr/>
        </p:nvSpPr>
        <p:spPr>
          <a:xfrm>
            <a:off x="1636776" y="3913632"/>
            <a:ext cx="626364" cy="626364"/>
          </a:xfrm>
          <a:prstGeom prst="rect">
            <a:avLst/>
          </a:prstGeom>
          <a:solidFill>
            <a:srgbClr val="F8FBFE"/>
          </a:solidFill>
          <a:ln w="6350">
            <a:solidFill>
              <a:srgbClr val="FFFFFF"/>
            </a:solidFill>
            <a:prstDash val="solid"/>
          </a:ln>
        </p:spPr>
        <p:txBody>
          <a:bodyPr/>
          <a:lstStyle/>
          <a:p>
            <a:endParaRPr lang="en-JP"/>
          </a:p>
        </p:txBody>
      </p:sp>
      <p:sp>
        <p:nvSpPr>
          <p:cNvPr id="53" name="Text 51"/>
          <p:cNvSpPr/>
          <p:nvPr/>
        </p:nvSpPr>
        <p:spPr>
          <a:xfrm>
            <a:off x="1636776" y="4078224"/>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dirty="0">
                <a:solidFill>
                  <a:srgbClr val="607084"/>
                </a:solidFill>
                <a:latin typeface="Aptos" pitchFamily="34" charset="0"/>
                <a:ea typeface="Aptos" pitchFamily="34" charset="-122"/>
                <a:cs typeface="Aptos" pitchFamily="34" charset="-120"/>
              </a:rPr>
              <a:t>0</a:t>
            </a:r>
            <a:endParaRPr lang="en-US" sz="1800" dirty="0"/>
          </a:p>
        </p:txBody>
      </p:sp>
      <p:sp>
        <p:nvSpPr>
          <p:cNvPr id="54" name="Shape 52"/>
          <p:cNvSpPr/>
          <p:nvPr/>
        </p:nvSpPr>
        <p:spPr>
          <a:xfrm>
            <a:off x="2295144" y="3913632"/>
            <a:ext cx="626364" cy="626364"/>
          </a:xfrm>
          <a:prstGeom prst="rect">
            <a:avLst/>
          </a:prstGeom>
          <a:solidFill>
            <a:srgbClr val="F8FBFE"/>
          </a:solidFill>
          <a:ln w="6350">
            <a:solidFill>
              <a:srgbClr val="FFFFFF"/>
            </a:solidFill>
            <a:prstDash val="solid"/>
          </a:ln>
        </p:spPr>
        <p:txBody>
          <a:bodyPr/>
          <a:lstStyle/>
          <a:p>
            <a:endParaRPr lang="en-JP"/>
          </a:p>
        </p:txBody>
      </p:sp>
      <p:sp>
        <p:nvSpPr>
          <p:cNvPr id="55" name="Text 53"/>
          <p:cNvSpPr/>
          <p:nvPr/>
        </p:nvSpPr>
        <p:spPr>
          <a:xfrm>
            <a:off x="2295144" y="4078224"/>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dirty="0">
                <a:solidFill>
                  <a:srgbClr val="607084"/>
                </a:solidFill>
                <a:latin typeface="Aptos" pitchFamily="34" charset="0"/>
                <a:ea typeface="Aptos" pitchFamily="34" charset="-122"/>
                <a:cs typeface="Aptos" pitchFamily="34" charset="-120"/>
              </a:rPr>
              <a:t>1</a:t>
            </a:r>
            <a:endParaRPr lang="en-US" sz="1800" dirty="0"/>
          </a:p>
        </p:txBody>
      </p:sp>
      <p:sp>
        <p:nvSpPr>
          <p:cNvPr id="56" name="Shape 54"/>
          <p:cNvSpPr/>
          <p:nvPr/>
        </p:nvSpPr>
        <p:spPr>
          <a:xfrm>
            <a:off x="2953512" y="3913632"/>
            <a:ext cx="626364" cy="626364"/>
          </a:xfrm>
          <a:prstGeom prst="rect">
            <a:avLst/>
          </a:prstGeom>
          <a:solidFill>
            <a:srgbClr val="B8DBF6"/>
          </a:solidFill>
          <a:ln w="6350">
            <a:solidFill>
              <a:srgbClr val="FFFFFF"/>
            </a:solidFill>
            <a:prstDash val="solid"/>
          </a:ln>
        </p:spPr>
        <p:txBody>
          <a:bodyPr/>
          <a:lstStyle/>
          <a:p>
            <a:endParaRPr lang="en-JP"/>
          </a:p>
        </p:txBody>
      </p:sp>
      <p:sp>
        <p:nvSpPr>
          <p:cNvPr id="57" name="Text 55"/>
          <p:cNvSpPr/>
          <p:nvPr/>
        </p:nvSpPr>
        <p:spPr>
          <a:xfrm>
            <a:off x="2953512" y="4078224"/>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b="1" dirty="0">
                <a:solidFill>
                  <a:srgbClr val="21679D"/>
                </a:solidFill>
                <a:latin typeface="Aptos" pitchFamily="34" charset="0"/>
                <a:ea typeface="Aptos" pitchFamily="34" charset="-122"/>
                <a:cs typeface="Aptos" pitchFamily="34" charset="-120"/>
              </a:rPr>
              <a:t>22</a:t>
            </a:r>
            <a:endParaRPr lang="en-US" sz="1800" dirty="0"/>
          </a:p>
        </p:txBody>
      </p:sp>
      <p:sp>
        <p:nvSpPr>
          <p:cNvPr id="58" name="Shape 56"/>
          <p:cNvSpPr/>
          <p:nvPr/>
        </p:nvSpPr>
        <p:spPr>
          <a:xfrm>
            <a:off x="3611880" y="3913632"/>
            <a:ext cx="626364" cy="626364"/>
          </a:xfrm>
          <a:prstGeom prst="rect">
            <a:avLst/>
          </a:prstGeom>
          <a:solidFill>
            <a:srgbClr val="F8FBFE"/>
          </a:solidFill>
          <a:ln w="6350">
            <a:solidFill>
              <a:srgbClr val="FFFFFF"/>
            </a:solidFill>
            <a:prstDash val="solid"/>
          </a:ln>
        </p:spPr>
        <p:txBody>
          <a:bodyPr/>
          <a:lstStyle/>
          <a:p>
            <a:endParaRPr lang="en-JP"/>
          </a:p>
        </p:txBody>
      </p:sp>
      <p:sp>
        <p:nvSpPr>
          <p:cNvPr id="59" name="Text 57"/>
          <p:cNvSpPr/>
          <p:nvPr/>
        </p:nvSpPr>
        <p:spPr>
          <a:xfrm>
            <a:off x="3611880" y="4078224"/>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dirty="0">
                <a:solidFill>
                  <a:srgbClr val="607084"/>
                </a:solidFill>
                <a:latin typeface="Aptos" pitchFamily="34" charset="0"/>
                <a:ea typeface="Aptos" pitchFamily="34" charset="-122"/>
                <a:cs typeface="Aptos" pitchFamily="34" charset="-120"/>
              </a:rPr>
              <a:t>0</a:t>
            </a:r>
            <a:endParaRPr lang="en-US" sz="1800" dirty="0"/>
          </a:p>
        </p:txBody>
      </p:sp>
      <p:sp>
        <p:nvSpPr>
          <p:cNvPr id="60" name="Shape 58"/>
          <p:cNvSpPr/>
          <p:nvPr/>
        </p:nvSpPr>
        <p:spPr>
          <a:xfrm>
            <a:off x="978408" y="4572000"/>
            <a:ext cx="626364" cy="626364"/>
          </a:xfrm>
          <a:prstGeom prst="rect">
            <a:avLst/>
          </a:prstGeom>
          <a:solidFill>
            <a:srgbClr val="F8FBFE"/>
          </a:solidFill>
          <a:ln w="6350">
            <a:solidFill>
              <a:srgbClr val="FFFFFF"/>
            </a:solidFill>
            <a:prstDash val="solid"/>
          </a:ln>
        </p:spPr>
        <p:txBody>
          <a:bodyPr/>
          <a:lstStyle/>
          <a:p>
            <a:endParaRPr lang="en-JP"/>
          </a:p>
        </p:txBody>
      </p:sp>
      <p:sp>
        <p:nvSpPr>
          <p:cNvPr id="61" name="Text 59"/>
          <p:cNvSpPr/>
          <p:nvPr/>
        </p:nvSpPr>
        <p:spPr>
          <a:xfrm>
            <a:off x="978408" y="4736592"/>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dirty="0">
                <a:solidFill>
                  <a:srgbClr val="607084"/>
                </a:solidFill>
                <a:latin typeface="Aptos" pitchFamily="34" charset="0"/>
                <a:ea typeface="Aptos" pitchFamily="34" charset="-122"/>
                <a:cs typeface="Aptos" pitchFamily="34" charset="-120"/>
              </a:rPr>
              <a:t>0</a:t>
            </a:r>
            <a:endParaRPr lang="en-US" sz="1800" dirty="0"/>
          </a:p>
        </p:txBody>
      </p:sp>
      <p:sp>
        <p:nvSpPr>
          <p:cNvPr id="62" name="Shape 60"/>
          <p:cNvSpPr/>
          <p:nvPr/>
        </p:nvSpPr>
        <p:spPr>
          <a:xfrm>
            <a:off x="1636776" y="4572000"/>
            <a:ext cx="626364" cy="626364"/>
          </a:xfrm>
          <a:prstGeom prst="rect">
            <a:avLst/>
          </a:prstGeom>
          <a:solidFill>
            <a:srgbClr val="F8FBFE"/>
          </a:solidFill>
          <a:ln w="6350">
            <a:solidFill>
              <a:srgbClr val="FFFFFF"/>
            </a:solidFill>
            <a:prstDash val="solid"/>
          </a:ln>
        </p:spPr>
        <p:txBody>
          <a:bodyPr/>
          <a:lstStyle/>
          <a:p>
            <a:endParaRPr lang="en-JP"/>
          </a:p>
        </p:txBody>
      </p:sp>
      <p:sp>
        <p:nvSpPr>
          <p:cNvPr id="63" name="Text 61"/>
          <p:cNvSpPr/>
          <p:nvPr/>
        </p:nvSpPr>
        <p:spPr>
          <a:xfrm>
            <a:off x="1636776" y="4736592"/>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dirty="0">
                <a:solidFill>
                  <a:srgbClr val="607084"/>
                </a:solidFill>
                <a:latin typeface="Aptos" pitchFamily="34" charset="0"/>
                <a:ea typeface="Aptos" pitchFamily="34" charset="-122"/>
                <a:cs typeface="Aptos" pitchFamily="34" charset="-120"/>
              </a:rPr>
              <a:t>0</a:t>
            </a:r>
            <a:endParaRPr lang="en-US" sz="1800" dirty="0"/>
          </a:p>
        </p:txBody>
      </p:sp>
      <p:sp>
        <p:nvSpPr>
          <p:cNvPr id="64" name="Shape 62"/>
          <p:cNvSpPr/>
          <p:nvPr/>
        </p:nvSpPr>
        <p:spPr>
          <a:xfrm>
            <a:off x="2295144" y="4572000"/>
            <a:ext cx="626364" cy="626364"/>
          </a:xfrm>
          <a:prstGeom prst="rect">
            <a:avLst/>
          </a:prstGeom>
          <a:solidFill>
            <a:srgbClr val="F8FBFE"/>
          </a:solidFill>
          <a:ln w="6350">
            <a:solidFill>
              <a:srgbClr val="FFFFFF"/>
            </a:solidFill>
            <a:prstDash val="solid"/>
          </a:ln>
        </p:spPr>
        <p:txBody>
          <a:bodyPr/>
          <a:lstStyle/>
          <a:p>
            <a:endParaRPr lang="en-JP"/>
          </a:p>
        </p:txBody>
      </p:sp>
      <p:sp>
        <p:nvSpPr>
          <p:cNvPr id="65" name="Text 63"/>
          <p:cNvSpPr/>
          <p:nvPr/>
        </p:nvSpPr>
        <p:spPr>
          <a:xfrm>
            <a:off x="2295144" y="4736592"/>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dirty="0">
                <a:solidFill>
                  <a:srgbClr val="607084"/>
                </a:solidFill>
                <a:latin typeface="Aptos" pitchFamily="34" charset="0"/>
                <a:ea typeface="Aptos" pitchFamily="34" charset="-122"/>
                <a:cs typeface="Aptos" pitchFamily="34" charset="-120"/>
              </a:rPr>
              <a:t>1</a:t>
            </a:r>
            <a:endParaRPr lang="en-US" sz="1800" dirty="0"/>
          </a:p>
        </p:txBody>
      </p:sp>
      <p:sp>
        <p:nvSpPr>
          <p:cNvPr id="66" name="Shape 64"/>
          <p:cNvSpPr/>
          <p:nvPr/>
        </p:nvSpPr>
        <p:spPr>
          <a:xfrm>
            <a:off x="2953512" y="4572000"/>
            <a:ext cx="626364" cy="626364"/>
          </a:xfrm>
          <a:prstGeom prst="rect">
            <a:avLst/>
          </a:prstGeom>
          <a:solidFill>
            <a:srgbClr val="F8FBFE"/>
          </a:solidFill>
          <a:ln w="6350">
            <a:solidFill>
              <a:srgbClr val="FFFFFF"/>
            </a:solidFill>
            <a:prstDash val="solid"/>
          </a:ln>
        </p:spPr>
        <p:txBody>
          <a:bodyPr/>
          <a:lstStyle/>
          <a:p>
            <a:endParaRPr lang="en-JP"/>
          </a:p>
        </p:txBody>
      </p:sp>
      <p:sp>
        <p:nvSpPr>
          <p:cNvPr id="67" name="Text 65"/>
          <p:cNvSpPr/>
          <p:nvPr/>
        </p:nvSpPr>
        <p:spPr>
          <a:xfrm>
            <a:off x="2953512" y="4736592"/>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dirty="0">
                <a:solidFill>
                  <a:srgbClr val="607084"/>
                </a:solidFill>
                <a:latin typeface="Aptos" pitchFamily="34" charset="0"/>
                <a:ea typeface="Aptos" pitchFamily="34" charset="-122"/>
                <a:cs typeface="Aptos" pitchFamily="34" charset="-120"/>
              </a:rPr>
              <a:t>1</a:t>
            </a:r>
            <a:endParaRPr lang="en-US" sz="1800" dirty="0"/>
          </a:p>
        </p:txBody>
      </p:sp>
      <p:sp>
        <p:nvSpPr>
          <p:cNvPr id="68" name="Shape 66"/>
          <p:cNvSpPr/>
          <p:nvPr/>
        </p:nvSpPr>
        <p:spPr>
          <a:xfrm>
            <a:off x="3611880" y="4572000"/>
            <a:ext cx="626364" cy="626364"/>
          </a:xfrm>
          <a:prstGeom prst="rect">
            <a:avLst/>
          </a:prstGeom>
          <a:solidFill>
            <a:srgbClr val="B8DBF6"/>
          </a:solidFill>
          <a:ln w="6350">
            <a:solidFill>
              <a:srgbClr val="FFFFFF"/>
            </a:solidFill>
            <a:prstDash val="solid"/>
          </a:ln>
        </p:spPr>
        <p:txBody>
          <a:bodyPr/>
          <a:lstStyle/>
          <a:p>
            <a:endParaRPr lang="en-JP"/>
          </a:p>
        </p:txBody>
      </p:sp>
      <p:sp>
        <p:nvSpPr>
          <p:cNvPr id="69" name="Text 67"/>
          <p:cNvSpPr/>
          <p:nvPr/>
        </p:nvSpPr>
        <p:spPr>
          <a:xfrm>
            <a:off x="3611880" y="4736592"/>
            <a:ext cx="621792" cy="256032"/>
          </a:xfrm>
          <a:prstGeom prst="rect">
            <a:avLst/>
          </a:prstGeom>
          <a:noFill/>
          <a:ln/>
        </p:spPr>
        <p:txBody>
          <a:bodyPr wrap="square" lIns="0" tIns="0" rIns="0" bIns="0" rtlCol="0" anchor="ctr">
            <a:normAutofit lnSpcReduction="10000"/>
          </a:bodyPr>
          <a:lstStyle/>
          <a:p>
            <a:pPr marL="0" indent="0" algn="ctr">
              <a:lnSpc>
                <a:spcPct val="100000"/>
              </a:lnSpc>
              <a:buNone/>
            </a:pPr>
            <a:r>
              <a:rPr lang="en-US" sz="1800" b="1" dirty="0">
                <a:solidFill>
                  <a:srgbClr val="21679D"/>
                </a:solidFill>
                <a:latin typeface="Aptos" pitchFamily="34" charset="0"/>
                <a:ea typeface="Aptos" pitchFamily="34" charset="-122"/>
                <a:cs typeface="Aptos" pitchFamily="34" charset="-120"/>
              </a:rPr>
              <a:t>20</a:t>
            </a:r>
            <a:endParaRPr lang="en-US" sz="1800" dirty="0"/>
          </a:p>
        </p:txBody>
      </p:sp>
      <p:sp>
        <p:nvSpPr>
          <p:cNvPr id="70" name="Shape 68"/>
          <p:cNvSpPr/>
          <p:nvPr/>
        </p:nvSpPr>
        <p:spPr>
          <a:xfrm>
            <a:off x="5065776" y="1755648"/>
            <a:ext cx="6035040" cy="1399032"/>
          </a:xfrm>
          <a:prstGeom prst="roundRect">
            <a:avLst>
              <a:gd name="adj" fmla="val 7843"/>
            </a:avLst>
          </a:prstGeom>
          <a:solidFill>
            <a:srgbClr val="DDF5EF"/>
          </a:solidFill>
          <a:ln w="8890">
            <a:solidFill>
              <a:srgbClr val="CBD8E5"/>
            </a:solidFill>
            <a:prstDash val="solid"/>
          </a:ln>
        </p:spPr>
        <p:txBody>
          <a:bodyPr/>
          <a:lstStyle/>
          <a:p>
            <a:endParaRPr lang="en-JP"/>
          </a:p>
        </p:txBody>
      </p:sp>
      <p:sp>
        <p:nvSpPr>
          <p:cNvPr id="71" name="Text 69"/>
          <p:cNvSpPr/>
          <p:nvPr/>
        </p:nvSpPr>
        <p:spPr>
          <a:xfrm>
            <a:off x="5230368" y="1874520"/>
            <a:ext cx="5705856" cy="292608"/>
          </a:xfrm>
          <a:prstGeom prst="rect">
            <a:avLst/>
          </a:prstGeom>
          <a:noFill/>
          <a:ln/>
        </p:spPr>
        <p:txBody>
          <a:bodyPr wrap="square" lIns="0" tIns="0" rIns="0" bIns="0" rtlCol="0" anchor="ctr">
            <a:normAutofit/>
          </a:bodyPr>
          <a:lstStyle/>
          <a:p>
            <a:pPr marL="0" indent="0" algn="l">
              <a:lnSpc>
                <a:spcPct val="100000"/>
              </a:lnSpc>
              <a:buNone/>
            </a:pPr>
            <a:r>
              <a:rPr lang="en-US" sz="1700" b="1" dirty="0">
                <a:solidFill>
                  <a:srgbClr val="1D3957"/>
                </a:solidFill>
                <a:latin typeface="Aptos" pitchFamily="34" charset="0"/>
                <a:ea typeface="Aptos" pitchFamily="34" charset="-122"/>
                <a:cs typeface="Aptos" pitchFamily="34" charset="-120"/>
              </a:rPr>
              <a:t>Diagonal cells = correct predictions</a:t>
            </a:r>
            <a:endParaRPr lang="en-US" sz="1700" dirty="0"/>
          </a:p>
        </p:txBody>
      </p:sp>
      <p:sp>
        <p:nvSpPr>
          <p:cNvPr id="72" name="Text 70"/>
          <p:cNvSpPr/>
          <p:nvPr/>
        </p:nvSpPr>
        <p:spPr>
          <a:xfrm>
            <a:off x="5230368" y="2231136"/>
            <a:ext cx="5715000" cy="82296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253547"/>
                </a:solidFill>
                <a:latin typeface="Noto Sans CJK JP" pitchFamily="34" charset="0"/>
                <a:ea typeface="Noto Sans CJK JP" pitchFamily="34" charset="-122"/>
                <a:cs typeface="Noto Sans CJK JP" pitchFamily="34" charset="-120"/>
              </a:rPr>
              <a:t>対角線上は正しい分類です。</a:t>
            </a:r>
            <a:endParaRPr lang="en-US" sz="1300" dirty="0"/>
          </a:p>
        </p:txBody>
      </p:sp>
      <p:sp>
        <p:nvSpPr>
          <p:cNvPr id="73" name="Shape 71"/>
          <p:cNvSpPr/>
          <p:nvPr/>
        </p:nvSpPr>
        <p:spPr>
          <a:xfrm>
            <a:off x="5065776" y="3374136"/>
            <a:ext cx="6035040" cy="1399032"/>
          </a:xfrm>
          <a:prstGeom prst="roundRect">
            <a:avLst>
              <a:gd name="adj" fmla="val 7843"/>
            </a:avLst>
          </a:prstGeom>
          <a:solidFill>
            <a:srgbClr val="FFF2DD"/>
          </a:solidFill>
          <a:ln w="8890">
            <a:solidFill>
              <a:srgbClr val="CBD8E5"/>
            </a:solidFill>
            <a:prstDash val="solid"/>
          </a:ln>
        </p:spPr>
        <p:txBody>
          <a:bodyPr/>
          <a:lstStyle/>
          <a:p>
            <a:endParaRPr lang="en-JP"/>
          </a:p>
        </p:txBody>
      </p:sp>
      <p:sp>
        <p:nvSpPr>
          <p:cNvPr id="74" name="Text 72"/>
          <p:cNvSpPr/>
          <p:nvPr/>
        </p:nvSpPr>
        <p:spPr>
          <a:xfrm>
            <a:off x="5230368" y="3493008"/>
            <a:ext cx="5705856" cy="292608"/>
          </a:xfrm>
          <a:prstGeom prst="rect">
            <a:avLst/>
          </a:prstGeom>
          <a:noFill/>
          <a:ln/>
        </p:spPr>
        <p:txBody>
          <a:bodyPr wrap="square" lIns="0" tIns="0" rIns="0" bIns="0" rtlCol="0" anchor="ctr">
            <a:normAutofit/>
          </a:bodyPr>
          <a:lstStyle/>
          <a:p>
            <a:pPr marL="0" indent="0" algn="l">
              <a:lnSpc>
                <a:spcPct val="100000"/>
              </a:lnSpc>
              <a:buNone/>
            </a:pPr>
            <a:r>
              <a:rPr lang="en-US" sz="1700" b="1" dirty="0">
                <a:solidFill>
                  <a:srgbClr val="1D3957"/>
                </a:solidFill>
                <a:latin typeface="Aptos" pitchFamily="34" charset="0"/>
                <a:ea typeface="Aptos" pitchFamily="34" charset="-122"/>
                <a:cs typeface="Aptos" pitchFamily="34" charset="-120"/>
              </a:rPr>
              <a:t>Off-diagonal = mistakes</a:t>
            </a:r>
            <a:endParaRPr lang="en-US" sz="1700" dirty="0"/>
          </a:p>
        </p:txBody>
      </p:sp>
      <p:sp>
        <p:nvSpPr>
          <p:cNvPr id="75" name="Text 73"/>
          <p:cNvSpPr/>
          <p:nvPr/>
        </p:nvSpPr>
        <p:spPr>
          <a:xfrm>
            <a:off x="5230368" y="3849624"/>
            <a:ext cx="5715000" cy="822960"/>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253547"/>
                </a:solidFill>
                <a:latin typeface="Noto Sans CJK JP" pitchFamily="34" charset="0"/>
                <a:ea typeface="Noto Sans CJK JP" pitchFamily="34" charset="-122"/>
                <a:cs typeface="Noto Sans CJK JP" pitchFamily="34" charset="-120"/>
              </a:rPr>
              <a:t>対角線以外はクラスを取り違えた画像の数です。</a:t>
            </a:r>
            <a:endParaRPr lang="en-US" sz="1300" dirty="0"/>
          </a:p>
        </p:txBody>
      </p:sp>
      <p:sp>
        <p:nvSpPr>
          <p:cNvPr id="76" name="Text 74"/>
          <p:cNvSpPr/>
          <p:nvPr/>
        </p:nvSpPr>
        <p:spPr>
          <a:xfrm>
            <a:off x="841248" y="5504688"/>
            <a:ext cx="5852160" cy="256032"/>
          </a:xfrm>
          <a:prstGeom prst="rect">
            <a:avLst/>
          </a:prstGeom>
          <a:noFill/>
          <a:ln/>
        </p:spPr>
        <p:txBody>
          <a:bodyPr wrap="square" lIns="0" tIns="0" rIns="0" bIns="0" rtlCol="0" anchor="ctr">
            <a:normAutofit/>
          </a:bodyPr>
          <a:lstStyle/>
          <a:p>
            <a:pPr marL="0" indent="0" algn="l">
              <a:lnSpc>
                <a:spcPct val="100000"/>
              </a:lnSpc>
              <a:buNone/>
            </a:pPr>
            <a:r>
              <a:rPr lang="en-US" sz="1300" b="1" dirty="0">
                <a:solidFill>
                  <a:srgbClr val="D86770"/>
                </a:solidFill>
                <a:latin typeface="Aptos" pitchFamily="34" charset="0"/>
                <a:ea typeface="Aptos" pitchFamily="34" charset="-122"/>
                <a:cs typeface="Aptos" pitchFamily="34" charset="-120"/>
              </a:rPr>
              <a:t>ILLUSTRATIVE EXAMPLE — not measured</a:t>
            </a:r>
            <a:endParaRPr lang="en-US" sz="1300" dirty="0"/>
          </a:p>
        </p:txBody>
      </p:sp>
      <p:sp>
        <p:nvSpPr>
          <p:cNvPr id="77" name="Shape 75"/>
          <p:cNvSpPr/>
          <p:nvPr/>
        </p:nvSpPr>
        <p:spPr>
          <a:xfrm>
            <a:off x="612648" y="5916168"/>
            <a:ext cx="10972800" cy="484632"/>
          </a:xfrm>
          <a:prstGeom prst="roundRect">
            <a:avLst>
              <a:gd name="adj" fmla="val 15094"/>
            </a:avLst>
          </a:prstGeom>
          <a:solidFill>
            <a:srgbClr val="FFF2DD"/>
          </a:solidFill>
          <a:ln w="8890">
            <a:solidFill>
              <a:srgbClr val="FFF2DD"/>
            </a:solidFill>
            <a:prstDash val="solid"/>
          </a:ln>
        </p:spPr>
        <p:txBody>
          <a:bodyPr/>
          <a:lstStyle/>
          <a:p>
            <a:endParaRPr lang="en-JP"/>
          </a:p>
        </p:txBody>
      </p:sp>
      <p:sp>
        <p:nvSpPr>
          <p:cNvPr id="78" name="Text 76"/>
          <p:cNvSpPr/>
          <p:nvPr/>
        </p:nvSpPr>
        <p:spPr>
          <a:xfrm>
            <a:off x="768096" y="5952744"/>
            <a:ext cx="5029200" cy="182880"/>
          </a:xfrm>
          <a:prstGeom prst="rect">
            <a:avLst/>
          </a:prstGeom>
          <a:noFill/>
          <a:ln/>
        </p:spPr>
        <p:txBody>
          <a:bodyPr wrap="square" lIns="0" tIns="0" rIns="0" bIns="0" rtlCol="0" anchor="ctr">
            <a:normAutofit lnSpcReduction="10000"/>
          </a:bodyPr>
          <a:lstStyle/>
          <a:p>
            <a:pPr marL="0" indent="0" algn="l">
              <a:lnSpc>
                <a:spcPct val="100000"/>
              </a:lnSpc>
              <a:buNone/>
            </a:pPr>
            <a:r>
              <a:rPr lang="en-US" sz="1210" b="1" dirty="0">
                <a:solidFill>
                  <a:srgbClr val="1D3957"/>
                </a:solidFill>
                <a:latin typeface="Aptos" pitchFamily="34" charset="0"/>
                <a:ea typeface="Aptos" pitchFamily="34" charset="-122"/>
                <a:cs typeface="Aptos" pitchFamily="34" charset="-120"/>
              </a:rPr>
              <a:t>Also inspect precision, recall and F1-score for each flower class.</a:t>
            </a:r>
            <a:endParaRPr lang="en-US" sz="1210" dirty="0"/>
          </a:p>
        </p:txBody>
      </p:sp>
      <p:sp>
        <p:nvSpPr>
          <p:cNvPr id="79" name="Text 77"/>
          <p:cNvSpPr/>
          <p:nvPr/>
        </p:nvSpPr>
        <p:spPr>
          <a:xfrm>
            <a:off x="5760720" y="5943600"/>
            <a:ext cx="5669280" cy="219456"/>
          </a:xfrm>
          <a:prstGeom prst="rect">
            <a:avLst/>
          </a:prstGeom>
          <a:noFill/>
          <a:ln/>
        </p:spPr>
        <p:txBody>
          <a:bodyPr wrap="square" lIns="0" tIns="0" rIns="0" bIns="0" rtlCol="0" anchor="ctr">
            <a:normAutofit/>
          </a:bodyPr>
          <a:lstStyle/>
          <a:p>
            <a:pPr marL="0" indent="0" algn="l">
              <a:lnSpc>
                <a:spcPct val="100000"/>
              </a:lnSpc>
              <a:buNone/>
            </a:pPr>
            <a:r>
              <a:rPr lang="en-US" sz="1210" dirty="0">
                <a:solidFill>
                  <a:srgbClr val="1D3957"/>
                </a:solidFill>
                <a:latin typeface="Noto Sans CJK JP" pitchFamily="34" charset="0"/>
                <a:ea typeface="Noto Sans CJK JP" pitchFamily="34" charset="-122"/>
                <a:cs typeface="Noto Sans CJK JP" pitchFamily="34" charset="-120"/>
              </a:rPr>
              <a:t>クラス別の適合率・再現率・F1も確認します。</a:t>
            </a:r>
            <a:endParaRPr lang="en-US" sz="121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What does the predicted score mean?</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予測スコアは何を意味する？</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23</a:t>
            </a:r>
            <a:endParaRPr lang="en-US" sz="870" dirty="0"/>
          </a:p>
        </p:txBody>
      </p:sp>
      <p:pic>
        <p:nvPicPr>
          <p:cNvPr id="10" name="Image 0" descr="/mnt/data/flowers_slides_assets/sunflowers.jpg"/>
          <p:cNvPicPr>
            <a:picLocks noChangeAspect="1"/>
          </p:cNvPicPr>
          <p:nvPr/>
        </p:nvPicPr>
        <p:blipFill>
          <a:blip r:embed="rId3"/>
          <a:stretch>
            <a:fillRect/>
          </a:stretch>
        </p:blipFill>
        <p:spPr>
          <a:xfrm>
            <a:off x="822960" y="1572768"/>
            <a:ext cx="3227832" cy="3191256"/>
          </a:xfrm>
          <a:prstGeom prst="rect">
            <a:avLst/>
          </a:prstGeom>
        </p:spPr>
      </p:pic>
      <p:sp>
        <p:nvSpPr>
          <p:cNvPr id="11" name="Shape 8"/>
          <p:cNvSpPr/>
          <p:nvPr/>
        </p:nvSpPr>
        <p:spPr>
          <a:xfrm>
            <a:off x="822960" y="1572768"/>
            <a:ext cx="3227832" cy="3191256"/>
          </a:xfrm>
          <a:prstGeom prst="rect">
            <a:avLst/>
          </a:prstGeom>
          <a:solidFill>
            <a:srgbClr val="FFFFFF">
              <a:alpha val="0"/>
            </a:srgbClr>
          </a:solidFill>
          <a:ln w="10160">
            <a:solidFill>
              <a:srgbClr val="FFFFFF"/>
            </a:solidFill>
            <a:prstDash val="solid"/>
          </a:ln>
        </p:spPr>
        <p:txBody>
          <a:bodyPr/>
          <a:lstStyle/>
          <a:p>
            <a:endParaRPr lang="en-JP"/>
          </a:p>
        </p:txBody>
      </p:sp>
      <p:sp>
        <p:nvSpPr>
          <p:cNvPr id="12" name="Text 9"/>
          <p:cNvSpPr/>
          <p:nvPr/>
        </p:nvSpPr>
        <p:spPr>
          <a:xfrm>
            <a:off x="4389120" y="1627632"/>
            <a:ext cx="1335024" cy="237744"/>
          </a:xfrm>
          <a:prstGeom prst="rect">
            <a:avLst/>
          </a:prstGeom>
          <a:noFill/>
          <a:ln/>
        </p:spPr>
        <p:txBody>
          <a:bodyPr wrap="square" lIns="0" tIns="0" rIns="0" bIns="0" rtlCol="0" anchor="ctr">
            <a:normAutofit/>
          </a:bodyPr>
          <a:lstStyle/>
          <a:p>
            <a:pPr marL="0" indent="0" algn="l">
              <a:lnSpc>
                <a:spcPct val="100000"/>
              </a:lnSpc>
              <a:buNone/>
            </a:pPr>
            <a:r>
              <a:rPr lang="en-US" sz="1500" dirty="0">
                <a:solidFill>
                  <a:srgbClr val="1D3957"/>
                </a:solidFill>
                <a:latin typeface="Aptos" pitchFamily="34" charset="0"/>
                <a:ea typeface="Aptos" pitchFamily="34" charset="-122"/>
                <a:cs typeface="Aptos" pitchFamily="34" charset="-120"/>
              </a:rPr>
              <a:t>daisy</a:t>
            </a:r>
            <a:endParaRPr lang="en-US" sz="1500" dirty="0"/>
          </a:p>
        </p:txBody>
      </p:sp>
      <p:sp>
        <p:nvSpPr>
          <p:cNvPr id="13" name="Shape 10"/>
          <p:cNvSpPr/>
          <p:nvPr/>
        </p:nvSpPr>
        <p:spPr>
          <a:xfrm>
            <a:off x="5769864" y="1627632"/>
            <a:ext cx="4242816" cy="301752"/>
          </a:xfrm>
          <a:prstGeom prst="rect">
            <a:avLst/>
          </a:prstGeom>
          <a:solidFill>
            <a:srgbClr val="F5F8FC"/>
          </a:solidFill>
          <a:ln w="8890">
            <a:solidFill>
              <a:srgbClr val="F5F8FC"/>
            </a:solidFill>
            <a:prstDash val="solid"/>
          </a:ln>
        </p:spPr>
        <p:txBody>
          <a:bodyPr/>
          <a:lstStyle/>
          <a:p>
            <a:endParaRPr lang="en-JP"/>
          </a:p>
        </p:txBody>
      </p:sp>
      <p:sp>
        <p:nvSpPr>
          <p:cNvPr id="14" name="Shape 11"/>
          <p:cNvSpPr/>
          <p:nvPr/>
        </p:nvSpPr>
        <p:spPr>
          <a:xfrm>
            <a:off x="5769864" y="1627632"/>
            <a:ext cx="127284" cy="301752"/>
          </a:xfrm>
          <a:prstGeom prst="rect">
            <a:avLst/>
          </a:prstGeom>
          <a:solidFill>
            <a:srgbClr val="21679D"/>
          </a:solidFill>
          <a:ln w="8890">
            <a:solidFill>
              <a:srgbClr val="21679D"/>
            </a:solidFill>
            <a:prstDash val="solid"/>
          </a:ln>
        </p:spPr>
        <p:txBody>
          <a:bodyPr/>
          <a:lstStyle/>
          <a:p>
            <a:endParaRPr lang="en-JP"/>
          </a:p>
        </p:txBody>
      </p:sp>
      <p:sp>
        <p:nvSpPr>
          <p:cNvPr id="15" name="Text 12"/>
          <p:cNvSpPr/>
          <p:nvPr/>
        </p:nvSpPr>
        <p:spPr>
          <a:xfrm>
            <a:off x="10213848" y="1627632"/>
            <a:ext cx="950976" cy="256032"/>
          </a:xfrm>
          <a:prstGeom prst="rect">
            <a:avLst/>
          </a:prstGeom>
          <a:noFill/>
          <a:ln/>
        </p:spPr>
        <p:txBody>
          <a:bodyPr wrap="square" lIns="0" tIns="0" rIns="0" bIns="0" rtlCol="0" anchor="ctr">
            <a:normAutofit/>
          </a:bodyPr>
          <a:lstStyle/>
          <a:p>
            <a:pPr marL="0" indent="0" algn="l">
              <a:lnSpc>
                <a:spcPct val="100000"/>
              </a:lnSpc>
              <a:buNone/>
            </a:pPr>
            <a:r>
              <a:rPr lang="en-US" sz="1500" dirty="0">
                <a:solidFill>
                  <a:srgbClr val="607084"/>
                </a:solidFill>
                <a:latin typeface="Aptos" pitchFamily="34" charset="0"/>
                <a:ea typeface="Aptos" pitchFamily="34" charset="-122"/>
                <a:cs typeface="Aptos" pitchFamily="34" charset="-120"/>
              </a:rPr>
              <a:t>3%</a:t>
            </a:r>
            <a:endParaRPr lang="en-US" sz="1500" dirty="0"/>
          </a:p>
        </p:txBody>
      </p:sp>
      <p:sp>
        <p:nvSpPr>
          <p:cNvPr id="16" name="Text 13"/>
          <p:cNvSpPr/>
          <p:nvPr/>
        </p:nvSpPr>
        <p:spPr>
          <a:xfrm>
            <a:off x="4389120" y="2395728"/>
            <a:ext cx="1335024" cy="237744"/>
          </a:xfrm>
          <a:prstGeom prst="rect">
            <a:avLst/>
          </a:prstGeom>
          <a:noFill/>
          <a:ln/>
        </p:spPr>
        <p:txBody>
          <a:bodyPr wrap="square" lIns="0" tIns="0" rIns="0" bIns="0" rtlCol="0" anchor="ctr">
            <a:normAutofit/>
          </a:bodyPr>
          <a:lstStyle/>
          <a:p>
            <a:pPr marL="0" indent="0" algn="l">
              <a:lnSpc>
                <a:spcPct val="100000"/>
              </a:lnSpc>
              <a:buNone/>
            </a:pPr>
            <a:r>
              <a:rPr lang="en-US" sz="1500" dirty="0">
                <a:solidFill>
                  <a:srgbClr val="1D3957"/>
                </a:solidFill>
                <a:latin typeface="Aptos" pitchFamily="34" charset="0"/>
                <a:ea typeface="Aptos" pitchFamily="34" charset="-122"/>
                <a:cs typeface="Aptos" pitchFamily="34" charset="-120"/>
              </a:rPr>
              <a:t>dandelion</a:t>
            </a:r>
            <a:endParaRPr lang="en-US" sz="1500" dirty="0"/>
          </a:p>
        </p:txBody>
      </p:sp>
      <p:sp>
        <p:nvSpPr>
          <p:cNvPr id="17" name="Shape 14"/>
          <p:cNvSpPr/>
          <p:nvPr/>
        </p:nvSpPr>
        <p:spPr>
          <a:xfrm>
            <a:off x="5769864" y="2395728"/>
            <a:ext cx="4242816" cy="301752"/>
          </a:xfrm>
          <a:prstGeom prst="rect">
            <a:avLst/>
          </a:prstGeom>
          <a:solidFill>
            <a:srgbClr val="F5F8FC"/>
          </a:solidFill>
          <a:ln w="8890">
            <a:solidFill>
              <a:srgbClr val="F5F8FC"/>
            </a:solidFill>
            <a:prstDash val="solid"/>
          </a:ln>
        </p:spPr>
        <p:txBody>
          <a:bodyPr/>
          <a:lstStyle/>
          <a:p>
            <a:endParaRPr lang="en-JP"/>
          </a:p>
        </p:txBody>
      </p:sp>
      <p:sp>
        <p:nvSpPr>
          <p:cNvPr id="18" name="Shape 15"/>
          <p:cNvSpPr/>
          <p:nvPr/>
        </p:nvSpPr>
        <p:spPr>
          <a:xfrm>
            <a:off x="5769864" y="2395728"/>
            <a:ext cx="84856" cy="301752"/>
          </a:xfrm>
          <a:prstGeom prst="rect">
            <a:avLst/>
          </a:prstGeom>
          <a:solidFill>
            <a:srgbClr val="21679D"/>
          </a:solidFill>
          <a:ln w="8890">
            <a:solidFill>
              <a:srgbClr val="21679D"/>
            </a:solidFill>
            <a:prstDash val="solid"/>
          </a:ln>
        </p:spPr>
        <p:txBody>
          <a:bodyPr/>
          <a:lstStyle/>
          <a:p>
            <a:endParaRPr lang="en-JP"/>
          </a:p>
        </p:txBody>
      </p:sp>
      <p:sp>
        <p:nvSpPr>
          <p:cNvPr id="19" name="Text 16"/>
          <p:cNvSpPr/>
          <p:nvPr/>
        </p:nvSpPr>
        <p:spPr>
          <a:xfrm>
            <a:off x="10213848" y="2395728"/>
            <a:ext cx="950976" cy="256032"/>
          </a:xfrm>
          <a:prstGeom prst="rect">
            <a:avLst/>
          </a:prstGeom>
          <a:noFill/>
          <a:ln/>
        </p:spPr>
        <p:txBody>
          <a:bodyPr wrap="square" lIns="0" tIns="0" rIns="0" bIns="0" rtlCol="0" anchor="ctr">
            <a:normAutofit/>
          </a:bodyPr>
          <a:lstStyle/>
          <a:p>
            <a:pPr marL="0" indent="0" algn="l">
              <a:lnSpc>
                <a:spcPct val="100000"/>
              </a:lnSpc>
              <a:buNone/>
            </a:pPr>
            <a:r>
              <a:rPr lang="en-US" sz="1500" dirty="0">
                <a:solidFill>
                  <a:srgbClr val="607084"/>
                </a:solidFill>
                <a:latin typeface="Aptos" pitchFamily="34" charset="0"/>
                <a:ea typeface="Aptos" pitchFamily="34" charset="-122"/>
                <a:cs typeface="Aptos" pitchFamily="34" charset="-120"/>
              </a:rPr>
              <a:t>2%</a:t>
            </a:r>
            <a:endParaRPr lang="en-US" sz="1500" dirty="0"/>
          </a:p>
        </p:txBody>
      </p:sp>
      <p:sp>
        <p:nvSpPr>
          <p:cNvPr id="20" name="Text 17"/>
          <p:cNvSpPr/>
          <p:nvPr/>
        </p:nvSpPr>
        <p:spPr>
          <a:xfrm>
            <a:off x="4389120" y="3163824"/>
            <a:ext cx="1335024" cy="237744"/>
          </a:xfrm>
          <a:prstGeom prst="rect">
            <a:avLst/>
          </a:prstGeom>
          <a:noFill/>
          <a:ln/>
        </p:spPr>
        <p:txBody>
          <a:bodyPr wrap="square" lIns="0" tIns="0" rIns="0" bIns="0" rtlCol="0" anchor="ctr">
            <a:normAutofit/>
          </a:bodyPr>
          <a:lstStyle/>
          <a:p>
            <a:pPr marL="0" indent="0" algn="l">
              <a:lnSpc>
                <a:spcPct val="100000"/>
              </a:lnSpc>
              <a:buNone/>
            </a:pPr>
            <a:r>
              <a:rPr lang="en-US" sz="1500" dirty="0">
                <a:solidFill>
                  <a:srgbClr val="1D3957"/>
                </a:solidFill>
                <a:latin typeface="Aptos" pitchFamily="34" charset="0"/>
                <a:ea typeface="Aptos" pitchFamily="34" charset="-122"/>
                <a:cs typeface="Aptos" pitchFamily="34" charset="-120"/>
              </a:rPr>
              <a:t>roses</a:t>
            </a:r>
            <a:endParaRPr lang="en-US" sz="1500" dirty="0"/>
          </a:p>
        </p:txBody>
      </p:sp>
      <p:sp>
        <p:nvSpPr>
          <p:cNvPr id="21" name="Shape 18"/>
          <p:cNvSpPr/>
          <p:nvPr/>
        </p:nvSpPr>
        <p:spPr>
          <a:xfrm>
            <a:off x="5769864" y="3163824"/>
            <a:ext cx="4242816" cy="301752"/>
          </a:xfrm>
          <a:prstGeom prst="rect">
            <a:avLst/>
          </a:prstGeom>
          <a:solidFill>
            <a:srgbClr val="F5F8FC"/>
          </a:solidFill>
          <a:ln w="8890">
            <a:solidFill>
              <a:srgbClr val="F5F8FC"/>
            </a:solidFill>
            <a:prstDash val="solid"/>
          </a:ln>
        </p:spPr>
        <p:txBody>
          <a:bodyPr/>
          <a:lstStyle/>
          <a:p>
            <a:endParaRPr lang="en-JP"/>
          </a:p>
        </p:txBody>
      </p:sp>
      <p:sp>
        <p:nvSpPr>
          <p:cNvPr id="22" name="Shape 19"/>
          <p:cNvSpPr/>
          <p:nvPr/>
        </p:nvSpPr>
        <p:spPr>
          <a:xfrm>
            <a:off x="5769864" y="3163824"/>
            <a:ext cx="169713" cy="301752"/>
          </a:xfrm>
          <a:prstGeom prst="rect">
            <a:avLst/>
          </a:prstGeom>
          <a:solidFill>
            <a:srgbClr val="21679D"/>
          </a:solidFill>
          <a:ln w="8890">
            <a:solidFill>
              <a:srgbClr val="21679D"/>
            </a:solidFill>
            <a:prstDash val="solid"/>
          </a:ln>
        </p:spPr>
        <p:txBody>
          <a:bodyPr/>
          <a:lstStyle/>
          <a:p>
            <a:endParaRPr lang="en-JP"/>
          </a:p>
        </p:txBody>
      </p:sp>
      <p:sp>
        <p:nvSpPr>
          <p:cNvPr id="23" name="Text 20"/>
          <p:cNvSpPr/>
          <p:nvPr/>
        </p:nvSpPr>
        <p:spPr>
          <a:xfrm>
            <a:off x="10213848" y="3163824"/>
            <a:ext cx="950976" cy="256032"/>
          </a:xfrm>
          <a:prstGeom prst="rect">
            <a:avLst/>
          </a:prstGeom>
          <a:noFill/>
          <a:ln/>
        </p:spPr>
        <p:txBody>
          <a:bodyPr wrap="square" lIns="0" tIns="0" rIns="0" bIns="0" rtlCol="0" anchor="ctr">
            <a:normAutofit/>
          </a:bodyPr>
          <a:lstStyle/>
          <a:p>
            <a:pPr marL="0" indent="0" algn="l">
              <a:lnSpc>
                <a:spcPct val="100000"/>
              </a:lnSpc>
              <a:buNone/>
            </a:pPr>
            <a:r>
              <a:rPr lang="en-US" sz="1500" dirty="0">
                <a:solidFill>
                  <a:srgbClr val="607084"/>
                </a:solidFill>
                <a:latin typeface="Aptos" pitchFamily="34" charset="0"/>
                <a:ea typeface="Aptos" pitchFamily="34" charset="-122"/>
                <a:cs typeface="Aptos" pitchFamily="34" charset="-120"/>
              </a:rPr>
              <a:t>4%</a:t>
            </a:r>
            <a:endParaRPr lang="en-US" sz="1500" dirty="0"/>
          </a:p>
        </p:txBody>
      </p:sp>
      <p:sp>
        <p:nvSpPr>
          <p:cNvPr id="24" name="Text 21"/>
          <p:cNvSpPr/>
          <p:nvPr/>
        </p:nvSpPr>
        <p:spPr>
          <a:xfrm>
            <a:off x="4389120" y="3931920"/>
            <a:ext cx="1335024" cy="237744"/>
          </a:xfrm>
          <a:prstGeom prst="rect">
            <a:avLst/>
          </a:prstGeom>
          <a:noFill/>
          <a:ln/>
        </p:spPr>
        <p:txBody>
          <a:bodyPr wrap="square" lIns="0" tIns="0" rIns="0" bIns="0" rtlCol="0" anchor="ctr">
            <a:normAutofit/>
          </a:bodyPr>
          <a:lstStyle/>
          <a:p>
            <a:pPr marL="0" indent="0" algn="l">
              <a:lnSpc>
                <a:spcPct val="100000"/>
              </a:lnSpc>
              <a:buNone/>
            </a:pPr>
            <a:r>
              <a:rPr lang="en-US" sz="1500" dirty="0">
                <a:solidFill>
                  <a:srgbClr val="1D3957"/>
                </a:solidFill>
                <a:latin typeface="Aptos" pitchFamily="34" charset="0"/>
                <a:ea typeface="Aptos" pitchFamily="34" charset="-122"/>
                <a:cs typeface="Aptos" pitchFamily="34" charset="-120"/>
              </a:rPr>
              <a:t>sunflowers</a:t>
            </a:r>
            <a:endParaRPr lang="en-US" sz="1500" dirty="0"/>
          </a:p>
        </p:txBody>
      </p:sp>
      <p:sp>
        <p:nvSpPr>
          <p:cNvPr id="25" name="Shape 22"/>
          <p:cNvSpPr/>
          <p:nvPr/>
        </p:nvSpPr>
        <p:spPr>
          <a:xfrm>
            <a:off x="5769864" y="3931920"/>
            <a:ext cx="4242816" cy="301752"/>
          </a:xfrm>
          <a:prstGeom prst="rect">
            <a:avLst/>
          </a:prstGeom>
          <a:solidFill>
            <a:srgbClr val="F5F8FC"/>
          </a:solidFill>
          <a:ln w="8890">
            <a:solidFill>
              <a:srgbClr val="F5F8FC"/>
            </a:solidFill>
            <a:prstDash val="solid"/>
          </a:ln>
        </p:spPr>
        <p:txBody>
          <a:bodyPr/>
          <a:lstStyle/>
          <a:p>
            <a:endParaRPr lang="en-JP"/>
          </a:p>
        </p:txBody>
      </p:sp>
      <p:sp>
        <p:nvSpPr>
          <p:cNvPr id="26" name="Shape 23"/>
          <p:cNvSpPr/>
          <p:nvPr/>
        </p:nvSpPr>
        <p:spPr>
          <a:xfrm>
            <a:off x="5769864" y="3931920"/>
            <a:ext cx="3733678" cy="301752"/>
          </a:xfrm>
          <a:prstGeom prst="rect">
            <a:avLst/>
          </a:prstGeom>
          <a:solidFill>
            <a:srgbClr val="137C78"/>
          </a:solidFill>
          <a:ln w="8890">
            <a:solidFill>
              <a:srgbClr val="137C78"/>
            </a:solidFill>
            <a:prstDash val="solid"/>
          </a:ln>
        </p:spPr>
        <p:txBody>
          <a:bodyPr/>
          <a:lstStyle/>
          <a:p>
            <a:endParaRPr lang="en-JP"/>
          </a:p>
        </p:txBody>
      </p:sp>
      <p:sp>
        <p:nvSpPr>
          <p:cNvPr id="27" name="Text 24"/>
          <p:cNvSpPr/>
          <p:nvPr/>
        </p:nvSpPr>
        <p:spPr>
          <a:xfrm>
            <a:off x="10213848" y="3931920"/>
            <a:ext cx="950976" cy="256032"/>
          </a:xfrm>
          <a:prstGeom prst="rect">
            <a:avLst/>
          </a:prstGeom>
          <a:noFill/>
          <a:ln/>
        </p:spPr>
        <p:txBody>
          <a:bodyPr wrap="square" lIns="0" tIns="0" rIns="0" bIns="0" rtlCol="0" anchor="ctr">
            <a:normAutofit/>
          </a:bodyPr>
          <a:lstStyle/>
          <a:p>
            <a:pPr marL="0" indent="0" algn="l">
              <a:lnSpc>
                <a:spcPct val="100000"/>
              </a:lnSpc>
              <a:buNone/>
            </a:pPr>
            <a:r>
              <a:rPr lang="en-US" sz="1500" b="1" dirty="0">
                <a:solidFill>
                  <a:srgbClr val="137C78"/>
                </a:solidFill>
                <a:latin typeface="Aptos" pitchFamily="34" charset="0"/>
                <a:ea typeface="Aptos" pitchFamily="34" charset="-122"/>
                <a:cs typeface="Aptos" pitchFamily="34" charset="-120"/>
              </a:rPr>
              <a:t>88%</a:t>
            </a:r>
            <a:endParaRPr lang="en-US" sz="1500" dirty="0"/>
          </a:p>
        </p:txBody>
      </p:sp>
      <p:sp>
        <p:nvSpPr>
          <p:cNvPr id="28" name="Text 25"/>
          <p:cNvSpPr/>
          <p:nvPr/>
        </p:nvSpPr>
        <p:spPr>
          <a:xfrm>
            <a:off x="4389120" y="4700016"/>
            <a:ext cx="1335024" cy="237744"/>
          </a:xfrm>
          <a:prstGeom prst="rect">
            <a:avLst/>
          </a:prstGeom>
          <a:noFill/>
          <a:ln/>
        </p:spPr>
        <p:txBody>
          <a:bodyPr wrap="square" lIns="0" tIns="0" rIns="0" bIns="0" rtlCol="0" anchor="ctr">
            <a:normAutofit/>
          </a:bodyPr>
          <a:lstStyle/>
          <a:p>
            <a:pPr marL="0" indent="0" algn="l">
              <a:lnSpc>
                <a:spcPct val="100000"/>
              </a:lnSpc>
              <a:buNone/>
            </a:pPr>
            <a:r>
              <a:rPr lang="en-US" sz="1500" dirty="0">
                <a:solidFill>
                  <a:srgbClr val="1D3957"/>
                </a:solidFill>
                <a:latin typeface="Aptos" pitchFamily="34" charset="0"/>
                <a:ea typeface="Aptos" pitchFamily="34" charset="-122"/>
                <a:cs typeface="Aptos" pitchFamily="34" charset="-120"/>
              </a:rPr>
              <a:t>tulips</a:t>
            </a:r>
            <a:endParaRPr lang="en-US" sz="1500" dirty="0"/>
          </a:p>
        </p:txBody>
      </p:sp>
      <p:sp>
        <p:nvSpPr>
          <p:cNvPr id="29" name="Shape 26"/>
          <p:cNvSpPr/>
          <p:nvPr/>
        </p:nvSpPr>
        <p:spPr>
          <a:xfrm>
            <a:off x="5769864" y="4700016"/>
            <a:ext cx="4242816" cy="301752"/>
          </a:xfrm>
          <a:prstGeom prst="rect">
            <a:avLst/>
          </a:prstGeom>
          <a:solidFill>
            <a:srgbClr val="F5F8FC"/>
          </a:solidFill>
          <a:ln w="8890">
            <a:solidFill>
              <a:srgbClr val="F5F8FC"/>
            </a:solidFill>
            <a:prstDash val="solid"/>
          </a:ln>
        </p:spPr>
        <p:txBody>
          <a:bodyPr/>
          <a:lstStyle/>
          <a:p>
            <a:endParaRPr lang="en-JP"/>
          </a:p>
        </p:txBody>
      </p:sp>
      <p:sp>
        <p:nvSpPr>
          <p:cNvPr id="30" name="Shape 27"/>
          <p:cNvSpPr/>
          <p:nvPr/>
        </p:nvSpPr>
        <p:spPr>
          <a:xfrm>
            <a:off x="5769864" y="4700016"/>
            <a:ext cx="127284" cy="301752"/>
          </a:xfrm>
          <a:prstGeom prst="rect">
            <a:avLst/>
          </a:prstGeom>
          <a:solidFill>
            <a:srgbClr val="21679D"/>
          </a:solidFill>
          <a:ln w="8890">
            <a:solidFill>
              <a:srgbClr val="21679D"/>
            </a:solidFill>
            <a:prstDash val="solid"/>
          </a:ln>
        </p:spPr>
        <p:txBody>
          <a:bodyPr/>
          <a:lstStyle/>
          <a:p>
            <a:endParaRPr lang="en-JP"/>
          </a:p>
        </p:txBody>
      </p:sp>
      <p:sp>
        <p:nvSpPr>
          <p:cNvPr id="31" name="Text 28"/>
          <p:cNvSpPr/>
          <p:nvPr/>
        </p:nvSpPr>
        <p:spPr>
          <a:xfrm>
            <a:off x="10213848" y="4700016"/>
            <a:ext cx="950976" cy="256032"/>
          </a:xfrm>
          <a:prstGeom prst="rect">
            <a:avLst/>
          </a:prstGeom>
          <a:noFill/>
          <a:ln/>
        </p:spPr>
        <p:txBody>
          <a:bodyPr wrap="square" lIns="0" tIns="0" rIns="0" bIns="0" rtlCol="0" anchor="ctr">
            <a:normAutofit/>
          </a:bodyPr>
          <a:lstStyle/>
          <a:p>
            <a:pPr marL="0" indent="0" algn="l">
              <a:lnSpc>
                <a:spcPct val="100000"/>
              </a:lnSpc>
              <a:buNone/>
            </a:pPr>
            <a:r>
              <a:rPr lang="en-US" sz="1500" dirty="0">
                <a:solidFill>
                  <a:srgbClr val="607084"/>
                </a:solidFill>
                <a:latin typeface="Aptos" pitchFamily="34" charset="0"/>
                <a:ea typeface="Aptos" pitchFamily="34" charset="-122"/>
                <a:cs typeface="Aptos" pitchFamily="34" charset="-120"/>
              </a:rPr>
              <a:t>3%</a:t>
            </a:r>
            <a:endParaRPr lang="en-US" sz="1500" dirty="0"/>
          </a:p>
        </p:txBody>
      </p:sp>
      <p:sp>
        <p:nvSpPr>
          <p:cNvPr id="32" name="Text 29"/>
          <p:cNvSpPr/>
          <p:nvPr/>
        </p:nvSpPr>
        <p:spPr>
          <a:xfrm>
            <a:off x="813816" y="5138928"/>
            <a:ext cx="5486400" cy="283464"/>
          </a:xfrm>
          <a:prstGeom prst="rect">
            <a:avLst/>
          </a:prstGeom>
          <a:noFill/>
          <a:ln/>
        </p:spPr>
        <p:txBody>
          <a:bodyPr wrap="square" lIns="0" tIns="0" rIns="0" bIns="0" rtlCol="0" anchor="ctr">
            <a:normAutofit/>
          </a:bodyPr>
          <a:lstStyle/>
          <a:p>
            <a:pPr marL="0" indent="0" algn="l">
              <a:lnSpc>
                <a:spcPct val="100000"/>
              </a:lnSpc>
              <a:buNone/>
            </a:pPr>
            <a:r>
              <a:rPr lang="en-US" sz="1300" b="1" dirty="0">
                <a:solidFill>
                  <a:srgbClr val="D86770"/>
                </a:solidFill>
                <a:latin typeface="Aptos" pitchFamily="34" charset="0"/>
                <a:ea typeface="Aptos" pitchFamily="34" charset="-122"/>
                <a:cs typeface="Aptos" pitchFamily="34" charset="-120"/>
              </a:rPr>
              <a:t>Example values only / 表示値は説明用</a:t>
            </a:r>
            <a:endParaRPr lang="en-US" sz="1300" dirty="0"/>
          </a:p>
        </p:txBody>
      </p:sp>
      <p:sp>
        <p:nvSpPr>
          <p:cNvPr id="33" name="Shape 30"/>
          <p:cNvSpPr/>
          <p:nvPr/>
        </p:nvSpPr>
        <p:spPr>
          <a:xfrm>
            <a:off x="612648" y="5916168"/>
            <a:ext cx="10972800" cy="484632"/>
          </a:xfrm>
          <a:prstGeom prst="roundRect">
            <a:avLst>
              <a:gd name="adj" fmla="val 15094"/>
            </a:avLst>
          </a:prstGeom>
          <a:solidFill>
            <a:srgbClr val="FFF2DD"/>
          </a:solidFill>
          <a:ln w="8890">
            <a:solidFill>
              <a:srgbClr val="FFF2DD"/>
            </a:solidFill>
            <a:prstDash val="solid"/>
          </a:ln>
        </p:spPr>
        <p:txBody>
          <a:bodyPr/>
          <a:lstStyle/>
          <a:p>
            <a:endParaRPr lang="en-JP"/>
          </a:p>
        </p:txBody>
      </p:sp>
      <p:sp>
        <p:nvSpPr>
          <p:cNvPr id="34" name="Text 31"/>
          <p:cNvSpPr/>
          <p:nvPr/>
        </p:nvSpPr>
        <p:spPr>
          <a:xfrm>
            <a:off x="768096" y="5952744"/>
            <a:ext cx="5029200" cy="182880"/>
          </a:xfrm>
          <a:prstGeom prst="rect">
            <a:avLst/>
          </a:prstGeom>
          <a:noFill/>
          <a:ln/>
        </p:spPr>
        <p:txBody>
          <a:bodyPr wrap="square" lIns="0" tIns="0" rIns="0" bIns="0" rtlCol="0" anchor="ctr">
            <a:normAutofit lnSpcReduction="10000"/>
          </a:bodyPr>
          <a:lstStyle/>
          <a:p>
            <a:pPr marL="0" indent="0" algn="l">
              <a:lnSpc>
                <a:spcPct val="100000"/>
              </a:lnSpc>
              <a:buNone/>
            </a:pPr>
            <a:r>
              <a:rPr lang="en-US" sz="1210" b="1" dirty="0">
                <a:solidFill>
                  <a:srgbClr val="1D3957"/>
                </a:solidFill>
                <a:latin typeface="Aptos" pitchFamily="34" charset="0"/>
                <a:ea typeface="Aptos" pitchFamily="34" charset="-122"/>
                <a:cs typeface="Aptos" pitchFamily="34" charset="-120"/>
              </a:rPr>
              <a:t>Softmax scores are not always calibrated probabilities.</a:t>
            </a:r>
            <a:endParaRPr lang="en-US" sz="1210" dirty="0"/>
          </a:p>
        </p:txBody>
      </p:sp>
      <p:sp>
        <p:nvSpPr>
          <p:cNvPr id="35" name="Text 32"/>
          <p:cNvSpPr/>
          <p:nvPr/>
        </p:nvSpPr>
        <p:spPr>
          <a:xfrm>
            <a:off x="5760720" y="5943600"/>
            <a:ext cx="5669280" cy="219456"/>
          </a:xfrm>
          <a:prstGeom prst="rect">
            <a:avLst/>
          </a:prstGeom>
          <a:noFill/>
          <a:ln/>
        </p:spPr>
        <p:txBody>
          <a:bodyPr wrap="square" lIns="0" tIns="0" rIns="0" bIns="0" rtlCol="0" anchor="ctr">
            <a:normAutofit/>
          </a:bodyPr>
          <a:lstStyle/>
          <a:p>
            <a:pPr marL="0" indent="0" algn="l">
              <a:lnSpc>
                <a:spcPct val="100000"/>
              </a:lnSpc>
              <a:buNone/>
            </a:pPr>
            <a:r>
              <a:rPr lang="en-US" sz="1210" dirty="0">
                <a:solidFill>
                  <a:srgbClr val="1D3957"/>
                </a:solidFill>
                <a:latin typeface="Noto Sans CJK JP" pitchFamily="34" charset="0"/>
                <a:ea typeface="Noto Sans CJK JP" pitchFamily="34" charset="-122"/>
                <a:cs typeface="Noto Sans CJK JP" pitchFamily="34" charset="-120"/>
              </a:rPr>
              <a:t>softmaxの数値は必ずしも正しく校正された確率ではありません。</a:t>
            </a:r>
            <a:endParaRPr lang="en-US" sz="121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Inside ResNet: intermediate feature maps</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ResNet内部：中間特徴マップの可視化</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24</a:t>
            </a:r>
            <a:endParaRPr lang="en-US" sz="870" dirty="0"/>
          </a:p>
        </p:txBody>
      </p:sp>
      <p:pic>
        <p:nvPicPr>
          <p:cNvPr id="10" name="Image 0" descr="/mnt/data/flowers_slides_assets/daisy.jpg"/>
          <p:cNvPicPr>
            <a:picLocks noChangeAspect="1"/>
          </p:cNvPicPr>
          <p:nvPr/>
        </p:nvPicPr>
        <p:blipFill>
          <a:blip r:embed="rId3"/>
          <a:stretch>
            <a:fillRect/>
          </a:stretch>
        </p:blipFill>
        <p:spPr>
          <a:xfrm>
            <a:off x="722376" y="1847088"/>
            <a:ext cx="2331720" cy="2377440"/>
          </a:xfrm>
          <a:prstGeom prst="rect">
            <a:avLst/>
          </a:prstGeom>
        </p:spPr>
      </p:pic>
      <p:sp>
        <p:nvSpPr>
          <p:cNvPr id="11" name="Shape 8"/>
          <p:cNvSpPr/>
          <p:nvPr/>
        </p:nvSpPr>
        <p:spPr>
          <a:xfrm>
            <a:off x="722376" y="1847088"/>
            <a:ext cx="2331720" cy="2377440"/>
          </a:xfrm>
          <a:prstGeom prst="rect">
            <a:avLst/>
          </a:prstGeom>
          <a:solidFill>
            <a:srgbClr val="FFFFFF">
              <a:alpha val="0"/>
            </a:srgbClr>
          </a:solidFill>
          <a:ln w="10160">
            <a:solidFill>
              <a:srgbClr val="FFFFFF"/>
            </a:solidFill>
            <a:prstDash val="solid"/>
          </a:ln>
        </p:spPr>
        <p:txBody>
          <a:bodyPr/>
          <a:lstStyle/>
          <a:p>
            <a:endParaRPr lang="en-JP"/>
          </a:p>
        </p:txBody>
      </p:sp>
      <p:sp>
        <p:nvSpPr>
          <p:cNvPr id="12" name="Text 9"/>
          <p:cNvSpPr/>
          <p:nvPr/>
        </p:nvSpPr>
        <p:spPr>
          <a:xfrm>
            <a:off x="3410712" y="1490472"/>
            <a:ext cx="3877056" cy="283464"/>
          </a:xfrm>
          <a:prstGeom prst="rect">
            <a:avLst/>
          </a:prstGeom>
          <a:noFill/>
          <a:ln/>
        </p:spPr>
        <p:txBody>
          <a:bodyPr wrap="square" lIns="0" tIns="0" rIns="0" bIns="0" rtlCol="0" anchor="ctr">
            <a:normAutofit/>
          </a:bodyPr>
          <a:lstStyle/>
          <a:p>
            <a:pPr marL="0" indent="0" algn="l">
              <a:lnSpc>
                <a:spcPct val="100000"/>
              </a:lnSpc>
              <a:buNone/>
            </a:pPr>
            <a:r>
              <a:rPr lang="en-US" sz="1700" b="1" dirty="0">
                <a:solidFill>
                  <a:srgbClr val="1D3957"/>
                </a:solidFill>
                <a:latin typeface="Aptos" pitchFamily="34" charset="0"/>
                <a:ea typeface="Aptos" pitchFamily="34" charset="-122"/>
                <a:cs typeface="Aptos" pitchFamily="34" charset="-120"/>
              </a:rPr>
              <a:t>Earlier: layer1</a:t>
            </a:r>
            <a:endParaRPr lang="en-US" sz="1700" dirty="0"/>
          </a:p>
        </p:txBody>
      </p:sp>
      <p:sp>
        <p:nvSpPr>
          <p:cNvPr id="13" name="Shape 10"/>
          <p:cNvSpPr/>
          <p:nvPr/>
        </p:nvSpPr>
        <p:spPr>
          <a:xfrm>
            <a:off x="3410712" y="1901952"/>
            <a:ext cx="950976" cy="987552"/>
          </a:xfrm>
          <a:prstGeom prst="rect">
            <a:avLst/>
          </a:prstGeom>
          <a:solidFill>
            <a:srgbClr val="E9F3FC"/>
          </a:solidFill>
          <a:ln w="6350">
            <a:solidFill>
              <a:srgbClr val="CBD8E5"/>
            </a:solidFill>
            <a:prstDash val="solid"/>
          </a:ln>
        </p:spPr>
        <p:txBody>
          <a:bodyPr/>
          <a:lstStyle/>
          <a:p>
            <a:endParaRPr lang="en-JP"/>
          </a:p>
        </p:txBody>
      </p:sp>
      <p:sp>
        <p:nvSpPr>
          <p:cNvPr id="14" name="Shape 11"/>
          <p:cNvSpPr/>
          <p:nvPr/>
        </p:nvSpPr>
        <p:spPr>
          <a:xfrm>
            <a:off x="3520440" y="2002536"/>
            <a:ext cx="228600" cy="237744"/>
          </a:xfrm>
          <a:prstGeom prst="ellipse">
            <a:avLst/>
          </a:prstGeom>
          <a:solidFill>
            <a:srgbClr val="2F8CAA">
              <a:alpha val="40000"/>
            </a:srgbClr>
          </a:solidFill>
          <a:ln w="12700">
            <a:solidFill>
              <a:srgbClr val="2F8CAA">
                <a:alpha val="0"/>
              </a:srgbClr>
            </a:solidFill>
            <a:prstDash val="solid"/>
          </a:ln>
        </p:spPr>
        <p:txBody>
          <a:bodyPr/>
          <a:lstStyle/>
          <a:p>
            <a:endParaRPr lang="en-JP"/>
          </a:p>
        </p:txBody>
      </p:sp>
      <p:sp>
        <p:nvSpPr>
          <p:cNvPr id="15" name="Shape 12"/>
          <p:cNvSpPr/>
          <p:nvPr/>
        </p:nvSpPr>
        <p:spPr>
          <a:xfrm>
            <a:off x="3749040" y="2002536"/>
            <a:ext cx="269332" cy="266839"/>
          </a:xfrm>
          <a:prstGeom prst="ellipse">
            <a:avLst/>
          </a:prstGeom>
          <a:solidFill>
            <a:srgbClr val="2F8CAA">
              <a:alpha val="68636"/>
            </a:srgbClr>
          </a:solidFill>
          <a:ln w="12700">
            <a:solidFill>
              <a:srgbClr val="2F8CAA">
                <a:alpha val="0"/>
              </a:srgbClr>
            </a:solidFill>
            <a:prstDash val="solid"/>
          </a:ln>
        </p:spPr>
        <p:txBody>
          <a:bodyPr/>
          <a:lstStyle/>
          <a:p>
            <a:endParaRPr lang="en-JP"/>
          </a:p>
        </p:txBody>
      </p:sp>
      <p:sp>
        <p:nvSpPr>
          <p:cNvPr id="16" name="Shape 13"/>
          <p:cNvSpPr/>
          <p:nvPr/>
        </p:nvSpPr>
        <p:spPr>
          <a:xfrm>
            <a:off x="3977640" y="2002536"/>
            <a:ext cx="246057" cy="250213"/>
          </a:xfrm>
          <a:prstGeom prst="ellipse">
            <a:avLst/>
          </a:prstGeom>
          <a:solidFill>
            <a:srgbClr val="2F8CAA">
              <a:alpha val="52273"/>
            </a:srgbClr>
          </a:solidFill>
          <a:ln w="12700">
            <a:solidFill>
              <a:srgbClr val="2F8CAA">
                <a:alpha val="0"/>
              </a:srgbClr>
            </a:solidFill>
            <a:prstDash val="solid"/>
          </a:ln>
        </p:spPr>
        <p:txBody>
          <a:bodyPr/>
          <a:lstStyle/>
          <a:p>
            <a:endParaRPr lang="en-JP"/>
          </a:p>
        </p:txBody>
      </p:sp>
      <p:sp>
        <p:nvSpPr>
          <p:cNvPr id="17" name="Shape 14"/>
          <p:cNvSpPr/>
          <p:nvPr/>
        </p:nvSpPr>
        <p:spPr>
          <a:xfrm>
            <a:off x="3520440" y="2322576"/>
            <a:ext cx="286789" cy="279308"/>
          </a:xfrm>
          <a:prstGeom prst="ellipse">
            <a:avLst/>
          </a:prstGeom>
          <a:solidFill>
            <a:srgbClr val="2F8CAA">
              <a:alpha val="80909"/>
            </a:srgbClr>
          </a:solidFill>
          <a:ln w="12700">
            <a:solidFill>
              <a:srgbClr val="2F8CAA">
                <a:alpha val="0"/>
              </a:srgbClr>
            </a:solidFill>
            <a:prstDash val="solid"/>
          </a:ln>
        </p:spPr>
        <p:txBody>
          <a:bodyPr/>
          <a:lstStyle/>
          <a:p>
            <a:endParaRPr lang="en-JP"/>
          </a:p>
        </p:txBody>
      </p:sp>
      <p:sp>
        <p:nvSpPr>
          <p:cNvPr id="18" name="Shape 15"/>
          <p:cNvSpPr/>
          <p:nvPr/>
        </p:nvSpPr>
        <p:spPr>
          <a:xfrm>
            <a:off x="3749040" y="2322576"/>
            <a:ext cx="263513" cy="262682"/>
          </a:xfrm>
          <a:prstGeom prst="ellipse">
            <a:avLst/>
          </a:prstGeom>
          <a:solidFill>
            <a:srgbClr val="2F8CAA">
              <a:alpha val="64545"/>
            </a:srgbClr>
          </a:solidFill>
          <a:ln w="12700">
            <a:solidFill>
              <a:srgbClr val="2F8CAA">
                <a:alpha val="0"/>
              </a:srgbClr>
            </a:solidFill>
            <a:prstDash val="solid"/>
          </a:ln>
        </p:spPr>
        <p:txBody>
          <a:bodyPr/>
          <a:lstStyle/>
          <a:p>
            <a:endParaRPr lang="en-JP"/>
          </a:p>
        </p:txBody>
      </p:sp>
      <p:sp>
        <p:nvSpPr>
          <p:cNvPr id="19" name="Shape 16"/>
          <p:cNvSpPr/>
          <p:nvPr/>
        </p:nvSpPr>
        <p:spPr>
          <a:xfrm>
            <a:off x="4471416" y="1901952"/>
            <a:ext cx="950976" cy="987552"/>
          </a:xfrm>
          <a:prstGeom prst="rect">
            <a:avLst/>
          </a:prstGeom>
          <a:solidFill>
            <a:srgbClr val="E9F3FC"/>
          </a:solidFill>
          <a:ln w="6350">
            <a:solidFill>
              <a:srgbClr val="CBD8E5"/>
            </a:solidFill>
            <a:prstDash val="solid"/>
          </a:ln>
        </p:spPr>
        <p:txBody>
          <a:bodyPr/>
          <a:lstStyle/>
          <a:p>
            <a:endParaRPr lang="en-JP"/>
          </a:p>
        </p:txBody>
      </p:sp>
      <p:sp>
        <p:nvSpPr>
          <p:cNvPr id="20" name="Shape 17"/>
          <p:cNvSpPr/>
          <p:nvPr/>
        </p:nvSpPr>
        <p:spPr>
          <a:xfrm>
            <a:off x="4581144" y="2002536"/>
            <a:ext cx="240238" cy="246057"/>
          </a:xfrm>
          <a:prstGeom prst="ellipse">
            <a:avLst/>
          </a:prstGeom>
          <a:solidFill>
            <a:srgbClr val="2F8CAA">
              <a:alpha val="48182"/>
            </a:srgbClr>
          </a:solidFill>
          <a:ln w="12700">
            <a:solidFill>
              <a:srgbClr val="2F8CAA">
                <a:alpha val="0"/>
              </a:srgbClr>
            </a:solidFill>
            <a:prstDash val="solid"/>
          </a:ln>
        </p:spPr>
        <p:txBody>
          <a:bodyPr/>
          <a:lstStyle/>
          <a:p>
            <a:endParaRPr lang="en-JP"/>
          </a:p>
        </p:txBody>
      </p:sp>
      <p:sp>
        <p:nvSpPr>
          <p:cNvPr id="21" name="Shape 18"/>
          <p:cNvSpPr/>
          <p:nvPr/>
        </p:nvSpPr>
        <p:spPr>
          <a:xfrm>
            <a:off x="4809744" y="2002536"/>
            <a:ext cx="280970" cy="275151"/>
          </a:xfrm>
          <a:prstGeom prst="ellipse">
            <a:avLst/>
          </a:prstGeom>
          <a:solidFill>
            <a:srgbClr val="2F8CAA">
              <a:alpha val="76818"/>
            </a:srgbClr>
          </a:solidFill>
          <a:ln w="12700">
            <a:solidFill>
              <a:srgbClr val="2F8CAA">
                <a:alpha val="0"/>
              </a:srgbClr>
            </a:solidFill>
            <a:prstDash val="solid"/>
          </a:ln>
        </p:spPr>
        <p:txBody>
          <a:bodyPr/>
          <a:lstStyle/>
          <a:p>
            <a:endParaRPr lang="en-JP"/>
          </a:p>
        </p:txBody>
      </p:sp>
      <p:sp>
        <p:nvSpPr>
          <p:cNvPr id="22" name="Shape 19"/>
          <p:cNvSpPr/>
          <p:nvPr/>
        </p:nvSpPr>
        <p:spPr>
          <a:xfrm>
            <a:off x="5038344" y="2002536"/>
            <a:ext cx="257695" cy="258526"/>
          </a:xfrm>
          <a:prstGeom prst="ellipse">
            <a:avLst/>
          </a:prstGeom>
          <a:solidFill>
            <a:srgbClr val="2F8CAA">
              <a:alpha val="60455"/>
            </a:srgbClr>
          </a:solidFill>
          <a:ln w="12700">
            <a:solidFill>
              <a:srgbClr val="2F8CAA">
                <a:alpha val="0"/>
              </a:srgbClr>
            </a:solidFill>
            <a:prstDash val="solid"/>
          </a:ln>
        </p:spPr>
        <p:txBody>
          <a:bodyPr/>
          <a:lstStyle/>
          <a:p>
            <a:endParaRPr lang="en-JP"/>
          </a:p>
        </p:txBody>
      </p:sp>
      <p:sp>
        <p:nvSpPr>
          <p:cNvPr id="23" name="Shape 20"/>
          <p:cNvSpPr/>
          <p:nvPr/>
        </p:nvSpPr>
        <p:spPr>
          <a:xfrm>
            <a:off x="4581144" y="2322576"/>
            <a:ext cx="234419" cy="241900"/>
          </a:xfrm>
          <a:prstGeom prst="ellipse">
            <a:avLst/>
          </a:prstGeom>
          <a:solidFill>
            <a:srgbClr val="2F8CAA">
              <a:alpha val="44091"/>
            </a:srgbClr>
          </a:solidFill>
          <a:ln w="12700">
            <a:solidFill>
              <a:srgbClr val="2F8CAA">
                <a:alpha val="0"/>
              </a:srgbClr>
            </a:solidFill>
            <a:prstDash val="solid"/>
          </a:ln>
        </p:spPr>
        <p:txBody>
          <a:bodyPr/>
          <a:lstStyle/>
          <a:p>
            <a:endParaRPr lang="en-JP"/>
          </a:p>
        </p:txBody>
      </p:sp>
      <p:sp>
        <p:nvSpPr>
          <p:cNvPr id="24" name="Shape 21"/>
          <p:cNvSpPr/>
          <p:nvPr/>
        </p:nvSpPr>
        <p:spPr>
          <a:xfrm>
            <a:off x="4809744" y="2322576"/>
            <a:ext cx="275151" cy="270995"/>
          </a:xfrm>
          <a:prstGeom prst="ellipse">
            <a:avLst/>
          </a:prstGeom>
          <a:solidFill>
            <a:srgbClr val="2F8CAA">
              <a:alpha val="72727"/>
            </a:srgbClr>
          </a:solidFill>
          <a:ln w="12700">
            <a:solidFill>
              <a:srgbClr val="2F8CAA">
                <a:alpha val="0"/>
              </a:srgbClr>
            </a:solidFill>
            <a:prstDash val="solid"/>
          </a:ln>
        </p:spPr>
        <p:txBody>
          <a:bodyPr/>
          <a:lstStyle/>
          <a:p>
            <a:endParaRPr lang="en-JP"/>
          </a:p>
        </p:txBody>
      </p:sp>
      <p:sp>
        <p:nvSpPr>
          <p:cNvPr id="25" name="Shape 22"/>
          <p:cNvSpPr/>
          <p:nvPr/>
        </p:nvSpPr>
        <p:spPr>
          <a:xfrm>
            <a:off x="5532120" y="1901952"/>
            <a:ext cx="950976" cy="987552"/>
          </a:xfrm>
          <a:prstGeom prst="rect">
            <a:avLst/>
          </a:prstGeom>
          <a:solidFill>
            <a:srgbClr val="E9F3FC"/>
          </a:solidFill>
          <a:ln w="6350">
            <a:solidFill>
              <a:srgbClr val="CBD8E5"/>
            </a:solidFill>
            <a:prstDash val="solid"/>
          </a:ln>
        </p:spPr>
        <p:txBody>
          <a:bodyPr/>
          <a:lstStyle/>
          <a:p>
            <a:endParaRPr lang="en-JP"/>
          </a:p>
        </p:txBody>
      </p:sp>
      <p:sp>
        <p:nvSpPr>
          <p:cNvPr id="26" name="Shape 23"/>
          <p:cNvSpPr/>
          <p:nvPr/>
        </p:nvSpPr>
        <p:spPr>
          <a:xfrm>
            <a:off x="5641848" y="2002536"/>
            <a:ext cx="251876" cy="254369"/>
          </a:xfrm>
          <a:prstGeom prst="ellipse">
            <a:avLst/>
          </a:prstGeom>
          <a:solidFill>
            <a:srgbClr val="2F8CAA">
              <a:alpha val="56364"/>
            </a:srgbClr>
          </a:solidFill>
          <a:ln w="12700">
            <a:solidFill>
              <a:srgbClr val="2F8CAA">
                <a:alpha val="0"/>
              </a:srgbClr>
            </a:solidFill>
            <a:prstDash val="solid"/>
          </a:ln>
        </p:spPr>
        <p:txBody>
          <a:bodyPr/>
          <a:lstStyle/>
          <a:p>
            <a:endParaRPr lang="en-JP"/>
          </a:p>
        </p:txBody>
      </p:sp>
      <p:sp>
        <p:nvSpPr>
          <p:cNvPr id="27" name="Shape 24"/>
          <p:cNvSpPr/>
          <p:nvPr/>
        </p:nvSpPr>
        <p:spPr>
          <a:xfrm>
            <a:off x="5870448" y="2002536"/>
            <a:ext cx="228600" cy="237744"/>
          </a:xfrm>
          <a:prstGeom prst="ellipse">
            <a:avLst/>
          </a:prstGeom>
          <a:solidFill>
            <a:srgbClr val="2F8CAA">
              <a:alpha val="40000"/>
            </a:srgbClr>
          </a:solidFill>
          <a:ln w="12700">
            <a:solidFill>
              <a:srgbClr val="2F8CAA">
                <a:alpha val="0"/>
              </a:srgbClr>
            </a:solidFill>
            <a:prstDash val="solid"/>
          </a:ln>
        </p:spPr>
        <p:txBody>
          <a:bodyPr/>
          <a:lstStyle/>
          <a:p>
            <a:endParaRPr lang="en-JP"/>
          </a:p>
        </p:txBody>
      </p:sp>
      <p:sp>
        <p:nvSpPr>
          <p:cNvPr id="28" name="Shape 25"/>
          <p:cNvSpPr/>
          <p:nvPr/>
        </p:nvSpPr>
        <p:spPr>
          <a:xfrm>
            <a:off x="6099048" y="2002536"/>
            <a:ext cx="269332" cy="266839"/>
          </a:xfrm>
          <a:prstGeom prst="ellipse">
            <a:avLst/>
          </a:prstGeom>
          <a:solidFill>
            <a:srgbClr val="2F8CAA">
              <a:alpha val="68636"/>
            </a:srgbClr>
          </a:solidFill>
          <a:ln w="12700">
            <a:solidFill>
              <a:srgbClr val="2F8CAA">
                <a:alpha val="0"/>
              </a:srgbClr>
            </a:solidFill>
            <a:prstDash val="solid"/>
          </a:ln>
        </p:spPr>
        <p:txBody>
          <a:bodyPr/>
          <a:lstStyle/>
          <a:p>
            <a:endParaRPr lang="en-JP"/>
          </a:p>
        </p:txBody>
      </p:sp>
      <p:sp>
        <p:nvSpPr>
          <p:cNvPr id="29" name="Shape 26"/>
          <p:cNvSpPr/>
          <p:nvPr/>
        </p:nvSpPr>
        <p:spPr>
          <a:xfrm>
            <a:off x="5641848" y="2322576"/>
            <a:ext cx="246057" cy="250213"/>
          </a:xfrm>
          <a:prstGeom prst="ellipse">
            <a:avLst/>
          </a:prstGeom>
          <a:solidFill>
            <a:srgbClr val="2F8CAA">
              <a:alpha val="52273"/>
            </a:srgbClr>
          </a:solidFill>
          <a:ln w="12700">
            <a:solidFill>
              <a:srgbClr val="2F8CAA">
                <a:alpha val="0"/>
              </a:srgbClr>
            </a:solidFill>
            <a:prstDash val="solid"/>
          </a:ln>
        </p:spPr>
        <p:txBody>
          <a:bodyPr/>
          <a:lstStyle/>
          <a:p>
            <a:endParaRPr lang="en-JP"/>
          </a:p>
        </p:txBody>
      </p:sp>
      <p:sp>
        <p:nvSpPr>
          <p:cNvPr id="30" name="Shape 27"/>
          <p:cNvSpPr/>
          <p:nvPr/>
        </p:nvSpPr>
        <p:spPr>
          <a:xfrm>
            <a:off x="5870448" y="2322576"/>
            <a:ext cx="286789" cy="279308"/>
          </a:xfrm>
          <a:prstGeom prst="ellipse">
            <a:avLst/>
          </a:prstGeom>
          <a:solidFill>
            <a:srgbClr val="2F8CAA">
              <a:alpha val="80909"/>
            </a:srgbClr>
          </a:solidFill>
          <a:ln w="12700">
            <a:solidFill>
              <a:srgbClr val="2F8CAA">
                <a:alpha val="0"/>
              </a:srgbClr>
            </a:solidFill>
            <a:prstDash val="solid"/>
          </a:ln>
        </p:spPr>
        <p:txBody>
          <a:bodyPr/>
          <a:lstStyle/>
          <a:p>
            <a:endParaRPr lang="en-JP"/>
          </a:p>
        </p:txBody>
      </p:sp>
      <p:sp>
        <p:nvSpPr>
          <p:cNvPr id="31" name="Shape 28"/>
          <p:cNvSpPr/>
          <p:nvPr/>
        </p:nvSpPr>
        <p:spPr>
          <a:xfrm>
            <a:off x="3410712" y="3145536"/>
            <a:ext cx="950976" cy="987552"/>
          </a:xfrm>
          <a:prstGeom prst="rect">
            <a:avLst/>
          </a:prstGeom>
          <a:solidFill>
            <a:srgbClr val="E9F3FC"/>
          </a:solidFill>
          <a:ln w="6350">
            <a:solidFill>
              <a:srgbClr val="CBD8E5"/>
            </a:solidFill>
            <a:prstDash val="solid"/>
          </a:ln>
        </p:spPr>
        <p:txBody>
          <a:bodyPr/>
          <a:lstStyle/>
          <a:p>
            <a:endParaRPr lang="en-JP"/>
          </a:p>
        </p:txBody>
      </p:sp>
      <p:sp>
        <p:nvSpPr>
          <p:cNvPr id="32" name="Shape 29"/>
          <p:cNvSpPr/>
          <p:nvPr/>
        </p:nvSpPr>
        <p:spPr>
          <a:xfrm>
            <a:off x="3520440" y="3246120"/>
            <a:ext cx="251876" cy="254369"/>
          </a:xfrm>
          <a:prstGeom prst="ellipse">
            <a:avLst/>
          </a:prstGeom>
          <a:solidFill>
            <a:srgbClr val="2F8CAA">
              <a:alpha val="56364"/>
            </a:srgbClr>
          </a:solidFill>
          <a:ln w="12700">
            <a:solidFill>
              <a:srgbClr val="2F8CAA">
                <a:alpha val="0"/>
              </a:srgbClr>
            </a:solidFill>
            <a:prstDash val="solid"/>
          </a:ln>
        </p:spPr>
        <p:txBody>
          <a:bodyPr/>
          <a:lstStyle/>
          <a:p>
            <a:endParaRPr lang="en-JP"/>
          </a:p>
        </p:txBody>
      </p:sp>
      <p:sp>
        <p:nvSpPr>
          <p:cNvPr id="33" name="Shape 30"/>
          <p:cNvSpPr/>
          <p:nvPr/>
        </p:nvSpPr>
        <p:spPr>
          <a:xfrm>
            <a:off x="3749040" y="3246120"/>
            <a:ext cx="228600" cy="237744"/>
          </a:xfrm>
          <a:prstGeom prst="ellipse">
            <a:avLst/>
          </a:prstGeom>
          <a:solidFill>
            <a:srgbClr val="2F8CAA">
              <a:alpha val="40000"/>
            </a:srgbClr>
          </a:solidFill>
          <a:ln w="12700">
            <a:solidFill>
              <a:srgbClr val="2F8CAA">
                <a:alpha val="0"/>
              </a:srgbClr>
            </a:solidFill>
            <a:prstDash val="solid"/>
          </a:ln>
        </p:spPr>
        <p:txBody>
          <a:bodyPr/>
          <a:lstStyle/>
          <a:p>
            <a:endParaRPr lang="en-JP"/>
          </a:p>
        </p:txBody>
      </p:sp>
      <p:sp>
        <p:nvSpPr>
          <p:cNvPr id="34" name="Shape 31"/>
          <p:cNvSpPr/>
          <p:nvPr/>
        </p:nvSpPr>
        <p:spPr>
          <a:xfrm>
            <a:off x="3977640" y="3246120"/>
            <a:ext cx="269332" cy="266839"/>
          </a:xfrm>
          <a:prstGeom prst="ellipse">
            <a:avLst/>
          </a:prstGeom>
          <a:solidFill>
            <a:srgbClr val="2F8CAA">
              <a:alpha val="68636"/>
            </a:srgbClr>
          </a:solidFill>
          <a:ln w="12700">
            <a:solidFill>
              <a:srgbClr val="2F8CAA">
                <a:alpha val="0"/>
              </a:srgbClr>
            </a:solidFill>
            <a:prstDash val="solid"/>
          </a:ln>
        </p:spPr>
        <p:txBody>
          <a:bodyPr/>
          <a:lstStyle/>
          <a:p>
            <a:endParaRPr lang="en-JP"/>
          </a:p>
        </p:txBody>
      </p:sp>
      <p:sp>
        <p:nvSpPr>
          <p:cNvPr id="35" name="Shape 32"/>
          <p:cNvSpPr/>
          <p:nvPr/>
        </p:nvSpPr>
        <p:spPr>
          <a:xfrm>
            <a:off x="3520440" y="3566160"/>
            <a:ext cx="246057" cy="250213"/>
          </a:xfrm>
          <a:prstGeom prst="ellipse">
            <a:avLst/>
          </a:prstGeom>
          <a:solidFill>
            <a:srgbClr val="2F8CAA">
              <a:alpha val="52273"/>
            </a:srgbClr>
          </a:solidFill>
          <a:ln w="12700">
            <a:solidFill>
              <a:srgbClr val="2F8CAA">
                <a:alpha val="0"/>
              </a:srgbClr>
            </a:solidFill>
            <a:prstDash val="solid"/>
          </a:ln>
        </p:spPr>
        <p:txBody>
          <a:bodyPr/>
          <a:lstStyle/>
          <a:p>
            <a:endParaRPr lang="en-JP"/>
          </a:p>
        </p:txBody>
      </p:sp>
      <p:sp>
        <p:nvSpPr>
          <p:cNvPr id="36" name="Shape 33"/>
          <p:cNvSpPr/>
          <p:nvPr/>
        </p:nvSpPr>
        <p:spPr>
          <a:xfrm>
            <a:off x="3749040" y="3566160"/>
            <a:ext cx="286789" cy="279308"/>
          </a:xfrm>
          <a:prstGeom prst="ellipse">
            <a:avLst/>
          </a:prstGeom>
          <a:solidFill>
            <a:srgbClr val="2F8CAA">
              <a:alpha val="80909"/>
            </a:srgbClr>
          </a:solidFill>
          <a:ln w="12700">
            <a:solidFill>
              <a:srgbClr val="2F8CAA">
                <a:alpha val="0"/>
              </a:srgbClr>
            </a:solidFill>
            <a:prstDash val="solid"/>
          </a:ln>
        </p:spPr>
        <p:txBody>
          <a:bodyPr/>
          <a:lstStyle/>
          <a:p>
            <a:endParaRPr lang="en-JP"/>
          </a:p>
        </p:txBody>
      </p:sp>
      <p:sp>
        <p:nvSpPr>
          <p:cNvPr id="37" name="Shape 34"/>
          <p:cNvSpPr/>
          <p:nvPr/>
        </p:nvSpPr>
        <p:spPr>
          <a:xfrm>
            <a:off x="4471416" y="3145536"/>
            <a:ext cx="950976" cy="987552"/>
          </a:xfrm>
          <a:prstGeom prst="rect">
            <a:avLst/>
          </a:prstGeom>
          <a:solidFill>
            <a:srgbClr val="E9F3FC"/>
          </a:solidFill>
          <a:ln w="6350">
            <a:solidFill>
              <a:srgbClr val="CBD8E5"/>
            </a:solidFill>
            <a:prstDash val="solid"/>
          </a:ln>
        </p:spPr>
        <p:txBody>
          <a:bodyPr/>
          <a:lstStyle/>
          <a:p>
            <a:endParaRPr lang="en-JP"/>
          </a:p>
        </p:txBody>
      </p:sp>
      <p:sp>
        <p:nvSpPr>
          <p:cNvPr id="38" name="Shape 35"/>
          <p:cNvSpPr/>
          <p:nvPr/>
        </p:nvSpPr>
        <p:spPr>
          <a:xfrm>
            <a:off x="4581144" y="3246120"/>
            <a:ext cx="263513" cy="262682"/>
          </a:xfrm>
          <a:prstGeom prst="ellipse">
            <a:avLst/>
          </a:prstGeom>
          <a:solidFill>
            <a:srgbClr val="2F8CAA">
              <a:alpha val="64545"/>
            </a:srgbClr>
          </a:solidFill>
          <a:ln w="12700">
            <a:solidFill>
              <a:srgbClr val="2F8CAA">
                <a:alpha val="0"/>
              </a:srgbClr>
            </a:solidFill>
            <a:prstDash val="solid"/>
          </a:ln>
        </p:spPr>
        <p:txBody>
          <a:bodyPr/>
          <a:lstStyle/>
          <a:p>
            <a:endParaRPr lang="en-JP"/>
          </a:p>
        </p:txBody>
      </p:sp>
      <p:sp>
        <p:nvSpPr>
          <p:cNvPr id="39" name="Shape 36"/>
          <p:cNvSpPr/>
          <p:nvPr/>
        </p:nvSpPr>
        <p:spPr>
          <a:xfrm>
            <a:off x="4809744" y="3246120"/>
            <a:ext cx="240238" cy="246057"/>
          </a:xfrm>
          <a:prstGeom prst="ellipse">
            <a:avLst/>
          </a:prstGeom>
          <a:solidFill>
            <a:srgbClr val="2F8CAA">
              <a:alpha val="48182"/>
            </a:srgbClr>
          </a:solidFill>
          <a:ln w="12700">
            <a:solidFill>
              <a:srgbClr val="2F8CAA">
                <a:alpha val="0"/>
              </a:srgbClr>
            </a:solidFill>
            <a:prstDash val="solid"/>
          </a:ln>
        </p:spPr>
        <p:txBody>
          <a:bodyPr/>
          <a:lstStyle/>
          <a:p>
            <a:endParaRPr lang="en-JP"/>
          </a:p>
        </p:txBody>
      </p:sp>
      <p:sp>
        <p:nvSpPr>
          <p:cNvPr id="40" name="Shape 37"/>
          <p:cNvSpPr/>
          <p:nvPr/>
        </p:nvSpPr>
        <p:spPr>
          <a:xfrm>
            <a:off x="5038344" y="3246120"/>
            <a:ext cx="280970" cy="275151"/>
          </a:xfrm>
          <a:prstGeom prst="ellipse">
            <a:avLst/>
          </a:prstGeom>
          <a:solidFill>
            <a:srgbClr val="2F8CAA">
              <a:alpha val="76818"/>
            </a:srgbClr>
          </a:solidFill>
          <a:ln w="12700">
            <a:solidFill>
              <a:srgbClr val="2F8CAA">
                <a:alpha val="0"/>
              </a:srgbClr>
            </a:solidFill>
            <a:prstDash val="solid"/>
          </a:ln>
        </p:spPr>
        <p:txBody>
          <a:bodyPr/>
          <a:lstStyle/>
          <a:p>
            <a:endParaRPr lang="en-JP"/>
          </a:p>
        </p:txBody>
      </p:sp>
      <p:sp>
        <p:nvSpPr>
          <p:cNvPr id="41" name="Shape 38"/>
          <p:cNvSpPr/>
          <p:nvPr/>
        </p:nvSpPr>
        <p:spPr>
          <a:xfrm>
            <a:off x="4581144" y="3566160"/>
            <a:ext cx="257695" cy="258526"/>
          </a:xfrm>
          <a:prstGeom prst="ellipse">
            <a:avLst/>
          </a:prstGeom>
          <a:solidFill>
            <a:srgbClr val="2F8CAA">
              <a:alpha val="60455"/>
            </a:srgbClr>
          </a:solidFill>
          <a:ln w="12700">
            <a:solidFill>
              <a:srgbClr val="2F8CAA">
                <a:alpha val="0"/>
              </a:srgbClr>
            </a:solidFill>
            <a:prstDash val="solid"/>
          </a:ln>
        </p:spPr>
        <p:txBody>
          <a:bodyPr/>
          <a:lstStyle/>
          <a:p>
            <a:endParaRPr lang="en-JP"/>
          </a:p>
        </p:txBody>
      </p:sp>
      <p:sp>
        <p:nvSpPr>
          <p:cNvPr id="42" name="Shape 39"/>
          <p:cNvSpPr/>
          <p:nvPr/>
        </p:nvSpPr>
        <p:spPr>
          <a:xfrm>
            <a:off x="4809744" y="3566160"/>
            <a:ext cx="234419" cy="241900"/>
          </a:xfrm>
          <a:prstGeom prst="ellipse">
            <a:avLst/>
          </a:prstGeom>
          <a:solidFill>
            <a:srgbClr val="2F8CAA">
              <a:alpha val="44091"/>
            </a:srgbClr>
          </a:solidFill>
          <a:ln w="12700">
            <a:solidFill>
              <a:srgbClr val="2F8CAA">
                <a:alpha val="0"/>
              </a:srgbClr>
            </a:solidFill>
            <a:prstDash val="solid"/>
          </a:ln>
        </p:spPr>
        <p:txBody>
          <a:bodyPr/>
          <a:lstStyle/>
          <a:p>
            <a:endParaRPr lang="en-JP"/>
          </a:p>
        </p:txBody>
      </p:sp>
      <p:sp>
        <p:nvSpPr>
          <p:cNvPr id="43" name="Shape 40"/>
          <p:cNvSpPr/>
          <p:nvPr/>
        </p:nvSpPr>
        <p:spPr>
          <a:xfrm>
            <a:off x="5532120" y="3145536"/>
            <a:ext cx="950976" cy="987552"/>
          </a:xfrm>
          <a:prstGeom prst="rect">
            <a:avLst/>
          </a:prstGeom>
          <a:solidFill>
            <a:srgbClr val="E9F3FC"/>
          </a:solidFill>
          <a:ln w="6350">
            <a:solidFill>
              <a:srgbClr val="CBD8E5"/>
            </a:solidFill>
            <a:prstDash val="solid"/>
          </a:ln>
        </p:spPr>
        <p:txBody>
          <a:bodyPr/>
          <a:lstStyle/>
          <a:p>
            <a:endParaRPr lang="en-JP"/>
          </a:p>
        </p:txBody>
      </p:sp>
      <p:sp>
        <p:nvSpPr>
          <p:cNvPr id="44" name="Shape 41"/>
          <p:cNvSpPr/>
          <p:nvPr/>
        </p:nvSpPr>
        <p:spPr>
          <a:xfrm>
            <a:off x="5641848" y="3246120"/>
            <a:ext cx="275151" cy="270995"/>
          </a:xfrm>
          <a:prstGeom prst="ellipse">
            <a:avLst/>
          </a:prstGeom>
          <a:solidFill>
            <a:srgbClr val="2F8CAA">
              <a:alpha val="72727"/>
            </a:srgbClr>
          </a:solidFill>
          <a:ln w="12700">
            <a:solidFill>
              <a:srgbClr val="2F8CAA">
                <a:alpha val="0"/>
              </a:srgbClr>
            </a:solidFill>
            <a:prstDash val="solid"/>
          </a:ln>
        </p:spPr>
        <p:txBody>
          <a:bodyPr/>
          <a:lstStyle/>
          <a:p>
            <a:endParaRPr lang="en-JP"/>
          </a:p>
        </p:txBody>
      </p:sp>
      <p:sp>
        <p:nvSpPr>
          <p:cNvPr id="45" name="Shape 42"/>
          <p:cNvSpPr/>
          <p:nvPr/>
        </p:nvSpPr>
        <p:spPr>
          <a:xfrm>
            <a:off x="5870448" y="3246120"/>
            <a:ext cx="251876" cy="254369"/>
          </a:xfrm>
          <a:prstGeom prst="ellipse">
            <a:avLst/>
          </a:prstGeom>
          <a:solidFill>
            <a:srgbClr val="2F8CAA">
              <a:alpha val="56364"/>
            </a:srgbClr>
          </a:solidFill>
          <a:ln w="12700">
            <a:solidFill>
              <a:srgbClr val="2F8CAA">
                <a:alpha val="0"/>
              </a:srgbClr>
            </a:solidFill>
            <a:prstDash val="solid"/>
          </a:ln>
        </p:spPr>
        <p:txBody>
          <a:bodyPr/>
          <a:lstStyle/>
          <a:p>
            <a:endParaRPr lang="en-JP"/>
          </a:p>
        </p:txBody>
      </p:sp>
      <p:sp>
        <p:nvSpPr>
          <p:cNvPr id="46" name="Shape 43"/>
          <p:cNvSpPr/>
          <p:nvPr/>
        </p:nvSpPr>
        <p:spPr>
          <a:xfrm>
            <a:off x="6099048" y="3246120"/>
            <a:ext cx="228600" cy="237744"/>
          </a:xfrm>
          <a:prstGeom prst="ellipse">
            <a:avLst/>
          </a:prstGeom>
          <a:solidFill>
            <a:srgbClr val="2F8CAA">
              <a:alpha val="40000"/>
            </a:srgbClr>
          </a:solidFill>
          <a:ln w="12700">
            <a:solidFill>
              <a:srgbClr val="2F8CAA">
                <a:alpha val="0"/>
              </a:srgbClr>
            </a:solidFill>
            <a:prstDash val="solid"/>
          </a:ln>
        </p:spPr>
        <p:txBody>
          <a:bodyPr/>
          <a:lstStyle/>
          <a:p>
            <a:endParaRPr lang="en-JP"/>
          </a:p>
        </p:txBody>
      </p:sp>
      <p:sp>
        <p:nvSpPr>
          <p:cNvPr id="47" name="Shape 44"/>
          <p:cNvSpPr/>
          <p:nvPr/>
        </p:nvSpPr>
        <p:spPr>
          <a:xfrm>
            <a:off x="5641848" y="3566160"/>
            <a:ext cx="269332" cy="266839"/>
          </a:xfrm>
          <a:prstGeom prst="ellipse">
            <a:avLst/>
          </a:prstGeom>
          <a:solidFill>
            <a:srgbClr val="2F8CAA">
              <a:alpha val="68636"/>
            </a:srgbClr>
          </a:solidFill>
          <a:ln w="12700">
            <a:solidFill>
              <a:srgbClr val="2F8CAA">
                <a:alpha val="0"/>
              </a:srgbClr>
            </a:solidFill>
            <a:prstDash val="solid"/>
          </a:ln>
        </p:spPr>
        <p:txBody>
          <a:bodyPr/>
          <a:lstStyle/>
          <a:p>
            <a:endParaRPr lang="en-JP"/>
          </a:p>
        </p:txBody>
      </p:sp>
      <p:sp>
        <p:nvSpPr>
          <p:cNvPr id="48" name="Shape 45"/>
          <p:cNvSpPr/>
          <p:nvPr/>
        </p:nvSpPr>
        <p:spPr>
          <a:xfrm>
            <a:off x="5870448" y="3566160"/>
            <a:ext cx="246057" cy="250213"/>
          </a:xfrm>
          <a:prstGeom prst="ellipse">
            <a:avLst/>
          </a:prstGeom>
          <a:solidFill>
            <a:srgbClr val="2F8CAA">
              <a:alpha val="52273"/>
            </a:srgbClr>
          </a:solidFill>
          <a:ln w="12700">
            <a:solidFill>
              <a:srgbClr val="2F8CAA">
                <a:alpha val="0"/>
              </a:srgbClr>
            </a:solidFill>
            <a:prstDash val="solid"/>
          </a:ln>
        </p:spPr>
        <p:txBody>
          <a:bodyPr/>
          <a:lstStyle/>
          <a:p>
            <a:endParaRPr lang="en-JP"/>
          </a:p>
        </p:txBody>
      </p:sp>
      <p:sp>
        <p:nvSpPr>
          <p:cNvPr id="49" name="Text 46"/>
          <p:cNvSpPr/>
          <p:nvPr/>
        </p:nvSpPr>
        <p:spPr>
          <a:xfrm>
            <a:off x="7543800" y="1490472"/>
            <a:ext cx="3877056" cy="283464"/>
          </a:xfrm>
          <a:prstGeom prst="rect">
            <a:avLst/>
          </a:prstGeom>
          <a:noFill/>
          <a:ln/>
        </p:spPr>
        <p:txBody>
          <a:bodyPr wrap="square" lIns="0" tIns="0" rIns="0" bIns="0" rtlCol="0" anchor="ctr">
            <a:normAutofit/>
          </a:bodyPr>
          <a:lstStyle/>
          <a:p>
            <a:pPr marL="0" indent="0" algn="l">
              <a:lnSpc>
                <a:spcPct val="100000"/>
              </a:lnSpc>
              <a:buNone/>
            </a:pPr>
            <a:r>
              <a:rPr lang="en-US" sz="1700" b="1" dirty="0">
                <a:solidFill>
                  <a:srgbClr val="1D3957"/>
                </a:solidFill>
                <a:latin typeface="Aptos" pitchFamily="34" charset="0"/>
                <a:ea typeface="Aptos" pitchFamily="34" charset="-122"/>
                <a:cs typeface="Aptos" pitchFamily="34" charset="-120"/>
              </a:rPr>
              <a:t>Deeper: layer4</a:t>
            </a:r>
            <a:endParaRPr lang="en-US" sz="1700" dirty="0"/>
          </a:p>
        </p:txBody>
      </p:sp>
      <p:sp>
        <p:nvSpPr>
          <p:cNvPr id="50" name="Shape 47"/>
          <p:cNvSpPr/>
          <p:nvPr/>
        </p:nvSpPr>
        <p:spPr>
          <a:xfrm>
            <a:off x="7543800" y="1901952"/>
            <a:ext cx="950976" cy="987552"/>
          </a:xfrm>
          <a:prstGeom prst="rect">
            <a:avLst/>
          </a:prstGeom>
          <a:solidFill>
            <a:srgbClr val="EEEAF8"/>
          </a:solidFill>
          <a:ln w="6350">
            <a:solidFill>
              <a:srgbClr val="CBD8E5"/>
            </a:solidFill>
            <a:prstDash val="solid"/>
          </a:ln>
        </p:spPr>
        <p:txBody>
          <a:bodyPr/>
          <a:lstStyle/>
          <a:p>
            <a:endParaRPr lang="en-JP"/>
          </a:p>
        </p:txBody>
      </p:sp>
      <p:sp>
        <p:nvSpPr>
          <p:cNvPr id="51" name="Shape 48"/>
          <p:cNvSpPr/>
          <p:nvPr/>
        </p:nvSpPr>
        <p:spPr>
          <a:xfrm>
            <a:off x="7653528" y="2002536"/>
            <a:ext cx="246057" cy="250213"/>
          </a:xfrm>
          <a:prstGeom prst="ellipse">
            <a:avLst/>
          </a:prstGeom>
          <a:solidFill>
            <a:srgbClr val="937FC7">
              <a:alpha val="52273"/>
            </a:srgbClr>
          </a:solidFill>
          <a:ln w="12700">
            <a:solidFill>
              <a:srgbClr val="937FC7">
                <a:alpha val="0"/>
              </a:srgbClr>
            </a:solidFill>
            <a:prstDash val="solid"/>
          </a:ln>
        </p:spPr>
        <p:txBody>
          <a:bodyPr/>
          <a:lstStyle/>
          <a:p>
            <a:endParaRPr lang="en-JP"/>
          </a:p>
        </p:txBody>
      </p:sp>
      <p:sp>
        <p:nvSpPr>
          <p:cNvPr id="52" name="Shape 49"/>
          <p:cNvSpPr/>
          <p:nvPr/>
        </p:nvSpPr>
        <p:spPr>
          <a:xfrm>
            <a:off x="7882128" y="2002536"/>
            <a:ext cx="286789" cy="279308"/>
          </a:xfrm>
          <a:prstGeom prst="ellipse">
            <a:avLst/>
          </a:prstGeom>
          <a:solidFill>
            <a:srgbClr val="937FC7">
              <a:alpha val="80909"/>
            </a:srgbClr>
          </a:solidFill>
          <a:ln w="12700">
            <a:solidFill>
              <a:srgbClr val="937FC7">
                <a:alpha val="0"/>
              </a:srgbClr>
            </a:solidFill>
            <a:prstDash val="solid"/>
          </a:ln>
        </p:spPr>
        <p:txBody>
          <a:bodyPr/>
          <a:lstStyle/>
          <a:p>
            <a:endParaRPr lang="en-JP"/>
          </a:p>
        </p:txBody>
      </p:sp>
      <p:sp>
        <p:nvSpPr>
          <p:cNvPr id="53" name="Shape 50"/>
          <p:cNvSpPr/>
          <p:nvPr/>
        </p:nvSpPr>
        <p:spPr>
          <a:xfrm>
            <a:off x="8110728" y="2002536"/>
            <a:ext cx="263513" cy="262682"/>
          </a:xfrm>
          <a:prstGeom prst="ellipse">
            <a:avLst/>
          </a:prstGeom>
          <a:solidFill>
            <a:srgbClr val="937FC7">
              <a:alpha val="64545"/>
            </a:srgbClr>
          </a:solidFill>
          <a:ln w="12700">
            <a:solidFill>
              <a:srgbClr val="937FC7">
                <a:alpha val="0"/>
              </a:srgbClr>
            </a:solidFill>
            <a:prstDash val="solid"/>
          </a:ln>
        </p:spPr>
        <p:txBody>
          <a:bodyPr/>
          <a:lstStyle/>
          <a:p>
            <a:endParaRPr lang="en-JP"/>
          </a:p>
        </p:txBody>
      </p:sp>
      <p:sp>
        <p:nvSpPr>
          <p:cNvPr id="54" name="Shape 51"/>
          <p:cNvSpPr/>
          <p:nvPr/>
        </p:nvSpPr>
        <p:spPr>
          <a:xfrm>
            <a:off x="7653528" y="2322576"/>
            <a:ext cx="240238" cy="246057"/>
          </a:xfrm>
          <a:prstGeom prst="ellipse">
            <a:avLst/>
          </a:prstGeom>
          <a:solidFill>
            <a:srgbClr val="937FC7">
              <a:alpha val="48182"/>
            </a:srgbClr>
          </a:solidFill>
          <a:ln w="12700">
            <a:solidFill>
              <a:srgbClr val="937FC7">
                <a:alpha val="0"/>
              </a:srgbClr>
            </a:solidFill>
            <a:prstDash val="solid"/>
          </a:ln>
        </p:spPr>
        <p:txBody>
          <a:bodyPr/>
          <a:lstStyle/>
          <a:p>
            <a:endParaRPr lang="en-JP"/>
          </a:p>
        </p:txBody>
      </p:sp>
      <p:sp>
        <p:nvSpPr>
          <p:cNvPr id="55" name="Shape 52"/>
          <p:cNvSpPr/>
          <p:nvPr/>
        </p:nvSpPr>
        <p:spPr>
          <a:xfrm>
            <a:off x="7882128" y="2322576"/>
            <a:ext cx="280970" cy="275151"/>
          </a:xfrm>
          <a:prstGeom prst="ellipse">
            <a:avLst/>
          </a:prstGeom>
          <a:solidFill>
            <a:srgbClr val="937FC7">
              <a:alpha val="76818"/>
            </a:srgbClr>
          </a:solidFill>
          <a:ln w="12700">
            <a:solidFill>
              <a:srgbClr val="937FC7">
                <a:alpha val="0"/>
              </a:srgbClr>
            </a:solidFill>
            <a:prstDash val="solid"/>
          </a:ln>
        </p:spPr>
        <p:txBody>
          <a:bodyPr/>
          <a:lstStyle/>
          <a:p>
            <a:endParaRPr lang="en-JP"/>
          </a:p>
        </p:txBody>
      </p:sp>
      <p:sp>
        <p:nvSpPr>
          <p:cNvPr id="56" name="Shape 53"/>
          <p:cNvSpPr/>
          <p:nvPr/>
        </p:nvSpPr>
        <p:spPr>
          <a:xfrm>
            <a:off x="8604504" y="1901952"/>
            <a:ext cx="950976" cy="987552"/>
          </a:xfrm>
          <a:prstGeom prst="rect">
            <a:avLst/>
          </a:prstGeom>
          <a:solidFill>
            <a:srgbClr val="EEEAF8"/>
          </a:solidFill>
          <a:ln w="6350">
            <a:solidFill>
              <a:srgbClr val="CBD8E5"/>
            </a:solidFill>
            <a:prstDash val="solid"/>
          </a:ln>
        </p:spPr>
        <p:txBody>
          <a:bodyPr/>
          <a:lstStyle/>
          <a:p>
            <a:endParaRPr lang="en-JP"/>
          </a:p>
        </p:txBody>
      </p:sp>
      <p:sp>
        <p:nvSpPr>
          <p:cNvPr id="57" name="Shape 54"/>
          <p:cNvSpPr/>
          <p:nvPr/>
        </p:nvSpPr>
        <p:spPr>
          <a:xfrm>
            <a:off x="8714232" y="2002536"/>
            <a:ext cx="257695" cy="258526"/>
          </a:xfrm>
          <a:prstGeom prst="ellipse">
            <a:avLst/>
          </a:prstGeom>
          <a:solidFill>
            <a:srgbClr val="937FC7">
              <a:alpha val="60455"/>
            </a:srgbClr>
          </a:solidFill>
          <a:ln w="12700">
            <a:solidFill>
              <a:srgbClr val="937FC7">
                <a:alpha val="0"/>
              </a:srgbClr>
            </a:solidFill>
            <a:prstDash val="solid"/>
          </a:ln>
        </p:spPr>
        <p:txBody>
          <a:bodyPr/>
          <a:lstStyle/>
          <a:p>
            <a:endParaRPr lang="en-JP"/>
          </a:p>
        </p:txBody>
      </p:sp>
      <p:sp>
        <p:nvSpPr>
          <p:cNvPr id="58" name="Shape 55"/>
          <p:cNvSpPr/>
          <p:nvPr/>
        </p:nvSpPr>
        <p:spPr>
          <a:xfrm>
            <a:off x="8942832" y="2002536"/>
            <a:ext cx="234419" cy="241900"/>
          </a:xfrm>
          <a:prstGeom prst="ellipse">
            <a:avLst/>
          </a:prstGeom>
          <a:solidFill>
            <a:srgbClr val="937FC7">
              <a:alpha val="44091"/>
            </a:srgbClr>
          </a:solidFill>
          <a:ln w="12700">
            <a:solidFill>
              <a:srgbClr val="937FC7">
                <a:alpha val="0"/>
              </a:srgbClr>
            </a:solidFill>
            <a:prstDash val="solid"/>
          </a:ln>
        </p:spPr>
        <p:txBody>
          <a:bodyPr/>
          <a:lstStyle/>
          <a:p>
            <a:endParaRPr lang="en-JP"/>
          </a:p>
        </p:txBody>
      </p:sp>
      <p:sp>
        <p:nvSpPr>
          <p:cNvPr id="59" name="Shape 56"/>
          <p:cNvSpPr/>
          <p:nvPr/>
        </p:nvSpPr>
        <p:spPr>
          <a:xfrm>
            <a:off x="9171432" y="2002536"/>
            <a:ext cx="275151" cy="270995"/>
          </a:xfrm>
          <a:prstGeom prst="ellipse">
            <a:avLst/>
          </a:prstGeom>
          <a:solidFill>
            <a:srgbClr val="937FC7">
              <a:alpha val="72727"/>
            </a:srgbClr>
          </a:solidFill>
          <a:ln w="12700">
            <a:solidFill>
              <a:srgbClr val="937FC7">
                <a:alpha val="0"/>
              </a:srgbClr>
            </a:solidFill>
            <a:prstDash val="solid"/>
          </a:ln>
        </p:spPr>
        <p:txBody>
          <a:bodyPr/>
          <a:lstStyle/>
          <a:p>
            <a:endParaRPr lang="en-JP"/>
          </a:p>
        </p:txBody>
      </p:sp>
      <p:sp>
        <p:nvSpPr>
          <p:cNvPr id="60" name="Shape 57"/>
          <p:cNvSpPr/>
          <p:nvPr/>
        </p:nvSpPr>
        <p:spPr>
          <a:xfrm>
            <a:off x="8714232" y="2322576"/>
            <a:ext cx="251876" cy="254369"/>
          </a:xfrm>
          <a:prstGeom prst="ellipse">
            <a:avLst/>
          </a:prstGeom>
          <a:solidFill>
            <a:srgbClr val="937FC7">
              <a:alpha val="56364"/>
            </a:srgbClr>
          </a:solidFill>
          <a:ln w="12700">
            <a:solidFill>
              <a:srgbClr val="937FC7">
                <a:alpha val="0"/>
              </a:srgbClr>
            </a:solidFill>
            <a:prstDash val="solid"/>
          </a:ln>
        </p:spPr>
        <p:txBody>
          <a:bodyPr/>
          <a:lstStyle/>
          <a:p>
            <a:endParaRPr lang="en-JP"/>
          </a:p>
        </p:txBody>
      </p:sp>
      <p:sp>
        <p:nvSpPr>
          <p:cNvPr id="61" name="Shape 58"/>
          <p:cNvSpPr/>
          <p:nvPr/>
        </p:nvSpPr>
        <p:spPr>
          <a:xfrm>
            <a:off x="8942832" y="2322576"/>
            <a:ext cx="228600" cy="237744"/>
          </a:xfrm>
          <a:prstGeom prst="ellipse">
            <a:avLst/>
          </a:prstGeom>
          <a:solidFill>
            <a:srgbClr val="937FC7">
              <a:alpha val="40000"/>
            </a:srgbClr>
          </a:solidFill>
          <a:ln w="12700">
            <a:solidFill>
              <a:srgbClr val="937FC7">
                <a:alpha val="0"/>
              </a:srgbClr>
            </a:solidFill>
            <a:prstDash val="solid"/>
          </a:ln>
        </p:spPr>
        <p:txBody>
          <a:bodyPr/>
          <a:lstStyle/>
          <a:p>
            <a:endParaRPr lang="en-JP"/>
          </a:p>
        </p:txBody>
      </p:sp>
      <p:sp>
        <p:nvSpPr>
          <p:cNvPr id="62" name="Shape 59"/>
          <p:cNvSpPr/>
          <p:nvPr/>
        </p:nvSpPr>
        <p:spPr>
          <a:xfrm>
            <a:off x="9665208" y="1901952"/>
            <a:ext cx="950976" cy="987552"/>
          </a:xfrm>
          <a:prstGeom prst="rect">
            <a:avLst/>
          </a:prstGeom>
          <a:solidFill>
            <a:srgbClr val="EEEAF8"/>
          </a:solidFill>
          <a:ln w="6350">
            <a:solidFill>
              <a:srgbClr val="CBD8E5"/>
            </a:solidFill>
            <a:prstDash val="solid"/>
          </a:ln>
        </p:spPr>
        <p:txBody>
          <a:bodyPr/>
          <a:lstStyle/>
          <a:p>
            <a:endParaRPr lang="en-JP"/>
          </a:p>
        </p:txBody>
      </p:sp>
      <p:sp>
        <p:nvSpPr>
          <p:cNvPr id="63" name="Shape 60"/>
          <p:cNvSpPr/>
          <p:nvPr/>
        </p:nvSpPr>
        <p:spPr>
          <a:xfrm>
            <a:off x="9774936" y="2002536"/>
            <a:ext cx="269332" cy="266839"/>
          </a:xfrm>
          <a:prstGeom prst="ellipse">
            <a:avLst/>
          </a:prstGeom>
          <a:solidFill>
            <a:srgbClr val="937FC7">
              <a:alpha val="68636"/>
            </a:srgbClr>
          </a:solidFill>
          <a:ln w="12700">
            <a:solidFill>
              <a:srgbClr val="937FC7">
                <a:alpha val="0"/>
              </a:srgbClr>
            </a:solidFill>
            <a:prstDash val="solid"/>
          </a:ln>
        </p:spPr>
        <p:txBody>
          <a:bodyPr/>
          <a:lstStyle/>
          <a:p>
            <a:endParaRPr lang="en-JP"/>
          </a:p>
        </p:txBody>
      </p:sp>
      <p:sp>
        <p:nvSpPr>
          <p:cNvPr id="64" name="Shape 61"/>
          <p:cNvSpPr/>
          <p:nvPr/>
        </p:nvSpPr>
        <p:spPr>
          <a:xfrm>
            <a:off x="10003536" y="2002536"/>
            <a:ext cx="246057" cy="250213"/>
          </a:xfrm>
          <a:prstGeom prst="ellipse">
            <a:avLst/>
          </a:prstGeom>
          <a:solidFill>
            <a:srgbClr val="937FC7">
              <a:alpha val="52273"/>
            </a:srgbClr>
          </a:solidFill>
          <a:ln w="12700">
            <a:solidFill>
              <a:srgbClr val="937FC7">
                <a:alpha val="0"/>
              </a:srgbClr>
            </a:solidFill>
            <a:prstDash val="solid"/>
          </a:ln>
        </p:spPr>
        <p:txBody>
          <a:bodyPr/>
          <a:lstStyle/>
          <a:p>
            <a:endParaRPr lang="en-JP"/>
          </a:p>
        </p:txBody>
      </p:sp>
      <p:sp>
        <p:nvSpPr>
          <p:cNvPr id="65" name="Shape 62"/>
          <p:cNvSpPr/>
          <p:nvPr/>
        </p:nvSpPr>
        <p:spPr>
          <a:xfrm>
            <a:off x="10232136" y="2002536"/>
            <a:ext cx="286789" cy="279308"/>
          </a:xfrm>
          <a:prstGeom prst="ellipse">
            <a:avLst/>
          </a:prstGeom>
          <a:solidFill>
            <a:srgbClr val="937FC7">
              <a:alpha val="80909"/>
            </a:srgbClr>
          </a:solidFill>
          <a:ln w="12700">
            <a:solidFill>
              <a:srgbClr val="937FC7">
                <a:alpha val="0"/>
              </a:srgbClr>
            </a:solidFill>
            <a:prstDash val="solid"/>
          </a:ln>
        </p:spPr>
        <p:txBody>
          <a:bodyPr/>
          <a:lstStyle/>
          <a:p>
            <a:endParaRPr lang="en-JP"/>
          </a:p>
        </p:txBody>
      </p:sp>
      <p:sp>
        <p:nvSpPr>
          <p:cNvPr id="66" name="Shape 63"/>
          <p:cNvSpPr/>
          <p:nvPr/>
        </p:nvSpPr>
        <p:spPr>
          <a:xfrm>
            <a:off x="9774936" y="2322576"/>
            <a:ext cx="263513" cy="262682"/>
          </a:xfrm>
          <a:prstGeom prst="ellipse">
            <a:avLst/>
          </a:prstGeom>
          <a:solidFill>
            <a:srgbClr val="937FC7">
              <a:alpha val="64545"/>
            </a:srgbClr>
          </a:solidFill>
          <a:ln w="12700">
            <a:solidFill>
              <a:srgbClr val="937FC7">
                <a:alpha val="0"/>
              </a:srgbClr>
            </a:solidFill>
            <a:prstDash val="solid"/>
          </a:ln>
        </p:spPr>
        <p:txBody>
          <a:bodyPr/>
          <a:lstStyle/>
          <a:p>
            <a:endParaRPr lang="en-JP"/>
          </a:p>
        </p:txBody>
      </p:sp>
      <p:sp>
        <p:nvSpPr>
          <p:cNvPr id="67" name="Shape 64"/>
          <p:cNvSpPr/>
          <p:nvPr/>
        </p:nvSpPr>
        <p:spPr>
          <a:xfrm>
            <a:off x="10003536" y="2322576"/>
            <a:ext cx="240238" cy="246057"/>
          </a:xfrm>
          <a:prstGeom prst="ellipse">
            <a:avLst/>
          </a:prstGeom>
          <a:solidFill>
            <a:srgbClr val="937FC7">
              <a:alpha val="48182"/>
            </a:srgbClr>
          </a:solidFill>
          <a:ln w="12700">
            <a:solidFill>
              <a:srgbClr val="937FC7">
                <a:alpha val="0"/>
              </a:srgbClr>
            </a:solidFill>
            <a:prstDash val="solid"/>
          </a:ln>
        </p:spPr>
        <p:txBody>
          <a:bodyPr/>
          <a:lstStyle/>
          <a:p>
            <a:endParaRPr lang="en-JP"/>
          </a:p>
        </p:txBody>
      </p:sp>
      <p:sp>
        <p:nvSpPr>
          <p:cNvPr id="68" name="Shape 65"/>
          <p:cNvSpPr/>
          <p:nvPr/>
        </p:nvSpPr>
        <p:spPr>
          <a:xfrm>
            <a:off x="7543800" y="3145536"/>
            <a:ext cx="950976" cy="987552"/>
          </a:xfrm>
          <a:prstGeom prst="rect">
            <a:avLst/>
          </a:prstGeom>
          <a:solidFill>
            <a:srgbClr val="EEEAF8"/>
          </a:solidFill>
          <a:ln w="6350">
            <a:solidFill>
              <a:srgbClr val="CBD8E5"/>
            </a:solidFill>
            <a:prstDash val="solid"/>
          </a:ln>
        </p:spPr>
        <p:txBody>
          <a:bodyPr/>
          <a:lstStyle/>
          <a:p>
            <a:endParaRPr lang="en-JP"/>
          </a:p>
        </p:txBody>
      </p:sp>
      <p:sp>
        <p:nvSpPr>
          <p:cNvPr id="69" name="Shape 66"/>
          <p:cNvSpPr/>
          <p:nvPr/>
        </p:nvSpPr>
        <p:spPr>
          <a:xfrm>
            <a:off x="7653528" y="3246120"/>
            <a:ext cx="269332" cy="266839"/>
          </a:xfrm>
          <a:prstGeom prst="ellipse">
            <a:avLst/>
          </a:prstGeom>
          <a:solidFill>
            <a:srgbClr val="937FC7">
              <a:alpha val="68636"/>
            </a:srgbClr>
          </a:solidFill>
          <a:ln w="12700">
            <a:solidFill>
              <a:srgbClr val="937FC7">
                <a:alpha val="0"/>
              </a:srgbClr>
            </a:solidFill>
            <a:prstDash val="solid"/>
          </a:ln>
        </p:spPr>
        <p:txBody>
          <a:bodyPr/>
          <a:lstStyle/>
          <a:p>
            <a:endParaRPr lang="en-JP"/>
          </a:p>
        </p:txBody>
      </p:sp>
      <p:sp>
        <p:nvSpPr>
          <p:cNvPr id="70" name="Shape 67"/>
          <p:cNvSpPr/>
          <p:nvPr/>
        </p:nvSpPr>
        <p:spPr>
          <a:xfrm>
            <a:off x="7882128" y="3246120"/>
            <a:ext cx="246057" cy="250213"/>
          </a:xfrm>
          <a:prstGeom prst="ellipse">
            <a:avLst/>
          </a:prstGeom>
          <a:solidFill>
            <a:srgbClr val="937FC7">
              <a:alpha val="52273"/>
            </a:srgbClr>
          </a:solidFill>
          <a:ln w="12700">
            <a:solidFill>
              <a:srgbClr val="937FC7">
                <a:alpha val="0"/>
              </a:srgbClr>
            </a:solidFill>
            <a:prstDash val="solid"/>
          </a:ln>
        </p:spPr>
        <p:txBody>
          <a:bodyPr/>
          <a:lstStyle/>
          <a:p>
            <a:endParaRPr lang="en-JP"/>
          </a:p>
        </p:txBody>
      </p:sp>
      <p:sp>
        <p:nvSpPr>
          <p:cNvPr id="71" name="Shape 68"/>
          <p:cNvSpPr/>
          <p:nvPr/>
        </p:nvSpPr>
        <p:spPr>
          <a:xfrm>
            <a:off x="8110728" y="3246120"/>
            <a:ext cx="286789" cy="279308"/>
          </a:xfrm>
          <a:prstGeom prst="ellipse">
            <a:avLst/>
          </a:prstGeom>
          <a:solidFill>
            <a:srgbClr val="937FC7">
              <a:alpha val="80909"/>
            </a:srgbClr>
          </a:solidFill>
          <a:ln w="12700">
            <a:solidFill>
              <a:srgbClr val="937FC7">
                <a:alpha val="0"/>
              </a:srgbClr>
            </a:solidFill>
            <a:prstDash val="solid"/>
          </a:ln>
        </p:spPr>
        <p:txBody>
          <a:bodyPr/>
          <a:lstStyle/>
          <a:p>
            <a:endParaRPr lang="en-JP"/>
          </a:p>
        </p:txBody>
      </p:sp>
      <p:sp>
        <p:nvSpPr>
          <p:cNvPr id="72" name="Shape 69"/>
          <p:cNvSpPr/>
          <p:nvPr/>
        </p:nvSpPr>
        <p:spPr>
          <a:xfrm>
            <a:off x="7653528" y="3566160"/>
            <a:ext cx="263513" cy="262682"/>
          </a:xfrm>
          <a:prstGeom prst="ellipse">
            <a:avLst/>
          </a:prstGeom>
          <a:solidFill>
            <a:srgbClr val="937FC7">
              <a:alpha val="64545"/>
            </a:srgbClr>
          </a:solidFill>
          <a:ln w="12700">
            <a:solidFill>
              <a:srgbClr val="937FC7">
                <a:alpha val="0"/>
              </a:srgbClr>
            </a:solidFill>
            <a:prstDash val="solid"/>
          </a:ln>
        </p:spPr>
        <p:txBody>
          <a:bodyPr/>
          <a:lstStyle/>
          <a:p>
            <a:endParaRPr lang="en-JP"/>
          </a:p>
        </p:txBody>
      </p:sp>
      <p:sp>
        <p:nvSpPr>
          <p:cNvPr id="73" name="Shape 70"/>
          <p:cNvSpPr/>
          <p:nvPr/>
        </p:nvSpPr>
        <p:spPr>
          <a:xfrm>
            <a:off x="7882128" y="3566160"/>
            <a:ext cx="240238" cy="246057"/>
          </a:xfrm>
          <a:prstGeom prst="ellipse">
            <a:avLst/>
          </a:prstGeom>
          <a:solidFill>
            <a:srgbClr val="937FC7">
              <a:alpha val="48182"/>
            </a:srgbClr>
          </a:solidFill>
          <a:ln w="12700">
            <a:solidFill>
              <a:srgbClr val="937FC7">
                <a:alpha val="0"/>
              </a:srgbClr>
            </a:solidFill>
            <a:prstDash val="solid"/>
          </a:ln>
        </p:spPr>
        <p:txBody>
          <a:bodyPr/>
          <a:lstStyle/>
          <a:p>
            <a:endParaRPr lang="en-JP"/>
          </a:p>
        </p:txBody>
      </p:sp>
      <p:sp>
        <p:nvSpPr>
          <p:cNvPr id="74" name="Shape 71"/>
          <p:cNvSpPr/>
          <p:nvPr/>
        </p:nvSpPr>
        <p:spPr>
          <a:xfrm>
            <a:off x="8604504" y="3145536"/>
            <a:ext cx="950976" cy="987552"/>
          </a:xfrm>
          <a:prstGeom prst="rect">
            <a:avLst/>
          </a:prstGeom>
          <a:solidFill>
            <a:srgbClr val="EEEAF8"/>
          </a:solidFill>
          <a:ln w="6350">
            <a:solidFill>
              <a:srgbClr val="CBD8E5"/>
            </a:solidFill>
            <a:prstDash val="solid"/>
          </a:ln>
        </p:spPr>
        <p:txBody>
          <a:bodyPr/>
          <a:lstStyle/>
          <a:p>
            <a:endParaRPr lang="en-JP"/>
          </a:p>
        </p:txBody>
      </p:sp>
      <p:sp>
        <p:nvSpPr>
          <p:cNvPr id="75" name="Shape 72"/>
          <p:cNvSpPr/>
          <p:nvPr/>
        </p:nvSpPr>
        <p:spPr>
          <a:xfrm>
            <a:off x="8714232" y="3246120"/>
            <a:ext cx="280970" cy="275151"/>
          </a:xfrm>
          <a:prstGeom prst="ellipse">
            <a:avLst/>
          </a:prstGeom>
          <a:solidFill>
            <a:srgbClr val="937FC7">
              <a:alpha val="76818"/>
            </a:srgbClr>
          </a:solidFill>
          <a:ln w="12700">
            <a:solidFill>
              <a:srgbClr val="937FC7">
                <a:alpha val="0"/>
              </a:srgbClr>
            </a:solidFill>
            <a:prstDash val="solid"/>
          </a:ln>
        </p:spPr>
        <p:txBody>
          <a:bodyPr/>
          <a:lstStyle/>
          <a:p>
            <a:endParaRPr lang="en-JP"/>
          </a:p>
        </p:txBody>
      </p:sp>
      <p:sp>
        <p:nvSpPr>
          <p:cNvPr id="76" name="Shape 73"/>
          <p:cNvSpPr/>
          <p:nvPr/>
        </p:nvSpPr>
        <p:spPr>
          <a:xfrm>
            <a:off x="8942832" y="3246120"/>
            <a:ext cx="257695" cy="258526"/>
          </a:xfrm>
          <a:prstGeom prst="ellipse">
            <a:avLst/>
          </a:prstGeom>
          <a:solidFill>
            <a:srgbClr val="937FC7">
              <a:alpha val="60455"/>
            </a:srgbClr>
          </a:solidFill>
          <a:ln w="12700">
            <a:solidFill>
              <a:srgbClr val="937FC7">
                <a:alpha val="0"/>
              </a:srgbClr>
            </a:solidFill>
            <a:prstDash val="solid"/>
          </a:ln>
        </p:spPr>
        <p:txBody>
          <a:bodyPr/>
          <a:lstStyle/>
          <a:p>
            <a:endParaRPr lang="en-JP"/>
          </a:p>
        </p:txBody>
      </p:sp>
      <p:sp>
        <p:nvSpPr>
          <p:cNvPr id="77" name="Shape 74"/>
          <p:cNvSpPr/>
          <p:nvPr/>
        </p:nvSpPr>
        <p:spPr>
          <a:xfrm>
            <a:off x="9171432" y="3246120"/>
            <a:ext cx="234419" cy="241900"/>
          </a:xfrm>
          <a:prstGeom prst="ellipse">
            <a:avLst/>
          </a:prstGeom>
          <a:solidFill>
            <a:srgbClr val="937FC7">
              <a:alpha val="44091"/>
            </a:srgbClr>
          </a:solidFill>
          <a:ln w="12700">
            <a:solidFill>
              <a:srgbClr val="937FC7">
                <a:alpha val="0"/>
              </a:srgbClr>
            </a:solidFill>
            <a:prstDash val="solid"/>
          </a:ln>
        </p:spPr>
        <p:txBody>
          <a:bodyPr/>
          <a:lstStyle/>
          <a:p>
            <a:endParaRPr lang="en-JP"/>
          </a:p>
        </p:txBody>
      </p:sp>
      <p:sp>
        <p:nvSpPr>
          <p:cNvPr id="78" name="Shape 75"/>
          <p:cNvSpPr/>
          <p:nvPr/>
        </p:nvSpPr>
        <p:spPr>
          <a:xfrm>
            <a:off x="8714232" y="3566160"/>
            <a:ext cx="275151" cy="270995"/>
          </a:xfrm>
          <a:prstGeom prst="ellipse">
            <a:avLst/>
          </a:prstGeom>
          <a:solidFill>
            <a:srgbClr val="937FC7">
              <a:alpha val="72727"/>
            </a:srgbClr>
          </a:solidFill>
          <a:ln w="12700">
            <a:solidFill>
              <a:srgbClr val="937FC7">
                <a:alpha val="0"/>
              </a:srgbClr>
            </a:solidFill>
            <a:prstDash val="solid"/>
          </a:ln>
        </p:spPr>
        <p:txBody>
          <a:bodyPr/>
          <a:lstStyle/>
          <a:p>
            <a:endParaRPr lang="en-JP"/>
          </a:p>
        </p:txBody>
      </p:sp>
      <p:sp>
        <p:nvSpPr>
          <p:cNvPr id="79" name="Shape 76"/>
          <p:cNvSpPr/>
          <p:nvPr/>
        </p:nvSpPr>
        <p:spPr>
          <a:xfrm>
            <a:off x="8942832" y="3566160"/>
            <a:ext cx="251876" cy="254369"/>
          </a:xfrm>
          <a:prstGeom prst="ellipse">
            <a:avLst/>
          </a:prstGeom>
          <a:solidFill>
            <a:srgbClr val="937FC7">
              <a:alpha val="56364"/>
            </a:srgbClr>
          </a:solidFill>
          <a:ln w="12700">
            <a:solidFill>
              <a:srgbClr val="937FC7">
                <a:alpha val="0"/>
              </a:srgbClr>
            </a:solidFill>
            <a:prstDash val="solid"/>
          </a:ln>
        </p:spPr>
        <p:txBody>
          <a:bodyPr/>
          <a:lstStyle/>
          <a:p>
            <a:endParaRPr lang="en-JP"/>
          </a:p>
        </p:txBody>
      </p:sp>
      <p:sp>
        <p:nvSpPr>
          <p:cNvPr id="80" name="Shape 77"/>
          <p:cNvSpPr/>
          <p:nvPr/>
        </p:nvSpPr>
        <p:spPr>
          <a:xfrm>
            <a:off x="9665208" y="3145536"/>
            <a:ext cx="950976" cy="987552"/>
          </a:xfrm>
          <a:prstGeom prst="rect">
            <a:avLst/>
          </a:prstGeom>
          <a:solidFill>
            <a:srgbClr val="EEEAF8"/>
          </a:solidFill>
          <a:ln w="6350">
            <a:solidFill>
              <a:srgbClr val="CBD8E5"/>
            </a:solidFill>
            <a:prstDash val="solid"/>
          </a:ln>
        </p:spPr>
        <p:txBody>
          <a:bodyPr/>
          <a:lstStyle/>
          <a:p>
            <a:endParaRPr lang="en-JP"/>
          </a:p>
        </p:txBody>
      </p:sp>
      <p:sp>
        <p:nvSpPr>
          <p:cNvPr id="81" name="Shape 78"/>
          <p:cNvSpPr/>
          <p:nvPr/>
        </p:nvSpPr>
        <p:spPr>
          <a:xfrm>
            <a:off x="9774936" y="3246120"/>
            <a:ext cx="228600" cy="237744"/>
          </a:xfrm>
          <a:prstGeom prst="ellipse">
            <a:avLst/>
          </a:prstGeom>
          <a:solidFill>
            <a:srgbClr val="937FC7">
              <a:alpha val="40000"/>
            </a:srgbClr>
          </a:solidFill>
          <a:ln w="12700">
            <a:solidFill>
              <a:srgbClr val="937FC7">
                <a:alpha val="0"/>
              </a:srgbClr>
            </a:solidFill>
            <a:prstDash val="solid"/>
          </a:ln>
        </p:spPr>
        <p:txBody>
          <a:bodyPr/>
          <a:lstStyle/>
          <a:p>
            <a:endParaRPr lang="en-JP"/>
          </a:p>
        </p:txBody>
      </p:sp>
      <p:sp>
        <p:nvSpPr>
          <p:cNvPr id="82" name="Shape 79"/>
          <p:cNvSpPr/>
          <p:nvPr/>
        </p:nvSpPr>
        <p:spPr>
          <a:xfrm>
            <a:off x="10003536" y="3246120"/>
            <a:ext cx="269332" cy="266839"/>
          </a:xfrm>
          <a:prstGeom prst="ellipse">
            <a:avLst/>
          </a:prstGeom>
          <a:solidFill>
            <a:srgbClr val="937FC7">
              <a:alpha val="68636"/>
            </a:srgbClr>
          </a:solidFill>
          <a:ln w="12700">
            <a:solidFill>
              <a:srgbClr val="937FC7">
                <a:alpha val="0"/>
              </a:srgbClr>
            </a:solidFill>
            <a:prstDash val="solid"/>
          </a:ln>
        </p:spPr>
        <p:txBody>
          <a:bodyPr/>
          <a:lstStyle/>
          <a:p>
            <a:endParaRPr lang="en-JP"/>
          </a:p>
        </p:txBody>
      </p:sp>
      <p:sp>
        <p:nvSpPr>
          <p:cNvPr id="83" name="Shape 80"/>
          <p:cNvSpPr/>
          <p:nvPr/>
        </p:nvSpPr>
        <p:spPr>
          <a:xfrm>
            <a:off x="10232136" y="3246120"/>
            <a:ext cx="246057" cy="250213"/>
          </a:xfrm>
          <a:prstGeom prst="ellipse">
            <a:avLst/>
          </a:prstGeom>
          <a:solidFill>
            <a:srgbClr val="937FC7">
              <a:alpha val="52273"/>
            </a:srgbClr>
          </a:solidFill>
          <a:ln w="12700">
            <a:solidFill>
              <a:srgbClr val="937FC7">
                <a:alpha val="0"/>
              </a:srgbClr>
            </a:solidFill>
            <a:prstDash val="solid"/>
          </a:ln>
        </p:spPr>
        <p:txBody>
          <a:bodyPr/>
          <a:lstStyle/>
          <a:p>
            <a:endParaRPr lang="en-JP"/>
          </a:p>
        </p:txBody>
      </p:sp>
      <p:sp>
        <p:nvSpPr>
          <p:cNvPr id="84" name="Shape 81"/>
          <p:cNvSpPr/>
          <p:nvPr/>
        </p:nvSpPr>
        <p:spPr>
          <a:xfrm>
            <a:off x="9774936" y="3566160"/>
            <a:ext cx="286789" cy="279308"/>
          </a:xfrm>
          <a:prstGeom prst="ellipse">
            <a:avLst/>
          </a:prstGeom>
          <a:solidFill>
            <a:srgbClr val="937FC7">
              <a:alpha val="80909"/>
            </a:srgbClr>
          </a:solidFill>
          <a:ln w="12700">
            <a:solidFill>
              <a:srgbClr val="937FC7">
                <a:alpha val="0"/>
              </a:srgbClr>
            </a:solidFill>
            <a:prstDash val="solid"/>
          </a:ln>
        </p:spPr>
        <p:txBody>
          <a:bodyPr/>
          <a:lstStyle/>
          <a:p>
            <a:endParaRPr lang="en-JP"/>
          </a:p>
        </p:txBody>
      </p:sp>
      <p:sp>
        <p:nvSpPr>
          <p:cNvPr id="85" name="Shape 82"/>
          <p:cNvSpPr/>
          <p:nvPr/>
        </p:nvSpPr>
        <p:spPr>
          <a:xfrm>
            <a:off x="10003536" y="3566160"/>
            <a:ext cx="263513" cy="262682"/>
          </a:xfrm>
          <a:prstGeom prst="ellipse">
            <a:avLst/>
          </a:prstGeom>
          <a:solidFill>
            <a:srgbClr val="937FC7">
              <a:alpha val="64545"/>
            </a:srgbClr>
          </a:solidFill>
          <a:ln w="12700">
            <a:solidFill>
              <a:srgbClr val="937FC7">
                <a:alpha val="0"/>
              </a:srgbClr>
            </a:solidFill>
            <a:prstDash val="solid"/>
          </a:ln>
        </p:spPr>
        <p:txBody>
          <a:bodyPr/>
          <a:lstStyle/>
          <a:p>
            <a:endParaRPr lang="en-JP"/>
          </a:p>
        </p:txBody>
      </p:sp>
      <p:sp>
        <p:nvSpPr>
          <p:cNvPr id="86" name="Text 83"/>
          <p:cNvSpPr/>
          <p:nvPr/>
        </p:nvSpPr>
        <p:spPr>
          <a:xfrm>
            <a:off x="3438144" y="4791456"/>
            <a:ext cx="7818120" cy="237744"/>
          </a:xfrm>
          <a:prstGeom prst="rect">
            <a:avLst/>
          </a:prstGeom>
          <a:noFill/>
          <a:ln/>
        </p:spPr>
        <p:txBody>
          <a:bodyPr wrap="square" lIns="0" tIns="0" rIns="0" bIns="0" rtlCol="0" anchor="ctr">
            <a:normAutofit/>
          </a:bodyPr>
          <a:lstStyle/>
          <a:p>
            <a:pPr marL="0" indent="0" algn="l">
              <a:lnSpc>
                <a:spcPct val="100000"/>
              </a:lnSpc>
              <a:buNone/>
            </a:pPr>
            <a:r>
              <a:rPr lang="en-US" sz="1200" i="1" dirty="0">
                <a:solidFill>
                  <a:srgbClr val="D86770"/>
                </a:solidFill>
                <a:latin typeface="Aptos" pitchFamily="34" charset="0"/>
                <a:ea typeface="Aptos" pitchFamily="34" charset="-122"/>
                <a:cs typeface="Aptos" pitchFamily="34" charset="-120"/>
              </a:rPr>
              <a:t>Schematic feature-map patterns (not model outputs)</a:t>
            </a:r>
            <a:endParaRPr lang="en-US" sz="1200" dirty="0"/>
          </a:p>
        </p:txBody>
      </p:sp>
      <p:sp>
        <p:nvSpPr>
          <p:cNvPr id="87" name="Shape 84"/>
          <p:cNvSpPr/>
          <p:nvPr/>
        </p:nvSpPr>
        <p:spPr>
          <a:xfrm>
            <a:off x="612648" y="5916168"/>
            <a:ext cx="10972800" cy="484632"/>
          </a:xfrm>
          <a:prstGeom prst="roundRect">
            <a:avLst>
              <a:gd name="adj" fmla="val 15094"/>
            </a:avLst>
          </a:prstGeom>
          <a:solidFill>
            <a:srgbClr val="FFF2DD"/>
          </a:solidFill>
          <a:ln w="8890">
            <a:solidFill>
              <a:srgbClr val="FFF2DD"/>
            </a:solidFill>
            <a:prstDash val="solid"/>
          </a:ln>
        </p:spPr>
        <p:txBody>
          <a:bodyPr/>
          <a:lstStyle/>
          <a:p>
            <a:endParaRPr lang="en-JP"/>
          </a:p>
        </p:txBody>
      </p:sp>
      <p:sp>
        <p:nvSpPr>
          <p:cNvPr id="88" name="Text 85"/>
          <p:cNvSpPr/>
          <p:nvPr/>
        </p:nvSpPr>
        <p:spPr>
          <a:xfrm>
            <a:off x="768096" y="5952744"/>
            <a:ext cx="5029200" cy="182880"/>
          </a:xfrm>
          <a:prstGeom prst="rect">
            <a:avLst/>
          </a:prstGeom>
          <a:noFill/>
          <a:ln/>
        </p:spPr>
        <p:txBody>
          <a:bodyPr wrap="square" lIns="0" tIns="0" rIns="0" bIns="0" rtlCol="0" anchor="ctr">
            <a:normAutofit lnSpcReduction="10000"/>
          </a:bodyPr>
          <a:lstStyle/>
          <a:p>
            <a:pPr marL="0" indent="0" algn="l">
              <a:lnSpc>
                <a:spcPct val="100000"/>
              </a:lnSpc>
              <a:buNone/>
            </a:pPr>
            <a:r>
              <a:rPr lang="en-US" sz="1210" b="1" dirty="0">
                <a:solidFill>
                  <a:srgbClr val="1D3957"/>
                </a:solidFill>
                <a:latin typeface="Aptos" pitchFamily="34" charset="0"/>
                <a:ea typeface="Aptos" pitchFamily="34" charset="-122"/>
                <a:cs typeface="Aptos" pitchFamily="34" charset="-120"/>
              </a:rPr>
              <a:t>Feature-map colors represent activations, not a complete explanation.</a:t>
            </a:r>
            <a:endParaRPr lang="en-US" sz="1210" dirty="0"/>
          </a:p>
        </p:txBody>
      </p:sp>
      <p:sp>
        <p:nvSpPr>
          <p:cNvPr id="89" name="Text 86"/>
          <p:cNvSpPr/>
          <p:nvPr/>
        </p:nvSpPr>
        <p:spPr>
          <a:xfrm>
            <a:off x="5760720" y="5943600"/>
            <a:ext cx="5669280" cy="219456"/>
          </a:xfrm>
          <a:prstGeom prst="rect">
            <a:avLst/>
          </a:prstGeom>
          <a:noFill/>
          <a:ln/>
        </p:spPr>
        <p:txBody>
          <a:bodyPr wrap="square" lIns="0" tIns="0" rIns="0" bIns="0" rtlCol="0" anchor="ctr">
            <a:normAutofit/>
          </a:bodyPr>
          <a:lstStyle/>
          <a:p>
            <a:pPr marL="0" indent="0" algn="l">
              <a:lnSpc>
                <a:spcPct val="100000"/>
              </a:lnSpc>
              <a:buNone/>
            </a:pPr>
            <a:r>
              <a:rPr lang="en-US" sz="1210" dirty="0">
                <a:solidFill>
                  <a:srgbClr val="1D3957"/>
                </a:solidFill>
                <a:latin typeface="Noto Sans CJK JP" pitchFamily="34" charset="0"/>
                <a:ea typeface="Noto Sans CJK JP" pitchFamily="34" charset="-122"/>
                <a:cs typeface="Noto Sans CJK JP" pitchFamily="34" charset="-120"/>
              </a:rPr>
              <a:t>特徴マップは活性化を示すもので、判断理由の証明ではありません。</a:t>
            </a:r>
            <a:endParaRPr lang="en-US" sz="121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Optional: Grad-CAM visualization</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発展：Grad-CAMによる可視化</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25</a:t>
            </a:r>
            <a:endParaRPr lang="en-US" sz="870" dirty="0"/>
          </a:p>
        </p:txBody>
      </p:sp>
      <p:pic>
        <p:nvPicPr>
          <p:cNvPr id="10" name="Image 0" descr="/mnt/data/flowers_slides_assets/sunflowers.jpg"/>
          <p:cNvPicPr>
            <a:picLocks noChangeAspect="1"/>
          </p:cNvPicPr>
          <p:nvPr/>
        </p:nvPicPr>
        <p:blipFill>
          <a:blip r:embed="rId3"/>
          <a:stretch>
            <a:fillRect/>
          </a:stretch>
        </p:blipFill>
        <p:spPr>
          <a:xfrm>
            <a:off x="813816" y="1591056"/>
            <a:ext cx="3657600" cy="3593592"/>
          </a:xfrm>
          <a:prstGeom prst="rect">
            <a:avLst/>
          </a:prstGeom>
        </p:spPr>
      </p:pic>
      <p:sp>
        <p:nvSpPr>
          <p:cNvPr id="11" name="Shape 8"/>
          <p:cNvSpPr/>
          <p:nvPr/>
        </p:nvSpPr>
        <p:spPr>
          <a:xfrm>
            <a:off x="813816" y="1591056"/>
            <a:ext cx="3657600" cy="3593592"/>
          </a:xfrm>
          <a:prstGeom prst="rect">
            <a:avLst/>
          </a:prstGeom>
          <a:solidFill>
            <a:srgbClr val="FFFFFF">
              <a:alpha val="0"/>
            </a:srgbClr>
          </a:solidFill>
          <a:ln w="10160">
            <a:solidFill>
              <a:srgbClr val="FFFFFF"/>
            </a:solidFill>
            <a:prstDash val="solid"/>
          </a:ln>
        </p:spPr>
        <p:txBody>
          <a:bodyPr/>
          <a:lstStyle/>
          <a:p>
            <a:endParaRPr lang="en-JP"/>
          </a:p>
        </p:txBody>
      </p:sp>
      <p:pic>
        <p:nvPicPr>
          <p:cNvPr id="12" name="Image 1" descr="/mnt/data/flowers_slides_assets/sunflowers.jpg"/>
          <p:cNvPicPr>
            <a:picLocks noChangeAspect="1"/>
          </p:cNvPicPr>
          <p:nvPr/>
        </p:nvPicPr>
        <p:blipFill>
          <a:blip r:embed="rId3"/>
          <a:stretch>
            <a:fillRect/>
          </a:stretch>
        </p:blipFill>
        <p:spPr>
          <a:xfrm>
            <a:off x="4873752" y="1591056"/>
            <a:ext cx="3657600" cy="3593592"/>
          </a:xfrm>
          <a:prstGeom prst="rect">
            <a:avLst/>
          </a:prstGeom>
        </p:spPr>
      </p:pic>
      <p:sp>
        <p:nvSpPr>
          <p:cNvPr id="13" name="Shape 9"/>
          <p:cNvSpPr/>
          <p:nvPr/>
        </p:nvSpPr>
        <p:spPr>
          <a:xfrm>
            <a:off x="4873752" y="1591056"/>
            <a:ext cx="3657600" cy="3593592"/>
          </a:xfrm>
          <a:prstGeom prst="rect">
            <a:avLst/>
          </a:prstGeom>
          <a:solidFill>
            <a:srgbClr val="FFFFFF">
              <a:alpha val="0"/>
            </a:srgbClr>
          </a:solidFill>
          <a:ln w="10160">
            <a:solidFill>
              <a:srgbClr val="FFFFFF"/>
            </a:solidFill>
            <a:prstDash val="solid"/>
          </a:ln>
        </p:spPr>
        <p:txBody>
          <a:bodyPr/>
          <a:lstStyle/>
          <a:p>
            <a:endParaRPr lang="en-JP"/>
          </a:p>
        </p:txBody>
      </p:sp>
      <p:sp>
        <p:nvSpPr>
          <p:cNvPr id="14" name="Shape 10"/>
          <p:cNvSpPr/>
          <p:nvPr/>
        </p:nvSpPr>
        <p:spPr>
          <a:xfrm>
            <a:off x="5934456" y="2295144"/>
            <a:ext cx="1417320" cy="1380744"/>
          </a:xfrm>
          <a:prstGeom prst="ellipse">
            <a:avLst/>
          </a:prstGeom>
          <a:solidFill>
            <a:srgbClr val="D86770">
              <a:alpha val="55000"/>
            </a:srgbClr>
          </a:solidFill>
          <a:ln w="12700">
            <a:solidFill>
              <a:srgbClr val="D86770">
                <a:alpha val="0"/>
              </a:srgbClr>
            </a:solidFill>
            <a:prstDash val="solid"/>
          </a:ln>
        </p:spPr>
        <p:txBody>
          <a:bodyPr/>
          <a:lstStyle/>
          <a:p>
            <a:endParaRPr lang="en-JP"/>
          </a:p>
        </p:txBody>
      </p:sp>
      <p:sp>
        <p:nvSpPr>
          <p:cNvPr id="15" name="Shape 11"/>
          <p:cNvSpPr/>
          <p:nvPr/>
        </p:nvSpPr>
        <p:spPr>
          <a:xfrm>
            <a:off x="5669280" y="2660904"/>
            <a:ext cx="1947672" cy="1984248"/>
          </a:xfrm>
          <a:prstGeom prst="ellipse">
            <a:avLst/>
          </a:prstGeom>
          <a:solidFill>
            <a:srgbClr val="E8A743">
              <a:alpha val="32000"/>
            </a:srgbClr>
          </a:solidFill>
          <a:ln w="12700">
            <a:solidFill>
              <a:srgbClr val="E8A743">
                <a:alpha val="0"/>
              </a:srgbClr>
            </a:solidFill>
            <a:prstDash val="solid"/>
          </a:ln>
        </p:spPr>
        <p:txBody>
          <a:bodyPr/>
          <a:lstStyle/>
          <a:p>
            <a:endParaRPr lang="en-JP"/>
          </a:p>
        </p:txBody>
      </p:sp>
      <p:sp>
        <p:nvSpPr>
          <p:cNvPr id="16" name="Shape 12"/>
          <p:cNvSpPr/>
          <p:nvPr/>
        </p:nvSpPr>
        <p:spPr>
          <a:xfrm>
            <a:off x="6318504" y="2660904"/>
            <a:ext cx="704088" cy="704088"/>
          </a:xfrm>
          <a:prstGeom prst="ellipse">
            <a:avLst/>
          </a:prstGeom>
          <a:solidFill>
            <a:srgbClr val="D86770">
              <a:alpha val="65000"/>
            </a:srgbClr>
          </a:solidFill>
          <a:ln w="12700">
            <a:solidFill>
              <a:srgbClr val="D86770">
                <a:alpha val="0"/>
              </a:srgbClr>
            </a:solidFill>
            <a:prstDash val="solid"/>
          </a:ln>
        </p:spPr>
        <p:txBody>
          <a:bodyPr/>
          <a:lstStyle/>
          <a:p>
            <a:endParaRPr lang="en-JP"/>
          </a:p>
        </p:txBody>
      </p:sp>
      <p:sp>
        <p:nvSpPr>
          <p:cNvPr id="17" name="Text 13"/>
          <p:cNvSpPr/>
          <p:nvPr/>
        </p:nvSpPr>
        <p:spPr>
          <a:xfrm>
            <a:off x="896112" y="5285232"/>
            <a:ext cx="3456432" cy="292608"/>
          </a:xfrm>
          <a:prstGeom prst="rect">
            <a:avLst/>
          </a:prstGeom>
          <a:noFill/>
          <a:ln/>
        </p:spPr>
        <p:txBody>
          <a:bodyPr wrap="square" lIns="0" tIns="0" rIns="0" bIns="0" rtlCol="0" anchor="ctr">
            <a:normAutofit/>
          </a:bodyPr>
          <a:lstStyle/>
          <a:p>
            <a:pPr marL="0" indent="0" algn="ctr">
              <a:lnSpc>
                <a:spcPct val="100000"/>
              </a:lnSpc>
              <a:buNone/>
            </a:pPr>
            <a:r>
              <a:rPr lang="en-US" sz="1700" b="1" dirty="0">
                <a:solidFill>
                  <a:srgbClr val="1D3957"/>
                </a:solidFill>
                <a:latin typeface="Aptos" pitchFamily="34" charset="0"/>
                <a:ea typeface="Aptos" pitchFamily="34" charset="-122"/>
                <a:cs typeface="Aptos" pitchFamily="34" charset="-120"/>
              </a:rPr>
              <a:t>Input image / 入力画像</a:t>
            </a:r>
            <a:endParaRPr lang="en-US" sz="1700" dirty="0"/>
          </a:p>
        </p:txBody>
      </p:sp>
      <p:sp>
        <p:nvSpPr>
          <p:cNvPr id="18" name="Text 14"/>
          <p:cNvSpPr/>
          <p:nvPr/>
        </p:nvSpPr>
        <p:spPr>
          <a:xfrm>
            <a:off x="4928616" y="5285232"/>
            <a:ext cx="3703320" cy="320040"/>
          </a:xfrm>
          <a:prstGeom prst="rect">
            <a:avLst/>
          </a:prstGeom>
          <a:noFill/>
          <a:ln/>
        </p:spPr>
        <p:txBody>
          <a:bodyPr wrap="square" lIns="0" tIns="0" rIns="0" bIns="0" rtlCol="0" anchor="ctr">
            <a:normAutofit/>
          </a:bodyPr>
          <a:lstStyle/>
          <a:p>
            <a:pPr marL="0" indent="0" algn="ctr">
              <a:lnSpc>
                <a:spcPct val="100000"/>
              </a:lnSpc>
              <a:buNone/>
            </a:pPr>
            <a:r>
              <a:rPr lang="en-US" sz="1400" b="1" dirty="0">
                <a:solidFill>
                  <a:srgbClr val="1D3957"/>
                </a:solidFill>
                <a:latin typeface="Aptos" pitchFamily="34" charset="0"/>
                <a:ea typeface="Aptos" pitchFamily="34" charset="-122"/>
                <a:cs typeface="Aptos" pitchFamily="34" charset="-120"/>
              </a:rPr>
              <a:t>Conceptual heatmap / 模式的なヒートマップ</a:t>
            </a:r>
            <a:endParaRPr lang="en-US" sz="1400" dirty="0"/>
          </a:p>
        </p:txBody>
      </p:sp>
      <p:sp>
        <p:nvSpPr>
          <p:cNvPr id="19" name="Shape 15"/>
          <p:cNvSpPr/>
          <p:nvPr/>
        </p:nvSpPr>
        <p:spPr>
          <a:xfrm>
            <a:off x="8887968" y="1901952"/>
            <a:ext cx="2432304" cy="2688336"/>
          </a:xfrm>
          <a:prstGeom prst="roundRect">
            <a:avLst>
              <a:gd name="adj" fmla="val 4511"/>
            </a:avLst>
          </a:prstGeom>
          <a:solidFill>
            <a:srgbClr val="DDF5EF"/>
          </a:solidFill>
          <a:ln w="8890">
            <a:solidFill>
              <a:srgbClr val="CBD8E5"/>
            </a:solidFill>
            <a:prstDash val="solid"/>
          </a:ln>
        </p:spPr>
        <p:txBody>
          <a:bodyPr/>
          <a:lstStyle/>
          <a:p>
            <a:endParaRPr lang="en-JP"/>
          </a:p>
        </p:txBody>
      </p:sp>
      <p:sp>
        <p:nvSpPr>
          <p:cNvPr id="20" name="Text 16"/>
          <p:cNvSpPr/>
          <p:nvPr/>
        </p:nvSpPr>
        <p:spPr>
          <a:xfrm>
            <a:off x="9052560" y="2020824"/>
            <a:ext cx="2103120" cy="292608"/>
          </a:xfrm>
          <a:prstGeom prst="rect">
            <a:avLst/>
          </a:prstGeom>
          <a:noFill/>
          <a:ln/>
        </p:spPr>
        <p:txBody>
          <a:bodyPr wrap="square" lIns="0" tIns="0" rIns="0" bIns="0" rtlCol="0" anchor="ctr">
            <a:normAutofit/>
          </a:bodyPr>
          <a:lstStyle/>
          <a:p>
            <a:pPr marL="0" indent="0" algn="l">
              <a:lnSpc>
                <a:spcPct val="100000"/>
              </a:lnSpc>
              <a:buNone/>
            </a:pPr>
            <a:r>
              <a:rPr lang="en-US" sz="1700" b="1" dirty="0">
                <a:solidFill>
                  <a:srgbClr val="1D3957"/>
                </a:solidFill>
                <a:latin typeface="Aptos" pitchFamily="34" charset="0"/>
                <a:ea typeface="Aptos" pitchFamily="34" charset="-122"/>
                <a:cs typeface="Aptos" pitchFamily="34" charset="-120"/>
              </a:rPr>
              <a:t>Grad-CAM</a:t>
            </a:r>
            <a:endParaRPr lang="en-US" sz="1700" dirty="0"/>
          </a:p>
        </p:txBody>
      </p:sp>
      <p:sp>
        <p:nvSpPr>
          <p:cNvPr id="21" name="Text 17"/>
          <p:cNvSpPr/>
          <p:nvPr/>
        </p:nvSpPr>
        <p:spPr>
          <a:xfrm>
            <a:off x="9052560" y="2377440"/>
            <a:ext cx="2112264" cy="2112264"/>
          </a:xfrm>
          <a:prstGeom prst="rect">
            <a:avLst/>
          </a:prstGeom>
          <a:noFill/>
          <a:ln/>
        </p:spPr>
        <p:txBody>
          <a:bodyPr wrap="square" lIns="0" tIns="0" rIns="0" bIns="0" rtlCol="0" anchor="t">
            <a:normAutofit/>
          </a:bodyPr>
          <a:lstStyle/>
          <a:p>
            <a:pPr marL="0" indent="0" algn="l">
              <a:lnSpc>
                <a:spcPct val="100000"/>
              </a:lnSpc>
              <a:buNone/>
            </a:pPr>
            <a:r>
              <a:rPr lang="en-US" sz="1300" dirty="0">
                <a:solidFill>
                  <a:srgbClr val="253547"/>
                </a:solidFill>
                <a:latin typeface="Noto Sans CJK JP" pitchFamily="34" charset="0"/>
                <a:ea typeface="Noto Sans CJK JP" pitchFamily="34" charset="-122"/>
                <a:cs typeface="Noto Sans CJK JP" pitchFamily="34" charset="-120"/>
              </a:rPr>
              <a:t>注目度が高い領域を強調しますが、必ずしもモデルの判断理由を証明しません。</a:t>
            </a:r>
            <a:endParaRPr lang="en-US" sz="1300" dirty="0"/>
          </a:p>
        </p:txBody>
      </p:sp>
      <p:sp>
        <p:nvSpPr>
          <p:cNvPr id="22" name="Shape 18"/>
          <p:cNvSpPr/>
          <p:nvPr/>
        </p:nvSpPr>
        <p:spPr>
          <a:xfrm>
            <a:off x="612648" y="5916168"/>
            <a:ext cx="10972800" cy="484632"/>
          </a:xfrm>
          <a:prstGeom prst="roundRect">
            <a:avLst>
              <a:gd name="adj" fmla="val 15094"/>
            </a:avLst>
          </a:prstGeom>
          <a:solidFill>
            <a:srgbClr val="FFF2DD"/>
          </a:solidFill>
          <a:ln w="8890">
            <a:solidFill>
              <a:srgbClr val="FFF2DD"/>
            </a:solidFill>
            <a:prstDash val="solid"/>
          </a:ln>
        </p:spPr>
        <p:txBody>
          <a:bodyPr/>
          <a:lstStyle/>
          <a:p>
            <a:endParaRPr lang="en-JP"/>
          </a:p>
        </p:txBody>
      </p:sp>
      <p:sp>
        <p:nvSpPr>
          <p:cNvPr id="23" name="Text 19"/>
          <p:cNvSpPr/>
          <p:nvPr/>
        </p:nvSpPr>
        <p:spPr>
          <a:xfrm>
            <a:off x="768096" y="5952744"/>
            <a:ext cx="5029200" cy="182880"/>
          </a:xfrm>
          <a:prstGeom prst="rect">
            <a:avLst/>
          </a:prstGeom>
          <a:noFill/>
          <a:ln/>
        </p:spPr>
        <p:txBody>
          <a:bodyPr wrap="square" lIns="0" tIns="0" rIns="0" bIns="0" rtlCol="0" anchor="ctr">
            <a:normAutofit lnSpcReduction="10000"/>
          </a:bodyPr>
          <a:lstStyle/>
          <a:p>
            <a:pPr marL="0" indent="0" algn="l">
              <a:lnSpc>
                <a:spcPct val="100000"/>
              </a:lnSpc>
              <a:buNone/>
            </a:pPr>
            <a:r>
              <a:rPr lang="en-US" sz="1210" b="1" dirty="0">
                <a:solidFill>
                  <a:srgbClr val="1D3957"/>
                </a:solidFill>
                <a:latin typeface="Aptos" pitchFamily="34" charset="0"/>
                <a:ea typeface="Aptos" pitchFamily="34" charset="-122"/>
                <a:cs typeface="Aptos" pitchFamily="34" charset="-120"/>
              </a:rPr>
              <a:t>Illustrative overlay; real Grad-CAM comes from model gradients.</a:t>
            </a:r>
            <a:endParaRPr lang="en-US" sz="1210" dirty="0"/>
          </a:p>
        </p:txBody>
      </p:sp>
      <p:sp>
        <p:nvSpPr>
          <p:cNvPr id="24" name="Text 20"/>
          <p:cNvSpPr/>
          <p:nvPr/>
        </p:nvSpPr>
        <p:spPr>
          <a:xfrm>
            <a:off x="5760720" y="5943600"/>
            <a:ext cx="5669280" cy="219456"/>
          </a:xfrm>
          <a:prstGeom prst="rect">
            <a:avLst/>
          </a:prstGeom>
          <a:noFill/>
          <a:ln/>
        </p:spPr>
        <p:txBody>
          <a:bodyPr wrap="square" lIns="0" tIns="0" rIns="0" bIns="0" rtlCol="0" anchor="ctr">
            <a:normAutofit/>
          </a:bodyPr>
          <a:lstStyle/>
          <a:p>
            <a:pPr marL="0" indent="0" algn="l">
              <a:lnSpc>
                <a:spcPct val="100000"/>
              </a:lnSpc>
              <a:buNone/>
            </a:pPr>
            <a:r>
              <a:rPr lang="en-US" sz="1210" dirty="0">
                <a:solidFill>
                  <a:srgbClr val="1D3957"/>
                </a:solidFill>
                <a:latin typeface="Noto Sans CJK JP" pitchFamily="34" charset="0"/>
                <a:ea typeface="Noto Sans CJK JP" pitchFamily="34" charset="-122"/>
                <a:cs typeface="Noto Sans CJK JP" pitchFamily="34" charset="-120"/>
              </a:rPr>
              <a:t>この重ね合わせは模式例です。実際のGrad-CAMは勾配から計算します。</a:t>
            </a:r>
            <a:endParaRPr lang="en-US" sz="121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What should we compare fairly?</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モデルの比較では何を揃える？</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26</a:t>
            </a:r>
            <a:endParaRPr lang="en-US" sz="870" dirty="0"/>
          </a:p>
        </p:txBody>
      </p:sp>
      <p:sp>
        <p:nvSpPr>
          <p:cNvPr id="10" name="Shape 8"/>
          <p:cNvSpPr/>
          <p:nvPr/>
        </p:nvSpPr>
        <p:spPr>
          <a:xfrm>
            <a:off x="603504" y="1463040"/>
            <a:ext cx="2907792" cy="512064"/>
          </a:xfrm>
          <a:prstGeom prst="rect">
            <a:avLst/>
          </a:prstGeom>
          <a:solidFill>
            <a:srgbClr val="1D3957"/>
          </a:solidFill>
          <a:ln w="3810">
            <a:solidFill>
              <a:srgbClr val="FFFFFF"/>
            </a:solidFill>
            <a:prstDash val="solid"/>
          </a:ln>
        </p:spPr>
        <p:txBody>
          <a:bodyPr/>
          <a:lstStyle/>
          <a:p>
            <a:endParaRPr lang="en-JP"/>
          </a:p>
        </p:txBody>
      </p:sp>
      <p:sp>
        <p:nvSpPr>
          <p:cNvPr id="11" name="Text 9"/>
          <p:cNvSpPr/>
          <p:nvPr/>
        </p:nvSpPr>
        <p:spPr>
          <a:xfrm>
            <a:off x="685800" y="1527048"/>
            <a:ext cx="2743200" cy="402336"/>
          </a:xfrm>
          <a:prstGeom prst="rect">
            <a:avLst/>
          </a:prstGeom>
          <a:noFill/>
          <a:ln/>
        </p:spPr>
        <p:txBody>
          <a:bodyPr wrap="square" lIns="0" tIns="0" rIns="0" bIns="0" rtlCol="0" anchor="ctr">
            <a:normAutofit/>
          </a:bodyPr>
          <a:lstStyle/>
          <a:p>
            <a:pPr marL="0" indent="0" algn="l">
              <a:lnSpc>
                <a:spcPct val="100000"/>
              </a:lnSpc>
              <a:buNone/>
            </a:pPr>
            <a:r>
              <a:rPr lang="en-US" sz="1130" b="1" dirty="0">
                <a:solidFill>
                  <a:srgbClr val="FFFFFF"/>
                </a:solidFill>
                <a:latin typeface="Aptos" pitchFamily="34" charset="0"/>
                <a:ea typeface="Aptos" pitchFamily="34" charset="-122"/>
                <a:cs typeface="Aptos" pitchFamily="34" charset="-120"/>
              </a:rPr>
              <a:t>Question / 評価項目</a:t>
            </a:r>
            <a:endParaRPr lang="en-US" sz="1130" dirty="0"/>
          </a:p>
        </p:txBody>
      </p:sp>
      <p:sp>
        <p:nvSpPr>
          <p:cNvPr id="12" name="Shape 10"/>
          <p:cNvSpPr/>
          <p:nvPr/>
        </p:nvSpPr>
        <p:spPr>
          <a:xfrm>
            <a:off x="3511296" y="1463040"/>
            <a:ext cx="2414016" cy="512064"/>
          </a:xfrm>
          <a:prstGeom prst="rect">
            <a:avLst/>
          </a:prstGeom>
          <a:solidFill>
            <a:srgbClr val="1D3957"/>
          </a:solidFill>
          <a:ln w="3810">
            <a:solidFill>
              <a:srgbClr val="FFFFFF"/>
            </a:solidFill>
            <a:prstDash val="solid"/>
          </a:ln>
        </p:spPr>
        <p:txBody>
          <a:bodyPr/>
          <a:lstStyle/>
          <a:p>
            <a:endParaRPr lang="en-JP"/>
          </a:p>
        </p:txBody>
      </p:sp>
      <p:sp>
        <p:nvSpPr>
          <p:cNvPr id="13" name="Text 11"/>
          <p:cNvSpPr/>
          <p:nvPr/>
        </p:nvSpPr>
        <p:spPr>
          <a:xfrm>
            <a:off x="3593592" y="1527048"/>
            <a:ext cx="2249424" cy="402336"/>
          </a:xfrm>
          <a:prstGeom prst="rect">
            <a:avLst/>
          </a:prstGeom>
          <a:noFill/>
          <a:ln/>
        </p:spPr>
        <p:txBody>
          <a:bodyPr wrap="square" lIns="0" tIns="0" rIns="0" bIns="0" rtlCol="0" anchor="ctr">
            <a:normAutofit/>
          </a:bodyPr>
          <a:lstStyle/>
          <a:p>
            <a:pPr marL="0" indent="0" algn="ctr">
              <a:lnSpc>
                <a:spcPct val="100000"/>
              </a:lnSpc>
              <a:buNone/>
            </a:pPr>
            <a:r>
              <a:rPr lang="en-US" sz="1130" b="1" dirty="0">
                <a:solidFill>
                  <a:srgbClr val="FFFFFF"/>
                </a:solidFill>
                <a:latin typeface="Aptos" pitchFamily="34" charset="0"/>
                <a:ea typeface="Aptos" pitchFamily="34" charset="-122"/>
                <a:cs typeface="Aptos" pitchFamily="34" charset="-120"/>
              </a:rPr>
              <a:t>Small CNN</a:t>
            </a:r>
            <a:endParaRPr lang="en-US" sz="1130" dirty="0"/>
          </a:p>
        </p:txBody>
      </p:sp>
      <p:sp>
        <p:nvSpPr>
          <p:cNvPr id="14" name="Shape 12"/>
          <p:cNvSpPr/>
          <p:nvPr/>
        </p:nvSpPr>
        <p:spPr>
          <a:xfrm>
            <a:off x="5925312" y="1463040"/>
            <a:ext cx="2907792" cy="512064"/>
          </a:xfrm>
          <a:prstGeom prst="rect">
            <a:avLst/>
          </a:prstGeom>
          <a:solidFill>
            <a:srgbClr val="1D3957"/>
          </a:solidFill>
          <a:ln w="3810">
            <a:solidFill>
              <a:srgbClr val="FFFFFF"/>
            </a:solidFill>
            <a:prstDash val="solid"/>
          </a:ln>
        </p:spPr>
        <p:txBody>
          <a:bodyPr/>
          <a:lstStyle/>
          <a:p>
            <a:endParaRPr lang="en-JP"/>
          </a:p>
        </p:txBody>
      </p:sp>
      <p:sp>
        <p:nvSpPr>
          <p:cNvPr id="15" name="Text 13"/>
          <p:cNvSpPr/>
          <p:nvPr/>
        </p:nvSpPr>
        <p:spPr>
          <a:xfrm>
            <a:off x="6007608" y="1527048"/>
            <a:ext cx="2743200" cy="402336"/>
          </a:xfrm>
          <a:prstGeom prst="rect">
            <a:avLst/>
          </a:prstGeom>
          <a:noFill/>
          <a:ln/>
        </p:spPr>
        <p:txBody>
          <a:bodyPr wrap="square" lIns="0" tIns="0" rIns="0" bIns="0" rtlCol="0" anchor="ctr">
            <a:normAutofit/>
          </a:bodyPr>
          <a:lstStyle/>
          <a:p>
            <a:pPr marL="0" indent="0" algn="ctr">
              <a:lnSpc>
                <a:spcPct val="100000"/>
              </a:lnSpc>
              <a:buNone/>
            </a:pPr>
            <a:r>
              <a:rPr lang="en-US" sz="1130" b="1" dirty="0">
                <a:solidFill>
                  <a:srgbClr val="FFFFFF"/>
                </a:solidFill>
                <a:latin typeface="Aptos" pitchFamily="34" charset="0"/>
                <a:ea typeface="Aptos" pitchFamily="34" charset="-122"/>
                <a:cs typeface="Aptos" pitchFamily="34" charset="-120"/>
              </a:rPr>
              <a:t>ResNet18</a:t>
            </a:r>
            <a:endParaRPr lang="en-US" sz="1130" dirty="0"/>
          </a:p>
        </p:txBody>
      </p:sp>
      <p:sp>
        <p:nvSpPr>
          <p:cNvPr id="16" name="Shape 14"/>
          <p:cNvSpPr/>
          <p:nvPr/>
        </p:nvSpPr>
        <p:spPr>
          <a:xfrm>
            <a:off x="8833104" y="1463040"/>
            <a:ext cx="2907792" cy="512064"/>
          </a:xfrm>
          <a:prstGeom prst="rect">
            <a:avLst/>
          </a:prstGeom>
          <a:solidFill>
            <a:srgbClr val="1D3957"/>
          </a:solidFill>
          <a:ln w="3810">
            <a:solidFill>
              <a:srgbClr val="FFFFFF"/>
            </a:solidFill>
            <a:prstDash val="solid"/>
          </a:ln>
        </p:spPr>
        <p:txBody>
          <a:bodyPr/>
          <a:lstStyle/>
          <a:p>
            <a:endParaRPr lang="en-JP"/>
          </a:p>
        </p:txBody>
      </p:sp>
      <p:sp>
        <p:nvSpPr>
          <p:cNvPr id="17" name="Text 15"/>
          <p:cNvSpPr/>
          <p:nvPr/>
        </p:nvSpPr>
        <p:spPr>
          <a:xfrm>
            <a:off x="8915400" y="1527048"/>
            <a:ext cx="2743200" cy="402336"/>
          </a:xfrm>
          <a:prstGeom prst="rect">
            <a:avLst/>
          </a:prstGeom>
          <a:noFill/>
          <a:ln/>
        </p:spPr>
        <p:txBody>
          <a:bodyPr wrap="square" lIns="0" tIns="0" rIns="0" bIns="0" rtlCol="0" anchor="ctr">
            <a:normAutofit/>
          </a:bodyPr>
          <a:lstStyle/>
          <a:p>
            <a:pPr marL="0" indent="0" algn="ctr">
              <a:lnSpc>
                <a:spcPct val="100000"/>
              </a:lnSpc>
              <a:buNone/>
            </a:pPr>
            <a:r>
              <a:rPr lang="en-US" sz="1130" b="1" dirty="0">
                <a:solidFill>
                  <a:srgbClr val="FFFFFF"/>
                </a:solidFill>
                <a:latin typeface="Aptos" pitchFamily="34" charset="0"/>
                <a:ea typeface="Aptos" pitchFamily="34" charset="-122"/>
                <a:cs typeface="Aptos" pitchFamily="34" charset="-120"/>
              </a:rPr>
              <a:t>ResNet50</a:t>
            </a:r>
            <a:endParaRPr lang="en-US" sz="1130" dirty="0"/>
          </a:p>
        </p:txBody>
      </p:sp>
      <p:sp>
        <p:nvSpPr>
          <p:cNvPr id="18" name="Shape 16"/>
          <p:cNvSpPr/>
          <p:nvPr/>
        </p:nvSpPr>
        <p:spPr>
          <a:xfrm>
            <a:off x="603504" y="1975104"/>
            <a:ext cx="2907792" cy="512064"/>
          </a:xfrm>
          <a:prstGeom prst="rect">
            <a:avLst/>
          </a:prstGeom>
          <a:solidFill>
            <a:srgbClr val="F5F8FC"/>
          </a:solidFill>
          <a:ln w="5715">
            <a:solidFill>
              <a:srgbClr val="CBD8E5"/>
            </a:solidFill>
            <a:prstDash val="solid"/>
          </a:ln>
        </p:spPr>
        <p:txBody>
          <a:bodyPr/>
          <a:lstStyle/>
          <a:p>
            <a:endParaRPr lang="en-JP"/>
          </a:p>
        </p:txBody>
      </p:sp>
      <p:sp>
        <p:nvSpPr>
          <p:cNvPr id="19" name="Text 17"/>
          <p:cNvSpPr/>
          <p:nvPr/>
        </p:nvSpPr>
        <p:spPr>
          <a:xfrm>
            <a:off x="676656" y="2020824"/>
            <a:ext cx="2761488" cy="438912"/>
          </a:xfrm>
          <a:prstGeom prst="rect">
            <a:avLst/>
          </a:prstGeom>
          <a:noFill/>
          <a:ln/>
        </p:spPr>
        <p:txBody>
          <a:bodyPr wrap="square" lIns="0" tIns="0" rIns="0" bIns="0" rtlCol="0" anchor="ctr">
            <a:normAutofit/>
          </a:bodyPr>
          <a:lstStyle/>
          <a:p>
            <a:pPr marL="0" indent="0" algn="l">
              <a:lnSpc>
                <a:spcPct val="100000"/>
              </a:lnSpc>
              <a:buNone/>
            </a:pPr>
            <a:r>
              <a:rPr lang="en-US" sz="1130" dirty="0">
                <a:solidFill>
                  <a:srgbClr val="253547"/>
                </a:solidFill>
                <a:latin typeface="Aptos" pitchFamily="34" charset="0"/>
                <a:ea typeface="Aptos" pitchFamily="34" charset="-122"/>
                <a:cs typeface="Aptos" pitchFamily="34" charset="-120"/>
              </a:rPr>
              <a:t>Pretrained?</a:t>
            </a:r>
            <a:endParaRPr lang="en-US" sz="1130" dirty="0"/>
          </a:p>
        </p:txBody>
      </p:sp>
      <p:sp>
        <p:nvSpPr>
          <p:cNvPr id="20" name="Shape 18"/>
          <p:cNvSpPr/>
          <p:nvPr/>
        </p:nvSpPr>
        <p:spPr>
          <a:xfrm>
            <a:off x="3511296" y="1975104"/>
            <a:ext cx="2414016" cy="512064"/>
          </a:xfrm>
          <a:prstGeom prst="rect">
            <a:avLst/>
          </a:prstGeom>
          <a:solidFill>
            <a:srgbClr val="F5F8FC"/>
          </a:solidFill>
          <a:ln w="5715">
            <a:solidFill>
              <a:srgbClr val="CBD8E5"/>
            </a:solidFill>
            <a:prstDash val="solid"/>
          </a:ln>
        </p:spPr>
        <p:txBody>
          <a:bodyPr/>
          <a:lstStyle/>
          <a:p>
            <a:endParaRPr lang="en-JP"/>
          </a:p>
        </p:txBody>
      </p:sp>
      <p:sp>
        <p:nvSpPr>
          <p:cNvPr id="21" name="Text 19"/>
          <p:cNvSpPr/>
          <p:nvPr/>
        </p:nvSpPr>
        <p:spPr>
          <a:xfrm>
            <a:off x="3584448" y="2020824"/>
            <a:ext cx="2267712"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No</a:t>
            </a:r>
            <a:endParaRPr lang="en-US" sz="1130" dirty="0"/>
          </a:p>
        </p:txBody>
      </p:sp>
      <p:sp>
        <p:nvSpPr>
          <p:cNvPr id="22" name="Shape 20"/>
          <p:cNvSpPr/>
          <p:nvPr/>
        </p:nvSpPr>
        <p:spPr>
          <a:xfrm>
            <a:off x="5925312" y="1975104"/>
            <a:ext cx="2907792" cy="512064"/>
          </a:xfrm>
          <a:prstGeom prst="rect">
            <a:avLst/>
          </a:prstGeom>
          <a:solidFill>
            <a:srgbClr val="F5F8FC"/>
          </a:solidFill>
          <a:ln w="5715">
            <a:solidFill>
              <a:srgbClr val="CBD8E5"/>
            </a:solidFill>
            <a:prstDash val="solid"/>
          </a:ln>
        </p:spPr>
        <p:txBody>
          <a:bodyPr/>
          <a:lstStyle/>
          <a:p>
            <a:endParaRPr lang="en-JP"/>
          </a:p>
        </p:txBody>
      </p:sp>
      <p:sp>
        <p:nvSpPr>
          <p:cNvPr id="23" name="Text 21"/>
          <p:cNvSpPr/>
          <p:nvPr/>
        </p:nvSpPr>
        <p:spPr>
          <a:xfrm>
            <a:off x="5998464" y="2020824"/>
            <a:ext cx="2761488"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Yes</a:t>
            </a:r>
            <a:endParaRPr lang="en-US" sz="1130" dirty="0"/>
          </a:p>
        </p:txBody>
      </p:sp>
      <p:sp>
        <p:nvSpPr>
          <p:cNvPr id="24" name="Shape 22"/>
          <p:cNvSpPr/>
          <p:nvPr/>
        </p:nvSpPr>
        <p:spPr>
          <a:xfrm>
            <a:off x="8833104" y="1975104"/>
            <a:ext cx="2907792" cy="512064"/>
          </a:xfrm>
          <a:prstGeom prst="rect">
            <a:avLst/>
          </a:prstGeom>
          <a:solidFill>
            <a:srgbClr val="F5F8FC"/>
          </a:solidFill>
          <a:ln w="5715">
            <a:solidFill>
              <a:srgbClr val="CBD8E5"/>
            </a:solidFill>
            <a:prstDash val="solid"/>
          </a:ln>
        </p:spPr>
        <p:txBody>
          <a:bodyPr/>
          <a:lstStyle/>
          <a:p>
            <a:endParaRPr lang="en-JP"/>
          </a:p>
        </p:txBody>
      </p:sp>
      <p:sp>
        <p:nvSpPr>
          <p:cNvPr id="25" name="Text 23"/>
          <p:cNvSpPr/>
          <p:nvPr/>
        </p:nvSpPr>
        <p:spPr>
          <a:xfrm>
            <a:off x="8906256" y="2020824"/>
            <a:ext cx="2761488"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Yes</a:t>
            </a:r>
            <a:endParaRPr lang="en-US" sz="1130" dirty="0"/>
          </a:p>
        </p:txBody>
      </p:sp>
      <p:sp>
        <p:nvSpPr>
          <p:cNvPr id="26" name="Shape 24"/>
          <p:cNvSpPr/>
          <p:nvPr/>
        </p:nvSpPr>
        <p:spPr>
          <a:xfrm>
            <a:off x="603504" y="2487168"/>
            <a:ext cx="2907792" cy="512064"/>
          </a:xfrm>
          <a:prstGeom prst="rect">
            <a:avLst/>
          </a:prstGeom>
          <a:solidFill>
            <a:srgbClr val="FFFFFF"/>
          </a:solidFill>
          <a:ln w="5715">
            <a:solidFill>
              <a:srgbClr val="CBD8E5"/>
            </a:solidFill>
            <a:prstDash val="solid"/>
          </a:ln>
        </p:spPr>
        <p:txBody>
          <a:bodyPr/>
          <a:lstStyle/>
          <a:p>
            <a:endParaRPr lang="en-JP"/>
          </a:p>
        </p:txBody>
      </p:sp>
      <p:sp>
        <p:nvSpPr>
          <p:cNvPr id="27" name="Text 25"/>
          <p:cNvSpPr/>
          <p:nvPr/>
        </p:nvSpPr>
        <p:spPr>
          <a:xfrm>
            <a:off x="676656" y="2532888"/>
            <a:ext cx="2761488" cy="438912"/>
          </a:xfrm>
          <a:prstGeom prst="rect">
            <a:avLst/>
          </a:prstGeom>
          <a:noFill/>
          <a:ln/>
        </p:spPr>
        <p:txBody>
          <a:bodyPr wrap="square" lIns="0" tIns="0" rIns="0" bIns="0" rtlCol="0" anchor="ctr">
            <a:normAutofit/>
          </a:bodyPr>
          <a:lstStyle/>
          <a:p>
            <a:pPr marL="0" indent="0" algn="l">
              <a:lnSpc>
                <a:spcPct val="100000"/>
              </a:lnSpc>
              <a:buNone/>
            </a:pPr>
            <a:r>
              <a:rPr lang="en-US" sz="1130" dirty="0">
                <a:solidFill>
                  <a:srgbClr val="253547"/>
                </a:solidFill>
                <a:latin typeface="Aptos" pitchFamily="34" charset="0"/>
                <a:ea typeface="Aptos" pitchFamily="34" charset="-122"/>
                <a:cs typeface="Aptos" pitchFamily="34" charset="-120"/>
              </a:rPr>
              <a:t>Input</a:t>
            </a:r>
            <a:endParaRPr lang="en-US" sz="1130" dirty="0"/>
          </a:p>
        </p:txBody>
      </p:sp>
      <p:sp>
        <p:nvSpPr>
          <p:cNvPr id="28" name="Shape 26"/>
          <p:cNvSpPr/>
          <p:nvPr/>
        </p:nvSpPr>
        <p:spPr>
          <a:xfrm>
            <a:off x="3511296" y="2487168"/>
            <a:ext cx="2414016" cy="512064"/>
          </a:xfrm>
          <a:prstGeom prst="rect">
            <a:avLst/>
          </a:prstGeom>
          <a:solidFill>
            <a:srgbClr val="FFFFFF"/>
          </a:solidFill>
          <a:ln w="5715">
            <a:solidFill>
              <a:srgbClr val="CBD8E5"/>
            </a:solidFill>
            <a:prstDash val="solid"/>
          </a:ln>
        </p:spPr>
        <p:txBody>
          <a:bodyPr/>
          <a:lstStyle/>
          <a:p>
            <a:endParaRPr lang="en-JP"/>
          </a:p>
        </p:txBody>
      </p:sp>
      <p:sp>
        <p:nvSpPr>
          <p:cNvPr id="29" name="Text 27"/>
          <p:cNvSpPr/>
          <p:nvPr/>
        </p:nvSpPr>
        <p:spPr>
          <a:xfrm>
            <a:off x="3584448" y="2532888"/>
            <a:ext cx="2267712"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96×96</a:t>
            </a:r>
            <a:endParaRPr lang="en-US" sz="1130" dirty="0"/>
          </a:p>
        </p:txBody>
      </p:sp>
      <p:sp>
        <p:nvSpPr>
          <p:cNvPr id="30" name="Shape 28"/>
          <p:cNvSpPr/>
          <p:nvPr/>
        </p:nvSpPr>
        <p:spPr>
          <a:xfrm>
            <a:off x="5925312" y="2487168"/>
            <a:ext cx="2907792" cy="512064"/>
          </a:xfrm>
          <a:prstGeom prst="rect">
            <a:avLst/>
          </a:prstGeom>
          <a:solidFill>
            <a:srgbClr val="FFFFFF"/>
          </a:solidFill>
          <a:ln w="5715">
            <a:solidFill>
              <a:srgbClr val="CBD8E5"/>
            </a:solidFill>
            <a:prstDash val="solid"/>
          </a:ln>
        </p:spPr>
        <p:txBody>
          <a:bodyPr/>
          <a:lstStyle/>
          <a:p>
            <a:endParaRPr lang="en-JP"/>
          </a:p>
        </p:txBody>
      </p:sp>
      <p:sp>
        <p:nvSpPr>
          <p:cNvPr id="31" name="Text 29"/>
          <p:cNvSpPr/>
          <p:nvPr/>
        </p:nvSpPr>
        <p:spPr>
          <a:xfrm>
            <a:off x="5998464" y="2532888"/>
            <a:ext cx="2761488"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224×224</a:t>
            </a:r>
            <a:endParaRPr lang="en-US" sz="1130" dirty="0"/>
          </a:p>
        </p:txBody>
      </p:sp>
      <p:sp>
        <p:nvSpPr>
          <p:cNvPr id="32" name="Shape 30"/>
          <p:cNvSpPr/>
          <p:nvPr/>
        </p:nvSpPr>
        <p:spPr>
          <a:xfrm>
            <a:off x="8833104" y="2487168"/>
            <a:ext cx="2907792" cy="512064"/>
          </a:xfrm>
          <a:prstGeom prst="rect">
            <a:avLst/>
          </a:prstGeom>
          <a:solidFill>
            <a:srgbClr val="FFFFFF"/>
          </a:solidFill>
          <a:ln w="5715">
            <a:solidFill>
              <a:srgbClr val="CBD8E5"/>
            </a:solidFill>
            <a:prstDash val="solid"/>
          </a:ln>
        </p:spPr>
        <p:txBody>
          <a:bodyPr/>
          <a:lstStyle/>
          <a:p>
            <a:endParaRPr lang="en-JP"/>
          </a:p>
        </p:txBody>
      </p:sp>
      <p:sp>
        <p:nvSpPr>
          <p:cNvPr id="33" name="Text 31"/>
          <p:cNvSpPr/>
          <p:nvPr/>
        </p:nvSpPr>
        <p:spPr>
          <a:xfrm>
            <a:off x="8906256" y="2532888"/>
            <a:ext cx="2761488"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224×224</a:t>
            </a:r>
            <a:endParaRPr lang="en-US" sz="1130" dirty="0"/>
          </a:p>
        </p:txBody>
      </p:sp>
      <p:sp>
        <p:nvSpPr>
          <p:cNvPr id="34" name="Shape 32"/>
          <p:cNvSpPr/>
          <p:nvPr/>
        </p:nvSpPr>
        <p:spPr>
          <a:xfrm>
            <a:off x="603504" y="2999232"/>
            <a:ext cx="2907792" cy="512064"/>
          </a:xfrm>
          <a:prstGeom prst="rect">
            <a:avLst/>
          </a:prstGeom>
          <a:solidFill>
            <a:srgbClr val="F5F8FC"/>
          </a:solidFill>
          <a:ln w="5715">
            <a:solidFill>
              <a:srgbClr val="CBD8E5"/>
            </a:solidFill>
            <a:prstDash val="solid"/>
          </a:ln>
        </p:spPr>
        <p:txBody>
          <a:bodyPr/>
          <a:lstStyle/>
          <a:p>
            <a:endParaRPr lang="en-JP"/>
          </a:p>
        </p:txBody>
      </p:sp>
      <p:sp>
        <p:nvSpPr>
          <p:cNvPr id="35" name="Text 33"/>
          <p:cNvSpPr/>
          <p:nvPr/>
        </p:nvSpPr>
        <p:spPr>
          <a:xfrm>
            <a:off x="676656" y="3044952"/>
            <a:ext cx="2761488" cy="438912"/>
          </a:xfrm>
          <a:prstGeom prst="rect">
            <a:avLst/>
          </a:prstGeom>
          <a:noFill/>
          <a:ln/>
        </p:spPr>
        <p:txBody>
          <a:bodyPr wrap="square" lIns="0" tIns="0" rIns="0" bIns="0" rtlCol="0" anchor="ctr">
            <a:normAutofit/>
          </a:bodyPr>
          <a:lstStyle/>
          <a:p>
            <a:pPr marL="0" indent="0" algn="l">
              <a:lnSpc>
                <a:spcPct val="100000"/>
              </a:lnSpc>
              <a:buNone/>
            </a:pPr>
            <a:r>
              <a:rPr lang="en-US" sz="1130" dirty="0">
                <a:solidFill>
                  <a:srgbClr val="253547"/>
                </a:solidFill>
                <a:latin typeface="Aptos" pitchFamily="34" charset="0"/>
                <a:ea typeface="Aptos" pitchFamily="34" charset="-122"/>
                <a:cs typeface="Aptos" pitchFamily="34" charset="-120"/>
              </a:rPr>
              <a:t>Class outputs</a:t>
            </a:r>
            <a:endParaRPr lang="en-US" sz="1130" dirty="0"/>
          </a:p>
        </p:txBody>
      </p:sp>
      <p:sp>
        <p:nvSpPr>
          <p:cNvPr id="36" name="Shape 34"/>
          <p:cNvSpPr/>
          <p:nvPr/>
        </p:nvSpPr>
        <p:spPr>
          <a:xfrm>
            <a:off x="3511296" y="2999232"/>
            <a:ext cx="2414016" cy="512064"/>
          </a:xfrm>
          <a:prstGeom prst="rect">
            <a:avLst/>
          </a:prstGeom>
          <a:solidFill>
            <a:srgbClr val="F5F8FC"/>
          </a:solidFill>
          <a:ln w="5715">
            <a:solidFill>
              <a:srgbClr val="CBD8E5"/>
            </a:solidFill>
            <a:prstDash val="solid"/>
          </a:ln>
        </p:spPr>
        <p:txBody>
          <a:bodyPr/>
          <a:lstStyle/>
          <a:p>
            <a:endParaRPr lang="en-JP"/>
          </a:p>
        </p:txBody>
      </p:sp>
      <p:sp>
        <p:nvSpPr>
          <p:cNvPr id="37" name="Text 35"/>
          <p:cNvSpPr/>
          <p:nvPr/>
        </p:nvSpPr>
        <p:spPr>
          <a:xfrm>
            <a:off x="3584448" y="3044952"/>
            <a:ext cx="2267712"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5</a:t>
            </a:r>
            <a:endParaRPr lang="en-US" sz="1130" dirty="0"/>
          </a:p>
        </p:txBody>
      </p:sp>
      <p:sp>
        <p:nvSpPr>
          <p:cNvPr id="38" name="Shape 36"/>
          <p:cNvSpPr/>
          <p:nvPr/>
        </p:nvSpPr>
        <p:spPr>
          <a:xfrm>
            <a:off x="5925312" y="2999232"/>
            <a:ext cx="2907792" cy="512064"/>
          </a:xfrm>
          <a:prstGeom prst="rect">
            <a:avLst/>
          </a:prstGeom>
          <a:solidFill>
            <a:srgbClr val="F5F8FC"/>
          </a:solidFill>
          <a:ln w="5715">
            <a:solidFill>
              <a:srgbClr val="CBD8E5"/>
            </a:solidFill>
            <a:prstDash val="solid"/>
          </a:ln>
        </p:spPr>
        <p:txBody>
          <a:bodyPr/>
          <a:lstStyle/>
          <a:p>
            <a:endParaRPr lang="en-JP"/>
          </a:p>
        </p:txBody>
      </p:sp>
      <p:sp>
        <p:nvSpPr>
          <p:cNvPr id="39" name="Text 37"/>
          <p:cNvSpPr/>
          <p:nvPr/>
        </p:nvSpPr>
        <p:spPr>
          <a:xfrm>
            <a:off x="5998464" y="3044952"/>
            <a:ext cx="2761488"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5</a:t>
            </a:r>
            <a:endParaRPr lang="en-US" sz="1130" dirty="0"/>
          </a:p>
        </p:txBody>
      </p:sp>
      <p:sp>
        <p:nvSpPr>
          <p:cNvPr id="40" name="Shape 38"/>
          <p:cNvSpPr/>
          <p:nvPr/>
        </p:nvSpPr>
        <p:spPr>
          <a:xfrm>
            <a:off x="8833104" y="2999232"/>
            <a:ext cx="2907792" cy="512064"/>
          </a:xfrm>
          <a:prstGeom prst="rect">
            <a:avLst/>
          </a:prstGeom>
          <a:solidFill>
            <a:srgbClr val="F5F8FC"/>
          </a:solidFill>
          <a:ln w="5715">
            <a:solidFill>
              <a:srgbClr val="CBD8E5"/>
            </a:solidFill>
            <a:prstDash val="solid"/>
          </a:ln>
        </p:spPr>
        <p:txBody>
          <a:bodyPr/>
          <a:lstStyle/>
          <a:p>
            <a:endParaRPr lang="en-JP"/>
          </a:p>
        </p:txBody>
      </p:sp>
      <p:sp>
        <p:nvSpPr>
          <p:cNvPr id="41" name="Text 39"/>
          <p:cNvSpPr/>
          <p:nvPr/>
        </p:nvSpPr>
        <p:spPr>
          <a:xfrm>
            <a:off x="8906256" y="3044952"/>
            <a:ext cx="2761488"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5</a:t>
            </a:r>
            <a:endParaRPr lang="en-US" sz="1130" dirty="0"/>
          </a:p>
        </p:txBody>
      </p:sp>
      <p:sp>
        <p:nvSpPr>
          <p:cNvPr id="42" name="Shape 40"/>
          <p:cNvSpPr/>
          <p:nvPr/>
        </p:nvSpPr>
        <p:spPr>
          <a:xfrm>
            <a:off x="603504" y="3511296"/>
            <a:ext cx="2907792" cy="512064"/>
          </a:xfrm>
          <a:prstGeom prst="rect">
            <a:avLst/>
          </a:prstGeom>
          <a:solidFill>
            <a:srgbClr val="FFFFFF"/>
          </a:solidFill>
          <a:ln w="5715">
            <a:solidFill>
              <a:srgbClr val="CBD8E5"/>
            </a:solidFill>
            <a:prstDash val="solid"/>
          </a:ln>
        </p:spPr>
        <p:txBody>
          <a:bodyPr/>
          <a:lstStyle/>
          <a:p>
            <a:endParaRPr lang="en-JP"/>
          </a:p>
        </p:txBody>
      </p:sp>
      <p:sp>
        <p:nvSpPr>
          <p:cNvPr id="43" name="Text 41"/>
          <p:cNvSpPr/>
          <p:nvPr/>
        </p:nvSpPr>
        <p:spPr>
          <a:xfrm>
            <a:off x="676656" y="3557016"/>
            <a:ext cx="2761488" cy="438912"/>
          </a:xfrm>
          <a:prstGeom prst="rect">
            <a:avLst/>
          </a:prstGeom>
          <a:noFill/>
          <a:ln/>
        </p:spPr>
        <p:txBody>
          <a:bodyPr wrap="square" lIns="0" tIns="0" rIns="0" bIns="0" rtlCol="0" anchor="ctr">
            <a:normAutofit/>
          </a:bodyPr>
          <a:lstStyle/>
          <a:p>
            <a:pPr marL="0" indent="0" algn="l">
              <a:lnSpc>
                <a:spcPct val="100000"/>
              </a:lnSpc>
              <a:buNone/>
            </a:pPr>
            <a:r>
              <a:rPr lang="en-US" sz="1130" dirty="0">
                <a:solidFill>
                  <a:srgbClr val="253547"/>
                </a:solidFill>
                <a:latin typeface="Aptos" pitchFamily="34" charset="0"/>
                <a:ea typeface="Aptos" pitchFamily="34" charset="-122"/>
                <a:cs typeface="Aptos" pitchFamily="34" charset="-120"/>
              </a:rPr>
              <a:t>Params (flower head)</a:t>
            </a:r>
            <a:endParaRPr lang="en-US" sz="1130" dirty="0"/>
          </a:p>
        </p:txBody>
      </p:sp>
      <p:sp>
        <p:nvSpPr>
          <p:cNvPr id="44" name="Shape 42"/>
          <p:cNvSpPr/>
          <p:nvPr/>
        </p:nvSpPr>
        <p:spPr>
          <a:xfrm>
            <a:off x="3511296" y="3511296"/>
            <a:ext cx="2414016" cy="512064"/>
          </a:xfrm>
          <a:prstGeom prst="rect">
            <a:avLst/>
          </a:prstGeom>
          <a:solidFill>
            <a:srgbClr val="FFFFFF"/>
          </a:solidFill>
          <a:ln w="5715">
            <a:solidFill>
              <a:srgbClr val="CBD8E5"/>
            </a:solidFill>
            <a:prstDash val="solid"/>
          </a:ln>
        </p:spPr>
        <p:txBody>
          <a:bodyPr/>
          <a:lstStyle/>
          <a:p>
            <a:endParaRPr lang="en-JP"/>
          </a:p>
        </p:txBody>
      </p:sp>
      <p:sp>
        <p:nvSpPr>
          <p:cNvPr id="45" name="Text 43"/>
          <p:cNvSpPr/>
          <p:nvPr/>
        </p:nvSpPr>
        <p:spPr>
          <a:xfrm>
            <a:off x="3584448" y="3557016"/>
            <a:ext cx="2267712"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325</a:t>
            </a:r>
            <a:endParaRPr lang="en-US" sz="1130" dirty="0"/>
          </a:p>
        </p:txBody>
      </p:sp>
      <p:sp>
        <p:nvSpPr>
          <p:cNvPr id="46" name="Shape 44"/>
          <p:cNvSpPr/>
          <p:nvPr/>
        </p:nvSpPr>
        <p:spPr>
          <a:xfrm>
            <a:off x="5925312" y="3511296"/>
            <a:ext cx="2907792" cy="512064"/>
          </a:xfrm>
          <a:prstGeom prst="rect">
            <a:avLst/>
          </a:prstGeom>
          <a:solidFill>
            <a:srgbClr val="FFFFFF"/>
          </a:solidFill>
          <a:ln w="5715">
            <a:solidFill>
              <a:srgbClr val="CBD8E5"/>
            </a:solidFill>
            <a:prstDash val="solid"/>
          </a:ln>
        </p:spPr>
        <p:txBody>
          <a:bodyPr/>
          <a:lstStyle/>
          <a:p>
            <a:endParaRPr lang="en-JP"/>
          </a:p>
        </p:txBody>
      </p:sp>
      <p:sp>
        <p:nvSpPr>
          <p:cNvPr id="47" name="Text 45"/>
          <p:cNvSpPr/>
          <p:nvPr/>
        </p:nvSpPr>
        <p:spPr>
          <a:xfrm>
            <a:off x="5998464" y="3557016"/>
            <a:ext cx="2761488"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2,565</a:t>
            </a:r>
            <a:endParaRPr lang="en-US" sz="1130" dirty="0"/>
          </a:p>
        </p:txBody>
      </p:sp>
      <p:sp>
        <p:nvSpPr>
          <p:cNvPr id="48" name="Shape 46"/>
          <p:cNvSpPr/>
          <p:nvPr/>
        </p:nvSpPr>
        <p:spPr>
          <a:xfrm>
            <a:off x="8833104" y="3511296"/>
            <a:ext cx="2907792" cy="512064"/>
          </a:xfrm>
          <a:prstGeom prst="rect">
            <a:avLst/>
          </a:prstGeom>
          <a:solidFill>
            <a:srgbClr val="FFFFFF"/>
          </a:solidFill>
          <a:ln w="5715">
            <a:solidFill>
              <a:srgbClr val="CBD8E5"/>
            </a:solidFill>
            <a:prstDash val="solid"/>
          </a:ln>
        </p:spPr>
        <p:txBody>
          <a:bodyPr/>
          <a:lstStyle/>
          <a:p>
            <a:endParaRPr lang="en-JP"/>
          </a:p>
        </p:txBody>
      </p:sp>
      <p:sp>
        <p:nvSpPr>
          <p:cNvPr id="49" name="Text 47"/>
          <p:cNvSpPr/>
          <p:nvPr/>
        </p:nvSpPr>
        <p:spPr>
          <a:xfrm>
            <a:off x="8906256" y="3557016"/>
            <a:ext cx="2761488"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10,245</a:t>
            </a:r>
            <a:endParaRPr lang="en-US" sz="1130" dirty="0"/>
          </a:p>
        </p:txBody>
      </p:sp>
      <p:sp>
        <p:nvSpPr>
          <p:cNvPr id="50" name="Shape 48"/>
          <p:cNvSpPr/>
          <p:nvPr/>
        </p:nvSpPr>
        <p:spPr>
          <a:xfrm>
            <a:off x="603504" y="4023360"/>
            <a:ext cx="2907792" cy="512064"/>
          </a:xfrm>
          <a:prstGeom prst="rect">
            <a:avLst/>
          </a:prstGeom>
          <a:solidFill>
            <a:srgbClr val="F5F8FC"/>
          </a:solidFill>
          <a:ln w="5715">
            <a:solidFill>
              <a:srgbClr val="CBD8E5"/>
            </a:solidFill>
            <a:prstDash val="solid"/>
          </a:ln>
        </p:spPr>
        <p:txBody>
          <a:bodyPr/>
          <a:lstStyle/>
          <a:p>
            <a:endParaRPr lang="en-JP"/>
          </a:p>
        </p:txBody>
      </p:sp>
      <p:sp>
        <p:nvSpPr>
          <p:cNvPr id="51" name="Text 49"/>
          <p:cNvSpPr/>
          <p:nvPr/>
        </p:nvSpPr>
        <p:spPr>
          <a:xfrm>
            <a:off x="676656" y="4069080"/>
            <a:ext cx="2761488" cy="438912"/>
          </a:xfrm>
          <a:prstGeom prst="rect">
            <a:avLst/>
          </a:prstGeom>
          <a:noFill/>
          <a:ln/>
        </p:spPr>
        <p:txBody>
          <a:bodyPr wrap="square" lIns="0" tIns="0" rIns="0" bIns="0" rtlCol="0" anchor="ctr">
            <a:normAutofit/>
          </a:bodyPr>
          <a:lstStyle/>
          <a:p>
            <a:pPr marL="0" indent="0" algn="l">
              <a:lnSpc>
                <a:spcPct val="100000"/>
              </a:lnSpc>
              <a:buNone/>
            </a:pPr>
            <a:r>
              <a:rPr lang="en-US" sz="1130" dirty="0">
                <a:solidFill>
                  <a:srgbClr val="253547"/>
                </a:solidFill>
                <a:latin typeface="Aptos" pitchFamily="34" charset="0"/>
                <a:ea typeface="Aptos" pitchFamily="34" charset="-122"/>
                <a:cs typeface="Aptos" pitchFamily="34" charset="-120"/>
              </a:rPr>
              <a:t>Architecture</a:t>
            </a:r>
            <a:endParaRPr lang="en-US" sz="1130" dirty="0"/>
          </a:p>
        </p:txBody>
      </p:sp>
      <p:sp>
        <p:nvSpPr>
          <p:cNvPr id="52" name="Shape 50"/>
          <p:cNvSpPr/>
          <p:nvPr/>
        </p:nvSpPr>
        <p:spPr>
          <a:xfrm>
            <a:off x="3511296" y="4023360"/>
            <a:ext cx="2414016" cy="512064"/>
          </a:xfrm>
          <a:prstGeom prst="rect">
            <a:avLst/>
          </a:prstGeom>
          <a:solidFill>
            <a:srgbClr val="F5F8FC"/>
          </a:solidFill>
          <a:ln w="5715">
            <a:solidFill>
              <a:srgbClr val="CBD8E5"/>
            </a:solidFill>
            <a:prstDash val="solid"/>
          </a:ln>
        </p:spPr>
        <p:txBody>
          <a:bodyPr/>
          <a:lstStyle/>
          <a:p>
            <a:endParaRPr lang="en-JP"/>
          </a:p>
        </p:txBody>
      </p:sp>
      <p:sp>
        <p:nvSpPr>
          <p:cNvPr id="53" name="Text 51"/>
          <p:cNvSpPr/>
          <p:nvPr/>
        </p:nvSpPr>
        <p:spPr>
          <a:xfrm>
            <a:off x="3584448" y="4069080"/>
            <a:ext cx="2267712"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3 conv blocks</a:t>
            </a:r>
            <a:endParaRPr lang="en-US" sz="1130" dirty="0"/>
          </a:p>
        </p:txBody>
      </p:sp>
      <p:sp>
        <p:nvSpPr>
          <p:cNvPr id="54" name="Shape 52"/>
          <p:cNvSpPr/>
          <p:nvPr/>
        </p:nvSpPr>
        <p:spPr>
          <a:xfrm>
            <a:off x="5925312" y="4023360"/>
            <a:ext cx="2907792" cy="512064"/>
          </a:xfrm>
          <a:prstGeom prst="rect">
            <a:avLst/>
          </a:prstGeom>
          <a:solidFill>
            <a:srgbClr val="F5F8FC"/>
          </a:solidFill>
          <a:ln w="5715">
            <a:solidFill>
              <a:srgbClr val="CBD8E5"/>
            </a:solidFill>
            <a:prstDash val="solid"/>
          </a:ln>
        </p:spPr>
        <p:txBody>
          <a:bodyPr/>
          <a:lstStyle/>
          <a:p>
            <a:endParaRPr lang="en-JP"/>
          </a:p>
        </p:txBody>
      </p:sp>
      <p:sp>
        <p:nvSpPr>
          <p:cNvPr id="55" name="Text 53"/>
          <p:cNvSpPr/>
          <p:nvPr/>
        </p:nvSpPr>
        <p:spPr>
          <a:xfrm>
            <a:off x="5998464" y="4069080"/>
            <a:ext cx="2761488"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8 BasicBlocks</a:t>
            </a:r>
            <a:endParaRPr lang="en-US" sz="1130" dirty="0"/>
          </a:p>
        </p:txBody>
      </p:sp>
      <p:sp>
        <p:nvSpPr>
          <p:cNvPr id="56" name="Shape 54"/>
          <p:cNvSpPr/>
          <p:nvPr/>
        </p:nvSpPr>
        <p:spPr>
          <a:xfrm>
            <a:off x="8833104" y="4023360"/>
            <a:ext cx="2907792" cy="512064"/>
          </a:xfrm>
          <a:prstGeom prst="rect">
            <a:avLst/>
          </a:prstGeom>
          <a:solidFill>
            <a:srgbClr val="F5F8FC"/>
          </a:solidFill>
          <a:ln w="5715">
            <a:solidFill>
              <a:srgbClr val="CBD8E5"/>
            </a:solidFill>
            <a:prstDash val="solid"/>
          </a:ln>
        </p:spPr>
        <p:txBody>
          <a:bodyPr/>
          <a:lstStyle/>
          <a:p>
            <a:endParaRPr lang="en-JP"/>
          </a:p>
        </p:txBody>
      </p:sp>
      <p:sp>
        <p:nvSpPr>
          <p:cNvPr id="57" name="Text 55"/>
          <p:cNvSpPr/>
          <p:nvPr/>
        </p:nvSpPr>
        <p:spPr>
          <a:xfrm>
            <a:off x="8906256" y="4069080"/>
            <a:ext cx="2761488"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16 Bottlenecks</a:t>
            </a:r>
            <a:endParaRPr lang="en-US" sz="1130" dirty="0"/>
          </a:p>
        </p:txBody>
      </p:sp>
      <p:sp>
        <p:nvSpPr>
          <p:cNvPr id="58" name="Shape 56"/>
          <p:cNvSpPr/>
          <p:nvPr/>
        </p:nvSpPr>
        <p:spPr>
          <a:xfrm>
            <a:off x="603504" y="4535424"/>
            <a:ext cx="2907792" cy="512064"/>
          </a:xfrm>
          <a:prstGeom prst="rect">
            <a:avLst/>
          </a:prstGeom>
          <a:solidFill>
            <a:srgbClr val="FFFFFF"/>
          </a:solidFill>
          <a:ln w="5715">
            <a:solidFill>
              <a:srgbClr val="CBD8E5"/>
            </a:solidFill>
            <a:prstDash val="solid"/>
          </a:ln>
        </p:spPr>
        <p:txBody>
          <a:bodyPr/>
          <a:lstStyle/>
          <a:p>
            <a:endParaRPr lang="en-JP"/>
          </a:p>
        </p:txBody>
      </p:sp>
      <p:sp>
        <p:nvSpPr>
          <p:cNvPr id="59" name="Text 57"/>
          <p:cNvSpPr/>
          <p:nvPr/>
        </p:nvSpPr>
        <p:spPr>
          <a:xfrm>
            <a:off x="676656" y="4581144"/>
            <a:ext cx="2761488" cy="438912"/>
          </a:xfrm>
          <a:prstGeom prst="rect">
            <a:avLst/>
          </a:prstGeom>
          <a:noFill/>
          <a:ln/>
        </p:spPr>
        <p:txBody>
          <a:bodyPr wrap="square" lIns="0" tIns="0" rIns="0" bIns="0" rtlCol="0" anchor="ctr">
            <a:normAutofit/>
          </a:bodyPr>
          <a:lstStyle/>
          <a:p>
            <a:pPr marL="0" indent="0" algn="l">
              <a:lnSpc>
                <a:spcPct val="100000"/>
              </a:lnSpc>
              <a:buNone/>
            </a:pPr>
            <a:r>
              <a:rPr lang="en-US" sz="1130" dirty="0">
                <a:solidFill>
                  <a:srgbClr val="253547"/>
                </a:solidFill>
                <a:latin typeface="Aptos" pitchFamily="34" charset="0"/>
                <a:ea typeface="Aptos" pitchFamily="34" charset="-122"/>
                <a:cs typeface="Aptos" pitchFamily="34" charset="-120"/>
              </a:rPr>
              <a:t>Training</a:t>
            </a:r>
            <a:endParaRPr lang="en-US" sz="1130" dirty="0"/>
          </a:p>
        </p:txBody>
      </p:sp>
      <p:sp>
        <p:nvSpPr>
          <p:cNvPr id="60" name="Shape 58"/>
          <p:cNvSpPr/>
          <p:nvPr/>
        </p:nvSpPr>
        <p:spPr>
          <a:xfrm>
            <a:off x="3511296" y="4535424"/>
            <a:ext cx="2414016" cy="512064"/>
          </a:xfrm>
          <a:prstGeom prst="rect">
            <a:avLst/>
          </a:prstGeom>
          <a:solidFill>
            <a:srgbClr val="FFFFFF"/>
          </a:solidFill>
          <a:ln w="5715">
            <a:solidFill>
              <a:srgbClr val="CBD8E5"/>
            </a:solidFill>
            <a:prstDash val="solid"/>
          </a:ln>
        </p:spPr>
        <p:txBody>
          <a:bodyPr/>
          <a:lstStyle/>
          <a:p>
            <a:endParaRPr lang="en-JP"/>
          </a:p>
        </p:txBody>
      </p:sp>
      <p:sp>
        <p:nvSpPr>
          <p:cNvPr id="61" name="Text 59"/>
          <p:cNvSpPr/>
          <p:nvPr/>
        </p:nvSpPr>
        <p:spPr>
          <a:xfrm>
            <a:off x="3584448" y="4581144"/>
            <a:ext cx="2267712"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All layers</a:t>
            </a:r>
            <a:endParaRPr lang="en-US" sz="1130" dirty="0"/>
          </a:p>
        </p:txBody>
      </p:sp>
      <p:sp>
        <p:nvSpPr>
          <p:cNvPr id="62" name="Shape 60"/>
          <p:cNvSpPr/>
          <p:nvPr/>
        </p:nvSpPr>
        <p:spPr>
          <a:xfrm>
            <a:off x="5925312" y="4535424"/>
            <a:ext cx="2907792" cy="512064"/>
          </a:xfrm>
          <a:prstGeom prst="rect">
            <a:avLst/>
          </a:prstGeom>
          <a:solidFill>
            <a:srgbClr val="FFFFFF"/>
          </a:solidFill>
          <a:ln w="5715">
            <a:solidFill>
              <a:srgbClr val="CBD8E5"/>
            </a:solidFill>
            <a:prstDash val="solid"/>
          </a:ln>
        </p:spPr>
        <p:txBody>
          <a:bodyPr/>
          <a:lstStyle/>
          <a:p>
            <a:endParaRPr lang="en-JP"/>
          </a:p>
        </p:txBody>
      </p:sp>
      <p:sp>
        <p:nvSpPr>
          <p:cNvPr id="63" name="Text 61"/>
          <p:cNvSpPr/>
          <p:nvPr/>
        </p:nvSpPr>
        <p:spPr>
          <a:xfrm>
            <a:off x="5998464" y="4581144"/>
            <a:ext cx="2761488"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Head → layer4+head</a:t>
            </a:r>
            <a:endParaRPr lang="en-US" sz="1130" dirty="0"/>
          </a:p>
        </p:txBody>
      </p:sp>
      <p:sp>
        <p:nvSpPr>
          <p:cNvPr id="64" name="Shape 62"/>
          <p:cNvSpPr/>
          <p:nvPr/>
        </p:nvSpPr>
        <p:spPr>
          <a:xfrm>
            <a:off x="8833104" y="4535424"/>
            <a:ext cx="2907792" cy="512064"/>
          </a:xfrm>
          <a:prstGeom prst="rect">
            <a:avLst/>
          </a:prstGeom>
          <a:solidFill>
            <a:srgbClr val="FFFFFF"/>
          </a:solidFill>
          <a:ln w="5715">
            <a:solidFill>
              <a:srgbClr val="CBD8E5"/>
            </a:solidFill>
            <a:prstDash val="solid"/>
          </a:ln>
        </p:spPr>
        <p:txBody>
          <a:bodyPr/>
          <a:lstStyle/>
          <a:p>
            <a:endParaRPr lang="en-JP"/>
          </a:p>
        </p:txBody>
      </p:sp>
      <p:sp>
        <p:nvSpPr>
          <p:cNvPr id="65" name="Text 63"/>
          <p:cNvSpPr/>
          <p:nvPr/>
        </p:nvSpPr>
        <p:spPr>
          <a:xfrm>
            <a:off x="8906256" y="4581144"/>
            <a:ext cx="2761488"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Head → layer4+head</a:t>
            </a:r>
            <a:endParaRPr lang="en-US" sz="1130" dirty="0"/>
          </a:p>
        </p:txBody>
      </p:sp>
      <p:sp>
        <p:nvSpPr>
          <p:cNvPr id="66" name="Shape 64"/>
          <p:cNvSpPr/>
          <p:nvPr/>
        </p:nvSpPr>
        <p:spPr>
          <a:xfrm>
            <a:off x="603504" y="5047488"/>
            <a:ext cx="2907792" cy="512064"/>
          </a:xfrm>
          <a:prstGeom prst="rect">
            <a:avLst/>
          </a:prstGeom>
          <a:solidFill>
            <a:srgbClr val="F5F8FC"/>
          </a:solidFill>
          <a:ln w="5715">
            <a:solidFill>
              <a:srgbClr val="CBD8E5"/>
            </a:solidFill>
            <a:prstDash val="solid"/>
          </a:ln>
        </p:spPr>
        <p:txBody>
          <a:bodyPr/>
          <a:lstStyle/>
          <a:p>
            <a:endParaRPr lang="en-JP"/>
          </a:p>
        </p:txBody>
      </p:sp>
      <p:sp>
        <p:nvSpPr>
          <p:cNvPr id="67" name="Text 65"/>
          <p:cNvSpPr/>
          <p:nvPr/>
        </p:nvSpPr>
        <p:spPr>
          <a:xfrm>
            <a:off x="676656" y="5093208"/>
            <a:ext cx="2761488" cy="438912"/>
          </a:xfrm>
          <a:prstGeom prst="rect">
            <a:avLst/>
          </a:prstGeom>
          <a:noFill/>
          <a:ln/>
        </p:spPr>
        <p:txBody>
          <a:bodyPr wrap="square" lIns="0" tIns="0" rIns="0" bIns="0" rtlCol="0" anchor="ctr">
            <a:normAutofit/>
          </a:bodyPr>
          <a:lstStyle/>
          <a:p>
            <a:pPr marL="0" indent="0" algn="l">
              <a:lnSpc>
                <a:spcPct val="100000"/>
              </a:lnSpc>
              <a:buNone/>
            </a:pPr>
            <a:r>
              <a:rPr lang="en-US" sz="1130" dirty="0">
                <a:solidFill>
                  <a:srgbClr val="253547"/>
                </a:solidFill>
                <a:latin typeface="Aptos" pitchFamily="34" charset="0"/>
                <a:ea typeface="Aptos" pitchFamily="34" charset="-122"/>
                <a:cs typeface="Aptos" pitchFamily="34" charset="-120"/>
              </a:rPr>
              <a:t>Compute / 計算量</a:t>
            </a:r>
            <a:endParaRPr lang="en-US" sz="1130" dirty="0"/>
          </a:p>
        </p:txBody>
      </p:sp>
      <p:sp>
        <p:nvSpPr>
          <p:cNvPr id="68" name="Shape 66"/>
          <p:cNvSpPr/>
          <p:nvPr/>
        </p:nvSpPr>
        <p:spPr>
          <a:xfrm>
            <a:off x="3511296" y="5047488"/>
            <a:ext cx="2414016" cy="512064"/>
          </a:xfrm>
          <a:prstGeom prst="rect">
            <a:avLst/>
          </a:prstGeom>
          <a:solidFill>
            <a:srgbClr val="F5F8FC"/>
          </a:solidFill>
          <a:ln w="5715">
            <a:solidFill>
              <a:srgbClr val="CBD8E5"/>
            </a:solidFill>
            <a:prstDash val="solid"/>
          </a:ln>
        </p:spPr>
        <p:txBody>
          <a:bodyPr/>
          <a:lstStyle/>
          <a:p>
            <a:endParaRPr lang="en-JP"/>
          </a:p>
        </p:txBody>
      </p:sp>
      <p:sp>
        <p:nvSpPr>
          <p:cNvPr id="69" name="Text 67"/>
          <p:cNvSpPr/>
          <p:nvPr/>
        </p:nvSpPr>
        <p:spPr>
          <a:xfrm>
            <a:off x="3584448" y="5093208"/>
            <a:ext cx="2267712"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Usually lower</a:t>
            </a:r>
            <a:endParaRPr lang="en-US" sz="1130" dirty="0"/>
          </a:p>
        </p:txBody>
      </p:sp>
      <p:sp>
        <p:nvSpPr>
          <p:cNvPr id="70" name="Shape 68"/>
          <p:cNvSpPr/>
          <p:nvPr/>
        </p:nvSpPr>
        <p:spPr>
          <a:xfrm>
            <a:off x="5925312" y="5047488"/>
            <a:ext cx="2907792" cy="512064"/>
          </a:xfrm>
          <a:prstGeom prst="rect">
            <a:avLst/>
          </a:prstGeom>
          <a:solidFill>
            <a:srgbClr val="F5F8FC"/>
          </a:solidFill>
          <a:ln w="5715">
            <a:solidFill>
              <a:srgbClr val="CBD8E5"/>
            </a:solidFill>
            <a:prstDash val="solid"/>
          </a:ln>
        </p:spPr>
        <p:txBody>
          <a:bodyPr/>
          <a:lstStyle/>
          <a:p>
            <a:endParaRPr lang="en-JP"/>
          </a:p>
        </p:txBody>
      </p:sp>
      <p:sp>
        <p:nvSpPr>
          <p:cNvPr id="71" name="Text 69"/>
          <p:cNvSpPr/>
          <p:nvPr/>
        </p:nvSpPr>
        <p:spPr>
          <a:xfrm>
            <a:off x="5998464" y="5093208"/>
            <a:ext cx="2761488"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Moderate</a:t>
            </a:r>
            <a:endParaRPr lang="en-US" sz="1130" dirty="0"/>
          </a:p>
        </p:txBody>
      </p:sp>
      <p:sp>
        <p:nvSpPr>
          <p:cNvPr id="72" name="Shape 70"/>
          <p:cNvSpPr/>
          <p:nvPr/>
        </p:nvSpPr>
        <p:spPr>
          <a:xfrm>
            <a:off x="8833104" y="5047488"/>
            <a:ext cx="2907792" cy="512064"/>
          </a:xfrm>
          <a:prstGeom prst="rect">
            <a:avLst/>
          </a:prstGeom>
          <a:solidFill>
            <a:srgbClr val="F5F8FC"/>
          </a:solidFill>
          <a:ln w="5715">
            <a:solidFill>
              <a:srgbClr val="CBD8E5"/>
            </a:solidFill>
            <a:prstDash val="solid"/>
          </a:ln>
        </p:spPr>
        <p:txBody>
          <a:bodyPr/>
          <a:lstStyle/>
          <a:p>
            <a:endParaRPr lang="en-JP"/>
          </a:p>
        </p:txBody>
      </p:sp>
      <p:sp>
        <p:nvSpPr>
          <p:cNvPr id="73" name="Text 71"/>
          <p:cNvSpPr/>
          <p:nvPr/>
        </p:nvSpPr>
        <p:spPr>
          <a:xfrm>
            <a:off x="8906256" y="5093208"/>
            <a:ext cx="2761488" cy="438912"/>
          </a:xfrm>
          <a:prstGeom prst="rect">
            <a:avLst/>
          </a:prstGeom>
          <a:noFill/>
          <a:ln/>
        </p:spPr>
        <p:txBody>
          <a:bodyPr wrap="square" lIns="0" tIns="0" rIns="0" bIns="0" rtlCol="0" anchor="ctr">
            <a:normAutofit/>
          </a:bodyPr>
          <a:lstStyle/>
          <a:p>
            <a:pPr marL="0" indent="0" algn="ctr">
              <a:lnSpc>
                <a:spcPct val="100000"/>
              </a:lnSpc>
              <a:buNone/>
            </a:pPr>
            <a:r>
              <a:rPr lang="en-US" sz="1130" dirty="0">
                <a:solidFill>
                  <a:srgbClr val="1D3957"/>
                </a:solidFill>
                <a:latin typeface="Aptos" pitchFamily="34" charset="0"/>
                <a:ea typeface="Aptos" pitchFamily="34" charset="-122"/>
                <a:cs typeface="Aptos" pitchFamily="34" charset="-120"/>
              </a:rPr>
              <a:t>Higher</a:t>
            </a:r>
            <a:endParaRPr lang="en-US" sz="1130" dirty="0"/>
          </a:p>
        </p:txBody>
      </p:sp>
      <p:sp>
        <p:nvSpPr>
          <p:cNvPr id="74" name="Shape 72"/>
          <p:cNvSpPr/>
          <p:nvPr/>
        </p:nvSpPr>
        <p:spPr>
          <a:xfrm>
            <a:off x="612648" y="5916168"/>
            <a:ext cx="10972800" cy="484632"/>
          </a:xfrm>
          <a:prstGeom prst="roundRect">
            <a:avLst>
              <a:gd name="adj" fmla="val 15094"/>
            </a:avLst>
          </a:prstGeom>
          <a:solidFill>
            <a:srgbClr val="DDF5EF"/>
          </a:solidFill>
          <a:ln w="8890">
            <a:solidFill>
              <a:srgbClr val="DDF5EF"/>
            </a:solidFill>
            <a:prstDash val="solid"/>
          </a:ln>
        </p:spPr>
        <p:txBody>
          <a:bodyPr/>
          <a:lstStyle/>
          <a:p>
            <a:endParaRPr lang="en-JP"/>
          </a:p>
        </p:txBody>
      </p:sp>
      <p:sp>
        <p:nvSpPr>
          <p:cNvPr id="75" name="Text 73"/>
          <p:cNvSpPr/>
          <p:nvPr/>
        </p:nvSpPr>
        <p:spPr>
          <a:xfrm>
            <a:off x="768096" y="5952744"/>
            <a:ext cx="5029200" cy="182880"/>
          </a:xfrm>
          <a:prstGeom prst="rect">
            <a:avLst/>
          </a:prstGeom>
          <a:noFill/>
          <a:ln/>
        </p:spPr>
        <p:txBody>
          <a:bodyPr wrap="square" lIns="0" tIns="0" rIns="0" bIns="0" rtlCol="0" anchor="ctr">
            <a:normAutofit fontScale="85000" lnSpcReduction="10000"/>
          </a:bodyPr>
          <a:lstStyle/>
          <a:p>
            <a:pPr marL="0" indent="0" algn="l">
              <a:lnSpc>
                <a:spcPct val="100000"/>
              </a:lnSpc>
              <a:buNone/>
            </a:pPr>
            <a:r>
              <a:rPr lang="en-US" sz="1210" b="1" dirty="0">
                <a:solidFill>
                  <a:srgbClr val="1D3957"/>
                </a:solidFill>
                <a:latin typeface="Aptos" pitchFamily="34" charset="0"/>
                <a:ea typeface="Aptos" pitchFamily="34" charset="-122"/>
                <a:cs typeface="Aptos" pitchFamily="34" charset="-120"/>
              </a:rPr>
              <a:t>Compare the same held-out test images; do not compare training accuracies only.</a:t>
            </a:r>
            <a:endParaRPr lang="en-US" sz="1210" dirty="0"/>
          </a:p>
        </p:txBody>
      </p:sp>
      <p:sp>
        <p:nvSpPr>
          <p:cNvPr id="76" name="Text 74"/>
          <p:cNvSpPr/>
          <p:nvPr/>
        </p:nvSpPr>
        <p:spPr>
          <a:xfrm>
            <a:off x="5760720" y="5943600"/>
            <a:ext cx="5669280" cy="219456"/>
          </a:xfrm>
          <a:prstGeom prst="rect">
            <a:avLst/>
          </a:prstGeom>
          <a:noFill/>
          <a:ln/>
        </p:spPr>
        <p:txBody>
          <a:bodyPr wrap="square" lIns="0" tIns="0" rIns="0" bIns="0" rtlCol="0" anchor="ctr">
            <a:normAutofit/>
          </a:bodyPr>
          <a:lstStyle/>
          <a:p>
            <a:pPr marL="0" indent="0" algn="l">
              <a:lnSpc>
                <a:spcPct val="100000"/>
              </a:lnSpc>
              <a:buNone/>
            </a:pPr>
            <a:r>
              <a:rPr lang="en-US" sz="1210" dirty="0">
                <a:solidFill>
                  <a:srgbClr val="1D3957"/>
                </a:solidFill>
                <a:latin typeface="Noto Sans CJK JP" pitchFamily="34" charset="0"/>
                <a:ea typeface="Noto Sans CJK JP" pitchFamily="34" charset="-122"/>
                <a:cs typeface="Noto Sans CJK JP" pitchFamily="34" charset="-120"/>
              </a:rPr>
              <a:t>同じ独立テストデータを使い、学習精度だけで比較しないでください。</a:t>
            </a:r>
            <a:endParaRPr lang="en-US" sz="121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Student experiments: answer with evidence</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実験課題：結果を使って説明しよう</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27</a:t>
            </a:r>
            <a:endParaRPr lang="en-US" sz="870" dirty="0"/>
          </a:p>
        </p:txBody>
      </p:sp>
      <p:sp>
        <p:nvSpPr>
          <p:cNvPr id="10" name="Shape 8"/>
          <p:cNvSpPr/>
          <p:nvPr/>
        </p:nvSpPr>
        <p:spPr>
          <a:xfrm>
            <a:off x="713232" y="1399032"/>
            <a:ext cx="10744200" cy="1014984"/>
          </a:xfrm>
          <a:prstGeom prst="roundRect">
            <a:avLst>
              <a:gd name="adj" fmla="val 7207"/>
            </a:avLst>
          </a:prstGeom>
          <a:solidFill>
            <a:srgbClr val="E9F3FC"/>
          </a:solidFill>
          <a:ln w="8890">
            <a:solidFill>
              <a:srgbClr val="CBD8E5"/>
            </a:solidFill>
            <a:prstDash val="solid"/>
          </a:ln>
        </p:spPr>
        <p:txBody>
          <a:bodyPr/>
          <a:lstStyle/>
          <a:p>
            <a:endParaRPr lang="en-JP"/>
          </a:p>
        </p:txBody>
      </p:sp>
      <p:sp>
        <p:nvSpPr>
          <p:cNvPr id="11" name="Shape 9"/>
          <p:cNvSpPr/>
          <p:nvPr/>
        </p:nvSpPr>
        <p:spPr>
          <a:xfrm>
            <a:off x="914400" y="1673352"/>
            <a:ext cx="612648" cy="320040"/>
          </a:xfrm>
          <a:prstGeom prst="roundRect">
            <a:avLst>
              <a:gd name="adj" fmla="val 37143"/>
            </a:avLst>
          </a:prstGeom>
          <a:solidFill>
            <a:srgbClr val="122943"/>
          </a:solidFill>
          <a:ln w="8890">
            <a:solidFill>
              <a:srgbClr val="122943"/>
            </a:solidFill>
            <a:prstDash val="solid"/>
          </a:ln>
        </p:spPr>
        <p:txBody>
          <a:bodyPr/>
          <a:lstStyle/>
          <a:p>
            <a:endParaRPr lang="en-JP"/>
          </a:p>
        </p:txBody>
      </p:sp>
      <p:sp>
        <p:nvSpPr>
          <p:cNvPr id="12" name="Text 10"/>
          <p:cNvSpPr/>
          <p:nvPr/>
        </p:nvSpPr>
        <p:spPr>
          <a:xfrm>
            <a:off x="1005840" y="1700784"/>
            <a:ext cx="429768" cy="246888"/>
          </a:xfrm>
          <a:prstGeom prst="rect">
            <a:avLst/>
          </a:prstGeom>
          <a:noFill/>
          <a:ln/>
        </p:spPr>
        <p:txBody>
          <a:bodyPr wrap="square" lIns="0" tIns="0" rIns="0" bIns="0" rtlCol="0" anchor="ctr">
            <a:normAutofit/>
          </a:bodyPr>
          <a:lstStyle/>
          <a:p>
            <a:pPr marL="0" indent="0" algn="ctr">
              <a:lnSpc>
                <a:spcPct val="100000"/>
              </a:lnSpc>
              <a:buNone/>
            </a:pPr>
            <a:r>
              <a:rPr lang="en-US" sz="1130" b="1" dirty="0">
                <a:solidFill>
                  <a:srgbClr val="FFFFFF"/>
                </a:solidFill>
                <a:latin typeface="Aptos" pitchFamily="34" charset="0"/>
                <a:ea typeface="Aptos" pitchFamily="34" charset="-122"/>
                <a:cs typeface="Aptos" pitchFamily="34" charset="-120"/>
              </a:rPr>
              <a:t>01</a:t>
            </a:r>
            <a:endParaRPr lang="en-US" sz="1130" dirty="0"/>
          </a:p>
        </p:txBody>
      </p:sp>
      <p:sp>
        <p:nvSpPr>
          <p:cNvPr id="13" name="Text 11"/>
          <p:cNvSpPr/>
          <p:nvPr/>
        </p:nvSpPr>
        <p:spPr>
          <a:xfrm>
            <a:off x="1719072" y="1481328"/>
            <a:ext cx="6199632" cy="301752"/>
          </a:xfrm>
          <a:prstGeom prst="rect">
            <a:avLst/>
          </a:prstGeom>
          <a:noFill/>
          <a:ln/>
        </p:spPr>
        <p:txBody>
          <a:bodyPr wrap="square" lIns="0" tIns="0" rIns="0" bIns="0" rtlCol="0" anchor="ctr">
            <a:normAutofit/>
          </a:bodyPr>
          <a:lstStyle/>
          <a:p>
            <a:pPr marL="0" indent="0" algn="l">
              <a:lnSpc>
                <a:spcPct val="100000"/>
              </a:lnSpc>
              <a:buNone/>
            </a:pPr>
            <a:r>
              <a:rPr lang="en-US" sz="1700" b="1" dirty="0">
                <a:solidFill>
                  <a:srgbClr val="1D3957"/>
                </a:solidFill>
                <a:latin typeface="Aptos" pitchFamily="34" charset="0"/>
                <a:ea typeface="Aptos" pitchFamily="34" charset="-122"/>
                <a:cs typeface="Aptos" pitchFamily="34" charset="-120"/>
              </a:rPr>
              <a:t>Run ResNet18, both phases</a:t>
            </a:r>
            <a:endParaRPr lang="en-US" sz="1700" dirty="0"/>
          </a:p>
        </p:txBody>
      </p:sp>
      <p:sp>
        <p:nvSpPr>
          <p:cNvPr id="14" name="Text 12"/>
          <p:cNvSpPr/>
          <p:nvPr/>
        </p:nvSpPr>
        <p:spPr>
          <a:xfrm>
            <a:off x="1719072" y="1828800"/>
            <a:ext cx="6217920" cy="265176"/>
          </a:xfrm>
          <a:prstGeom prst="rect">
            <a:avLst/>
          </a:prstGeom>
          <a:noFill/>
          <a:ln/>
        </p:spPr>
        <p:txBody>
          <a:bodyPr wrap="square" lIns="0" tIns="0" rIns="0" bIns="0" rtlCol="0" anchor="ctr">
            <a:normAutofit/>
          </a:bodyPr>
          <a:lstStyle/>
          <a:p>
            <a:pPr marL="0" indent="0" algn="l">
              <a:lnSpc>
                <a:spcPct val="100000"/>
              </a:lnSpc>
              <a:buNone/>
            </a:pPr>
            <a:r>
              <a:rPr lang="en-US" sz="1270" dirty="0">
                <a:solidFill>
                  <a:srgbClr val="607084"/>
                </a:solidFill>
                <a:latin typeface="Noto Sans CJK JP" pitchFamily="34" charset="0"/>
                <a:ea typeface="Noto Sans CJK JP" pitchFamily="34" charset="-122"/>
                <a:cs typeface="Noto Sans CJK JP" pitchFamily="34" charset="-120"/>
              </a:rPr>
              <a:t>ResNet18を2段階で学習する</a:t>
            </a:r>
            <a:endParaRPr lang="en-US" sz="1270" dirty="0"/>
          </a:p>
        </p:txBody>
      </p:sp>
      <p:sp>
        <p:nvSpPr>
          <p:cNvPr id="15" name="Text 13"/>
          <p:cNvSpPr/>
          <p:nvPr/>
        </p:nvSpPr>
        <p:spPr>
          <a:xfrm>
            <a:off x="7680960" y="1545336"/>
            <a:ext cx="3538728" cy="649224"/>
          </a:xfrm>
          <a:prstGeom prst="rect">
            <a:avLst/>
          </a:prstGeom>
          <a:noFill/>
          <a:ln/>
        </p:spPr>
        <p:txBody>
          <a:bodyPr wrap="square" lIns="0" tIns="0" rIns="0" bIns="0" rtlCol="0" anchor="ctr">
            <a:normAutofit/>
          </a:bodyPr>
          <a:lstStyle/>
          <a:p>
            <a:pPr marL="0" indent="0" algn="l">
              <a:lnSpc>
                <a:spcPct val="100000"/>
              </a:lnSpc>
              <a:buNone/>
            </a:pPr>
            <a:r>
              <a:rPr lang="en-US" sz="1300" dirty="0">
                <a:solidFill>
                  <a:srgbClr val="137C78"/>
                </a:solidFill>
                <a:latin typeface="Aptos" pitchFamily="34" charset="0"/>
                <a:ea typeface="Aptos" pitchFamily="34" charset="-122"/>
                <a:cs typeface="Aptos" pitchFamily="34" charset="-120"/>
              </a:rPr>
              <a:t>Did Phase B reduce validation loss?</a:t>
            </a:r>
            <a:endParaRPr lang="en-US" sz="1300" dirty="0"/>
          </a:p>
        </p:txBody>
      </p:sp>
      <p:sp>
        <p:nvSpPr>
          <p:cNvPr id="16" name="Shape 14"/>
          <p:cNvSpPr/>
          <p:nvPr/>
        </p:nvSpPr>
        <p:spPr>
          <a:xfrm>
            <a:off x="713232" y="2560320"/>
            <a:ext cx="10744200" cy="1014984"/>
          </a:xfrm>
          <a:prstGeom prst="roundRect">
            <a:avLst>
              <a:gd name="adj" fmla="val 7207"/>
            </a:avLst>
          </a:prstGeom>
          <a:solidFill>
            <a:srgbClr val="F5F8FC"/>
          </a:solidFill>
          <a:ln w="8890">
            <a:solidFill>
              <a:srgbClr val="CBD8E5"/>
            </a:solidFill>
            <a:prstDash val="solid"/>
          </a:ln>
        </p:spPr>
        <p:txBody>
          <a:bodyPr/>
          <a:lstStyle/>
          <a:p>
            <a:endParaRPr lang="en-JP"/>
          </a:p>
        </p:txBody>
      </p:sp>
      <p:sp>
        <p:nvSpPr>
          <p:cNvPr id="17" name="Shape 15"/>
          <p:cNvSpPr/>
          <p:nvPr/>
        </p:nvSpPr>
        <p:spPr>
          <a:xfrm>
            <a:off x="914400" y="2834640"/>
            <a:ext cx="612648" cy="320040"/>
          </a:xfrm>
          <a:prstGeom prst="roundRect">
            <a:avLst>
              <a:gd name="adj" fmla="val 37143"/>
            </a:avLst>
          </a:prstGeom>
          <a:solidFill>
            <a:srgbClr val="122943"/>
          </a:solidFill>
          <a:ln w="8890">
            <a:solidFill>
              <a:srgbClr val="122943"/>
            </a:solidFill>
            <a:prstDash val="solid"/>
          </a:ln>
        </p:spPr>
        <p:txBody>
          <a:bodyPr/>
          <a:lstStyle/>
          <a:p>
            <a:endParaRPr lang="en-JP"/>
          </a:p>
        </p:txBody>
      </p:sp>
      <p:sp>
        <p:nvSpPr>
          <p:cNvPr id="18" name="Text 16"/>
          <p:cNvSpPr/>
          <p:nvPr/>
        </p:nvSpPr>
        <p:spPr>
          <a:xfrm>
            <a:off x="1005840" y="2862072"/>
            <a:ext cx="429768" cy="246888"/>
          </a:xfrm>
          <a:prstGeom prst="rect">
            <a:avLst/>
          </a:prstGeom>
          <a:noFill/>
          <a:ln/>
        </p:spPr>
        <p:txBody>
          <a:bodyPr wrap="square" lIns="0" tIns="0" rIns="0" bIns="0" rtlCol="0" anchor="ctr">
            <a:normAutofit/>
          </a:bodyPr>
          <a:lstStyle/>
          <a:p>
            <a:pPr marL="0" indent="0" algn="ctr">
              <a:lnSpc>
                <a:spcPct val="100000"/>
              </a:lnSpc>
              <a:buNone/>
            </a:pPr>
            <a:r>
              <a:rPr lang="en-US" sz="1130" b="1" dirty="0">
                <a:solidFill>
                  <a:srgbClr val="FFFFFF"/>
                </a:solidFill>
                <a:latin typeface="Aptos" pitchFamily="34" charset="0"/>
                <a:ea typeface="Aptos" pitchFamily="34" charset="-122"/>
                <a:cs typeface="Aptos" pitchFamily="34" charset="-120"/>
              </a:rPr>
              <a:t>02</a:t>
            </a:r>
            <a:endParaRPr lang="en-US" sz="1130" dirty="0"/>
          </a:p>
        </p:txBody>
      </p:sp>
      <p:sp>
        <p:nvSpPr>
          <p:cNvPr id="19" name="Text 17"/>
          <p:cNvSpPr/>
          <p:nvPr/>
        </p:nvSpPr>
        <p:spPr>
          <a:xfrm>
            <a:off x="1719072" y="2642616"/>
            <a:ext cx="6199632" cy="301752"/>
          </a:xfrm>
          <a:prstGeom prst="rect">
            <a:avLst/>
          </a:prstGeom>
          <a:noFill/>
          <a:ln/>
        </p:spPr>
        <p:txBody>
          <a:bodyPr wrap="square" lIns="0" tIns="0" rIns="0" bIns="0" rtlCol="0" anchor="ctr">
            <a:normAutofit/>
          </a:bodyPr>
          <a:lstStyle/>
          <a:p>
            <a:pPr marL="0" indent="0" algn="l">
              <a:lnSpc>
                <a:spcPct val="100000"/>
              </a:lnSpc>
              <a:buNone/>
            </a:pPr>
            <a:r>
              <a:rPr lang="en-US" sz="1700" b="1" dirty="0">
                <a:solidFill>
                  <a:srgbClr val="1D3957"/>
                </a:solidFill>
                <a:latin typeface="Aptos" pitchFamily="34" charset="0"/>
                <a:ea typeface="Aptos" pitchFamily="34" charset="-122"/>
                <a:cs typeface="Aptos" pitchFamily="34" charset="-120"/>
              </a:rPr>
              <a:t>Switch to ResNet50</a:t>
            </a:r>
            <a:endParaRPr lang="en-US" sz="1700" dirty="0"/>
          </a:p>
        </p:txBody>
      </p:sp>
      <p:sp>
        <p:nvSpPr>
          <p:cNvPr id="20" name="Text 18"/>
          <p:cNvSpPr/>
          <p:nvPr/>
        </p:nvSpPr>
        <p:spPr>
          <a:xfrm>
            <a:off x="1719072" y="2990088"/>
            <a:ext cx="6217920" cy="265176"/>
          </a:xfrm>
          <a:prstGeom prst="rect">
            <a:avLst/>
          </a:prstGeom>
          <a:noFill/>
          <a:ln/>
        </p:spPr>
        <p:txBody>
          <a:bodyPr wrap="square" lIns="0" tIns="0" rIns="0" bIns="0" rtlCol="0" anchor="ctr">
            <a:normAutofit/>
          </a:bodyPr>
          <a:lstStyle/>
          <a:p>
            <a:pPr marL="0" indent="0" algn="l">
              <a:lnSpc>
                <a:spcPct val="100000"/>
              </a:lnSpc>
              <a:buNone/>
            </a:pPr>
            <a:r>
              <a:rPr lang="en-US" sz="1270" dirty="0">
                <a:solidFill>
                  <a:srgbClr val="607084"/>
                </a:solidFill>
                <a:latin typeface="Noto Sans CJK JP" pitchFamily="34" charset="0"/>
                <a:ea typeface="Noto Sans CJK JP" pitchFamily="34" charset="-122"/>
                <a:cs typeface="Noto Sans CJK JP" pitchFamily="34" charset="-120"/>
              </a:rPr>
              <a:t>ResNet50に変更して実行する</a:t>
            </a:r>
            <a:endParaRPr lang="en-US" sz="1270" dirty="0"/>
          </a:p>
        </p:txBody>
      </p:sp>
      <p:sp>
        <p:nvSpPr>
          <p:cNvPr id="21" name="Text 19"/>
          <p:cNvSpPr/>
          <p:nvPr/>
        </p:nvSpPr>
        <p:spPr>
          <a:xfrm>
            <a:off x="7680960" y="2706624"/>
            <a:ext cx="3538728" cy="649224"/>
          </a:xfrm>
          <a:prstGeom prst="rect">
            <a:avLst/>
          </a:prstGeom>
          <a:noFill/>
          <a:ln/>
        </p:spPr>
        <p:txBody>
          <a:bodyPr wrap="square" lIns="0" tIns="0" rIns="0" bIns="0" rtlCol="0" anchor="ctr">
            <a:normAutofit/>
          </a:bodyPr>
          <a:lstStyle/>
          <a:p>
            <a:pPr marL="0" indent="0" algn="l">
              <a:lnSpc>
                <a:spcPct val="100000"/>
              </a:lnSpc>
              <a:buNone/>
            </a:pPr>
            <a:r>
              <a:rPr lang="en-US" sz="1300" dirty="0">
                <a:solidFill>
                  <a:srgbClr val="137C78"/>
                </a:solidFill>
                <a:latin typeface="Aptos" pitchFamily="34" charset="0"/>
                <a:ea typeface="Aptos" pitchFamily="34" charset="-122"/>
                <a:cs typeface="Aptos" pitchFamily="34" charset="-120"/>
              </a:rPr>
              <a:t>Was training slower? Was accuracy better?</a:t>
            </a:r>
            <a:endParaRPr lang="en-US" sz="1300" dirty="0"/>
          </a:p>
        </p:txBody>
      </p:sp>
      <p:sp>
        <p:nvSpPr>
          <p:cNvPr id="22" name="Shape 20"/>
          <p:cNvSpPr/>
          <p:nvPr/>
        </p:nvSpPr>
        <p:spPr>
          <a:xfrm>
            <a:off x="713232" y="3721608"/>
            <a:ext cx="10744200" cy="1014984"/>
          </a:xfrm>
          <a:prstGeom prst="roundRect">
            <a:avLst>
              <a:gd name="adj" fmla="val 7207"/>
            </a:avLst>
          </a:prstGeom>
          <a:solidFill>
            <a:srgbClr val="E9F3FC"/>
          </a:solidFill>
          <a:ln w="8890">
            <a:solidFill>
              <a:srgbClr val="CBD8E5"/>
            </a:solidFill>
            <a:prstDash val="solid"/>
          </a:ln>
        </p:spPr>
        <p:txBody>
          <a:bodyPr/>
          <a:lstStyle/>
          <a:p>
            <a:endParaRPr lang="en-JP"/>
          </a:p>
        </p:txBody>
      </p:sp>
      <p:sp>
        <p:nvSpPr>
          <p:cNvPr id="23" name="Shape 21"/>
          <p:cNvSpPr/>
          <p:nvPr/>
        </p:nvSpPr>
        <p:spPr>
          <a:xfrm>
            <a:off x="914400" y="3995928"/>
            <a:ext cx="612648" cy="320040"/>
          </a:xfrm>
          <a:prstGeom prst="roundRect">
            <a:avLst>
              <a:gd name="adj" fmla="val 37143"/>
            </a:avLst>
          </a:prstGeom>
          <a:solidFill>
            <a:srgbClr val="122943"/>
          </a:solidFill>
          <a:ln w="8890">
            <a:solidFill>
              <a:srgbClr val="122943"/>
            </a:solidFill>
            <a:prstDash val="solid"/>
          </a:ln>
        </p:spPr>
        <p:txBody>
          <a:bodyPr/>
          <a:lstStyle/>
          <a:p>
            <a:endParaRPr lang="en-JP"/>
          </a:p>
        </p:txBody>
      </p:sp>
      <p:sp>
        <p:nvSpPr>
          <p:cNvPr id="24" name="Text 22"/>
          <p:cNvSpPr/>
          <p:nvPr/>
        </p:nvSpPr>
        <p:spPr>
          <a:xfrm>
            <a:off x="1005840" y="4023360"/>
            <a:ext cx="429768" cy="246888"/>
          </a:xfrm>
          <a:prstGeom prst="rect">
            <a:avLst/>
          </a:prstGeom>
          <a:noFill/>
          <a:ln/>
        </p:spPr>
        <p:txBody>
          <a:bodyPr wrap="square" lIns="0" tIns="0" rIns="0" bIns="0" rtlCol="0" anchor="ctr">
            <a:normAutofit/>
          </a:bodyPr>
          <a:lstStyle/>
          <a:p>
            <a:pPr marL="0" indent="0" algn="ctr">
              <a:lnSpc>
                <a:spcPct val="100000"/>
              </a:lnSpc>
              <a:buNone/>
            </a:pPr>
            <a:r>
              <a:rPr lang="en-US" sz="1130" b="1" dirty="0">
                <a:solidFill>
                  <a:srgbClr val="FFFFFF"/>
                </a:solidFill>
                <a:latin typeface="Aptos" pitchFamily="34" charset="0"/>
                <a:ea typeface="Aptos" pitchFamily="34" charset="-122"/>
                <a:cs typeface="Aptos" pitchFamily="34" charset="-120"/>
              </a:rPr>
              <a:t>03</a:t>
            </a:r>
            <a:endParaRPr lang="en-US" sz="1130" dirty="0"/>
          </a:p>
        </p:txBody>
      </p:sp>
      <p:sp>
        <p:nvSpPr>
          <p:cNvPr id="25" name="Text 23"/>
          <p:cNvSpPr/>
          <p:nvPr/>
        </p:nvSpPr>
        <p:spPr>
          <a:xfrm>
            <a:off x="1719072" y="3803904"/>
            <a:ext cx="6199632" cy="301752"/>
          </a:xfrm>
          <a:prstGeom prst="rect">
            <a:avLst/>
          </a:prstGeom>
          <a:noFill/>
          <a:ln/>
        </p:spPr>
        <p:txBody>
          <a:bodyPr wrap="square" lIns="0" tIns="0" rIns="0" bIns="0" rtlCol="0" anchor="ctr">
            <a:normAutofit/>
          </a:bodyPr>
          <a:lstStyle/>
          <a:p>
            <a:pPr marL="0" indent="0" algn="l">
              <a:lnSpc>
                <a:spcPct val="100000"/>
              </a:lnSpc>
              <a:buNone/>
            </a:pPr>
            <a:r>
              <a:rPr lang="en-US" sz="1700" b="1" dirty="0">
                <a:solidFill>
                  <a:srgbClr val="1D3957"/>
                </a:solidFill>
                <a:latin typeface="Aptos" pitchFamily="34" charset="0"/>
                <a:ea typeface="Aptos" pitchFamily="34" charset="-122"/>
                <a:cs typeface="Aptos" pitchFamily="34" charset="-120"/>
              </a:rPr>
              <a:t>Inspect wrong predictions</a:t>
            </a:r>
            <a:endParaRPr lang="en-US" sz="1700" dirty="0"/>
          </a:p>
        </p:txBody>
      </p:sp>
      <p:sp>
        <p:nvSpPr>
          <p:cNvPr id="26" name="Text 24"/>
          <p:cNvSpPr/>
          <p:nvPr/>
        </p:nvSpPr>
        <p:spPr>
          <a:xfrm>
            <a:off x="1719072" y="4151376"/>
            <a:ext cx="6217920" cy="265176"/>
          </a:xfrm>
          <a:prstGeom prst="rect">
            <a:avLst/>
          </a:prstGeom>
          <a:noFill/>
          <a:ln/>
        </p:spPr>
        <p:txBody>
          <a:bodyPr wrap="square" lIns="0" tIns="0" rIns="0" bIns="0" rtlCol="0" anchor="ctr">
            <a:normAutofit/>
          </a:bodyPr>
          <a:lstStyle/>
          <a:p>
            <a:pPr marL="0" indent="0" algn="l">
              <a:lnSpc>
                <a:spcPct val="100000"/>
              </a:lnSpc>
              <a:buNone/>
            </a:pPr>
            <a:r>
              <a:rPr lang="en-US" sz="1270" dirty="0">
                <a:solidFill>
                  <a:srgbClr val="607084"/>
                </a:solidFill>
                <a:latin typeface="Noto Sans CJK JP" pitchFamily="34" charset="0"/>
                <a:ea typeface="Noto Sans CJK JP" pitchFamily="34" charset="-122"/>
                <a:cs typeface="Noto Sans CJK JP" pitchFamily="34" charset="-120"/>
              </a:rPr>
              <a:t>誤分類された画像を確認する</a:t>
            </a:r>
            <a:endParaRPr lang="en-US" sz="1270" dirty="0"/>
          </a:p>
        </p:txBody>
      </p:sp>
      <p:sp>
        <p:nvSpPr>
          <p:cNvPr id="27" name="Text 25"/>
          <p:cNvSpPr/>
          <p:nvPr/>
        </p:nvSpPr>
        <p:spPr>
          <a:xfrm>
            <a:off x="7680960" y="3867912"/>
            <a:ext cx="3538728" cy="649224"/>
          </a:xfrm>
          <a:prstGeom prst="rect">
            <a:avLst/>
          </a:prstGeom>
          <a:noFill/>
          <a:ln/>
        </p:spPr>
        <p:txBody>
          <a:bodyPr wrap="square" lIns="0" tIns="0" rIns="0" bIns="0" rtlCol="0" anchor="ctr">
            <a:normAutofit/>
          </a:bodyPr>
          <a:lstStyle/>
          <a:p>
            <a:pPr marL="0" indent="0" algn="l">
              <a:lnSpc>
                <a:spcPct val="100000"/>
              </a:lnSpc>
              <a:buNone/>
            </a:pPr>
            <a:r>
              <a:rPr lang="en-US" sz="1300" dirty="0">
                <a:solidFill>
                  <a:srgbClr val="137C78"/>
                </a:solidFill>
                <a:latin typeface="Aptos" pitchFamily="34" charset="0"/>
                <a:ea typeface="Aptos" pitchFamily="34" charset="-122"/>
                <a:cs typeface="Aptos" pitchFamily="34" charset="-120"/>
              </a:rPr>
              <a:t>What similarities could confuse the model?</a:t>
            </a:r>
            <a:endParaRPr lang="en-US" sz="1300" dirty="0"/>
          </a:p>
        </p:txBody>
      </p:sp>
      <p:sp>
        <p:nvSpPr>
          <p:cNvPr id="28" name="Shape 26"/>
          <p:cNvSpPr/>
          <p:nvPr/>
        </p:nvSpPr>
        <p:spPr>
          <a:xfrm>
            <a:off x="713232" y="4882896"/>
            <a:ext cx="10744200" cy="1014984"/>
          </a:xfrm>
          <a:prstGeom prst="roundRect">
            <a:avLst>
              <a:gd name="adj" fmla="val 7207"/>
            </a:avLst>
          </a:prstGeom>
          <a:solidFill>
            <a:srgbClr val="F5F8FC"/>
          </a:solidFill>
          <a:ln w="8890">
            <a:solidFill>
              <a:srgbClr val="CBD8E5"/>
            </a:solidFill>
            <a:prstDash val="solid"/>
          </a:ln>
        </p:spPr>
        <p:txBody>
          <a:bodyPr/>
          <a:lstStyle/>
          <a:p>
            <a:endParaRPr lang="en-JP"/>
          </a:p>
        </p:txBody>
      </p:sp>
      <p:sp>
        <p:nvSpPr>
          <p:cNvPr id="29" name="Shape 27"/>
          <p:cNvSpPr/>
          <p:nvPr/>
        </p:nvSpPr>
        <p:spPr>
          <a:xfrm>
            <a:off x="914400" y="5157216"/>
            <a:ext cx="612648" cy="320040"/>
          </a:xfrm>
          <a:prstGeom prst="roundRect">
            <a:avLst>
              <a:gd name="adj" fmla="val 37143"/>
            </a:avLst>
          </a:prstGeom>
          <a:solidFill>
            <a:srgbClr val="122943"/>
          </a:solidFill>
          <a:ln w="8890">
            <a:solidFill>
              <a:srgbClr val="122943"/>
            </a:solidFill>
            <a:prstDash val="solid"/>
          </a:ln>
        </p:spPr>
        <p:txBody>
          <a:bodyPr/>
          <a:lstStyle/>
          <a:p>
            <a:endParaRPr lang="en-JP"/>
          </a:p>
        </p:txBody>
      </p:sp>
      <p:sp>
        <p:nvSpPr>
          <p:cNvPr id="30" name="Text 28"/>
          <p:cNvSpPr/>
          <p:nvPr/>
        </p:nvSpPr>
        <p:spPr>
          <a:xfrm>
            <a:off x="1005840" y="5184648"/>
            <a:ext cx="429768" cy="246888"/>
          </a:xfrm>
          <a:prstGeom prst="rect">
            <a:avLst/>
          </a:prstGeom>
          <a:noFill/>
          <a:ln/>
        </p:spPr>
        <p:txBody>
          <a:bodyPr wrap="square" lIns="0" tIns="0" rIns="0" bIns="0" rtlCol="0" anchor="ctr">
            <a:normAutofit/>
          </a:bodyPr>
          <a:lstStyle/>
          <a:p>
            <a:pPr marL="0" indent="0" algn="ctr">
              <a:lnSpc>
                <a:spcPct val="100000"/>
              </a:lnSpc>
              <a:buNone/>
            </a:pPr>
            <a:r>
              <a:rPr lang="en-US" sz="1130" b="1" dirty="0">
                <a:solidFill>
                  <a:srgbClr val="FFFFFF"/>
                </a:solidFill>
                <a:latin typeface="Aptos" pitchFamily="34" charset="0"/>
                <a:ea typeface="Aptos" pitchFamily="34" charset="-122"/>
                <a:cs typeface="Aptos" pitchFamily="34" charset="-120"/>
              </a:rPr>
              <a:t>04</a:t>
            </a:r>
            <a:endParaRPr lang="en-US" sz="1130" dirty="0"/>
          </a:p>
        </p:txBody>
      </p:sp>
      <p:sp>
        <p:nvSpPr>
          <p:cNvPr id="31" name="Text 29"/>
          <p:cNvSpPr/>
          <p:nvPr/>
        </p:nvSpPr>
        <p:spPr>
          <a:xfrm>
            <a:off x="1719072" y="4965192"/>
            <a:ext cx="6199632" cy="301752"/>
          </a:xfrm>
          <a:prstGeom prst="rect">
            <a:avLst/>
          </a:prstGeom>
          <a:noFill/>
          <a:ln/>
        </p:spPr>
        <p:txBody>
          <a:bodyPr wrap="square" lIns="0" tIns="0" rIns="0" bIns="0" rtlCol="0" anchor="ctr">
            <a:normAutofit/>
          </a:bodyPr>
          <a:lstStyle/>
          <a:p>
            <a:pPr marL="0" indent="0" algn="l">
              <a:lnSpc>
                <a:spcPct val="100000"/>
              </a:lnSpc>
              <a:buNone/>
            </a:pPr>
            <a:r>
              <a:rPr lang="en-US" sz="1700" b="1" dirty="0">
                <a:solidFill>
                  <a:srgbClr val="1D3957"/>
                </a:solidFill>
                <a:latin typeface="Aptos" pitchFamily="34" charset="0"/>
                <a:ea typeface="Aptos" pitchFamily="34" charset="-122"/>
                <a:cs typeface="Aptos" pitchFamily="34" charset="-120"/>
              </a:rPr>
              <a:t>Compare with the scratch CNN</a:t>
            </a:r>
            <a:endParaRPr lang="en-US" sz="1700" dirty="0"/>
          </a:p>
        </p:txBody>
      </p:sp>
      <p:sp>
        <p:nvSpPr>
          <p:cNvPr id="32" name="Text 30"/>
          <p:cNvSpPr/>
          <p:nvPr/>
        </p:nvSpPr>
        <p:spPr>
          <a:xfrm>
            <a:off x="1719072" y="5312664"/>
            <a:ext cx="6217920" cy="265176"/>
          </a:xfrm>
          <a:prstGeom prst="rect">
            <a:avLst/>
          </a:prstGeom>
          <a:noFill/>
          <a:ln/>
        </p:spPr>
        <p:txBody>
          <a:bodyPr wrap="square" lIns="0" tIns="0" rIns="0" bIns="0" rtlCol="0" anchor="ctr">
            <a:normAutofit/>
          </a:bodyPr>
          <a:lstStyle/>
          <a:p>
            <a:pPr marL="0" indent="0" algn="l">
              <a:lnSpc>
                <a:spcPct val="100000"/>
              </a:lnSpc>
              <a:buNone/>
            </a:pPr>
            <a:r>
              <a:rPr lang="en-US" sz="1270" dirty="0">
                <a:solidFill>
                  <a:srgbClr val="607084"/>
                </a:solidFill>
                <a:latin typeface="Noto Sans CJK JP" pitchFamily="34" charset="0"/>
                <a:ea typeface="Noto Sans CJK JP" pitchFamily="34" charset="-122"/>
                <a:cs typeface="Noto Sans CJK JP" pitchFamily="34" charset="-120"/>
              </a:rPr>
              <a:t>自作CNNとの違いを比べる</a:t>
            </a:r>
            <a:endParaRPr lang="en-US" sz="1270" dirty="0"/>
          </a:p>
        </p:txBody>
      </p:sp>
      <p:sp>
        <p:nvSpPr>
          <p:cNvPr id="33" name="Text 31"/>
          <p:cNvSpPr/>
          <p:nvPr/>
        </p:nvSpPr>
        <p:spPr>
          <a:xfrm>
            <a:off x="7680960" y="5029200"/>
            <a:ext cx="3538728" cy="649224"/>
          </a:xfrm>
          <a:prstGeom prst="rect">
            <a:avLst/>
          </a:prstGeom>
          <a:noFill/>
          <a:ln/>
        </p:spPr>
        <p:txBody>
          <a:bodyPr wrap="square" lIns="0" tIns="0" rIns="0" bIns="0" rtlCol="0" anchor="ctr">
            <a:normAutofit/>
          </a:bodyPr>
          <a:lstStyle/>
          <a:p>
            <a:pPr marL="0" indent="0" algn="l">
              <a:lnSpc>
                <a:spcPct val="100000"/>
              </a:lnSpc>
              <a:buNone/>
            </a:pPr>
            <a:r>
              <a:rPr lang="en-US" sz="1300" dirty="0">
                <a:solidFill>
                  <a:srgbClr val="137C78"/>
                </a:solidFill>
                <a:latin typeface="Aptos" pitchFamily="34" charset="0"/>
                <a:ea typeface="Aptos" pitchFamily="34" charset="-122"/>
                <a:cs typeface="Aptos" pitchFamily="34" charset="-120"/>
              </a:rPr>
              <a:t>Consider accuracy, training time, and parameters.</a:t>
            </a:r>
            <a:endParaRPr lang="en-US" sz="1300" dirty="0"/>
          </a:p>
        </p:txBody>
      </p:sp>
      <p:sp>
        <p:nvSpPr>
          <p:cNvPr id="34" name="Shape 32"/>
          <p:cNvSpPr/>
          <p:nvPr/>
        </p:nvSpPr>
        <p:spPr>
          <a:xfrm>
            <a:off x="612648" y="5916168"/>
            <a:ext cx="10972800" cy="484632"/>
          </a:xfrm>
          <a:prstGeom prst="roundRect">
            <a:avLst>
              <a:gd name="adj" fmla="val 15094"/>
            </a:avLst>
          </a:prstGeom>
          <a:solidFill>
            <a:srgbClr val="DDF5EF"/>
          </a:solidFill>
          <a:ln w="8890">
            <a:solidFill>
              <a:srgbClr val="DDF5EF"/>
            </a:solidFill>
            <a:prstDash val="solid"/>
          </a:ln>
        </p:spPr>
        <p:txBody>
          <a:bodyPr/>
          <a:lstStyle/>
          <a:p>
            <a:endParaRPr lang="en-JP"/>
          </a:p>
        </p:txBody>
      </p:sp>
      <p:sp>
        <p:nvSpPr>
          <p:cNvPr id="35" name="Text 33"/>
          <p:cNvSpPr/>
          <p:nvPr/>
        </p:nvSpPr>
        <p:spPr>
          <a:xfrm>
            <a:off x="768096" y="5952744"/>
            <a:ext cx="5029200" cy="182880"/>
          </a:xfrm>
          <a:prstGeom prst="rect">
            <a:avLst/>
          </a:prstGeom>
          <a:noFill/>
          <a:ln/>
        </p:spPr>
        <p:txBody>
          <a:bodyPr wrap="square" lIns="0" tIns="0" rIns="0" bIns="0" rtlCol="0" anchor="ctr">
            <a:normAutofit lnSpcReduction="10000"/>
          </a:bodyPr>
          <a:lstStyle/>
          <a:p>
            <a:pPr marL="0" indent="0" algn="l">
              <a:lnSpc>
                <a:spcPct val="100000"/>
              </a:lnSpc>
              <a:buNone/>
            </a:pPr>
            <a:r>
              <a:rPr lang="en-US" sz="1210" b="1" dirty="0">
                <a:solidFill>
                  <a:srgbClr val="1D3957"/>
                </a:solidFill>
                <a:latin typeface="Aptos" pitchFamily="34" charset="0"/>
                <a:ea typeface="Aptos" pitchFamily="34" charset="-122"/>
                <a:cs typeface="Aptos" pitchFamily="34" charset="-120"/>
              </a:rPr>
              <a:t>Always record random seed, split, model, epochs, and device.</a:t>
            </a:r>
            <a:endParaRPr lang="en-US" sz="1210" dirty="0"/>
          </a:p>
        </p:txBody>
      </p:sp>
      <p:sp>
        <p:nvSpPr>
          <p:cNvPr id="36" name="Text 34"/>
          <p:cNvSpPr/>
          <p:nvPr/>
        </p:nvSpPr>
        <p:spPr>
          <a:xfrm>
            <a:off x="5760720" y="5943600"/>
            <a:ext cx="5669280" cy="219456"/>
          </a:xfrm>
          <a:prstGeom prst="rect">
            <a:avLst/>
          </a:prstGeom>
          <a:noFill/>
          <a:ln/>
        </p:spPr>
        <p:txBody>
          <a:bodyPr wrap="square" lIns="0" tIns="0" rIns="0" bIns="0" rtlCol="0" anchor="ctr">
            <a:normAutofit/>
          </a:bodyPr>
          <a:lstStyle/>
          <a:p>
            <a:pPr marL="0" indent="0" algn="l">
              <a:lnSpc>
                <a:spcPct val="100000"/>
              </a:lnSpc>
              <a:buNone/>
            </a:pPr>
            <a:r>
              <a:rPr lang="en-US" sz="1210" dirty="0">
                <a:solidFill>
                  <a:srgbClr val="1D3957"/>
                </a:solidFill>
                <a:latin typeface="Noto Sans CJK JP" pitchFamily="34" charset="0"/>
                <a:ea typeface="Noto Sans CJK JP" pitchFamily="34" charset="-122"/>
                <a:cs typeface="Noto Sans CJK JP" pitchFamily="34" charset="-120"/>
              </a:rPr>
              <a:t>乱数シード・分割・モデル・エポック数・実行環境を記録する。</a:t>
            </a:r>
            <a:endParaRPr lang="en-US" sz="121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Key takeaways / まとめ</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ResNet転移学習の要点</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28</a:t>
            </a:r>
            <a:endParaRPr lang="en-US" sz="870" dirty="0"/>
          </a:p>
        </p:txBody>
      </p:sp>
      <p:sp>
        <p:nvSpPr>
          <p:cNvPr id="10" name="Shape 8"/>
          <p:cNvSpPr/>
          <p:nvPr/>
        </p:nvSpPr>
        <p:spPr>
          <a:xfrm>
            <a:off x="822960" y="1508760"/>
            <a:ext cx="146304" cy="146304"/>
          </a:xfrm>
          <a:prstGeom prst="ellipse">
            <a:avLst/>
          </a:prstGeom>
          <a:solidFill>
            <a:srgbClr val="137C78"/>
          </a:solidFill>
          <a:ln w="10160">
            <a:solidFill>
              <a:srgbClr val="137C78"/>
            </a:solidFill>
            <a:prstDash val="solid"/>
          </a:ln>
        </p:spPr>
        <p:txBody>
          <a:bodyPr/>
          <a:lstStyle/>
          <a:p>
            <a:endParaRPr lang="en-JP"/>
          </a:p>
        </p:txBody>
      </p:sp>
      <p:sp>
        <p:nvSpPr>
          <p:cNvPr id="11" name="Text 9"/>
          <p:cNvSpPr/>
          <p:nvPr/>
        </p:nvSpPr>
        <p:spPr>
          <a:xfrm>
            <a:off x="1088136" y="1417320"/>
            <a:ext cx="10067544" cy="274320"/>
          </a:xfrm>
          <a:prstGeom prst="rect">
            <a:avLst/>
          </a:prstGeom>
          <a:noFill/>
          <a:ln/>
        </p:spPr>
        <p:txBody>
          <a:bodyPr wrap="square" lIns="0" tIns="0" rIns="0" bIns="0" rtlCol="0" anchor="ctr">
            <a:normAutofit/>
          </a:bodyPr>
          <a:lstStyle/>
          <a:p>
            <a:pPr marL="0" indent="0" algn="l">
              <a:lnSpc>
                <a:spcPct val="100000"/>
              </a:lnSpc>
              <a:buNone/>
            </a:pPr>
            <a:r>
              <a:rPr lang="en-US" sz="1600" dirty="0">
                <a:solidFill>
                  <a:srgbClr val="1D3957"/>
                </a:solidFill>
                <a:latin typeface="Aptos" pitchFamily="34" charset="0"/>
                <a:ea typeface="Aptos" pitchFamily="34" charset="-122"/>
                <a:cs typeface="Aptos" pitchFamily="34" charset="-120"/>
              </a:rPr>
              <a:t>ImageNet pretrained weights already contain reusable visual features</a:t>
            </a:r>
            <a:endParaRPr lang="en-US" sz="1600" dirty="0"/>
          </a:p>
        </p:txBody>
      </p:sp>
      <p:sp>
        <p:nvSpPr>
          <p:cNvPr id="12" name="Text 10"/>
          <p:cNvSpPr/>
          <p:nvPr/>
        </p:nvSpPr>
        <p:spPr>
          <a:xfrm>
            <a:off x="1088136" y="1728216"/>
            <a:ext cx="10040112" cy="265176"/>
          </a:xfrm>
          <a:prstGeom prst="rect">
            <a:avLst/>
          </a:prstGeom>
          <a:noFill/>
          <a:ln/>
        </p:spPr>
        <p:txBody>
          <a:bodyPr wrap="square" lIns="0" tIns="0" rIns="0" bIns="0" rtlCol="0" anchor="ctr">
            <a:normAutofit/>
          </a:bodyPr>
          <a:lstStyle/>
          <a:p>
            <a:pPr marL="0" indent="0" algn="l">
              <a:lnSpc>
                <a:spcPct val="100000"/>
              </a:lnSpc>
              <a:buNone/>
            </a:pPr>
            <a:r>
              <a:rPr lang="en-US" sz="1220" dirty="0">
                <a:solidFill>
                  <a:srgbClr val="607084"/>
                </a:solidFill>
                <a:latin typeface="Noto Sans CJK JP" pitchFamily="34" charset="0"/>
                <a:ea typeface="Noto Sans CJK JP" pitchFamily="34" charset="-122"/>
                <a:cs typeface="Noto Sans CJK JP" pitchFamily="34" charset="-120"/>
              </a:rPr>
              <a:t>ImageNetで学習した視覚特徴を再利用できる</a:t>
            </a:r>
            <a:endParaRPr lang="en-US" sz="1220" dirty="0"/>
          </a:p>
        </p:txBody>
      </p:sp>
      <p:sp>
        <p:nvSpPr>
          <p:cNvPr id="13" name="Shape 11"/>
          <p:cNvSpPr/>
          <p:nvPr/>
        </p:nvSpPr>
        <p:spPr>
          <a:xfrm>
            <a:off x="822960" y="2313432"/>
            <a:ext cx="146304" cy="146304"/>
          </a:xfrm>
          <a:prstGeom prst="ellipse">
            <a:avLst/>
          </a:prstGeom>
          <a:solidFill>
            <a:srgbClr val="137C78"/>
          </a:solidFill>
          <a:ln w="10160">
            <a:solidFill>
              <a:srgbClr val="137C78"/>
            </a:solidFill>
            <a:prstDash val="solid"/>
          </a:ln>
        </p:spPr>
        <p:txBody>
          <a:bodyPr/>
          <a:lstStyle/>
          <a:p>
            <a:endParaRPr lang="en-JP"/>
          </a:p>
        </p:txBody>
      </p:sp>
      <p:sp>
        <p:nvSpPr>
          <p:cNvPr id="14" name="Text 12"/>
          <p:cNvSpPr/>
          <p:nvPr/>
        </p:nvSpPr>
        <p:spPr>
          <a:xfrm>
            <a:off x="1088136" y="2221992"/>
            <a:ext cx="10067544" cy="274320"/>
          </a:xfrm>
          <a:prstGeom prst="rect">
            <a:avLst/>
          </a:prstGeom>
          <a:noFill/>
          <a:ln/>
        </p:spPr>
        <p:txBody>
          <a:bodyPr wrap="square" lIns="0" tIns="0" rIns="0" bIns="0" rtlCol="0" anchor="ctr">
            <a:normAutofit/>
          </a:bodyPr>
          <a:lstStyle/>
          <a:p>
            <a:pPr marL="0" indent="0" algn="l">
              <a:lnSpc>
                <a:spcPct val="100000"/>
              </a:lnSpc>
              <a:buNone/>
            </a:pPr>
            <a:r>
              <a:rPr lang="en-US" sz="1600" dirty="0">
                <a:solidFill>
                  <a:srgbClr val="1D3957"/>
                </a:solidFill>
                <a:latin typeface="Aptos" pitchFamily="34" charset="0"/>
                <a:ea typeface="Aptos" pitchFamily="34" charset="-122"/>
                <a:cs typeface="Aptos" pitchFamily="34" charset="-120"/>
              </a:rPr>
              <a:t>ResNet18 and ResNet50 use different residual blocks and capacities</a:t>
            </a:r>
            <a:endParaRPr lang="en-US" sz="1600" dirty="0"/>
          </a:p>
        </p:txBody>
      </p:sp>
      <p:sp>
        <p:nvSpPr>
          <p:cNvPr id="15" name="Text 13"/>
          <p:cNvSpPr/>
          <p:nvPr/>
        </p:nvSpPr>
        <p:spPr>
          <a:xfrm>
            <a:off x="1088136" y="2532888"/>
            <a:ext cx="10040112" cy="265176"/>
          </a:xfrm>
          <a:prstGeom prst="rect">
            <a:avLst/>
          </a:prstGeom>
          <a:noFill/>
          <a:ln/>
        </p:spPr>
        <p:txBody>
          <a:bodyPr wrap="square" lIns="0" tIns="0" rIns="0" bIns="0" rtlCol="0" anchor="ctr">
            <a:normAutofit/>
          </a:bodyPr>
          <a:lstStyle/>
          <a:p>
            <a:pPr marL="0" indent="0" algn="l">
              <a:lnSpc>
                <a:spcPct val="100000"/>
              </a:lnSpc>
              <a:buNone/>
            </a:pPr>
            <a:r>
              <a:rPr lang="en-US" sz="1220" dirty="0">
                <a:solidFill>
                  <a:srgbClr val="607084"/>
                </a:solidFill>
                <a:latin typeface="Noto Sans CJK JP" pitchFamily="34" charset="0"/>
                <a:ea typeface="Noto Sans CJK JP" pitchFamily="34" charset="-122"/>
                <a:cs typeface="Noto Sans CJK JP" pitchFamily="34" charset="-120"/>
              </a:rPr>
              <a:t>ResNet18と50はブロック構造とモデル規模が異なる</a:t>
            </a:r>
            <a:endParaRPr lang="en-US" sz="1220" dirty="0"/>
          </a:p>
        </p:txBody>
      </p:sp>
      <p:sp>
        <p:nvSpPr>
          <p:cNvPr id="16" name="Shape 14"/>
          <p:cNvSpPr/>
          <p:nvPr/>
        </p:nvSpPr>
        <p:spPr>
          <a:xfrm>
            <a:off x="822960" y="3118104"/>
            <a:ext cx="146304" cy="146304"/>
          </a:xfrm>
          <a:prstGeom prst="ellipse">
            <a:avLst/>
          </a:prstGeom>
          <a:solidFill>
            <a:srgbClr val="137C78"/>
          </a:solidFill>
          <a:ln w="10160">
            <a:solidFill>
              <a:srgbClr val="137C78"/>
            </a:solidFill>
            <a:prstDash val="solid"/>
          </a:ln>
        </p:spPr>
        <p:txBody>
          <a:bodyPr/>
          <a:lstStyle/>
          <a:p>
            <a:endParaRPr lang="en-JP"/>
          </a:p>
        </p:txBody>
      </p:sp>
      <p:sp>
        <p:nvSpPr>
          <p:cNvPr id="17" name="Text 15"/>
          <p:cNvSpPr/>
          <p:nvPr/>
        </p:nvSpPr>
        <p:spPr>
          <a:xfrm>
            <a:off x="1088136" y="3026664"/>
            <a:ext cx="10067544" cy="274320"/>
          </a:xfrm>
          <a:prstGeom prst="rect">
            <a:avLst/>
          </a:prstGeom>
          <a:noFill/>
          <a:ln/>
        </p:spPr>
        <p:txBody>
          <a:bodyPr wrap="square" lIns="0" tIns="0" rIns="0" bIns="0" rtlCol="0" anchor="ctr">
            <a:normAutofit/>
          </a:bodyPr>
          <a:lstStyle/>
          <a:p>
            <a:pPr marL="0" indent="0" algn="l">
              <a:lnSpc>
                <a:spcPct val="100000"/>
              </a:lnSpc>
              <a:buNone/>
            </a:pPr>
            <a:r>
              <a:rPr lang="en-US" sz="1600" dirty="0">
                <a:solidFill>
                  <a:srgbClr val="1D3957"/>
                </a:solidFill>
                <a:latin typeface="Aptos" pitchFamily="34" charset="0"/>
                <a:ea typeface="Aptos" pitchFamily="34" charset="-122"/>
                <a:cs typeface="Aptos" pitchFamily="34" charset="-120"/>
              </a:rPr>
              <a:t>Phase A trains only fc; Phase B trains layer4 + fc</a:t>
            </a:r>
            <a:endParaRPr lang="en-US" sz="1600" dirty="0"/>
          </a:p>
        </p:txBody>
      </p:sp>
      <p:sp>
        <p:nvSpPr>
          <p:cNvPr id="18" name="Text 16"/>
          <p:cNvSpPr/>
          <p:nvPr/>
        </p:nvSpPr>
        <p:spPr>
          <a:xfrm>
            <a:off x="1088136" y="3337560"/>
            <a:ext cx="10040112" cy="265176"/>
          </a:xfrm>
          <a:prstGeom prst="rect">
            <a:avLst/>
          </a:prstGeom>
          <a:noFill/>
          <a:ln/>
        </p:spPr>
        <p:txBody>
          <a:bodyPr wrap="square" lIns="0" tIns="0" rIns="0" bIns="0" rtlCol="0" anchor="ctr">
            <a:normAutofit/>
          </a:bodyPr>
          <a:lstStyle/>
          <a:p>
            <a:pPr marL="0" indent="0" algn="l">
              <a:lnSpc>
                <a:spcPct val="100000"/>
              </a:lnSpc>
              <a:buNone/>
            </a:pPr>
            <a:r>
              <a:rPr lang="en-US" sz="1220" dirty="0">
                <a:solidFill>
                  <a:srgbClr val="607084"/>
                </a:solidFill>
                <a:latin typeface="Noto Sans CJK JP" pitchFamily="34" charset="0"/>
                <a:ea typeface="Noto Sans CJK JP" pitchFamily="34" charset="-122"/>
                <a:cs typeface="Noto Sans CJK JP" pitchFamily="34" charset="-120"/>
              </a:rPr>
              <a:t>第1段階はfcのみ、第2段階はlayer4とfcを学習</a:t>
            </a:r>
            <a:endParaRPr lang="en-US" sz="1220" dirty="0"/>
          </a:p>
        </p:txBody>
      </p:sp>
      <p:sp>
        <p:nvSpPr>
          <p:cNvPr id="19" name="Shape 17"/>
          <p:cNvSpPr/>
          <p:nvPr/>
        </p:nvSpPr>
        <p:spPr>
          <a:xfrm>
            <a:off x="822960" y="3922776"/>
            <a:ext cx="146304" cy="146304"/>
          </a:xfrm>
          <a:prstGeom prst="ellipse">
            <a:avLst/>
          </a:prstGeom>
          <a:solidFill>
            <a:srgbClr val="137C78"/>
          </a:solidFill>
          <a:ln w="10160">
            <a:solidFill>
              <a:srgbClr val="137C78"/>
            </a:solidFill>
            <a:prstDash val="solid"/>
          </a:ln>
        </p:spPr>
        <p:txBody>
          <a:bodyPr/>
          <a:lstStyle/>
          <a:p>
            <a:endParaRPr lang="en-JP"/>
          </a:p>
        </p:txBody>
      </p:sp>
      <p:sp>
        <p:nvSpPr>
          <p:cNvPr id="20" name="Text 18"/>
          <p:cNvSpPr/>
          <p:nvPr/>
        </p:nvSpPr>
        <p:spPr>
          <a:xfrm>
            <a:off x="1088136" y="3831336"/>
            <a:ext cx="10067544" cy="274320"/>
          </a:xfrm>
          <a:prstGeom prst="rect">
            <a:avLst/>
          </a:prstGeom>
          <a:noFill/>
          <a:ln/>
        </p:spPr>
        <p:txBody>
          <a:bodyPr wrap="square" lIns="0" tIns="0" rIns="0" bIns="0" rtlCol="0" anchor="ctr">
            <a:normAutofit/>
          </a:bodyPr>
          <a:lstStyle/>
          <a:p>
            <a:pPr marL="0" indent="0" algn="l">
              <a:lnSpc>
                <a:spcPct val="100000"/>
              </a:lnSpc>
              <a:buNone/>
            </a:pPr>
            <a:r>
              <a:rPr lang="en-US" sz="1600" dirty="0">
                <a:solidFill>
                  <a:srgbClr val="1D3957"/>
                </a:solidFill>
                <a:latin typeface="Aptos" pitchFamily="34" charset="0"/>
                <a:ea typeface="Aptos" pitchFamily="34" charset="-122"/>
                <a:cs typeface="Aptos" pitchFamily="34" charset="-120"/>
              </a:rPr>
              <a:t>Both phases use the same training images intentionally</a:t>
            </a:r>
            <a:endParaRPr lang="en-US" sz="1600" dirty="0"/>
          </a:p>
        </p:txBody>
      </p:sp>
      <p:sp>
        <p:nvSpPr>
          <p:cNvPr id="21" name="Text 19"/>
          <p:cNvSpPr/>
          <p:nvPr/>
        </p:nvSpPr>
        <p:spPr>
          <a:xfrm>
            <a:off x="1088136" y="4142232"/>
            <a:ext cx="10040112" cy="265176"/>
          </a:xfrm>
          <a:prstGeom prst="rect">
            <a:avLst/>
          </a:prstGeom>
          <a:noFill/>
          <a:ln/>
        </p:spPr>
        <p:txBody>
          <a:bodyPr wrap="square" lIns="0" tIns="0" rIns="0" bIns="0" rtlCol="0" anchor="ctr">
            <a:normAutofit/>
          </a:bodyPr>
          <a:lstStyle/>
          <a:p>
            <a:pPr marL="0" indent="0" algn="l">
              <a:lnSpc>
                <a:spcPct val="100000"/>
              </a:lnSpc>
              <a:buNone/>
            </a:pPr>
            <a:r>
              <a:rPr lang="en-US" sz="1220" dirty="0">
                <a:solidFill>
                  <a:srgbClr val="607084"/>
                </a:solidFill>
                <a:latin typeface="Noto Sans CJK JP" pitchFamily="34" charset="0"/>
                <a:ea typeface="Noto Sans CJK JP" pitchFamily="34" charset="-122"/>
                <a:cs typeface="Noto Sans CJK JP" pitchFamily="34" charset="-120"/>
              </a:rPr>
              <a:t>2段階で同じ学習画像を使うことには意味がある</a:t>
            </a:r>
            <a:endParaRPr lang="en-US" sz="1220" dirty="0"/>
          </a:p>
        </p:txBody>
      </p:sp>
      <p:sp>
        <p:nvSpPr>
          <p:cNvPr id="22" name="Shape 20"/>
          <p:cNvSpPr/>
          <p:nvPr/>
        </p:nvSpPr>
        <p:spPr>
          <a:xfrm>
            <a:off x="822960" y="4727448"/>
            <a:ext cx="146304" cy="146304"/>
          </a:xfrm>
          <a:prstGeom prst="ellipse">
            <a:avLst/>
          </a:prstGeom>
          <a:solidFill>
            <a:srgbClr val="137C78"/>
          </a:solidFill>
          <a:ln w="10160">
            <a:solidFill>
              <a:srgbClr val="137C78"/>
            </a:solidFill>
            <a:prstDash val="solid"/>
          </a:ln>
        </p:spPr>
        <p:txBody>
          <a:bodyPr/>
          <a:lstStyle/>
          <a:p>
            <a:endParaRPr lang="en-JP"/>
          </a:p>
        </p:txBody>
      </p:sp>
      <p:sp>
        <p:nvSpPr>
          <p:cNvPr id="23" name="Text 21"/>
          <p:cNvSpPr/>
          <p:nvPr/>
        </p:nvSpPr>
        <p:spPr>
          <a:xfrm>
            <a:off x="1088136" y="4636008"/>
            <a:ext cx="10067544" cy="274320"/>
          </a:xfrm>
          <a:prstGeom prst="rect">
            <a:avLst/>
          </a:prstGeom>
          <a:noFill/>
          <a:ln/>
        </p:spPr>
        <p:txBody>
          <a:bodyPr wrap="square" lIns="0" tIns="0" rIns="0" bIns="0" rtlCol="0" anchor="ctr">
            <a:normAutofit/>
          </a:bodyPr>
          <a:lstStyle/>
          <a:p>
            <a:pPr marL="0" indent="0" algn="l">
              <a:lnSpc>
                <a:spcPct val="100000"/>
              </a:lnSpc>
              <a:buNone/>
            </a:pPr>
            <a:r>
              <a:rPr lang="en-US" sz="1600" dirty="0">
                <a:solidFill>
                  <a:srgbClr val="1D3957"/>
                </a:solidFill>
                <a:latin typeface="Aptos" pitchFamily="34" charset="0"/>
                <a:ea typeface="Aptos" pitchFamily="34" charset="-122"/>
                <a:cs typeface="Aptos" pitchFamily="34" charset="-120"/>
              </a:rPr>
              <a:t>Choose checkpoints on validation loss, then test only once</a:t>
            </a:r>
            <a:endParaRPr lang="en-US" sz="1600" dirty="0"/>
          </a:p>
        </p:txBody>
      </p:sp>
      <p:sp>
        <p:nvSpPr>
          <p:cNvPr id="24" name="Text 22"/>
          <p:cNvSpPr/>
          <p:nvPr/>
        </p:nvSpPr>
        <p:spPr>
          <a:xfrm>
            <a:off x="1088136" y="4946904"/>
            <a:ext cx="10040112" cy="265176"/>
          </a:xfrm>
          <a:prstGeom prst="rect">
            <a:avLst/>
          </a:prstGeom>
          <a:noFill/>
          <a:ln/>
        </p:spPr>
        <p:txBody>
          <a:bodyPr wrap="square" lIns="0" tIns="0" rIns="0" bIns="0" rtlCol="0" anchor="ctr">
            <a:normAutofit/>
          </a:bodyPr>
          <a:lstStyle/>
          <a:p>
            <a:pPr marL="0" indent="0" algn="l">
              <a:lnSpc>
                <a:spcPct val="100000"/>
              </a:lnSpc>
              <a:buNone/>
            </a:pPr>
            <a:r>
              <a:rPr lang="en-US" sz="1220" dirty="0">
                <a:solidFill>
                  <a:srgbClr val="607084"/>
                </a:solidFill>
                <a:latin typeface="Noto Sans CJK JP" pitchFamily="34" charset="0"/>
                <a:ea typeface="Noto Sans CJK JP" pitchFamily="34" charset="-122"/>
                <a:cs typeface="Noto Sans CJK JP" pitchFamily="34" charset="-120"/>
              </a:rPr>
              <a:t>検証損失でモデルを選び、テストは最後に実施する</a:t>
            </a:r>
            <a:endParaRPr lang="en-US" sz="122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122943"/>
          </a:solidFill>
          <a:ln w="12700">
            <a:solidFill>
              <a:srgbClr val="122943"/>
            </a:solidFill>
            <a:prstDash val="solid"/>
          </a:ln>
        </p:spPr>
        <p:txBody>
          <a:bodyPr/>
          <a:lstStyle/>
          <a:p>
            <a:endParaRPr lang="en-JP"/>
          </a:p>
        </p:txBody>
      </p:sp>
      <p:sp>
        <p:nvSpPr>
          <p:cNvPr id="3" name="Shape 1"/>
          <p:cNvSpPr/>
          <p:nvPr/>
        </p:nvSpPr>
        <p:spPr>
          <a:xfrm>
            <a:off x="0" y="658368"/>
            <a:ext cx="12191695" cy="59436"/>
          </a:xfrm>
          <a:prstGeom prst="rect">
            <a:avLst/>
          </a:prstGeom>
          <a:solidFill>
            <a:srgbClr val="137C78"/>
          </a:solidFill>
          <a:ln w="12700">
            <a:solidFill>
              <a:srgbClr val="137C78"/>
            </a:solidFill>
            <a:prstDash val="solid"/>
          </a:ln>
        </p:spPr>
        <p:txBody>
          <a:bodyPr/>
          <a:lstStyle/>
          <a:p>
            <a:endParaRPr lang="en-JP"/>
          </a:p>
        </p:txBody>
      </p:sp>
      <p:sp>
        <p:nvSpPr>
          <p:cNvPr id="4" name="Text 2"/>
          <p:cNvSpPr/>
          <p:nvPr/>
        </p:nvSpPr>
        <p:spPr>
          <a:xfrm>
            <a:off x="402336" y="109728"/>
            <a:ext cx="9875520" cy="365760"/>
          </a:xfrm>
          <a:prstGeom prst="rect">
            <a:avLst/>
          </a:prstGeom>
          <a:noFill/>
          <a:ln/>
        </p:spPr>
        <p:txBody>
          <a:bodyPr wrap="square" lIns="0" tIns="0" rIns="0" bIns="0" rtlCol="0" anchor="ctr">
            <a:normAutofit lnSpcReduction="10000"/>
          </a:bodyPr>
          <a:lstStyle/>
          <a:p>
            <a:pPr marL="0" indent="0" algn="l">
              <a:lnSpc>
                <a:spcPct val="100000"/>
              </a:lnSpc>
              <a:buNone/>
            </a:pPr>
            <a:r>
              <a:rPr lang="en-US" sz="2450" b="1" dirty="0">
                <a:solidFill>
                  <a:srgbClr val="FFFFFF"/>
                </a:solidFill>
                <a:latin typeface="Aptos" pitchFamily="34" charset="0"/>
                <a:ea typeface="Aptos" pitchFamily="34" charset="-122"/>
                <a:cs typeface="Aptos" pitchFamily="34" charset="-120"/>
              </a:rPr>
              <a:t>References and teaching workflow</a:t>
            </a:r>
            <a:endParaRPr lang="en-US" sz="2450" dirty="0"/>
          </a:p>
        </p:txBody>
      </p:sp>
      <p:sp>
        <p:nvSpPr>
          <p:cNvPr id="5" name="Text 3"/>
          <p:cNvSpPr/>
          <p:nvPr/>
        </p:nvSpPr>
        <p:spPr>
          <a:xfrm>
            <a:off x="475488" y="795528"/>
            <a:ext cx="11338560" cy="310896"/>
          </a:xfrm>
          <a:prstGeom prst="rect">
            <a:avLst/>
          </a:prstGeom>
          <a:noFill/>
          <a:ln/>
        </p:spPr>
        <p:txBody>
          <a:bodyPr wrap="square" lIns="0" tIns="0" rIns="0" bIns="0" rtlCol="0" anchor="ctr">
            <a:normAutofit/>
          </a:bodyPr>
          <a:lstStyle/>
          <a:p>
            <a:pPr marL="0" indent="0" algn="l">
              <a:lnSpc>
                <a:spcPct val="100000"/>
              </a:lnSpc>
              <a:buNone/>
            </a:pPr>
            <a:r>
              <a:rPr lang="en-US" sz="1550" b="1" dirty="0">
                <a:solidFill>
                  <a:srgbClr val="21679D"/>
                </a:solidFill>
                <a:latin typeface="Noto Sans CJK JP" pitchFamily="34" charset="0"/>
                <a:ea typeface="Noto Sans CJK JP" pitchFamily="34" charset="-122"/>
                <a:cs typeface="Noto Sans CJK JP" pitchFamily="34" charset="-120"/>
              </a:rPr>
              <a:t>参考資料と授業の進め方</a:t>
            </a:r>
            <a:endParaRPr lang="en-US" sz="1550" dirty="0"/>
          </a:p>
        </p:txBody>
      </p:sp>
      <p:sp>
        <p:nvSpPr>
          <p:cNvPr id="6" name="Text 4"/>
          <p:cNvSpPr/>
          <p:nvPr/>
        </p:nvSpPr>
        <p:spPr>
          <a:xfrm>
            <a:off x="10195560" y="192024"/>
            <a:ext cx="1627632" cy="182880"/>
          </a:xfrm>
          <a:prstGeom prst="rect">
            <a:avLst/>
          </a:prstGeom>
          <a:noFill/>
          <a:ln/>
        </p:spPr>
        <p:txBody>
          <a:bodyPr wrap="square" lIns="0" tIns="0" rIns="0" bIns="0" rtlCol="0" anchor="ctr">
            <a:normAutofit/>
          </a:bodyPr>
          <a:lstStyle/>
          <a:p>
            <a:pPr marL="0" indent="0" algn="r">
              <a:lnSpc>
                <a:spcPct val="100000"/>
              </a:lnSpc>
              <a:buNone/>
            </a:pPr>
            <a:r>
              <a:rPr lang="en-US" sz="920" b="1" dirty="0">
                <a:solidFill>
                  <a:srgbClr val="BBD4E8"/>
                </a:solidFill>
                <a:latin typeface="Aptos" pitchFamily="34" charset="0"/>
                <a:ea typeface="Aptos" pitchFamily="34" charset="-122"/>
                <a:cs typeface="Aptos" pitchFamily="34" charset="-120"/>
              </a:rPr>
              <a:t>TRANSFER LEARNING</a:t>
            </a:r>
            <a:endParaRPr lang="en-US" sz="920" dirty="0"/>
          </a:p>
        </p:txBody>
      </p:sp>
      <p:sp>
        <p:nvSpPr>
          <p:cNvPr id="7" name="Shape 5"/>
          <p:cNvSpPr/>
          <p:nvPr/>
        </p:nvSpPr>
        <p:spPr>
          <a:xfrm>
            <a:off x="438912" y="6592824"/>
            <a:ext cx="11320272" cy="0"/>
          </a:xfrm>
          <a:prstGeom prst="line">
            <a:avLst/>
          </a:prstGeom>
          <a:noFill/>
          <a:ln w="9525">
            <a:solidFill>
              <a:srgbClr val="CBD8E5"/>
            </a:solidFill>
            <a:prstDash val="solid"/>
            <a:headEnd type="none"/>
            <a:tailEnd type="none"/>
          </a:ln>
        </p:spPr>
        <p:txBody>
          <a:bodyPr/>
          <a:lstStyle/>
          <a:p>
            <a:endParaRPr lang="en-JP"/>
          </a:p>
        </p:txBody>
      </p:sp>
      <p:sp>
        <p:nvSpPr>
          <p:cNvPr id="8" name="Text 6"/>
          <p:cNvSpPr/>
          <p:nvPr/>
        </p:nvSpPr>
        <p:spPr>
          <a:xfrm>
            <a:off x="457200" y="6601968"/>
            <a:ext cx="6400800" cy="137160"/>
          </a:xfrm>
          <a:prstGeom prst="rect">
            <a:avLst/>
          </a:prstGeom>
          <a:noFill/>
          <a:ln/>
        </p:spPr>
        <p:txBody>
          <a:bodyPr wrap="square" lIns="0" tIns="0" rIns="0" bIns="0" rtlCol="0" anchor="ctr">
            <a:normAutofit/>
          </a:bodyPr>
          <a:lstStyle/>
          <a:p>
            <a:pPr marL="0" indent="0" algn="l">
              <a:lnSpc>
                <a:spcPct val="100000"/>
              </a:lnSpc>
              <a:buNone/>
            </a:pPr>
            <a:r>
              <a:rPr lang="en-US" sz="870" dirty="0">
                <a:solidFill>
                  <a:srgbClr val="607084"/>
                </a:solidFill>
                <a:latin typeface="Aptos" pitchFamily="34" charset="0"/>
                <a:ea typeface="Aptos" pitchFamily="34" charset="-122"/>
                <a:cs typeface="Aptos" pitchFamily="34" charset="-120"/>
              </a:rPr>
              <a:t>FLOWERS  ·  RESNET18 / RESNET50</a:t>
            </a:r>
            <a:endParaRPr lang="en-US" sz="870" dirty="0"/>
          </a:p>
        </p:txBody>
      </p:sp>
      <p:sp>
        <p:nvSpPr>
          <p:cNvPr id="9" name="Text 7"/>
          <p:cNvSpPr/>
          <p:nvPr/>
        </p:nvSpPr>
        <p:spPr>
          <a:xfrm>
            <a:off x="11384280" y="6601968"/>
            <a:ext cx="365760" cy="137160"/>
          </a:xfrm>
          <a:prstGeom prst="rect">
            <a:avLst/>
          </a:prstGeom>
          <a:noFill/>
          <a:ln/>
        </p:spPr>
        <p:txBody>
          <a:bodyPr wrap="square" lIns="0" tIns="0" rIns="0" bIns="0" rtlCol="0" anchor="ctr">
            <a:normAutofit/>
          </a:bodyPr>
          <a:lstStyle/>
          <a:p>
            <a:pPr marL="0" indent="0" algn="r">
              <a:lnSpc>
                <a:spcPct val="100000"/>
              </a:lnSpc>
              <a:buNone/>
            </a:pPr>
            <a:r>
              <a:rPr lang="en-US" sz="870" dirty="0">
                <a:solidFill>
                  <a:srgbClr val="607084"/>
                </a:solidFill>
                <a:latin typeface="Aptos" pitchFamily="34" charset="0"/>
                <a:ea typeface="Aptos" pitchFamily="34" charset="-122"/>
                <a:cs typeface="Aptos" pitchFamily="34" charset="-120"/>
              </a:rPr>
              <a:t>29</a:t>
            </a:r>
            <a:endParaRPr lang="en-US" sz="870" dirty="0"/>
          </a:p>
        </p:txBody>
      </p:sp>
      <p:sp>
        <p:nvSpPr>
          <p:cNvPr id="10" name="Shape 8"/>
          <p:cNvSpPr/>
          <p:nvPr/>
        </p:nvSpPr>
        <p:spPr>
          <a:xfrm>
            <a:off x="804672" y="1408176"/>
            <a:ext cx="4992624" cy="813816"/>
          </a:xfrm>
          <a:prstGeom prst="roundRect">
            <a:avLst>
              <a:gd name="adj" fmla="val 11236"/>
            </a:avLst>
          </a:prstGeom>
          <a:solidFill>
            <a:srgbClr val="E9F3FC"/>
          </a:solidFill>
          <a:ln w="8890">
            <a:solidFill>
              <a:srgbClr val="E9F3FC"/>
            </a:solidFill>
            <a:prstDash val="solid"/>
          </a:ln>
        </p:spPr>
        <p:txBody>
          <a:bodyPr/>
          <a:lstStyle/>
          <a:p>
            <a:endParaRPr lang="en-JP"/>
          </a:p>
        </p:txBody>
      </p:sp>
      <p:sp>
        <p:nvSpPr>
          <p:cNvPr id="11" name="Text 9"/>
          <p:cNvSpPr/>
          <p:nvPr/>
        </p:nvSpPr>
        <p:spPr>
          <a:xfrm>
            <a:off x="896112" y="1476756"/>
            <a:ext cx="4809744" cy="237744"/>
          </a:xfrm>
          <a:prstGeom prst="rect">
            <a:avLst/>
          </a:prstGeom>
          <a:noFill/>
          <a:ln/>
        </p:spPr>
        <p:txBody>
          <a:bodyPr wrap="square" lIns="0" tIns="0" rIns="0" bIns="0" rtlCol="0" anchor="ctr">
            <a:normAutofit/>
          </a:bodyPr>
          <a:lstStyle/>
          <a:p>
            <a:pPr marL="0" indent="0" algn="ctr">
              <a:lnSpc>
                <a:spcPct val="100000"/>
              </a:lnSpc>
              <a:buNone/>
            </a:pPr>
            <a:r>
              <a:rPr lang="en-US" sz="1500" b="1" dirty="0">
                <a:solidFill>
                  <a:srgbClr val="1D3957"/>
                </a:solidFill>
                <a:latin typeface="Aptos" pitchFamily="34" charset="0"/>
                <a:ea typeface="Aptos" pitchFamily="34" charset="-122"/>
                <a:cs typeface="Aptos" pitchFamily="34" charset="-120"/>
              </a:rPr>
              <a:t>1. Review basics (10 min)</a:t>
            </a:r>
            <a:endParaRPr lang="en-US" sz="1500" dirty="0"/>
          </a:p>
        </p:txBody>
      </p:sp>
      <p:sp>
        <p:nvSpPr>
          <p:cNvPr id="12" name="Text 10"/>
          <p:cNvSpPr/>
          <p:nvPr/>
        </p:nvSpPr>
        <p:spPr>
          <a:xfrm>
            <a:off x="896112" y="1746504"/>
            <a:ext cx="4809744"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自作CNNを短く復習</a:t>
            </a:r>
            <a:endParaRPr lang="en-US" sz="1120" dirty="0"/>
          </a:p>
        </p:txBody>
      </p:sp>
      <p:sp>
        <p:nvSpPr>
          <p:cNvPr id="13" name="Shape 11"/>
          <p:cNvSpPr/>
          <p:nvPr/>
        </p:nvSpPr>
        <p:spPr>
          <a:xfrm>
            <a:off x="6245352" y="1408176"/>
            <a:ext cx="5065776" cy="813816"/>
          </a:xfrm>
          <a:prstGeom prst="roundRect">
            <a:avLst>
              <a:gd name="adj" fmla="val 11236"/>
            </a:avLst>
          </a:prstGeom>
          <a:solidFill>
            <a:srgbClr val="E9F3FC"/>
          </a:solidFill>
          <a:ln w="8890">
            <a:solidFill>
              <a:srgbClr val="E9F3FC"/>
            </a:solidFill>
            <a:prstDash val="solid"/>
          </a:ln>
        </p:spPr>
        <p:txBody>
          <a:bodyPr/>
          <a:lstStyle/>
          <a:p>
            <a:endParaRPr lang="en-JP"/>
          </a:p>
        </p:txBody>
      </p:sp>
      <p:sp>
        <p:nvSpPr>
          <p:cNvPr id="14" name="Text 12"/>
          <p:cNvSpPr/>
          <p:nvPr/>
        </p:nvSpPr>
        <p:spPr>
          <a:xfrm>
            <a:off x="6336792" y="1476756"/>
            <a:ext cx="4882896" cy="237744"/>
          </a:xfrm>
          <a:prstGeom prst="rect">
            <a:avLst/>
          </a:prstGeom>
          <a:noFill/>
          <a:ln/>
        </p:spPr>
        <p:txBody>
          <a:bodyPr wrap="square" lIns="0" tIns="0" rIns="0" bIns="0" rtlCol="0" anchor="ctr">
            <a:normAutofit/>
          </a:bodyPr>
          <a:lstStyle/>
          <a:p>
            <a:pPr marL="0" indent="0" algn="ctr">
              <a:lnSpc>
                <a:spcPct val="100000"/>
              </a:lnSpc>
              <a:buNone/>
            </a:pPr>
            <a:r>
              <a:rPr lang="en-US" sz="1500" b="1" dirty="0">
                <a:solidFill>
                  <a:srgbClr val="1D3957"/>
                </a:solidFill>
                <a:latin typeface="Aptos" pitchFamily="34" charset="0"/>
                <a:ea typeface="Aptos" pitchFamily="34" charset="-122"/>
                <a:cs typeface="Aptos" pitchFamily="34" charset="-120"/>
              </a:rPr>
              <a:t>2. ResNet concepts (15 min)</a:t>
            </a:r>
            <a:endParaRPr lang="en-US" sz="1500" dirty="0"/>
          </a:p>
        </p:txBody>
      </p:sp>
      <p:sp>
        <p:nvSpPr>
          <p:cNvPr id="15" name="Text 13"/>
          <p:cNvSpPr/>
          <p:nvPr/>
        </p:nvSpPr>
        <p:spPr>
          <a:xfrm>
            <a:off x="6336792" y="1746504"/>
            <a:ext cx="4882896"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残差接続と2モデルの違い</a:t>
            </a:r>
            <a:endParaRPr lang="en-US" sz="1120" dirty="0"/>
          </a:p>
        </p:txBody>
      </p:sp>
      <p:sp>
        <p:nvSpPr>
          <p:cNvPr id="16" name="Shape 14"/>
          <p:cNvSpPr/>
          <p:nvPr/>
        </p:nvSpPr>
        <p:spPr>
          <a:xfrm>
            <a:off x="804672" y="2368296"/>
            <a:ext cx="4992624" cy="813816"/>
          </a:xfrm>
          <a:prstGeom prst="roundRect">
            <a:avLst>
              <a:gd name="adj" fmla="val 11236"/>
            </a:avLst>
          </a:prstGeom>
          <a:solidFill>
            <a:srgbClr val="DDF5EF"/>
          </a:solidFill>
          <a:ln w="8890">
            <a:solidFill>
              <a:srgbClr val="DDF5EF"/>
            </a:solidFill>
            <a:prstDash val="solid"/>
          </a:ln>
        </p:spPr>
        <p:txBody>
          <a:bodyPr/>
          <a:lstStyle/>
          <a:p>
            <a:endParaRPr lang="en-JP"/>
          </a:p>
        </p:txBody>
      </p:sp>
      <p:sp>
        <p:nvSpPr>
          <p:cNvPr id="17" name="Text 15"/>
          <p:cNvSpPr/>
          <p:nvPr/>
        </p:nvSpPr>
        <p:spPr>
          <a:xfrm>
            <a:off x="896112" y="2436876"/>
            <a:ext cx="4809744" cy="237744"/>
          </a:xfrm>
          <a:prstGeom prst="rect">
            <a:avLst/>
          </a:prstGeom>
          <a:noFill/>
          <a:ln/>
        </p:spPr>
        <p:txBody>
          <a:bodyPr wrap="square" lIns="0" tIns="0" rIns="0" bIns="0" rtlCol="0" anchor="ctr">
            <a:normAutofit/>
          </a:bodyPr>
          <a:lstStyle/>
          <a:p>
            <a:pPr marL="0" indent="0" algn="ctr">
              <a:lnSpc>
                <a:spcPct val="100000"/>
              </a:lnSpc>
              <a:buNone/>
            </a:pPr>
            <a:r>
              <a:rPr lang="en-US" sz="1500" b="1" dirty="0">
                <a:solidFill>
                  <a:srgbClr val="1D3957"/>
                </a:solidFill>
                <a:latin typeface="Aptos" pitchFamily="34" charset="0"/>
                <a:ea typeface="Aptos" pitchFamily="34" charset="-122"/>
                <a:cs typeface="Aptos" pitchFamily="34" charset="-120"/>
              </a:rPr>
              <a:t>3. Run notebook (30 min)</a:t>
            </a:r>
            <a:endParaRPr lang="en-US" sz="1500" dirty="0"/>
          </a:p>
        </p:txBody>
      </p:sp>
      <p:sp>
        <p:nvSpPr>
          <p:cNvPr id="18" name="Text 16"/>
          <p:cNvSpPr/>
          <p:nvPr/>
        </p:nvSpPr>
        <p:spPr>
          <a:xfrm>
            <a:off x="896112" y="2706624"/>
            <a:ext cx="4809744"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第1・第2段階の学習を実行</a:t>
            </a:r>
            <a:endParaRPr lang="en-US" sz="1120" dirty="0"/>
          </a:p>
        </p:txBody>
      </p:sp>
      <p:sp>
        <p:nvSpPr>
          <p:cNvPr id="19" name="Shape 17"/>
          <p:cNvSpPr/>
          <p:nvPr/>
        </p:nvSpPr>
        <p:spPr>
          <a:xfrm>
            <a:off x="6245352" y="2368296"/>
            <a:ext cx="5065776" cy="813816"/>
          </a:xfrm>
          <a:prstGeom prst="roundRect">
            <a:avLst>
              <a:gd name="adj" fmla="val 11236"/>
            </a:avLst>
          </a:prstGeom>
          <a:solidFill>
            <a:srgbClr val="DDF5EF"/>
          </a:solidFill>
          <a:ln w="8890">
            <a:solidFill>
              <a:srgbClr val="DDF5EF"/>
            </a:solidFill>
            <a:prstDash val="solid"/>
          </a:ln>
        </p:spPr>
        <p:txBody>
          <a:bodyPr/>
          <a:lstStyle/>
          <a:p>
            <a:endParaRPr lang="en-JP"/>
          </a:p>
        </p:txBody>
      </p:sp>
      <p:sp>
        <p:nvSpPr>
          <p:cNvPr id="20" name="Text 18"/>
          <p:cNvSpPr/>
          <p:nvPr/>
        </p:nvSpPr>
        <p:spPr>
          <a:xfrm>
            <a:off x="6336792" y="2436876"/>
            <a:ext cx="4882896" cy="237744"/>
          </a:xfrm>
          <a:prstGeom prst="rect">
            <a:avLst/>
          </a:prstGeom>
          <a:noFill/>
          <a:ln/>
        </p:spPr>
        <p:txBody>
          <a:bodyPr wrap="square" lIns="0" tIns="0" rIns="0" bIns="0" rtlCol="0" anchor="ctr">
            <a:normAutofit/>
          </a:bodyPr>
          <a:lstStyle/>
          <a:p>
            <a:pPr marL="0" indent="0" algn="ctr">
              <a:lnSpc>
                <a:spcPct val="100000"/>
              </a:lnSpc>
              <a:buNone/>
            </a:pPr>
            <a:r>
              <a:rPr lang="en-US" sz="1500" b="1" dirty="0">
                <a:solidFill>
                  <a:srgbClr val="1D3957"/>
                </a:solidFill>
                <a:latin typeface="Aptos" pitchFamily="34" charset="0"/>
                <a:ea typeface="Aptos" pitchFamily="34" charset="-122"/>
                <a:cs typeface="Aptos" pitchFamily="34" charset="-120"/>
              </a:rPr>
              <a:t>4. Discuss findings (10 min)</a:t>
            </a:r>
            <a:endParaRPr lang="en-US" sz="1500" dirty="0"/>
          </a:p>
        </p:txBody>
      </p:sp>
      <p:sp>
        <p:nvSpPr>
          <p:cNvPr id="21" name="Text 19"/>
          <p:cNvSpPr/>
          <p:nvPr/>
        </p:nvSpPr>
        <p:spPr>
          <a:xfrm>
            <a:off x="6336792" y="2706624"/>
            <a:ext cx="4882896" cy="173736"/>
          </a:xfrm>
          <a:prstGeom prst="rect">
            <a:avLst/>
          </a:prstGeom>
          <a:noFill/>
          <a:ln/>
        </p:spPr>
        <p:txBody>
          <a:bodyPr wrap="square" lIns="0" tIns="0" rIns="0" bIns="0" rtlCol="0" anchor="ctr">
            <a:normAutofit/>
          </a:bodyPr>
          <a:lstStyle/>
          <a:p>
            <a:pPr marL="0" indent="0" algn="ctr">
              <a:lnSpc>
                <a:spcPct val="100000"/>
              </a:lnSpc>
              <a:buNone/>
            </a:pPr>
            <a:r>
              <a:rPr lang="en-US" sz="1120" dirty="0">
                <a:solidFill>
                  <a:srgbClr val="607084"/>
                </a:solidFill>
                <a:latin typeface="Noto Sans CJK JP" pitchFamily="34" charset="0"/>
                <a:ea typeface="Noto Sans CJK JP" pitchFamily="34" charset="-122"/>
                <a:cs typeface="Noto Sans CJK JP" pitchFamily="34" charset="-120"/>
              </a:rPr>
              <a:t>検証損失・誤分類を議論</a:t>
            </a:r>
            <a:endParaRPr lang="en-US" sz="1120" dirty="0"/>
          </a:p>
        </p:txBody>
      </p:sp>
      <p:sp>
        <p:nvSpPr>
          <p:cNvPr id="22" name="Text 20"/>
          <p:cNvSpPr/>
          <p:nvPr/>
        </p:nvSpPr>
        <p:spPr>
          <a:xfrm>
            <a:off x="859536" y="3593592"/>
            <a:ext cx="10515600" cy="338328"/>
          </a:xfrm>
          <a:prstGeom prst="rect">
            <a:avLst/>
          </a:prstGeom>
          <a:noFill/>
          <a:ln/>
        </p:spPr>
        <p:txBody>
          <a:bodyPr wrap="square" lIns="0" tIns="0" rIns="0" bIns="0" rtlCol="0" anchor="ctr">
            <a:normAutofit/>
          </a:bodyPr>
          <a:lstStyle/>
          <a:p>
            <a:pPr marL="0" indent="0" algn="l">
              <a:lnSpc>
                <a:spcPct val="100000"/>
              </a:lnSpc>
              <a:buNone/>
            </a:pPr>
            <a:r>
              <a:rPr lang="en-US" sz="1800" b="1" dirty="0">
                <a:solidFill>
                  <a:srgbClr val="1D3957"/>
                </a:solidFill>
                <a:latin typeface="Aptos" pitchFamily="34" charset="0"/>
                <a:ea typeface="Aptos" pitchFamily="34" charset="-122"/>
                <a:cs typeface="Aptos" pitchFamily="34" charset="-120"/>
              </a:rPr>
              <a:t>Recommended sources / 参考文献</a:t>
            </a:r>
            <a:endParaRPr lang="en-US" sz="1800" dirty="0"/>
          </a:p>
        </p:txBody>
      </p:sp>
      <p:sp>
        <p:nvSpPr>
          <p:cNvPr id="23" name="Text 21"/>
          <p:cNvSpPr/>
          <p:nvPr/>
        </p:nvSpPr>
        <p:spPr>
          <a:xfrm>
            <a:off x="932688" y="4041648"/>
            <a:ext cx="10625328" cy="274320"/>
          </a:xfrm>
          <a:prstGeom prst="rect">
            <a:avLst/>
          </a:prstGeom>
          <a:noFill/>
          <a:ln/>
        </p:spPr>
        <p:txBody>
          <a:bodyPr wrap="square" lIns="0" tIns="0" rIns="0" bIns="0" rtlCol="0" anchor="ctr">
            <a:normAutofit/>
          </a:bodyPr>
          <a:lstStyle/>
          <a:p>
            <a:pPr marL="0" indent="0" algn="l">
              <a:lnSpc>
                <a:spcPct val="100000"/>
              </a:lnSpc>
              <a:buNone/>
            </a:pPr>
            <a:r>
              <a:rPr lang="en-US" sz="1150" dirty="0">
                <a:solidFill>
                  <a:srgbClr val="607084"/>
                </a:solidFill>
                <a:latin typeface="Aptos" pitchFamily="34" charset="0"/>
                <a:ea typeface="Aptos" pitchFamily="34" charset="-122"/>
                <a:cs typeface="Aptos" pitchFamily="34" charset="-120"/>
              </a:rPr>
              <a:t>He et al., Deep Residual Learning for Image Recognition (CVPR 2016) — arxiv.org/abs/1512.03385</a:t>
            </a:r>
            <a:endParaRPr lang="en-US" sz="1150" dirty="0"/>
          </a:p>
        </p:txBody>
      </p:sp>
      <p:sp>
        <p:nvSpPr>
          <p:cNvPr id="24" name="Text 22"/>
          <p:cNvSpPr/>
          <p:nvPr/>
        </p:nvSpPr>
        <p:spPr>
          <a:xfrm>
            <a:off x="932688" y="4434840"/>
            <a:ext cx="10625328" cy="274320"/>
          </a:xfrm>
          <a:prstGeom prst="rect">
            <a:avLst/>
          </a:prstGeom>
          <a:noFill/>
          <a:ln/>
        </p:spPr>
        <p:txBody>
          <a:bodyPr wrap="square" lIns="0" tIns="0" rIns="0" bIns="0" rtlCol="0" anchor="ctr">
            <a:normAutofit/>
          </a:bodyPr>
          <a:lstStyle/>
          <a:p>
            <a:pPr marL="0" indent="0" algn="l">
              <a:lnSpc>
                <a:spcPct val="100000"/>
              </a:lnSpc>
              <a:buNone/>
            </a:pPr>
            <a:r>
              <a:rPr lang="en-US" sz="1150" dirty="0">
                <a:solidFill>
                  <a:srgbClr val="607084"/>
                </a:solidFill>
                <a:latin typeface="Aptos" pitchFamily="34" charset="0"/>
                <a:ea typeface="Aptos" pitchFamily="34" charset="-122"/>
                <a:cs typeface="Aptos" pitchFamily="34" charset="-120"/>
              </a:rPr>
              <a:t>PyTorch Transfer Learning Tutorial — docs.pytorch.org/tutorials/beginner/transfer_learning_tutorial.html</a:t>
            </a:r>
            <a:endParaRPr lang="en-US" sz="1150" dirty="0"/>
          </a:p>
        </p:txBody>
      </p:sp>
      <p:sp>
        <p:nvSpPr>
          <p:cNvPr id="25" name="Text 23"/>
          <p:cNvSpPr/>
          <p:nvPr/>
        </p:nvSpPr>
        <p:spPr>
          <a:xfrm>
            <a:off x="932688" y="4828032"/>
            <a:ext cx="10625328" cy="274320"/>
          </a:xfrm>
          <a:prstGeom prst="rect">
            <a:avLst/>
          </a:prstGeom>
          <a:noFill/>
          <a:ln/>
        </p:spPr>
        <p:txBody>
          <a:bodyPr wrap="square" lIns="0" tIns="0" rIns="0" bIns="0" rtlCol="0" anchor="ctr">
            <a:normAutofit/>
          </a:bodyPr>
          <a:lstStyle/>
          <a:p>
            <a:pPr marL="0" indent="0" algn="l">
              <a:lnSpc>
                <a:spcPct val="100000"/>
              </a:lnSpc>
              <a:buNone/>
            </a:pPr>
            <a:r>
              <a:rPr lang="en-US" sz="1150" dirty="0">
                <a:solidFill>
                  <a:srgbClr val="607084"/>
                </a:solidFill>
                <a:latin typeface="Aptos" pitchFamily="34" charset="0"/>
                <a:ea typeface="Aptos" pitchFamily="34" charset="-122"/>
                <a:cs typeface="Aptos" pitchFamily="34" charset="-120"/>
              </a:rPr>
              <a:t>Torchvision ResNet18 / ResNet50 model documentation — docs.pytorch.org/vision/stable/models/</a:t>
            </a:r>
            <a:endParaRPr lang="en-US" sz="1150" dirty="0"/>
          </a:p>
        </p:txBody>
      </p:sp>
      <p:sp>
        <p:nvSpPr>
          <p:cNvPr id="26" name="Text 24"/>
          <p:cNvSpPr/>
          <p:nvPr/>
        </p:nvSpPr>
        <p:spPr>
          <a:xfrm>
            <a:off x="932688" y="5221224"/>
            <a:ext cx="10625328" cy="274320"/>
          </a:xfrm>
          <a:prstGeom prst="rect">
            <a:avLst/>
          </a:prstGeom>
          <a:noFill/>
          <a:ln/>
        </p:spPr>
        <p:txBody>
          <a:bodyPr wrap="square" lIns="0" tIns="0" rIns="0" bIns="0" rtlCol="0" anchor="ctr">
            <a:normAutofit/>
          </a:bodyPr>
          <a:lstStyle/>
          <a:p>
            <a:pPr marL="0" indent="0" algn="l">
              <a:lnSpc>
                <a:spcPct val="100000"/>
              </a:lnSpc>
              <a:buNone/>
            </a:pPr>
            <a:r>
              <a:rPr lang="en-US" sz="1150" dirty="0">
                <a:solidFill>
                  <a:srgbClr val="607084"/>
                </a:solidFill>
                <a:latin typeface="Aptos" pitchFamily="34" charset="0"/>
                <a:ea typeface="Aptos" pitchFamily="34" charset="-122"/>
                <a:cs typeface="Aptos" pitchFamily="34" charset="-120"/>
              </a:rPr>
              <a:t>TensorFlow flower_photos dataset — tensorflow.org/tutorials/images/classification</a:t>
            </a:r>
            <a:endParaRPr lang="en-US" sz="1150" dirty="0"/>
          </a:p>
        </p:txBody>
      </p:sp>
      <p:sp>
        <p:nvSpPr>
          <p:cNvPr id="27" name="Shape 25"/>
          <p:cNvSpPr/>
          <p:nvPr/>
        </p:nvSpPr>
        <p:spPr>
          <a:xfrm>
            <a:off x="612648" y="5916168"/>
            <a:ext cx="10972800" cy="484632"/>
          </a:xfrm>
          <a:prstGeom prst="roundRect">
            <a:avLst>
              <a:gd name="adj" fmla="val 15094"/>
            </a:avLst>
          </a:prstGeom>
          <a:solidFill>
            <a:srgbClr val="FFF2DD"/>
          </a:solidFill>
          <a:ln w="8890">
            <a:solidFill>
              <a:srgbClr val="FFF2DD"/>
            </a:solidFill>
            <a:prstDash val="solid"/>
          </a:ln>
        </p:spPr>
        <p:txBody>
          <a:bodyPr/>
          <a:lstStyle/>
          <a:p>
            <a:endParaRPr lang="en-JP"/>
          </a:p>
        </p:txBody>
      </p:sp>
      <p:sp>
        <p:nvSpPr>
          <p:cNvPr id="28" name="Text 26"/>
          <p:cNvSpPr/>
          <p:nvPr/>
        </p:nvSpPr>
        <p:spPr>
          <a:xfrm>
            <a:off x="768096" y="5952744"/>
            <a:ext cx="5029200" cy="182880"/>
          </a:xfrm>
          <a:prstGeom prst="rect">
            <a:avLst/>
          </a:prstGeom>
          <a:noFill/>
          <a:ln/>
        </p:spPr>
        <p:txBody>
          <a:bodyPr wrap="square" lIns="0" tIns="0" rIns="0" bIns="0" rtlCol="0" anchor="ctr">
            <a:normAutofit lnSpcReduction="10000"/>
          </a:bodyPr>
          <a:lstStyle/>
          <a:p>
            <a:pPr marL="0" indent="0" algn="l">
              <a:lnSpc>
                <a:spcPct val="100000"/>
              </a:lnSpc>
              <a:buNone/>
            </a:pPr>
            <a:r>
              <a:rPr lang="en-US" sz="1210" b="1" dirty="0">
                <a:solidFill>
                  <a:srgbClr val="1D3957"/>
                </a:solidFill>
                <a:latin typeface="Aptos" pitchFamily="34" charset="0"/>
                <a:ea typeface="Aptos" pitchFamily="34" charset="-122"/>
                <a:cs typeface="Aptos" pitchFamily="34" charset="-120"/>
              </a:rPr>
              <a:t>Download datasets and pretrained weights before class.</a:t>
            </a:r>
            <a:endParaRPr lang="en-US" sz="1210" dirty="0"/>
          </a:p>
        </p:txBody>
      </p:sp>
      <p:sp>
        <p:nvSpPr>
          <p:cNvPr id="29" name="Text 27"/>
          <p:cNvSpPr/>
          <p:nvPr/>
        </p:nvSpPr>
        <p:spPr>
          <a:xfrm>
            <a:off x="5760720" y="5943600"/>
            <a:ext cx="5669280" cy="219456"/>
          </a:xfrm>
          <a:prstGeom prst="rect">
            <a:avLst/>
          </a:prstGeom>
          <a:noFill/>
          <a:ln/>
        </p:spPr>
        <p:txBody>
          <a:bodyPr wrap="square" lIns="0" tIns="0" rIns="0" bIns="0" rtlCol="0" anchor="ctr">
            <a:normAutofit/>
          </a:bodyPr>
          <a:lstStyle/>
          <a:p>
            <a:pPr marL="0" indent="0" algn="l">
              <a:lnSpc>
                <a:spcPct val="100000"/>
              </a:lnSpc>
              <a:buNone/>
            </a:pPr>
            <a:r>
              <a:rPr lang="en-US" sz="1210" dirty="0">
                <a:solidFill>
                  <a:srgbClr val="1D3957"/>
                </a:solidFill>
                <a:latin typeface="Noto Sans CJK JP" pitchFamily="34" charset="0"/>
                <a:ea typeface="Noto Sans CJK JP" pitchFamily="34" charset="-122"/>
                <a:cs typeface="Noto Sans CJK JP" pitchFamily="34" charset="-120"/>
              </a:rPr>
              <a:t>授業前に画像データと学習済み重みをダウンロードしましょう。</a:t>
            </a:r>
            <a:endParaRPr lang="en-US" sz="121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542</TotalTime>
  <Words>3866</Words>
  <Application>Microsoft Macintosh PowerPoint</Application>
  <PresentationFormat>Widescreen</PresentationFormat>
  <Paragraphs>642</Paragraphs>
  <Slides>29</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Noto Sans CJK JP</vt:lpstr>
      <vt:lpstr>Aptos</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Flower Classification with Pretrained ResNet18 and ResNet50 / 学習済みResNetによる花画像分類</dc:title>
  <dc:subject>Bilingual ResNet transfer learning with Flower dataset</dc:subject>
  <dc:creator>OpenAI</dc:creator>
  <cp:lastModifiedBy>Matus Tanonwong</cp:lastModifiedBy>
  <cp:revision>5</cp:revision>
  <dcterms:created xsi:type="dcterms:W3CDTF">2026-10-21T00:19:31Z</dcterms:created>
  <dcterms:modified xsi:type="dcterms:W3CDTF">2026-10-21T09:29:19Z</dcterms:modified>
</cp:coreProperties>
</file>