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8695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33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Introduce the follow-up to MNIST: now the images are RGB color photographs with complex backgrounds. Photo-style illustrations are not sample images from the original dataset.</a:t>
            </a:r>
          </a:p>
          <a:p>
            <a:endParaRPr/>
          </a:p>
          <a:p>
            <a:r>
              <a:t>講師用メモ（日本語）：MNISTの次に、RGBカラー画像を扱います。スライドの花画像は説明用イラストで、元のデータセットから取得した実画像ではありません。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Review MNIST concepts quickly; spend more time on RGB, data augmentation, and training on a realistic dataset.</a:t>
            </a:r>
          </a:p>
          <a:p>
            <a:endParaRPr/>
          </a:p>
          <a:p>
            <a:r>
              <a:t>講師用メモ（日本語）：MNISTで学んだ畳み込みやプーリングを復習し、カラー画像・データ拡張・実際の学習に重点を置きます。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This slide compares the network inputs in the two teaching notebooks, not the native raw sizes of all flower photos.</a:t>
            </a:r>
          </a:p>
          <a:p>
            <a:endParaRPr/>
          </a:p>
          <a:p>
            <a:r>
              <a:t>講師用メモ（日本語）：花画像の96×96はノートブックでリサイズした後の入力サイズです。元画像の解像度はそれぞれ異なります。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There are five folders and ImageFolder assigns labels alphabetically. These pictures are illustrative, not direct dataset photographs.</a:t>
            </a:r>
          </a:p>
          <a:p>
            <a:endParaRPr/>
          </a:p>
          <a:p>
            <a:r>
              <a:t>講師用メモ（日本語）：5種類のフォルダをImageFolderが読み込み、辞書順にラベルを割り当てます。写真風のイラストは説明用です。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Explain each RGB channel is one numeric image. Together they allow the CNN to use color as well as shape.</a:t>
            </a:r>
          </a:p>
          <a:p>
            <a:endParaRPr/>
          </a:p>
          <a:p>
            <a:r>
              <a:t>講師用メモ（日本語）：RGBは赤・緑・青という3つの数値画像を組み合わせます。CNNは形だけでなく色も使えます。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The dataset is downloaded from TensorFlow sample data but trained entirely in PyTorch. The first download may take some time.</a:t>
            </a:r>
          </a:p>
          <a:p>
            <a:endParaRPr/>
          </a:p>
          <a:p>
            <a:r>
              <a:t>講師用メモ（日本語）：データセットはTensorFlowの公開サンプルを使用しますが、学習はPyTorchで行います。初回ダウンロードには時間がかかります。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The notebook uses a 70/15/15 stratified image-level split. It prevents the identical image from crossing splits, though similar photos can still occur.</a:t>
            </a:r>
          </a:p>
          <a:p>
            <a:endParaRPr/>
          </a:p>
          <a:p>
            <a:r>
              <a:t>講師用メモ（日本語）：ノートブックでは画像単位の層化分割を使います。同じ画像の重複は防げますが、よく似た画像が混ざる可能性には注意します。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The model expects all images in a batch to have the same height and width. Normalize is per channel with mean and std 0.5, mapping [0,1] to [-1,1].</a:t>
            </a:r>
          </a:p>
          <a:p>
            <a:endParaRPr/>
          </a:p>
          <a:p>
            <a:r>
              <a:t>講師用メモ（日本語）：画像を96×96に変え、ToTensorで0〜1へ、Normalizeでほぼ−1〜1へ変換します。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The notebook applies RandomHorizontalFlip(p=0.5) and RandomRotation(degrees=15) to training images only. The illustrations on this slide are transformations of one illustration, not source dataset photos.</a:t>
            </a:r>
          </a:p>
          <a:p>
            <a:endParaRPr/>
          </a:p>
          <a:p>
            <a:r>
              <a:t>講師用メモ（日本語）：同じイラストに左右反転や回転を加えています。実データでは学習画像だけにデータ拡張を実行します。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Shapes are from the actual FlowerCNN in the notebook (96x96 with padding 1, three pools, adaptive average pooling).</a:t>
            </a:r>
          </a:p>
          <a:p>
            <a:endParaRPr/>
          </a:p>
          <a:p>
            <a:r>
              <a:t>講師用メモ（日本語）：すべてノートブックのFlowerCNNと一致します。Conv2dはpadding=1、Poolは2×2、最後にAdaptiveAvgPool2d(1)です。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Important detail: Conv1 kernel weights are shaped [16,3,3,3], not 16 separate single-channel 3x3 kernels. Every output filter spans all input channels.</a:t>
            </a:r>
          </a:p>
          <a:p>
            <a:endParaRPr/>
          </a:p>
          <a:p>
            <a:r>
              <a:t>講師用メモ（日本語）：Conv1の重み形状は[16,3,3,3]です。出力16チャネルの各フィルタはRGBの3チャネルすべてに対応します。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Check each shape in the notebook. First layer changes channel count 3 to 16. Each 2×2 max-pool halves spatial size. Average pooling ends at 64 numbers.</a:t>
            </a:r>
          </a:p>
          <a:p>
            <a:endParaRPr/>
          </a:p>
          <a:p>
            <a:r>
              <a:t>講師用メモ（日本語）：形状を一段ずつ確認しましょう。MaxPoolで縦横を半分にし、AdaptiveAvgPoolで64チャネルを64個の値に集約します。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Model code excerpt is taken from FlowerCNN definition in the notebook. The forward() method applies Conv → ReLU → Pool 3 times, then head.</a:t>
            </a:r>
          </a:p>
          <a:p>
            <a:endParaRPr/>
          </a:p>
          <a:p>
            <a:r>
              <a:t>講師用メモ（日本語）：ノートブックのモデル定義と同じです。forward()では3回Conv→ReLU→Poolを適用し、最後にheadで分類します。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GAP averages all 12x12 positions in each of 64 channels, leaving one scalar per channel. Then the classifier has 64x5 +5 = 325 parameters.</a:t>
            </a:r>
          </a:p>
          <a:p>
            <a:endParaRPr/>
          </a:p>
          <a:p>
            <a:r>
              <a:t>講師用メモ（日本語）：64枚の12×12特徴マップをそれぞれ平均し、64個の数値へ変換します。最後のLinear(64,5)の重み・バイアスは325個です。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Notebook validation and test transformations use Resize, ToTensor, Normalize but no random augmentation. The displayed snippet is intentionally abbreviated.</a:t>
            </a:r>
          </a:p>
          <a:p>
            <a:endParaRPr/>
          </a:p>
          <a:p>
            <a:r>
              <a:t>講師用メモ（日本語）：学習データのみランダム変換します。検証・テストでは再現できる評価のためランダム拡張は行いません。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CrossEntropyLoss expects unnormalized logits and class indices. Adam adjusts parameters from gradients. The training loop repeats batches and epochs.</a:t>
            </a:r>
          </a:p>
          <a:p>
            <a:endParaRPr/>
          </a:p>
          <a:p>
            <a:r>
              <a:t>講師用メモ（日本語）：交差エントロピー損失にはsoftmax前のlogitと正解ラベルを入力します。Adamで重みを更新します。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Training configuration comes directly from the notebook: image 96, batch 64, epochs 3, learning rate 0.001.</a:t>
            </a:r>
          </a:p>
          <a:p>
            <a:endParaRPr/>
          </a:p>
          <a:p>
            <a:r>
              <a:t>講師用メモ（日本語）：ノートブックと同じパラメータです。3エポックは授業中の確認用で、必ずしも十分な性能を得る回数ではありません。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The plot is synthetic and not measured results. An increasing validation loss while training loss decreases is a warning sign of possible overfitting.</a:t>
            </a:r>
          </a:p>
          <a:p>
            <a:endParaRPr/>
          </a:p>
          <a:p>
            <a:r>
              <a:t>講師用メモ（日本語）：グラフは架空の説明用です。学習損失が減っても検証損失が上がるなら過学習を疑います。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This matrix is a schematic. Your notebook will calculate the actual one after training. Rows are actual labels, columns are predictions.</a:t>
            </a:r>
          </a:p>
          <a:p>
            <a:endParaRPr/>
          </a:p>
          <a:p>
            <a:r>
              <a:t>講師用メモ（日本語）：図は説明用の混同行列であり、ノートブックの実測結果ではありません。行が正解、列が予測です。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Use notebook code to show actual learned feature maps. This slide instead uses hand-crafted Sobel/Gaussian maps as an illustration of how maps might respond to edges, texture, etc.</a:t>
            </a:r>
          </a:p>
          <a:p>
            <a:endParaRPr/>
          </a:p>
          <a:p>
            <a:r>
              <a:t>講師用メモ（日本語）：スライドの特徴マップは手作りのフィルタによる説明図で、学習したCNNの実際の出力ではありません。実測値はノートブックのforward hookで確認します。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Softmax outputs are not necessarily calibrated probabilities. The score values in this illustration are hypothetical.</a:t>
            </a:r>
          </a:p>
          <a:p>
            <a:endParaRPr/>
          </a:p>
          <a:p>
            <a:r>
              <a:t>講師用メモ（日本語）：softmaxの値は必ずしも正確に校正された確率ではありません。この例のスコアは架空の数値です。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In the notebook, plot up to 8 real misclassified test photos and study the true label, predicted label, confidence, and visual context.</a:t>
            </a:r>
          </a:p>
          <a:p>
            <a:endParaRPr/>
          </a:p>
          <a:p>
            <a:r>
              <a:t>講師用メモ（日本語）：ノートブックでは実際のテスト画像の誤分類例を最大8枚表示し、正解・予測・softmaxスコアを確認します。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For a controlled experiment, change only one variable, keep split fixed, create a fresh model and data loaders as needed, retrain and compare.</a:t>
            </a:r>
          </a:p>
          <a:p>
            <a:endParaRPr/>
          </a:p>
          <a:p>
            <a:r>
              <a:t>講師用メモ（日本語）：比較する条件は1つに限定し、分割を固定します。変更内容によっては変換やデータローダーを作り直し、新しいモデルを学習してください。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Answers: RGB has three color channels; validation/test need stable unbiased measurement; confusion matrix shows per-class correct and incorrect labels.</a:t>
            </a:r>
          </a:p>
          <a:p>
            <a:endParaRPr/>
          </a:p>
          <a:p>
            <a:r>
              <a:t>講師用メモ（日本語）：回答例：RGBは赤緑青の3チャネル、検証・テストでは評価の一貫性が大切、混同行列はクラスごとの正解と誤分類を示します。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 (English): Source dataset: https://storage.googleapis.com/download.tensorflow.org/example_images/flower_photos.tgz. Teaching notebook: 02_Flowers_CNN_EN_JA.ipynb. All synthetic illustrations are identified as such.</a:t>
            </a:r>
          </a:p>
          <a:p>
            <a:endParaRPr/>
          </a:p>
          <a:p>
            <a:r>
              <a:t>講師用メモ（日本語）：データセット配布元：https://storage.googleapis.com/download.tensorflow.org/example_images/flower_photos.tgz 。対応ノートブックは02_Flowers_CNN_EN_JA.ipynbです。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g"/><Relationship Id="rId11" Type="http://schemas.openxmlformats.org/officeDocument/2006/relationships/image" Target="../media/image9.png"/><Relationship Id="rId5" Type="http://schemas.openxmlformats.org/officeDocument/2006/relationships/image" Target="../media/image4.jpg"/><Relationship Id="rId10" Type="http://schemas.openxmlformats.org/officeDocument/2006/relationships/image" Target="../media/image8.png"/><Relationship Id="rId4" Type="http://schemas.openxmlformats.org/officeDocument/2006/relationships/image" Target="../media/image3.jp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768096"/>
            <a:ext cx="7315200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1E3D7"/>
                </a:solidFill>
                <a:latin typeface="Aptos"/>
              </a:rPr>
              <a:t>DEEP LEARNING • HANDS-ON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6858000" cy="65836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ptos"/>
              </a:rPr>
              <a:t>Classifying Flowers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5852160" cy="6400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with a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53512"/>
            <a:ext cx="6675120" cy="45720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DCEDEB"/>
                </a:solidFill>
                <a:latin typeface="Noto Sans CJK JP"/>
              </a:rPr>
              <a:t>CNNで花の画像を分類しよう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858768"/>
            <a:ext cx="676656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FDDE8"/>
                </a:solidFill>
                <a:latin typeface="Aptos"/>
              </a:rPr>
              <a:t>PyTorch • Five flower classes • RGB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4709160"/>
            <a:ext cx="4023360" cy="347472"/>
          </a:xfrm>
          <a:prstGeom prst="roundRect">
            <a:avLst>
              <a:gd name="adj" fmla="val 9000"/>
            </a:avLst>
          </a:prstGeom>
          <a:solidFill>
            <a:srgbClr val="27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748479"/>
            <a:ext cx="389534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Notebook 2  /  ノートブック2</a:t>
            </a:r>
          </a:p>
        </p:txBody>
      </p:sp>
      <p:pic>
        <p:nvPicPr>
          <p:cNvPr id="10" name="Picture 9" descr="daisy.jpg"/>
          <p:cNvPicPr>
            <a:picLocks noChangeAspect="1"/>
          </p:cNvPicPr>
          <p:nvPr/>
        </p:nvPicPr>
        <p:blipFill>
          <a:blip r:embed="rId3"/>
          <a:srcRect l="15539" r="15539"/>
          <a:stretch>
            <a:fillRect/>
          </a:stretch>
        </p:blipFill>
        <p:spPr>
          <a:xfrm>
            <a:off x="7699248" y="822960"/>
            <a:ext cx="3447288" cy="5001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What will we do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今日の学習目標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73936"/>
            <a:ext cx="5212080" cy="13807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911095"/>
            <a:ext cx="411480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950415"/>
            <a:ext cx="28346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20824"/>
            <a:ext cx="4251960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Aptos"/>
              </a:rPr>
              <a:t>Understand RGB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05456"/>
            <a:ext cx="425196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RGB画像の仕組み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73936"/>
            <a:ext cx="5212080" cy="13807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1911095"/>
            <a:ext cx="411480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1950415"/>
            <a:ext cx="28346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2020824"/>
            <a:ext cx="4251960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Aptos"/>
              </a:rPr>
              <a:t>Prepare and augment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2505456"/>
            <a:ext cx="425196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画像の前処理とデータ拡張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64991"/>
            <a:ext cx="5212080" cy="1380744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3502151"/>
            <a:ext cx="411480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541471"/>
            <a:ext cx="28346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11879"/>
            <a:ext cx="4251960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Aptos"/>
              </a:rPr>
              <a:t>Build a flower 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96511"/>
            <a:ext cx="425196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花分類用CNNの構築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64991"/>
            <a:ext cx="5212080" cy="13807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0" y="3502151"/>
            <a:ext cx="411480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3541471"/>
            <a:ext cx="28346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611879"/>
            <a:ext cx="4251960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Aptos"/>
              </a:rPr>
              <a:t>Evaluate and visualize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4096511"/>
            <a:ext cx="425196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学習結果を評価・可視化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5376672"/>
            <a:ext cx="6089904" cy="34747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27248" y="5415991"/>
            <a:ext cx="5961888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Recommended: 65–85 min  /  目安：約65〜85分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From MNIST to real photographs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MNISTから実際の写真へ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773936"/>
            <a:ext cx="5221224" cy="41879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912" y="1773936"/>
            <a:ext cx="5358384" cy="41879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56816"/>
            <a:ext cx="4709160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677B8"/>
                </a:solidFill>
                <a:latin typeface="Aptos"/>
              </a:rPr>
              <a:t>MNIST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1956816"/>
            <a:ext cx="4846320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8E91"/>
                </a:solidFill>
                <a:latin typeface="Aptos"/>
              </a:rPr>
              <a:t>Flowers / 花の画像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2576" y="2587752"/>
            <a:ext cx="1828800" cy="1746504"/>
          </a:xfrm>
          <a:prstGeom prst="roundRect">
            <a:avLst>
              <a:gd name="adj" fmla="val 9000"/>
            </a:avLst>
          </a:prstGeom>
          <a:solidFill>
            <a:srgbClr val="11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42032" y="2670048"/>
            <a:ext cx="1399032" cy="152704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pic>
        <p:nvPicPr>
          <p:cNvPr id="15" name="Picture 14" descr="sunflowers.jpg"/>
          <p:cNvPicPr>
            <a:picLocks noChangeAspect="1"/>
          </p:cNvPicPr>
          <p:nvPr/>
        </p:nvPicPr>
        <p:blipFill>
          <a:blip r:embed="rId3"/>
          <a:srcRect t="4651" b="4651"/>
          <a:stretch>
            <a:fillRect/>
          </a:stretch>
        </p:blipFill>
        <p:spPr>
          <a:xfrm>
            <a:off x="7818120" y="2587752"/>
            <a:ext cx="1965960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568" y="4608576"/>
            <a:ext cx="4398264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334F"/>
                </a:solidFill>
                <a:latin typeface="Aptos"/>
              </a:rPr>
              <a:t>1 × 28 × 28  •  grayscale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608576"/>
            <a:ext cx="4517136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334F"/>
                </a:solidFill>
                <a:latin typeface="Aptos"/>
              </a:rPr>
              <a:t>3 × 96 × 96  •  RGB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5020056"/>
            <a:ext cx="4562856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66F83"/>
                </a:solidFill>
                <a:latin typeface="Noto Sans CJK JP"/>
              </a:rPr>
              <a:t>10 digits / 10種類の数字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5020056"/>
            <a:ext cx="4645152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66F83"/>
                </a:solidFill>
                <a:latin typeface="Noto Sans CJK JP"/>
              </a:rPr>
              <a:t>5 flowers / 5種類の花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6044184"/>
            <a:ext cx="10515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Aptos"/>
              </a:rPr>
              <a:t>Real photographs vary in lighting, viewpoint, scale, and background.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What are the five flower classes?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分類する花は何種類？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487" y="1965960"/>
            <a:ext cx="2139696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aisy.jpg"/>
          <p:cNvPicPr>
            <a:picLocks noChangeAspect="1"/>
          </p:cNvPicPr>
          <p:nvPr/>
        </p:nvPicPr>
        <p:blipFill>
          <a:blip r:embed="rId3"/>
          <a:srcRect l="1835" r="1835"/>
          <a:stretch>
            <a:fillRect/>
          </a:stretch>
        </p:blipFill>
        <p:spPr>
          <a:xfrm>
            <a:off x="432215" y="2103120"/>
            <a:ext cx="1920240" cy="1993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5639" y="4270248"/>
            <a:ext cx="2002536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30" b="1" i="0">
                <a:solidFill>
                  <a:srgbClr val="19334F"/>
                </a:solidFill>
                <a:latin typeface="Aptos"/>
              </a:rPr>
              <a:t>Daisy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639" y="4690872"/>
            <a:ext cx="2002536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デイジー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3351" y="1965960"/>
            <a:ext cx="2139696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andelion.jpg"/>
          <p:cNvPicPr>
            <a:picLocks noChangeAspect="1"/>
          </p:cNvPicPr>
          <p:nvPr/>
        </p:nvPicPr>
        <p:blipFill>
          <a:blip r:embed="rId4"/>
          <a:srcRect l="1835" r="1835"/>
          <a:stretch>
            <a:fillRect/>
          </a:stretch>
        </p:blipFill>
        <p:spPr>
          <a:xfrm>
            <a:off x="2773079" y="2103120"/>
            <a:ext cx="1920240" cy="1993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36503" y="4270248"/>
            <a:ext cx="2002536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30" b="1" i="0">
                <a:solidFill>
                  <a:srgbClr val="19334F"/>
                </a:solidFill>
                <a:latin typeface="Aptos"/>
              </a:rPr>
              <a:t>Dandelion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6503" y="4690872"/>
            <a:ext cx="2002536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タンポポ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4215" y="1965960"/>
            <a:ext cx="2139696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roses.jpg"/>
          <p:cNvPicPr>
            <a:picLocks noChangeAspect="1"/>
          </p:cNvPicPr>
          <p:nvPr/>
        </p:nvPicPr>
        <p:blipFill>
          <a:blip r:embed="rId5"/>
          <a:srcRect l="1835" r="1835"/>
          <a:stretch>
            <a:fillRect/>
          </a:stretch>
        </p:blipFill>
        <p:spPr>
          <a:xfrm>
            <a:off x="5113943" y="2103120"/>
            <a:ext cx="1920240" cy="1993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7367" y="4270248"/>
            <a:ext cx="2002536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30" b="1" i="0">
                <a:solidFill>
                  <a:srgbClr val="19334F"/>
                </a:solidFill>
                <a:latin typeface="Aptos"/>
              </a:rPr>
              <a:t>Roses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7367" y="4690872"/>
            <a:ext cx="2002536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バラ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5078" y="1965960"/>
            <a:ext cx="2139696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unflowers.jpg"/>
          <p:cNvPicPr>
            <a:picLocks noChangeAspect="1"/>
          </p:cNvPicPr>
          <p:nvPr/>
        </p:nvPicPr>
        <p:blipFill>
          <a:blip r:embed="rId6"/>
          <a:srcRect l="1835" r="1835"/>
          <a:stretch>
            <a:fillRect/>
          </a:stretch>
        </p:blipFill>
        <p:spPr>
          <a:xfrm>
            <a:off x="7454806" y="2103120"/>
            <a:ext cx="1920240" cy="19933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18230" y="4270248"/>
            <a:ext cx="2002536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30" b="1" i="0">
                <a:solidFill>
                  <a:srgbClr val="19334F"/>
                </a:solidFill>
                <a:latin typeface="Aptos"/>
              </a:rPr>
              <a:t>Sunflowers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8230" y="4690872"/>
            <a:ext cx="2002536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ヒマワリ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85943" y="1965960"/>
            <a:ext cx="2139696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tulips.jpg"/>
          <p:cNvPicPr>
            <a:picLocks noChangeAspect="1"/>
          </p:cNvPicPr>
          <p:nvPr/>
        </p:nvPicPr>
        <p:blipFill>
          <a:blip r:embed="rId7"/>
          <a:srcRect l="1835" r="1835"/>
          <a:stretch>
            <a:fillRect/>
          </a:stretch>
        </p:blipFill>
        <p:spPr>
          <a:xfrm>
            <a:off x="9795670" y="2103120"/>
            <a:ext cx="1920240" cy="19933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59095" y="4270248"/>
            <a:ext cx="2002536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30" b="1" i="0">
                <a:solidFill>
                  <a:srgbClr val="19334F"/>
                </a:solidFill>
                <a:latin typeface="Aptos"/>
              </a:rPr>
              <a:t>Tulips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9095" y="4690872"/>
            <a:ext cx="2002536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チューリップ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696712"/>
            <a:ext cx="1078992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Aptos"/>
              </a:rPr>
              <a:t>Illustrative flowers; actual training images are downloaded in the notebook.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016752"/>
            <a:ext cx="10789920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66F83"/>
                </a:solidFill>
                <a:latin typeface="Noto Sans CJK JP"/>
              </a:rPr>
              <a:t>イラストは説明用です。実際の学習画像はノートブックでダウンロードします。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9CC028F-1FAF-6D37-1FB3-9B44F3EC12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17" y="2110232"/>
            <a:ext cx="1927338" cy="19862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E7E5341-1537-5D1B-741A-01E5DC41C4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1894" y="2103120"/>
            <a:ext cx="1938528" cy="199339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A087748-E11D-272E-E81E-54DA11A261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3943" y="2103120"/>
            <a:ext cx="1920240" cy="199339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0B8AC67-0FB8-4587-618D-72AE5FD8DE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4806" y="2103120"/>
            <a:ext cx="1920240" cy="19933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8B44A1F-1C92-FF11-DF37-FC471F3797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5669" y="2122452"/>
            <a:ext cx="1920240" cy="1974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RGB means three color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RGB画像は3つのチャネルを持つ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05</a:t>
            </a:r>
          </a:p>
        </p:txBody>
      </p:sp>
      <p:pic>
        <p:nvPicPr>
          <p:cNvPr id="9" name="Picture 8" descr="sunflowers.jpg"/>
          <p:cNvPicPr>
            <a:picLocks noChangeAspect="1"/>
          </p:cNvPicPr>
          <p:nvPr/>
        </p:nvPicPr>
        <p:blipFill>
          <a:blip r:embed="rId3"/>
          <a:srcRect l="746" r="746"/>
          <a:stretch>
            <a:fillRect/>
          </a:stretch>
        </p:blipFill>
        <p:spPr>
          <a:xfrm>
            <a:off x="832104" y="1847088"/>
            <a:ext cx="3017520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084064"/>
            <a:ext cx="3072384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273B4F"/>
                </a:solidFill>
                <a:latin typeface="Noto Sans CJK JP"/>
              </a:rPr>
              <a:t>Color image / カラー画像</a:t>
            </a:r>
          </a:p>
        </p:txBody>
      </p:sp>
      <p:pic>
        <p:nvPicPr>
          <p:cNvPr id="11" name="Picture 10" descr="channel_R.png"/>
          <p:cNvPicPr>
            <a:picLocks noChangeAspect="1"/>
          </p:cNvPicPr>
          <p:nvPr/>
        </p:nvPicPr>
        <p:blipFill>
          <a:blip r:embed="rId4"/>
          <a:srcRect l="1142" r="1142"/>
          <a:stretch>
            <a:fillRect/>
          </a:stretch>
        </p:blipFill>
        <p:spPr>
          <a:xfrm>
            <a:off x="4617720" y="2194560"/>
            <a:ext cx="1956816" cy="20025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4517136"/>
            <a:ext cx="1956816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334F"/>
                </a:solidFill>
                <a:latin typeface="Noto Sans CJK JP"/>
              </a:rPr>
              <a:t>Red / 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5020056"/>
            <a:ext cx="658368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30952" y="5059375"/>
            <a:ext cx="530352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R</a:t>
            </a:r>
          </a:p>
        </p:txBody>
      </p:sp>
      <p:pic>
        <p:nvPicPr>
          <p:cNvPr id="15" name="Picture 14" descr="channel_G.png"/>
          <p:cNvPicPr>
            <a:picLocks noChangeAspect="1"/>
          </p:cNvPicPr>
          <p:nvPr/>
        </p:nvPicPr>
        <p:blipFill>
          <a:blip r:embed="rId5"/>
          <a:srcRect l="1142" r="1142"/>
          <a:stretch>
            <a:fillRect/>
          </a:stretch>
        </p:blipFill>
        <p:spPr>
          <a:xfrm>
            <a:off x="6885431" y="2194560"/>
            <a:ext cx="1956816" cy="2002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85431" y="4517136"/>
            <a:ext cx="1956816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334F"/>
                </a:solidFill>
                <a:latin typeface="Noto Sans CJK JP"/>
              </a:rPr>
              <a:t>Green / 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5" y="5020056"/>
            <a:ext cx="658368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98663" y="5059375"/>
            <a:ext cx="530352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G</a:t>
            </a:r>
          </a:p>
        </p:txBody>
      </p:sp>
      <p:pic>
        <p:nvPicPr>
          <p:cNvPr id="19" name="Picture 18" descr="channel_B.png"/>
          <p:cNvPicPr>
            <a:picLocks noChangeAspect="1"/>
          </p:cNvPicPr>
          <p:nvPr/>
        </p:nvPicPr>
        <p:blipFill>
          <a:blip r:embed="rId6"/>
          <a:srcRect l="1142" r="1142"/>
          <a:stretch>
            <a:fillRect/>
          </a:stretch>
        </p:blipFill>
        <p:spPr>
          <a:xfrm>
            <a:off x="9153144" y="2194560"/>
            <a:ext cx="1956816" cy="20025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53144" y="4517136"/>
            <a:ext cx="1956816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334F"/>
                </a:solidFill>
                <a:latin typeface="Noto Sans CJK JP"/>
              </a:rPr>
              <a:t>Blue / 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7" y="5020056"/>
            <a:ext cx="658368" cy="34747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66376" y="5059375"/>
            <a:ext cx="530352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5769864"/>
            <a:ext cx="8997696" cy="35661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334F"/>
                </a:solidFill>
                <a:latin typeface="Aptos"/>
              </a:rPr>
              <a:t>Shape = (3, 96, 96) = channels × height × width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DATA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Folder names become class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フォルダ名がクラスラベルになる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19656"/>
            <a:ext cx="5202936" cy="3849624"/>
          </a:xfrm>
          <a:prstGeom prst="roundRect">
            <a:avLst>
              <a:gd name="adj" fmla="val 9000"/>
            </a:avLst>
          </a:prstGeom>
          <a:solidFill>
            <a:srgbClr val="ECF3FA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02536"/>
            <a:ext cx="4837176" cy="3557016"/>
          </a:xfrm>
          <a:prstGeom prst="rect">
            <a:avLst/>
          </a:prstGeom>
          <a:noFill/>
        </p:spPr>
        <p:txBody>
          <a:bodyPr wrap="square" lIns="914" tIns="22860" rIns="914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334F"/>
                </a:solidFill>
                <a:latin typeface="DejaVu Sans Mono"/>
              </a:rPr>
              <a:t>flower_data/
  flower_photos/
    daisy/
    dandelion/
    roses/
    sunflowers/
    tulips/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19656"/>
            <a:ext cx="5266944" cy="3867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57984"/>
            <a:ext cx="4617720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334F"/>
                </a:solidFill>
                <a:latin typeface="Aptos"/>
              </a:rPr>
              <a:t>ImageFolder reads folder labels.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79776"/>
            <a:ext cx="461772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ImageFolderはフォルダ名からラベルを読み取ります。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858768"/>
            <a:ext cx="4572000" cy="1161288"/>
          </a:xfrm>
          <a:prstGeom prst="roundRect">
            <a:avLst>
              <a:gd name="adj" fmla="val 9000"/>
            </a:avLst>
          </a:prstGeom>
          <a:solidFill>
            <a:srgbClr val="ECF3FA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4041648"/>
            <a:ext cx="4206240" cy="868680"/>
          </a:xfrm>
          <a:prstGeom prst="rect">
            <a:avLst/>
          </a:prstGeom>
          <a:noFill/>
        </p:spPr>
        <p:txBody>
          <a:bodyPr wrap="square" lIns="914" tIns="22860" rIns="914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9334F"/>
                </a:solidFill>
                <a:latin typeface="DejaVu Sans Mono"/>
              </a:rPr>
              <a:t>base = datasets.ImageFolder(FLOWER_DIR)
class_names = base.classes
labels = base.targets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952744"/>
            <a:ext cx="10451592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Aptos"/>
              </a:rPr>
              <a:t>Source: TensorFlow flower_photos (~3,670 images)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Why split into three datasets?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なぜ学習・検証・テストに分ける？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1901952"/>
            <a:ext cx="3520440" cy="322783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E8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221992"/>
            <a:ext cx="3227832" cy="62179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9334F"/>
                </a:solidFill>
                <a:latin typeface="Aptos"/>
              </a:rP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72384"/>
            <a:ext cx="3264408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Noto Sans CJK JP"/>
              </a:rPr>
              <a:t>Training / 学習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721608"/>
            <a:ext cx="3136392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0" i="0">
                <a:solidFill>
                  <a:srgbClr val="273B4F"/>
                </a:solidFill>
                <a:latin typeface="Aptos"/>
              </a:rPr>
              <a:t>Update CNN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178808"/>
            <a:ext cx="3108960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66F83"/>
                </a:solidFill>
                <a:latin typeface="Noto Sans CJK JP"/>
              </a:rPr>
              <a:t>重みの学習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1901952"/>
            <a:ext cx="3520440" cy="322783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 w="10160">
            <a:solidFill>
              <a:srgbClr val="EC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8" y="2221992"/>
            <a:ext cx="3227832" cy="62179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9334F"/>
                </a:solidFill>
                <a:latin typeface="Aptos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072384"/>
            <a:ext cx="3264408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Noto Sans CJK JP"/>
              </a:rPr>
              <a:t>Validation / 検証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3721608"/>
            <a:ext cx="3136392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0" i="0">
                <a:solidFill>
                  <a:srgbClr val="273B4F"/>
                </a:solidFill>
                <a:latin typeface="Aptos"/>
              </a:rPr>
              <a:t>Select model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178808"/>
            <a:ext cx="3108960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66F83"/>
                </a:solidFill>
                <a:latin typeface="Noto Sans CJK JP"/>
              </a:rPr>
              <a:t>モデルを選ぶ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19" y="1901952"/>
            <a:ext cx="3520440" cy="3227832"/>
          </a:xfrm>
          <a:prstGeom prst="roundRect">
            <a:avLst>
              <a:gd name="adj" fmla="val 9000"/>
            </a:avLst>
          </a:prstGeom>
          <a:solidFill>
            <a:srgbClr val="FFF3E4"/>
          </a:solidFill>
          <a:ln w="10160">
            <a:solidFill>
              <a:srgbClr val="FF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21624" y="2221992"/>
            <a:ext cx="3227832" cy="62179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9334F"/>
                </a:solidFill>
                <a:latin typeface="Aptos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072384"/>
            <a:ext cx="3264408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Noto Sans CJK JP"/>
              </a:rPr>
              <a:t>Test / テスト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3721608"/>
            <a:ext cx="3136392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0" i="0">
                <a:solidFill>
                  <a:srgbClr val="273B4F"/>
                </a:solidFill>
                <a:latin typeface="Aptos"/>
              </a:rPr>
              <a:t>Final evaluation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178808"/>
            <a:ext cx="3108960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66F83"/>
                </a:solidFill>
                <a:latin typeface="Noto Sans CJK JP"/>
              </a:rPr>
              <a:t>最後の評価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5449824"/>
            <a:ext cx="1085392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9334F"/>
                </a:solidFill>
                <a:latin typeface="Aptos"/>
              </a:rPr>
              <a:t>Stratified split: keep class proportions. Never train on validation or test images.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843016"/>
            <a:ext cx="10826496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66F83"/>
                </a:solidFill>
                <a:latin typeface="Noto Sans CJK JP"/>
              </a:rPr>
              <a:t>層化分割：クラス割合を保つ。検証・テスト画像を学習に使わない。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Make every input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画像を同じ形式にそろえる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3566160" cy="3154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2039112"/>
            <a:ext cx="384048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78431"/>
            <a:ext cx="256031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624328"/>
            <a:ext cx="3191256" cy="37490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334F"/>
                </a:solidFill>
                <a:latin typeface="Aptos"/>
              </a:rPr>
              <a:t>Resize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92424"/>
            <a:ext cx="3236976" cy="39319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677B8"/>
                </a:solidFill>
                <a:latin typeface="Aptos"/>
              </a:rPr>
              <a:t>96 × 96 pixels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197096"/>
            <a:ext cx="3072384" cy="43891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566F83"/>
                </a:solidFill>
                <a:latin typeface="Noto Sans CJK JP"/>
              </a:rPr>
              <a:t>サイズを統一する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33672" y="3419856"/>
            <a:ext cx="173735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4370831" y="3342132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62272" y="1847088"/>
            <a:ext cx="3566160" cy="3154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26864" y="2039112"/>
            <a:ext cx="384048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2078431"/>
            <a:ext cx="256031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2624328"/>
            <a:ext cx="3191256" cy="37490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334F"/>
                </a:solidFill>
                <a:latin typeface="Aptos"/>
              </a:rPr>
              <a:t>ToTensor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392424"/>
            <a:ext cx="3236976" cy="39319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677B8"/>
                </a:solidFill>
                <a:latin typeface="Aptos"/>
              </a:rPr>
              <a:t>0–255 → 0–1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4197096"/>
            <a:ext cx="3072384" cy="43891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566F83"/>
                </a:solidFill>
                <a:latin typeface="Noto Sans CJK JP"/>
              </a:rPr>
              <a:t>画像をテンソルに変換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37575" y="3419856"/>
            <a:ext cx="173737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8174736" y="3342132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66176" y="1847088"/>
            <a:ext cx="3566160" cy="3154680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30768" y="2039112"/>
            <a:ext cx="384048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94776" y="2078431"/>
            <a:ext cx="256031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2624328"/>
            <a:ext cx="3191256" cy="37490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9334F"/>
                </a:solidFill>
                <a:latin typeface="Aptos"/>
              </a:rPr>
              <a:t>Normalize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3392424"/>
            <a:ext cx="3236976" cy="39319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677B8"/>
                </a:solidFill>
                <a:latin typeface="Aptos"/>
              </a:rPr>
              <a:t>(x − 0.5) / 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97096"/>
            <a:ext cx="3072384" cy="43891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566F83"/>
                </a:solidFill>
                <a:latin typeface="Noto Sans CJK JP"/>
              </a:rPr>
              <a:t>数値範囲を約−1〜1に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89888" y="5266944"/>
            <a:ext cx="9436608" cy="969264"/>
          </a:xfrm>
          <a:prstGeom prst="roundRect">
            <a:avLst>
              <a:gd name="adj" fmla="val 9000"/>
            </a:avLst>
          </a:prstGeom>
          <a:solidFill>
            <a:srgbClr val="ECF3FA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72768" y="5449824"/>
            <a:ext cx="9070848" cy="676656"/>
          </a:xfrm>
          <a:prstGeom prst="rect">
            <a:avLst/>
          </a:prstGeom>
          <a:noFill/>
        </p:spPr>
        <p:txBody>
          <a:bodyPr wrap="square" lIns="914" tIns="22860" rIns="914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19334F"/>
                </a:solidFill>
                <a:latin typeface="DejaVu Sans Mono"/>
              </a:rPr>
              <a:t>transforms.Resize((96, 96))
transforms.ToTensor()
transforms.Normalize((0.5,)*3, (0.5,)*3)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DATA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Same flower, different appearances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同じ花の画像を変化させる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65376"/>
            <a:ext cx="2670048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ug_Original.jpg"/>
          <p:cNvPicPr>
            <a:picLocks noChangeAspect="1"/>
          </p:cNvPicPr>
          <p:nvPr/>
        </p:nvPicPr>
        <p:blipFill>
          <a:blip r:embed="rId3"/>
          <a:srcRect t="2612" b="2612"/>
          <a:stretch>
            <a:fillRect/>
          </a:stretch>
        </p:blipFill>
        <p:spPr>
          <a:xfrm>
            <a:off x="704088" y="1993392"/>
            <a:ext cx="2450592" cy="2322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4480560"/>
            <a:ext cx="2432304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34F"/>
                </a:solidFill>
                <a:latin typeface="Aptos"/>
              </a:rPr>
              <a:t>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855464"/>
            <a:ext cx="243230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F83"/>
                </a:solidFill>
                <a:latin typeface="Noto Sans CJK JP"/>
              </a:rPr>
              <a:t>元の画像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865376"/>
            <a:ext cx="2670048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ug_Horizontal_flip.jpg"/>
          <p:cNvPicPr>
            <a:picLocks noChangeAspect="1"/>
          </p:cNvPicPr>
          <p:nvPr/>
        </p:nvPicPr>
        <p:blipFill>
          <a:blip r:embed="rId4"/>
          <a:srcRect t="2612" b="2612"/>
          <a:stretch>
            <a:fillRect/>
          </a:stretch>
        </p:blipFill>
        <p:spPr>
          <a:xfrm>
            <a:off x="3611880" y="1993392"/>
            <a:ext cx="2450592" cy="23225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21024" y="4480560"/>
            <a:ext cx="2432304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34F"/>
                </a:solidFill>
                <a:latin typeface="Aptos"/>
              </a:rPr>
              <a:t>Flip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4855464"/>
            <a:ext cx="243230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F83"/>
                </a:solidFill>
                <a:latin typeface="Noto Sans CJK JP"/>
              </a:rPr>
              <a:t>左右反転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1865376"/>
            <a:ext cx="2670048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ug_Rotation_−15.jpg"/>
          <p:cNvPicPr>
            <a:picLocks noChangeAspect="1"/>
          </p:cNvPicPr>
          <p:nvPr/>
        </p:nvPicPr>
        <p:blipFill>
          <a:blip r:embed="rId5"/>
          <a:srcRect t="2612" b="2612"/>
          <a:stretch>
            <a:fillRect/>
          </a:stretch>
        </p:blipFill>
        <p:spPr>
          <a:xfrm>
            <a:off x="6519672" y="1993392"/>
            <a:ext cx="2450592" cy="23225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28816" y="4480560"/>
            <a:ext cx="2432304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34F"/>
                </a:solidFill>
                <a:latin typeface="Aptos"/>
              </a:rPr>
              <a:t>Rotate −15°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4855464"/>
            <a:ext cx="243230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F83"/>
                </a:solidFill>
                <a:latin typeface="Noto Sans CJK JP"/>
              </a:rPr>
              <a:t>−15度回転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17736" y="1865376"/>
            <a:ext cx="2670048" cy="33192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ug_Rotation_+15.jpg"/>
          <p:cNvPicPr>
            <a:picLocks noChangeAspect="1"/>
          </p:cNvPicPr>
          <p:nvPr/>
        </p:nvPicPr>
        <p:blipFill>
          <a:blip r:embed="rId6"/>
          <a:srcRect t="2612" b="2612"/>
          <a:stretch>
            <a:fillRect/>
          </a:stretch>
        </p:blipFill>
        <p:spPr>
          <a:xfrm>
            <a:off x="9427464" y="1993392"/>
            <a:ext cx="2450592" cy="23225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36608" y="4480560"/>
            <a:ext cx="2432304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34F"/>
                </a:solidFill>
                <a:latin typeface="Aptos"/>
              </a:rPr>
              <a:t>Rotate +15°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4855464"/>
            <a:ext cx="243230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66F83"/>
                </a:solidFill>
                <a:latin typeface="Noto Sans CJK JP"/>
              </a:rPr>
              <a:t>＋15度回転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780776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9334F"/>
                </a:solidFill>
                <a:latin typeface="Aptos"/>
              </a:rPr>
              <a:t>Only training data use random flip (p = 0.5) and rotation (±15°).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07024"/>
            <a:ext cx="10780776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左右反転（50%）と±15度の回転は、学習データにだけ適用します。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F218A95-DAB0-2507-155C-ACC40F571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02734"/>
            <a:ext cx="10905066" cy="5452530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6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Our flower CNN: from RGB to five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花分類CNN：RGBから5クラスのスコアへ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885" y="1810512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757" y="2011680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757" y="247802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3 × 96 × 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045" y="293522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入力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3006801" y="2651760"/>
            <a:ext cx="160020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3084979" y="2574036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3397" y="1810512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22269" y="2011680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Conv1 + ReLU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2269" y="247802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16 × 96 × 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0557" y="293522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特徴16枚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0313" y="2651760"/>
            <a:ext cx="160020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6038491" y="2574036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56909" y="1810512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75781" y="2011680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Pool1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5781" y="247802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16 × 48 × 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4069" y="293522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縦横半分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13825" y="2651760"/>
            <a:ext cx="160020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8992003" y="2574036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10421" y="1810512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29293" y="2011680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Conv2 + ReLU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9293" y="247802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32 × 48 × 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7581" y="293522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特徴32枚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9885" y="3822191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8757" y="4023359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Pool2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757" y="448970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32 × 24 × 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7045" y="494690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縦横半分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006801" y="4663440"/>
            <a:ext cx="160020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3084979" y="4585716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203397" y="3822191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22269" y="4023359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Conv3 + ReLU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22269" y="448970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64 × 24 × 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0557" y="494690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特徴64枚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60313" y="4663440"/>
            <a:ext cx="160020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6038491" y="4585716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156909" y="3822191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75781" y="4023359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Pool3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5781" y="448970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64 × 12 × 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4069" y="494690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縦横半分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913825" y="4663440"/>
            <a:ext cx="160020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hevron 47"/>
          <p:cNvSpPr/>
          <p:nvPr/>
        </p:nvSpPr>
        <p:spPr>
          <a:xfrm>
            <a:off x="8992003" y="4585716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110421" y="3822191"/>
            <a:ext cx="2743200" cy="1673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29293" y="4023359"/>
            <a:ext cx="251460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Global avg + FC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9293" y="4489704"/>
            <a:ext cx="25146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77B8"/>
                </a:solidFill>
                <a:latin typeface="Aptos"/>
              </a:rPr>
              <a:t>64 →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47581" y="4946904"/>
            <a:ext cx="24871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566F83"/>
                </a:solidFill>
                <a:latin typeface="Noto Sans CJK JP"/>
              </a:rPr>
              <a:t>分類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6071616"/>
            <a:ext cx="9820656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66F83"/>
                </a:solidFill>
                <a:latin typeface="Noto Sans CJK JP"/>
              </a:rPr>
              <a:t>Read left → right, top row → bottom row. / 上段左から右、次に下段左から右。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Why do channels increase: 3 → 16 → 32 → 64?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なぜチャネル数が3→16→32→64と増える？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2240280"/>
            <a:ext cx="2468880" cy="2066543"/>
          </a:xfrm>
          <a:prstGeom prst="roundRect">
            <a:avLst>
              <a:gd name="adj" fmla="val 9000"/>
            </a:avLst>
          </a:prstGeom>
          <a:solidFill>
            <a:srgbClr val="FFF3E4"/>
          </a:solidFill>
          <a:ln w="10160">
            <a:solidFill>
              <a:srgbClr val="FF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569464"/>
            <a:ext cx="2039112" cy="7406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700" b="1" i="0">
                <a:solidFill>
                  <a:srgbClr val="19334F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685032"/>
            <a:ext cx="207568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0" i="0">
                <a:solidFill>
                  <a:srgbClr val="273B4F"/>
                </a:solidFill>
                <a:latin typeface="Aptos"/>
              </a:rPr>
              <a:t>RGB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74136" y="3273552"/>
            <a:ext cx="246888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3512022" y="3195828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48456" y="2240280"/>
            <a:ext cx="2468880" cy="2066543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 w="10160">
            <a:solidFill>
              <a:srgbClr val="EC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67911" y="2569464"/>
            <a:ext cx="2039112" cy="7406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700" b="1" i="0">
                <a:solidFill>
                  <a:srgbClr val="19334F"/>
                </a:solidFill>
                <a:latin typeface="Aptos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3685032"/>
            <a:ext cx="207568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0" i="0">
                <a:solidFill>
                  <a:srgbClr val="273B4F"/>
                </a:solidFill>
                <a:latin typeface="Aptos"/>
              </a:rPr>
              <a:t>Conv1 features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63056" y="3273552"/>
            <a:ext cx="246888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6300942" y="3195828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37375" y="2240280"/>
            <a:ext cx="2468880" cy="2066543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E8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56831" y="2569464"/>
            <a:ext cx="2039112" cy="7406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700" b="1" i="0">
                <a:solidFill>
                  <a:srgbClr val="19334F"/>
                </a:solidFill>
                <a:latin typeface="Aptos"/>
              </a:rP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3" y="3685032"/>
            <a:ext cx="207568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0" i="0">
                <a:solidFill>
                  <a:srgbClr val="273B4F"/>
                </a:solidFill>
                <a:latin typeface="Aptos"/>
              </a:rPr>
              <a:t>Conv2 features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51976" y="3273552"/>
            <a:ext cx="246887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9089862" y="3195828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26295" y="2240280"/>
            <a:ext cx="2468880" cy="2066543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 w="10160">
            <a:solidFill>
              <a:srgbClr val="EC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5751" y="2569464"/>
            <a:ext cx="2039112" cy="7406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700" b="1" i="0">
                <a:solidFill>
                  <a:srgbClr val="19334F"/>
                </a:solidFill>
                <a:latin typeface="Aptos"/>
              </a:rPr>
              <a:t>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3" y="3685032"/>
            <a:ext cx="207568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60" b="0" i="0">
                <a:solidFill>
                  <a:srgbClr val="273B4F"/>
                </a:solidFill>
                <a:latin typeface="Aptos"/>
              </a:rPr>
              <a:t>Conv3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093208"/>
            <a:ext cx="10387584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334F"/>
                </a:solidFill>
                <a:latin typeface="Aptos"/>
              </a:rPr>
              <a:t>Each output channel is computed using a learned multi-channel kernel.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541264"/>
            <a:ext cx="10387584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566F83"/>
                </a:solidFill>
                <a:latin typeface="Noto Sans CJK JP"/>
              </a:rPr>
              <a:t>出力チャネル1枚につき、入力の全チャネルを使う学習カーネルが1組あります。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Every layer: exact output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各層の出力サイズを確認する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1746504"/>
            <a:ext cx="10735056" cy="365760"/>
          </a:xfrm>
          <a:prstGeom prst="roundRect">
            <a:avLst>
              <a:gd name="adj" fmla="val 9000"/>
            </a:avLst>
          </a:prstGeom>
          <a:solidFill>
            <a:srgbClr val="19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810512"/>
            <a:ext cx="3712463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FFFFF"/>
                </a:solidFill>
                <a:latin typeface="Aptos"/>
              </a:rPr>
              <a:t>Layer / 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784" y="1810512"/>
            <a:ext cx="3182112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Aptos"/>
              </a:rPr>
              <a:t>C × H × 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1810512"/>
            <a:ext cx="2770632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Operation / 処理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2176272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217420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73B4F"/>
                </a:solidFill>
                <a:latin typeface="Aptos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17420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3 × 96 × 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217420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RGB 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" y="2578608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2619756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3B4F"/>
                </a:solidFill>
                <a:latin typeface="Aptos"/>
              </a:rPr>
              <a:t>Conv1 + ReLU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19756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16 × 96 × 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619756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3×3, padding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" y="2980944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022091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3B4F"/>
                </a:solidFill>
                <a:latin typeface="Aptos"/>
              </a:rPr>
              <a:t>MaxPool1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022091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16 × 48 × 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3022091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2×2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" y="3383280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3424428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3B4F"/>
                </a:solidFill>
                <a:latin typeface="Aptos"/>
              </a:rPr>
              <a:t>Conv2 + ReLU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424428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32 × 48 × 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424428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3×3, padding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" y="3785615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3826763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3B4F"/>
                </a:solidFill>
                <a:latin typeface="Aptos"/>
              </a:rPr>
              <a:t>MaxPool2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826763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32 × 24 × 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3826763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2×2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" y="4187952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4229100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3B4F"/>
                </a:solidFill>
                <a:latin typeface="Aptos"/>
              </a:rPr>
              <a:t>Conv3 + ReLU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229100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64 × 24 × 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4229100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3×3, padding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" y="4590288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4631436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3B4F"/>
                </a:solidFill>
                <a:latin typeface="Aptos"/>
              </a:rPr>
              <a:t>MaxPool3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631436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64 × 12 ×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4631436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2×2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" y="4992624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" y="5033772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273B4F"/>
                </a:solidFill>
                <a:latin typeface="Aptos"/>
              </a:rPr>
              <a:t>AdaptiveAvgPool2d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033772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64 × 1 ×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5033772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global average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" y="5394960"/>
            <a:ext cx="1073505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2688" y="5436108"/>
            <a:ext cx="3749039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73B4F"/>
                </a:solidFill>
                <a:latin typeface="Aptos"/>
              </a:rPr>
              <a:t>Flatten → Linear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436108"/>
            <a:ext cx="3163824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90" b="1" i="0">
                <a:solidFill>
                  <a:srgbClr val="19334F"/>
                </a:solidFill>
                <a:latin typeface="Aptos"/>
              </a:rPr>
              <a:t>64 →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8512" y="5436108"/>
            <a:ext cx="273405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66F83"/>
                </a:solidFill>
                <a:latin typeface="Aptos"/>
              </a:rPr>
              <a:t>five logits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6053328"/>
            <a:ext cx="10561320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0" i="0">
                <a:solidFill>
                  <a:srgbClr val="566F83"/>
                </a:solidFill>
                <a:latin typeface="Aptos"/>
              </a:rPr>
              <a:t>Pooling halves H and W; padding=1 preserves H and W during each convolution.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The model definition matches the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図と同じPyTorchモデル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1737360"/>
            <a:ext cx="7434072" cy="4489704"/>
          </a:xfrm>
          <a:prstGeom prst="roundRect">
            <a:avLst>
              <a:gd name="adj" fmla="val 9000"/>
            </a:avLst>
          </a:prstGeom>
          <a:solidFill>
            <a:srgbClr val="ECF3FA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1920240"/>
            <a:ext cx="7068312" cy="4197096"/>
          </a:xfrm>
          <a:prstGeom prst="rect">
            <a:avLst/>
          </a:prstGeom>
          <a:noFill/>
        </p:spPr>
        <p:txBody>
          <a:bodyPr wrap="square" lIns="914" tIns="22860" rIns="914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9334F"/>
                </a:solidFill>
                <a:latin typeface="DejaVu Sans Mono"/>
              </a:rPr>
              <a:t>class FlowerCNN(nn.Module):
    def __init__(self, num_classes=5):
        super().__init__()
        self.conv1 = nn.Conv2d(3, 16, 3, padding=1)
        self.relu1 = nn.ReLU()
        self.pool1 = nn.MaxPool2d(2)
        self.conv2 = nn.Conv2d(16, 32, 3, padding=1)
        self.relu2 = nn.ReLU()
        self.pool2 = nn.MaxPool2d(2)
        self.conv3 = nn.Conv2d(32, 64, 3, padding=1)
        self.relu3 = nn.ReLU()
        self.pool3 = nn.MaxPool2d(2)
        self.head = nn.Sequential(
            nn.AdaptiveAvgPool2d((1,1)),
            nn.Flatten(), nn.Linear(64, num_classes))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5048" y="1911095"/>
            <a:ext cx="3035808" cy="162763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2039112"/>
            <a:ext cx="2706624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Conv2d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468879"/>
            <a:ext cx="2706624" cy="5029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273B4F"/>
                </a:solidFill>
                <a:latin typeface="Aptos"/>
              </a:rPr>
              <a:t>Learn 16/32/64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999232"/>
            <a:ext cx="2706624" cy="5303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66F83"/>
                </a:solidFill>
                <a:latin typeface="Noto Sans CJK JP"/>
              </a:rPr>
              <a:t>特徴マップを学習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3858768"/>
            <a:ext cx="3035808" cy="1627632"/>
          </a:xfrm>
          <a:prstGeom prst="roundRect">
            <a:avLst>
              <a:gd name="adj" fmla="val 9000"/>
            </a:avLst>
          </a:prstGeom>
          <a:solidFill>
            <a:srgbClr val="FFF3E4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3986783"/>
            <a:ext cx="2706624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34F"/>
                </a:solidFill>
                <a:latin typeface="Aptos"/>
              </a:rPr>
              <a:t>AdaptiveAvgPool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416552"/>
            <a:ext cx="2706624" cy="5029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273B4F"/>
                </a:solidFill>
                <a:latin typeface="Aptos"/>
              </a:rPr>
              <a:t>64 maps → 64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946904"/>
            <a:ext cx="2706624" cy="5303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66F83"/>
                </a:solidFill>
                <a:latin typeface="Noto Sans CJK JP"/>
              </a:rPr>
              <a:t>64チャネルを要約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Global average pooling: 64 maps → 64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全体平均プーリング：64枚→64個の数値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" y="2368296"/>
            <a:ext cx="2057400" cy="1856231"/>
          </a:xfrm>
          <a:prstGeom prst="rect">
            <a:avLst/>
          </a:prstGeom>
          <a:solidFill>
            <a:srgbClr val="89C5D2"/>
          </a:solidFill>
          <a:ln w="10160">
            <a:solidFill>
              <a:srgbClr val="3F8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61872" y="2263139"/>
            <a:ext cx="2057400" cy="1856231"/>
          </a:xfrm>
          <a:prstGeom prst="rect">
            <a:avLst/>
          </a:prstGeom>
          <a:solidFill>
            <a:srgbClr val="B4DCE7"/>
          </a:solidFill>
          <a:ln w="10160">
            <a:solidFill>
              <a:srgbClr val="3F8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35607" y="2157984"/>
            <a:ext cx="2057400" cy="1856231"/>
          </a:xfrm>
          <a:prstGeom prst="rect">
            <a:avLst/>
          </a:prstGeom>
          <a:solidFill>
            <a:srgbClr val="89C5D2"/>
          </a:solidFill>
          <a:ln w="10160">
            <a:solidFill>
              <a:srgbClr val="3F8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09344" y="2052827"/>
            <a:ext cx="2057400" cy="1856231"/>
          </a:xfrm>
          <a:prstGeom prst="rect">
            <a:avLst/>
          </a:prstGeom>
          <a:solidFill>
            <a:srgbClr val="B4DCE7"/>
          </a:solidFill>
          <a:ln w="10160">
            <a:solidFill>
              <a:srgbClr val="3F8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83080" y="1947672"/>
            <a:ext cx="2057400" cy="1856231"/>
          </a:xfrm>
          <a:prstGeom prst="rect">
            <a:avLst/>
          </a:prstGeom>
          <a:solidFill>
            <a:srgbClr val="89C5D2"/>
          </a:solidFill>
          <a:ln w="10160">
            <a:solidFill>
              <a:srgbClr val="3F8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56815" y="1842515"/>
            <a:ext cx="2057400" cy="1856231"/>
          </a:xfrm>
          <a:prstGeom prst="rect">
            <a:avLst/>
          </a:prstGeom>
          <a:solidFill>
            <a:srgbClr val="B4DCE7"/>
          </a:solidFill>
          <a:ln w="10160">
            <a:solidFill>
              <a:srgbClr val="3F8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30552" y="1737360"/>
            <a:ext cx="2057400" cy="1856231"/>
          </a:xfrm>
          <a:prstGeom prst="rect">
            <a:avLst/>
          </a:prstGeom>
          <a:solidFill>
            <a:srgbClr val="89C5D2"/>
          </a:solidFill>
          <a:ln w="10160">
            <a:solidFill>
              <a:srgbClr val="3F8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2971800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9334F"/>
                </a:solidFill>
                <a:latin typeface="Aptos"/>
              </a:rPr>
              <a:t>64 × 12 × 12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51376" y="3264408"/>
            <a:ext cx="1362456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5477256" y="3186684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2112264"/>
            <a:ext cx="2011680" cy="2350008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9864" y="2450592"/>
            <a:ext cx="1627632" cy="5394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68E91"/>
                </a:solidFill>
                <a:latin typeface="Aptos"/>
              </a:rPr>
              <a:t>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8" y="3319272"/>
            <a:ext cx="1591056" cy="59436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273B4F"/>
                </a:solidFill>
                <a:latin typeface="Aptos"/>
              </a:rPr>
              <a:t>mean of each map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54112" y="3264408"/>
            <a:ext cx="630936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8348472" y="3186684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58200" y="2267712"/>
            <a:ext cx="2496312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14232" y="2642616"/>
            <a:ext cx="1984248" cy="4480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9334F"/>
                </a:solidFill>
                <a:latin typeface="Aptos"/>
              </a:rPr>
              <a:t>64 × 1 ×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246120"/>
            <a:ext cx="1984248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677B8"/>
                </a:solidFill>
                <a:latin typeface="Aptos"/>
              </a:rPr>
              <a:t>→ 64 →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5221224"/>
            <a:ext cx="1057960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30" b="0" i="0">
                <a:solidFill>
                  <a:srgbClr val="19334F"/>
                </a:solidFill>
                <a:latin typeface="Aptos"/>
              </a:rPr>
              <a:t>Why? It summarizes each feature map and avoids a very large fully connected layer.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5687568"/>
            <a:ext cx="1057960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特徴マップごとに平均を求め、全結合層のパラメータ数を減らします。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Data processing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ノートブックでの前処理コード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1773936"/>
            <a:ext cx="7141464" cy="4187952"/>
          </a:xfrm>
          <a:prstGeom prst="roundRect">
            <a:avLst>
              <a:gd name="adj" fmla="val 9000"/>
            </a:avLst>
          </a:prstGeom>
          <a:solidFill>
            <a:srgbClr val="ECF3FA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1956816"/>
            <a:ext cx="6775703" cy="3895344"/>
          </a:xfrm>
          <a:prstGeom prst="rect">
            <a:avLst/>
          </a:prstGeom>
          <a:noFill/>
        </p:spPr>
        <p:txBody>
          <a:bodyPr wrap="square" lIns="914" tIns="22860" rIns="914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334F"/>
                </a:solidFill>
                <a:latin typeface="DejaVu Sans Mono"/>
              </a:rPr>
              <a:t>train_transform = transforms.Compose([
    transforms.Resize((96,96)),
    transforms.RandomHorizontalFlip(p=0.5),
    transforms.RandomRotation(degrees=15),
    transforms.ToTensor(),
    transforms.Normalize((0.5,)*3, (0.5,)*3)
])
train_loader = DataLoader(train_data,
                          batch_size=64,
                          shuffle=True)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773936"/>
            <a:ext cx="3291840" cy="1828800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862072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34F"/>
                </a:solidFill>
                <a:latin typeface="Aptos"/>
              </a:rPr>
              <a:t>Training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560320"/>
            <a:ext cx="2862072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566F83"/>
                </a:solidFill>
                <a:latin typeface="Noto Sans CJK JP"/>
              </a:rPr>
              <a:t>学習データだけに適用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3877056"/>
            <a:ext cx="3291840" cy="1828800"/>
          </a:xfrm>
          <a:prstGeom prst="roundRect">
            <a:avLst>
              <a:gd name="adj" fmla="val 9000"/>
            </a:avLst>
          </a:prstGeom>
          <a:solidFill>
            <a:srgbClr val="FFF3E4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4215384"/>
            <a:ext cx="2880360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19334F"/>
                </a:solidFill>
                <a:latin typeface="Aptos"/>
              </a:rPr>
              <a:t>Validation /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672584"/>
            <a:ext cx="288036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0" b="0" i="0">
                <a:solidFill>
                  <a:srgbClr val="566F83"/>
                </a:solidFill>
                <a:latin typeface="Noto Sans CJK JP"/>
              </a:rPr>
              <a:t>検証・テストは拡張しない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How does the CNN learn?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CNNはどのように学習する？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2020824"/>
            <a:ext cx="2660904" cy="22677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6384" y="2185416"/>
            <a:ext cx="402336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224735"/>
            <a:ext cx="27432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79776"/>
            <a:ext cx="2340864" cy="35661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9334F"/>
                </a:solidFill>
                <a:latin typeface="Aptos"/>
              </a:rPr>
              <a:t>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2377440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画像を入力し、予測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00984" y="3118104"/>
            <a:ext cx="219456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3408558" y="3040380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47872" y="2020824"/>
            <a:ext cx="2660904" cy="22677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03320" y="2185416"/>
            <a:ext cx="402336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67328" y="2224735"/>
            <a:ext cx="27432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779776"/>
            <a:ext cx="2340864" cy="35661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9334F"/>
                </a:solidFill>
                <a:latin typeface="Aptos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3383280"/>
            <a:ext cx="2377440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正解とのずれを計算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0" y="3118104"/>
            <a:ext cx="219456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6325494" y="3040380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64808" y="2020824"/>
            <a:ext cx="2660904" cy="22677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20256" y="2185416"/>
            <a:ext cx="402336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4264" y="2224735"/>
            <a:ext cx="27432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779776"/>
            <a:ext cx="2340864" cy="35661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9334F"/>
                </a:solidFill>
                <a:latin typeface="Aptos"/>
              </a:rPr>
              <a:t>Backward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383280"/>
            <a:ext cx="2377440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勾配を求める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34856" y="3118104"/>
            <a:ext cx="219456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9242430" y="3040380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81744" y="2020824"/>
            <a:ext cx="2660904" cy="226771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37192" y="2185416"/>
            <a:ext cx="402336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2224735"/>
            <a:ext cx="27432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37192" y="2779776"/>
            <a:ext cx="2340864" cy="35661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9334F"/>
                </a:solidFill>
                <a:latin typeface="Aptos"/>
              </a:rPr>
              <a:t>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3383280"/>
            <a:ext cx="2377440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重みを更新する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4745736"/>
            <a:ext cx="9464040" cy="960120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81912" y="4983480"/>
            <a:ext cx="9025128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9334F"/>
                </a:solidFill>
                <a:latin typeface="Aptos"/>
              </a:rPr>
              <a:t>CrossEntropyLoss + Adam optimizer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5" y="5943600"/>
            <a:ext cx="1014984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566F83"/>
                </a:solidFill>
                <a:latin typeface="Aptos"/>
              </a:rPr>
              <a:t>CrossEntropyLoss receives raw logits (do not apply softmax first).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RUN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Our notebook starts with three epochs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ノートブックの初期設定は3エポック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1865376"/>
            <a:ext cx="523036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2852928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19334F"/>
                </a:solidFill>
                <a:latin typeface="Aptos"/>
              </a:rPr>
              <a:t>IMAGE_SIZE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48256"/>
            <a:ext cx="1581912" cy="5029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8E91"/>
                </a:solidFill>
                <a:latin typeface="Aptos"/>
              </a:rPr>
              <a:t>96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80060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566F83"/>
                </a:solidFill>
                <a:latin typeface="Noto Sans CJK JP"/>
              </a:rPr>
              <a:t>画像サイズ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865376"/>
            <a:ext cx="523036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075688"/>
            <a:ext cx="2852928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19334F"/>
                </a:solidFill>
                <a:latin typeface="Aptos"/>
              </a:rPr>
              <a:t>BATCH_SIZE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48256"/>
            <a:ext cx="1581912" cy="5029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8E91"/>
                </a:solidFill>
                <a:latin typeface="Aptos"/>
              </a:rPr>
              <a:t>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743200"/>
            <a:ext cx="480060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566F83"/>
                </a:solidFill>
                <a:latin typeface="Noto Sans CJK JP"/>
              </a:rPr>
              <a:t>バッチ枚数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" y="3557016"/>
            <a:ext cx="523036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767328"/>
            <a:ext cx="2852928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19334F"/>
                </a:solidFill>
                <a:latin typeface="Aptos"/>
              </a:rPr>
              <a:t>EPOCHS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39896"/>
            <a:ext cx="1581912" cy="5029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8E9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480060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566F83"/>
                </a:solidFill>
                <a:latin typeface="Noto Sans CJK JP"/>
              </a:rPr>
              <a:t>学習の周回数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3557016"/>
            <a:ext cx="523036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767328"/>
            <a:ext cx="2852928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60" b="1" i="0">
                <a:solidFill>
                  <a:srgbClr val="19334F"/>
                </a:solidFill>
                <a:latin typeface="Aptos"/>
              </a:rPr>
              <a:t>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3739896"/>
            <a:ext cx="1581912" cy="5029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68E91"/>
                </a:solidFill>
                <a:latin typeface="Aptos"/>
              </a:rPr>
              <a:t>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434840"/>
            <a:ext cx="4800600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 i="0">
                <a:solidFill>
                  <a:srgbClr val="566F83"/>
                </a:solidFill>
                <a:latin typeface="Noto Sans CJK JP"/>
              </a:rPr>
              <a:t>学習率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22976"/>
            <a:ext cx="10616184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19334F"/>
                </a:solidFill>
                <a:latin typeface="Aptos"/>
              </a:rPr>
              <a:t>On CPU, training may take longer. Increase to 8–12 epochs after class for comparison.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607040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0" b="0" i="0">
                <a:solidFill>
                  <a:srgbClr val="566F83"/>
                </a:solidFill>
                <a:latin typeface="Noto Sans CJK JP"/>
              </a:rPr>
              <a:t>CPUでは時間がかかります。授業後に8〜12エポックへ増やして比較しましょう。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How to read training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学習曲線を読もう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18</a:t>
            </a:r>
          </a:p>
        </p:txBody>
      </p:sp>
      <p:pic>
        <p:nvPicPr>
          <p:cNvPr id="9" name="Picture 8" descr="loss_illustrative.png"/>
          <p:cNvPicPr>
            <a:picLocks noChangeAspect="1"/>
          </p:cNvPicPr>
          <p:nvPr/>
        </p:nvPicPr>
        <p:blipFill rotWithShape="1">
          <a:blip r:embed="rId3"/>
          <a:srcRect l="-200" r="554"/>
          <a:stretch/>
        </p:blipFill>
        <p:spPr>
          <a:xfrm>
            <a:off x="426680" y="1935301"/>
            <a:ext cx="7181128" cy="31821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81544" y="1773936"/>
            <a:ext cx="3666744" cy="41970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91856" y="2157984"/>
            <a:ext cx="3273552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19334F"/>
                </a:solidFill>
                <a:latin typeface="Aptos"/>
              </a:rPr>
              <a:t>Training loss falls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606039"/>
            <a:ext cx="3273552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学習損失が下がる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3392424"/>
            <a:ext cx="3273552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19334F"/>
                </a:solidFill>
                <a:latin typeface="Aptos"/>
              </a:rPr>
              <a:t>Validation loss 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3840480"/>
            <a:ext cx="3273552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検証損失が上がる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4681728"/>
            <a:ext cx="3282696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BC5A65"/>
                </a:solidFill>
                <a:latin typeface="Aptos"/>
              </a:rPr>
              <a:t>Possible overfitting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5065776"/>
            <a:ext cx="3282696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過学習の可能性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6089904"/>
            <a:ext cx="1042416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0" b="0" i="0">
                <a:solidFill>
                  <a:srgbClr val="566F83"/>
                </a:solidFill>
                <a:latin typeface="Aptos"/>
              </a:rPr>
              <a:t>Illustrative curve only — actual results will differ when students train.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Which flower classes get confused?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どの花を間違えやすい？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19</a:t>
            </a:r>
          </a:p>
        </p:txBody>
      </p:sp>
      <p:pic>
        <p:nvPicPr>
          <p:cNvPr id="9" name="Picture 8" descr="cm_illustrative.png"/>
          <p:cNvPicPr>
            <a:picLocks noChangeAspect="1"/>
          </p:cNvPicPr>
          <p:nvPr/>
        </p:nvPicPr>
        <p:blipFill rotWithShape="1">
          <a:blip r:embed="rId3"/>
          <a:srcRect t="5901" b="-323"/>
          <a:stretch/>
        </p:blipFill>
        <p:spPr>
          <a:xfrm>
            <a:off x="1382896" y="1641517"/>
            <a:ext cx="4661288" cy="437963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59168" y="1874519"/>
            <a:ext cx="4407408" cy="4023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87768" y="2249424"/>
            <a:ext cx="4014215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334F"/>
                </a:solidFill>
                <a:latin typeface="Aptos"/>
              </a:rPr>
              <a:t>Diagonal =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2752344"/>
            <a:ext cx="4014215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対角線＝正しい分類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3493008"/>
            <a:ext cx="4014215" cy="33832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0" b="1" i="0">
                <a:solidFill>
                  <a:srgbClr val="19334F"/>
                </a:solidFill>
                <a:latin typeface="Aptos"/>
              </a:rPr>
              <a:t>Off-diagonal =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3995928"/>
            <a:ext cx="4014215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66F83"/>
                </a:solidFill>
                <a:latin typeface="Noto Sans CJK JP"/>
              </a:rPr>
              <a:t>対角線以外＝誤分類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4965192"/>
            <a:ext cx="3968496" cy="34747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9334F"/>
                </a:solidFill>
                <a:latin typeface="Aptos"/>
              </a:rPr>
              <a:t>Inspect each class, not only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5358384"/>
            <a:ext cx="3931920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566F83"/>
                </a:solidFill>
                <a:latin typeface="Noto Sans CJK JP"/>
              </a:rPr>
              <a:t>全体の正解率だけで判断しない。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53328"/>
            <a:ext cx="10533888" cy="23774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66F83"/>
                </a:solidFill>
                <a:latin typeface="Aptos"/>
              </a:rPr>
              <a:t>Schematic matrix (illustrative, NOT your model’s predictions)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What do intermediate feature maps show?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中間特徴マップには何が映る？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20</a:t>
            </a:r>
          </a:p>
        </p:txBody>
      </p:sp>
      <p:pic>
        <p:nvPicPr>
          <p:cNvPr id="9" name="Picture 8" descr="sunflowers.jpg"/>
          <p:cNvPicPr>
            <a:picLocks noChangeAspect="1"/>
          </p:cNvPicPr>
          <p:nvPr/>
        </p:nvPicPr>
        <p:blipFill>
          <a:blip r:embed="rId3"/>
          <a:srcRect l="1220" r="1220"/>
          <a:stretch>
            <a:fillRect/>
          </a:stretch>
        </p:blipFill>
        <p:spPr>
          <a:xfrm>
            <a:off x="676656" y="1975104"/>
            <a:ext cx="2194560" cy="2249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4425696"/>
            <a:ext cx="2130552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9334F"/>
                </a:solidFill>
                <a:latin typeface="Noto Sans CJK JP"/>
              </a:rPr>
              <a:t>RGB input / 入力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090672"/>
            <a:ext cx="530352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3465576" y="3012948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78992" y="5084064"/>
            <a:ext cx="10113264" cy="822960"/>
          </a:xfrm>
          <a:prstGeom prst="roundRect">
            <a:avLst>
              <a:gd name="adj" fmla="val 9000"/>
            </a:avLst>
          </a:prstGeom>
          <a:solidFill>
            <a:srgbClr val="FFF3E4"/>
          </a:solidFill>
          <a:ln w="10160">
            <a:solidFill>
              <a:srgbClr val="FF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5266944"/>
            <a:ext cx="9802368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9334F"/>
                </a:solidFill>
                <a:latin typeface="Aptos"/>
              </a:rPr>
              <a:t>Notebook uses forward hooks to capture learned Conv1 / Conv2 / Conv3 activations.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6062472"/>
            <a:ext cx="10780776" cy="25603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566F83"/>
                </a:solidFill>
                <a:latin typeface="Aptos"/>
              </a:rPr>
              <a:t>Displayed maps are hand-crafted filter demonstrations, not actual trained-CNN activations.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2F0A03-5F08-71C4-2375-AE5F6340B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971038"/>
            <a:ext cx="2212848" cy="24075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B3E554-1BD3-2378-6964-5C6072ED29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0109"/>
          <a:stretch/>
        </p:blipFill>
        <p:spPr>
          <a:xfrm>
            <a:off x="4178808" y="1526817"/>
            <a:ext cx="6444528" cy="35389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From five logits to class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5つのlogitからクラスごとのスコアへ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21</a:t>
            </a:r>
          </a:p>
        </p:txBody>
      </p:sp>
      <p:pic>
        <p:nvPicPr>
          <p:cNvPr id="9" name="Picture 8" descr="sunflowers.jpg"/>
          <p:cNvPicPr>
            <a:picLocks noChangeAspect="1"/>
          </p:cNvPicPr>
          <p:nvPr/>
        </p:nvPicPr>
        <p:blipFill>
          <a:blip r:embed="rId3"/>
          <a:srcRect l="1335" r="1335"/>
          <a:stretch>
            <a:fillRect/>
          </a:stretch>
        </p:blipFill>
        <p:spPr>
          <a:xfrm>
            <a:off x="685800" y="1956816"/>
            <a:ext cx="2999232" cy="3081528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3813048" y="3447288"/>
            <a:ext cx="448056" cy="0"/>
          </a:xfrm>
          <a:prstGeom prst="line">
            <a:avLst/>
          </a:prstGeom>
          <a:ln w="25400">
            <a:solidFill>
              <a:srgbClr val="16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4224528" y="3369564"/>
            <a:ext cx="128016" cy="155448"/>
          </a:xfrm>
          <a:prstGeom prst="chevron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ores_illustrative.png"/>
          <p:cNvPicPr>
            <a:picLocks noChangeAspect="1"/>
          </p:cNvPicPr>
          <p:nvPr/>
        </p:nvPicPr>
        <p:blipFill>
          <a:blip r:embed="rId4"/>
          <a:srcRect t="2144" b="2144"/>
          <a:stretch>
            <a:fillRect/>
          </a:stretch>
        </p:blipFill>
        <p:spPr>
          <a:xfrm>
            <a:off x="4416552" y="1847088"/>
            <a:ext cx="6995160" cy="3593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" y="5532120"/>
            <a:ext cx="10497312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34F"/>
                </a:solidFill>
                <a:latin typeface="Aptos"/>
              </a:rPr>
              <a:t>Softmax converts logits into scores that sum to 1. The largest score wins.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16168"/>
            <a:ext cx="10497312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566F83"/>
                </a:solidFill>
                <a:latin typeface="Noto Sans CJK JP"/>
              </a:rPr>
              <a:t>softmaxはlogitを合計1のスコアに変換し、最も高いクラスを選びます。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Learn from incorrect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誤分類から学ぼう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56231"/>
            <a:ext cx="3547872" cy="3364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oses.jpg"/>
          <p:cNvPicPr>
            <a:picLocks noChangeAspect="1"/>
          </p:cNvPicPr>
          <p:nvPr/>
        </p:nvPicPr>
        <p:blipFill>
          <a:blip r:embed="rId3"/>
          <a:srcRect t="18911" b="18911"/>
          <a:stretch>
            <a:fillRect/>
          </a:stretch>
        </p:blipFill>
        <p:spPr>
          <a:xfrm>
            <a:off x="832103" y="2029968"/>
            <a:ext cx="3191256" cy="19842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3" y="4215384"/>
            <a:ext cx="317296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80" b="1" i="0">
                <a:solidFill>
                  <a:srgbClr val="19334F"/>
                </a:solidFill>
                <a:latin typeface="Aptos"/>
              </a:rPr>
              <a:t>Similar petals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4672584"/>
            <a:ext cx="3227832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花びらが似ている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1856231"/>
            <a:ext cx="3547872" cy="3364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ulips.jpg"/>
          <p:cNvPicPr>
            <a:picLocks noChangeAspect="1"/>
          </p:cNvPicPr>
          <p:nvPr/>
        </p:nvPicPr>
        <p:blipFill>
          <a:blip r:embed="rId4"/>
          <a:srcRect t="18911" b="18911"/>
          <a:stretch>
            <a:fillRect/>
          </a:stretch>
        </p:blipFill>
        <p:spPr>
          <a:xfrm>
            <a:off x="4645152" y="2029968"/>
            <a:ext cx="3191256" cy="19842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5152" y="4215384"/>
            <a:ext cx="317296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80" b="1" i="0">
                <a:solidFill>
                  <a:srgbClr val="19334F"/>
                </a:solidFill>
                <a:latin typeface="Aptos"/>
              </a:rPr>
              <a:t>Unusual viewpoint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672584"/>
            <a:ext cx="3227832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珍しい撮影角度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856231"/>
            <a:ext cx="3547872" cy="3364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andelion.jpg"/>
          <p:cNvPicPr>
            <a:picLocks noChangeAspect="1"/>
          </p:cNvPicPr>
          <p:nvPr/>
        </p:nvPicPr>
        <p:blipFill>
          <a:blip r:embed="rId5"/>
          <a:srcRect t="18911" b="18911"/>
          <a:stretch>
            <a:fillRect/>
          </a:stretch>
        </p:blipFill>
        <p:spPr>
          <a:xfrm>
            <a:off x="8458200" y="2029968"/>
            <a:ext cx="3191256" cy="19842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4215384"/>
            <a:ext cx="3172968" cy="32004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80" b="1" i="0">
                <a:solidFill>
                  <a:srgbClr val="19334F"/>
                </a:solidFill>
                <a:latin typeface="Aptos"/>
              </a:rPr>
              <a:t>Background distractions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4672584"/>
            <a:ext cx="3227832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複雑な背景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641848"/>
            <a:ext cx="1042416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566F83"/>
                </a:solidFill>
                <a:latin typeface="Aptos"/>
              </a:rPr>
              <a:t>The images show possible challenges, not observed errors by your CNN.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STUDENT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Change one thing and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条件を1つずつ変えて比較する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1"/>
            <a:ext cx="3529584" cy="235915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103120"/>
            <a:ext cx="3227832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1" i="0">
                <a:solidFill>
                  <a:srgbClr val="168E91"/>
                </a:solidFill>
                <a:latin typeface="Aptos"/>
              </a:rPr>
              <a:t>Experiment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43200"/>
            <a:ext cx="3163824" cy="38404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334F"/>
                </a:solidFill>
                <a:latin typeface="Aptos"/>
              </a:rPr>
              <a:t>EPOCHS: 3 →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364992"/>
            <a:ext cx="3163824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学習回数を増やす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856231"/>
            <a:ext cx="3529584" cy="23591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3227832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1" i="0">
                <a:solidFill>
                  <a:srgbClr val="168E91"/>
                </a:solidFill>
                <a:latin typeface="Aptos"/>
              </a:rPr>
              <a:t>Experiment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743200"/>
            <a:ext cx="3163824" cy="38404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334F"/>
                </a:solidFill>
                <a:latin typeface="Aptos"/>
              </a:rPr>
              <a:t>Remove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364992"/>
            <a:ext cx="3163824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回転の拡張を外す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56231"/>
            <a:ext cx="3529584" cy="23591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4" y="2103120"/>
            <a:ext cx="3227832" cy="27432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1" i="0">
                <a:solidFill>
                  <a:srgbClr val="168E91"/>
                </a:solidFill>
                <a:latin typeface="Aptos"/>
              </a:rPr>
              <a:t>Experiment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743200"/>
            <a:ext cx="3163824" cy="38404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334F"/>
                </a:solidFill>
                <a:latin typeface="Aptos"/>
              </a:rPr>
              <a:t>IMAGE_SIZE: 96 → 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364992"/>
            <a:ext cx="3163824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66F83"/>
                </a:solidFill>
                <a:latin typeface="Noto Sans CJK JP"/>
              </a:rPr>
              <a:t>画像サイズを変更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681728"/>
            <a:ext cx="10314432" cy="1005840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 w="10160">
            <a:solidFill>
              <a:srgbClr val="ECF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4873752"/>
            <a:ext cx="10003536" cy="32918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9334F"/>
                </a:solidFill>
                <a:latin typeface="Aptos"/>
              </a:rPr>
              <a:t>Record: validation accuracy, validation loss, and training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989320"/>
            <a:ext cx="10058400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0" b="0" i="0">
                <a:solidFill>
                  <a:srgbClr val="566F83"/>
                </a:solidFill>
                <a:latin typeface="Noto Sans CJK JP"/>
              </a:rPr>
              <a:t>毎回同じデータ分割を使用し、変更後は新しいモデルを学習させる。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Can you answer these three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この3つの質問に答えられますか？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1755648"/>
            <a:ext cx="10552176" cy="1115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1929384"/>
            <a:ext cx="438912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68703"/>
            <a:ext cx="31089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1920240"/>
            <a:ext cx="9308592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19334F"/>
                </a:solidFill>
                <a:latin typeface="Aptos"/>
              </a:rPr>
              <a:t>Why does the first CNN layer use 3 input channels?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2377440"/>
            <a:ext cx="9308592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最初の畳み込み層の入力チャネルが3なのはなぜ？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3108960"/>
            <a:ext cx="10552176" cy="1115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" y="3282696"/>
            <a:ext cx="438912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322015"/>
            <a:ext cx="31089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3273552"/>
            <a:ext cx="9308592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19334F"/>
                </a:solidFill>
                <a:latin typeface="Aptos"/>
              </a:rPr>
              <a:t>Why do we augment training data only?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3730752"/>
            <a:ext cx="9308592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データ拡張を学習データだけに適用するのはなぜ？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" y="4462272"/>
            <a:ext cx="10552176" cy="1115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" y="4636008"/>
            <a:ext cx="438912" cy="347472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675327"/>
            <a:ext cx="310896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8E9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626864"/>
            <a:ext cx="9308592" cy="301752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19334F"/>
                </a:solidFill>
                <a:latin typeface="Aptos"/>
              </a:rPr>
              <a:t>What does the confusion matrix tell us?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5084064"/>
            <a:ext cx="9308592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混同行列から何が分かりますか？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998464"/>
            <a:ext cx="10268712" cy="29260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0" b="1" i="0">
                <a:solidFill>
                  <a:srgbClr val="168E91"/>
                </a:solidFill>
                <a:latin typeface="Noto Sans CJK JP"/>
              </a:rPr>
              <a:t>Next: test your own photos / 次は自分で撮影した写真も試そう！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9144000" cy="21945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68E91"/>
                </a:solidFill>
                <a:latin typeface="Aptos"/>
              </a:rPr>
              <a:t>CLASSROOM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21207"/>
            <a:ext cx="11082528" cy="4114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9334F"/>
                </a:solidFill>
                <a:latin typeface="Aptos"/>
              </a:rPr>
              <a:t>Use these slides with the Flowers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87552"/>
            <a:ext cx="10972800" cy="31089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566F83"/>
                </a:solidFill>
                <a:latin typeface="Noto Sans CJK JP"/>
              </a:rPr>
              <a:t>花分類ノートブックと一緒に使いましょう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" y="1380744"/>
            <a:ext cx="11036808" cy="0"/>
          </a:xfrm>
          <a:prstGeom prst="line">
            <a:avLst/>
          </a:prstGeom>
          <a:ln w="12700">
            <a:solidFill>
              <a:srgbClr val="DA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528816"/>
            <a:ext cx="8229600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F83"/>
                </a:solidFill>
                <a:latin typeface="Aptos"/>
              </a:rPr>
              <a:t>CNN × FLOWERS   •   EN /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19672"/>
            <a:ext cx="475488" cy="182880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66F83"/>
                </a:solidFill>
                <a:latin typeface="Aptos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709928"/>
            <a:ext cx="10744200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819656"/>
            <a:ext cx="1408176" cy="34747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858975"/>
            <a:ext cx="128016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10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1828800"/>
            <a:ext cx="4764024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9334F"/>
                </a:solidFill>
                <a:latin typeface="Aptos"/>
              </a:rPr>
              <a:t>RGB +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4" y="1828800"/>
            <a:ext cx="362102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RGB・データセット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2423160"/>
            <a:ext cx="10744200" cy="585216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2532888"/>
            <a:ext cx="1408176" cy="34747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572207"/>
            <a:ext cx="128016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15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542032"/>
            <a:ext cx="4764024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9334F"/>
                </a:solidFill>
                <a:latin typeface="Aptos"/>
              </a:rPr>
              <a:t>Prepare + augment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2542032"/>
            <a:ext cx="362102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前処理・データ拡張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3136392"/>
            <a:ext cx="10744200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246120"/>
            <a:ext cx="1408176" cy="34747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3285439"/>
            <a:ext cx="128016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3255264"/>
            <a:ext cx="4764024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9334F"/>
                </a:solidFill>
                <a:latin typeface="Aptos"/>
              </a:rPr>
              <a:t>CNN code and shapes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4" y="3255264"/>
            <a:ext cx="362102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モデル・出力サイズ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3849624"/>
            <a:ext cx="10744200" cy="585216"/>
          </a:xfrm>
          <a:prstGeom prst="roundRect">
            <a:avLst>
              <a:gd name="adj" fmla="val 9000"/>
            </a:avLst>
          </a:prstGeom>
          <a:solidFill>
            <a:srgbClr val="E8F7F5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" y="3959352"/>
            <a:ext cx="1408176" cy="34747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" y="3998671"/>
            <a:ext cx="128016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20–35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5184" y="3968496"/>
            <a:ext cx="4764024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9334F"/>
                </a:solidFill>
                <a:latin typeface="Aptos"/>
              </a:rPr>
              <a:t>Train + inspect plots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3968496"/>
            <a:ext cx="362102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学習と可視化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" y="4562856"/>
            <a:ext cx="10744200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400" y="4672584"/>
            <a:ext cx="1408176" cy="347472"/>
          </a:xfrm>
          <a:prstGeom prst="roundRect">
            <a:avLst>
              <a:gd name="adj" fmla="val 9000"/>
            </a:avLst>
          </a:prstGeom>
          <a:solidFill>
            <a:srgbClr val="EC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4711903"/>
            <a:ext cx="1280160" cy="246888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34F"/>
                </a:solidFill>
                <a:latin typeface="Aptos"/>
              </a:rPr>
              <a:t>5–10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5184" y="4681728"/>
            <a:ext cx="4764024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9334F"/>
                </a:solidFill>
                <a:latin typeface="Aptos"/>
              </a:rPr>
              <a:t>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7224" y="4681728"/>
            <a:ext cx="3621024" cy="265176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66F83"/>
                </a:solidFill>
                <a:latin typeface="Noto Sans CJK JP"/>
              </a:rPr>
              <a:t>結果を考える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" y="5779008"/>
            <a:ext cx="10689336" cy="283464"/>
          </a:xfrm>
          <a:prstGeom prst="rect">
            <a:avLst/>
          </a:prstGeom>
          <a:noFill/>
        </p:spPr>
        <p:txBody>
          <a:bodyPr wrap="square" lIns="27432" tIns="22860" rIns="27432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66F83"/>
                </a:solidFill>
                <a:latin typeface="Aptos"/>
              </a:rPr>
              <a:t>Dataset: TensorFlow flower_photos  •  Code: PyTorch  •  Illustrative figures labeled as such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2989</Words>
  <Application>Microsoft Macintosh PowerPoint</Application>
  <PresentationFormat>Widescreen</PresentationFormat>
  <Paragraphs>460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DejaVu Sans Mono</vt:lpstr>
      <vt:lpstr>Noto Sans CJK JP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Matus Tanonwong</cp:lastModifiedBy>
  <cp:revision>15</cp:revision>
  <dcterms:created xsi:type="dcterms:W3CDTF">2013-01-27T09:14:16Z</dcterms:created>
  <dcterms:modified xsi:type="dcterms:W3CDTF">2026-10-20T06:17:55Z</dcterms:modified>
  <cp:category/>
</cp:coreProperties>
</file>