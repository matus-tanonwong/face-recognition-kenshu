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38"/>
  </p:normalViewPr>
  <p:slideViewPr>
    <p:cSldViewPr snapToGrid="0" snapToObjects="1">
      <p:cViewPr varScale="1">
        <p:scale>
          <a:sx n="128" d="100"/>
          <a:sy n="128" d="100"/>
        </p:scale>
        <p:origin x="1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55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objective: the student will understand what a CNN does and run the provided MNIST notebook. The grid is a schematic illustration, not an actual MNIST image.</a:t>
            </a:r>
          </a:p>
          <a:p>
            <a:endParaRPr/>
          </a:p>
          <a:p>
            <a:r>
              <a:t>日本語：今日はCNNのしくみを理解し、MNISTノートブックを実行します。表紙の数字の格子は説明用の模式図です。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the goals explicit. The goal is to understand the mechanism, not to maximize test accuracy.</a:t>
            </a:r>
          </a:p>
          <a:p>
            <a:endParaRPr/>
          </a:p>
          <a:p>
            <a:r>
              <a:t>日本語：大切なのは正解率の高さだけではなく、CNNの動作を説明できることです。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MNIST consists of 60,000 training and 10,000 test 28x28 grayscale images. The digit grid is an illustration from sklearn, not images from MNIST itself.</a:t>
            </a:r>
          </a:p>
          <a:p>
            <a:endParaRPr/>
          </a:p>
          <a:p>
            <a:r>
              <a:t>日本語：MNISTには学習用6万枚、テスト用1万枚の28×28グレースケール画像があります。スライド左は形の違いを示す参考図です。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input, model, and output. Ask: How does the model choose 7 rather than 1?</a:t>
            </a:r>
          </a:p>
          <a:p>
            <a:endParaRPr/>
          </a:p>
          <a:p>
            <a:r>
              <a:t>日本語：入力・モデル・出力の3段階を確認します。なぜ1ではなく7と判断できるのでしょうか？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Tensor order is channel, height, width for one sample. Batches add another leading dimension.</a:t>
            </a:r>
          </a:p>
          <a:p>
            <a:endParaRPr/>
          </a:p>
          <a:p>
            <a:r>
              <a:t>日本語：1枚の画像は[チャネル,高さ,幅]です。バッチで処理すると先頭にバッチ次元が追加されます。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provided notebook randomly splits the original 60,000 training images into 55,000 training and 5,000 validation. The original test data remains untouched.</a:t>
            </a:r>
          </a:p>
          <a:p>
            <a:endParaRPr/>
          </a:p>
          <a:p>
            <a:r>
              <a:t>日本語：ノートブックでは元の学習用60,000枚を55,000枚と5,000枚に分割します。テストデータは最後まで使いません。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saying an MLP cannot learn an image; it can, but CNNs have an inductive bias for local patterns and shared kernels.</a:t>
            </a:r>
          </a:p>
          <a:p>
            <a:endParaRPr/>
          </a:p>
          <a:p>
            <a:r>
              <a:t>日本語：全結合モデルでも画像分類はできますが、CNNは局所的な構造を捉えやすい設計です。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kernel multiplies neighboring pixels and sums the products. For this step-edge image, a 3x3 vertical-edge kernel gives a 3x3 response map with 3 in the first two columns and 0 in the third.</a:t>
            </a:r>
          </a:p>
          <a:p>
            <a:endParaRPr/>
          </a:p>
          <a:p>
            <a:r>
              <a:t>日本語：3×3フィルタと近傍の9画素を要素ごとに掛けて足します。実例を1か所手計算してみましょう。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 kernel size 3 and stride 1, padding 1 preserves 28x28 because (28+2-3)+1=28. The formula needs floor for the general case.</a:t>
            </a:r>
          </a:p>
          <a:p>
            <a:endParaRPr/>
          </a:p>
          <a:p>
            <a:r>
              <a:t>日本語：カーネル3・ストライド1・パディング1なら(28+2−3)+1=28です。一般には床関数を使います。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output channel is produced by a distinct learned filter (technically one multi-channel kernel per output channel). For the grayscale first layer there is just one input channel.</a:t>
            </a:r>
          </a:p>
          <a:p>
            <a:endParaRPr/>
          </a:p>
          <a:p>
            <a:r>
              <a:t>日本語：出力チャネルごとに学習フィルタがあります。最初の層は入力が白黒の1チャネルなので、各フィルタは3×3です。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ReLU does not change shape or channel count. It changes values; negative values become zero. Compare −3 and +6.</a:t>
            </a:r>
          </a:p>
          <a:p>
            <a:endParaRPr/>
          </a:p>
          <a:p>
            <a:r>
              <a:t>日本語：ReLUでは形状は変わりません。値だけが変わり、負の値が0になります。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Separate pooling and ReLU clearly. Max pooling is per channel; it selects the maximum over each 2×2 spatial region.</a:t>
            </a:r>
          </a:p>
          <a:p>
            <a:endParaRPr/>
          </a:p>
          <a:p>
            <a:r>
              <a:t>日本語：ReLUとプーリングの役割を分けて説明します。プーリングは各チャネル内の2×2領域ごとに最大値を選びます。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channel × height × width. Explain 1568 = 32×7×7 and the final 10 scores are logits, not probabilities.</a:t>
            </a:r>
          </a:p>
          <a:p>
            <a:endParaRPr/>
          </a:p>
          <a:p>
            <a:r>
              <a:t>日本語：チャネル×高さ×幅の順番で説明します。1568=32×7×7です。最後の10個は確率ではなくlogitスコアです。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uses filters=16, matching the default notebook. Show that Conv2d(1,16,..) is in→out channels; MaxPool2d(2) shrinks spatial size; Flatten enables the classifier.</a:t>
            </a:r>
          </a:p>
          <a:p>
            <a:endParaRPr/>
          </a:p>
          <a:p>
            <a:r>
              <a:t>日本語：filters=16の設定です。Conv2dの1と16は入力・出力チャネル、MaxPool2d(2)は縦横を半分にすることを説明します。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PyTorch: logits=model(images); loss=criterion(logits, labels); loss.backward(); optimizer.step(). An epoch covers the whole training dataset.</a:t>
            </a:r>
          </a:p>
          <a:p>
            <a:endParaRPr/>
          </a:p>
          <a:p>
            <a:r>
              <a:t>日本語：PyTorchの学習ループは予測→損失→逆伝播→更新です。1エポックは学習データ全体を1周することです。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the student point to where each variable appears in the notebook. Keep one change at a time for comparisons.</a:t>
            </a:r>
          </a:p>
          <a:p>
            <a:endParaRPr/>
          </a:p>
          <a:p>
            <a:r>
              <a:t>日本語：ノートブックで各変数の位置を探してもらいます。実験では一度に1つの変数だけ変更します。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Illustrative curve only. A widening gap between train and validation losses may indicate overfitting. The notebook plots actual curves from its own run.</a:t>
            </a:r>
          </a:p>
          <a:p>
            <a:endParaRPr/>
          </a:p>
          <a:p>
            <a:r>
              <a:t>日本語：図は説明用で実験結果ではありません。学習損失は下がるのに検証損失が上がる場合、過学習の可能性があります。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matrix is a schematic, not measured MNIST results. Rows correspond to true digits; columns predicted digits. Ask the student what an off-diagonal cell means.</a:t>
            </a:r>
          </a:p>
          <a:p>
            <a:endParaRPr/>
          </a:p>
          <a:p>
            <a:r>
              <a:t>日本語：これは説明用の混同行列で実測値ではありません。行は正解、列は予測です。斜め以外に値があれば誤分類です。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98.4% value is illustrative; do not claim that it is measured from the user’s model. Note that high softmax score does not guarantee perfect calibration.</a:t>
            </a:r>
          </a:p>
          <a:p>
            <a:endParaRPr/>
          </a:p>
          <a:p>
            <a:r>
              <a:t>日本語：98.4%は説明用の数値です。実際の確率はノートブックで確認します。確信度が高くても必ず正しいとは限りません。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Left: illustrative randomly generated 3x3 weights, not actual learned weights. Right: schematic feature-map demonstration with hand-designed filters. Actual trained kernels and activation maps come from the notebook. A common color scale helps compare kernels.</a:t>
            </a:r>
          </a:p>
          <a:p>
            <a:endParaRPr/>
          </a:p>
          <a:p>
            <a:r>
              <a:t>日本語：左側は説明用の重み、右側は手動設定したフィルタによる特徴マップです。実際に学習された重みと中間出力はノートブックで確認します。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parameter counts are calculated for the shown architecture, with filters=8,16,32 respectively. Ask students to write validation accuracy from their own actual runs. No guarantees that more filters gives better validation accuracy.</a:t>
            </a:r>
          </a:p>
          <a:p>
            <a:endParaRPr/>
          </a:p>
          <a:p>
            <a:r>
              <a:t>日本語：パラメータ数はこのモデルに対する計算値です。検証正解率は実測して記入します。フィルタ数が多いほど必ず良くなるわけではありません。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 to explain the role of each operation in their own words. Preview the flowers notebook, which changes 1 input channel to 3 (RGB) and uses more complex data.</a:t>
            </a:r>
          </a:p>
          <a:p>
            <a:endParaRPr/>
          </a:p>
          <a:p>
            <a:r>
              <a:t>日本語：それぞれの操作の役割を学生自身の言葉で説明してもらいます。次はRGBの3チャネルを持つ花の画像分類です。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06640" y="941832"/>
            <a:ext cx="3986784" cy="4553712"/>
          </a:xfrm>
          <a:prstGeom prst="roundRect">
            <a:avLst/>
          </a:prstGeom>
          <a:solidFill>
            <a:srgbClr val="234767"/>
          </a:solidFill>
          <a:ln w="12700">
            <a:solidFill>
              <a:srgbClr val="23476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832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9DDBDB"/>
                </a:solidFill>
                <a:latin typeface="Aptos"/>
              </a:rPr>
              <a:t>INTRODUCTION TO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335024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Understanding CNNs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066544"/>
            <a:ext cx="603504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with MNIST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880360"/>
            <a:ext cx="6766560" cy="521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>
                <a:solidFill>
                  <a:srgbClr val="CBE9EA"/>
                </a:solidFill>
                <a:latin typeface="Noto Sans CJK JP"/>
              </a:rPr>
              <a:t>手書き数字の分類で学ぶCNN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4681728"/>
            <a:ext cx="4407408" cy="347472"/>
          </a:xfrm>
          <a:prstGeom prst="roundRect">
            <a:avLst/>
          </a:prstGeom>
          <a:solidFill>
            <a:srgbClr val="31647A"/>
          </a:solidFill>
          <a:ln w="12700">
            <a:solidFill>
              <a:srgbClr val="31647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4700016"/>
            <a:ext cx="426110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Theory → Code → 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6136" y="1618488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48472" y="1618488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50808" y="1618488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53144" y="1618488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55480" y="1618488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957816" y="1618488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46136" y="2020824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48472" y="2020824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750808" y="2020824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53144" y="2020824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555480" y="2020824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957816" y="2020824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46136" y="2423160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48472" y="2423160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50808" y="2423160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53144" y="2423160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55480" y="2423160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957816" y="2423160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46136" y="2825496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48472" y="2825496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50808" y="2825496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53144" y="2825496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555480" y="2825496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957816" y="2825496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946136" y="3227832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48472" y="3227832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750808" y="3227832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153144" y="3227832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555480" y="3227832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57816" y="3227832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946136" y="3630168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348472" y="3630168"/>
            <a:ext cx="338328" cy="338328"/>
          </a:xfrm>
          <a:prstGeom prst="roundRect">
            <a:avLst/>
          </a:prstGeom>
          <a:solidFill>
            <a:srgbClr val="88DBCF"/>
          </a:solidFill>
          <a:ln w="12700">
            <a:solidFill>
              <a:srgbClr val="88DB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750808" y="3630168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153144" y="3630168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555480" y="3630168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957816" y="3630168"/>
            <a:ext cx="338328" cy="338328"/>
          </a:xfrm>
          <a:prstGeom prst="roundRect">
            <a:avLst/>
          </a:prstGeom>
          <a:solidFill>
            <a:srgbClr val="33556F"/>
          </a:solidFill>
          <a:ln w="12700">
            <a:solidFill>
              <a:srgbClr val="33556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26096" y="4882896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Aptos"/>
              </a:rPr>
              <a:t>28 × 28 pixels  →  digit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47395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>
                <a:solidFill>
                  <a:srgbClr val="B7CCD8"/>
                </a:solidFill>
                <a:latin typeface="Aptos"/>
              </a:rPr>
              <a:t>01 / MNIST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What will we learn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今日の学習目標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28216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" y="1874520"/>
            <a:ext cx="438912" cy="34747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29260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86460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Read image pixels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52344"/>
            <a:ext cx="486460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画像を数値として理解する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28216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73368" y="1874520"/>
            <a:ext cx="438912" cy="34747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892808"/>
            <a:ext cx="29260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22576"/>
            <a:ext cx="486460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See convolution, ReLU, pooling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52344"/>
            <a:ext cx="486460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畳み込み・ReLU・プーリングを見る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00984"/>
            <a:ext cx="5230368" cy="135331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5528" y="3447288"/>
            <a:ext cx="438912" cy="34747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465576"/>
            <a:ext cx="29260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95344"/>
            <a:ext cx="486460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Build and train a CNN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25112"/>
            <a:ext cx="486460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CNNを作り、学習させる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00984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73368" y="3447288"/>
            <a:ext cx="438912" cy="34747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465576"/>
            <a:ext cx="29260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95344"/>
            <a:ext cx="486460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Visualize predictions and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25112"/>
            <a:ext cx="486460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予測結果と特徴を可視化する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5376672"/>
            <a:ext cx="6995160" cy="347472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9192" y="5394960"/>
            <a:ext cx="6848856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9334F"/>
                </a:solidFill>
                <a:latin typeface="Aptos"/>
              </a:rPr>
              <a:t>~60–75 min for MNIST  /  MNIST編：約60〜75分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MNIST: handwritten digits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MNIST：手書き数字データセット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1709928"/>
            <a:ext cx="1984248" cy="105156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70064" y="1837944"/>
            <a:ext cx="170992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19334F"/>
                </a:solidFill>
                <a:latin typeface="Aptos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2267712"/>
            <a:ext cx="1709928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80" b="1">
                <a:solidFill>
                  <a:srgbClr val="24384D"/>
                </a:solidFill>
                <a:latin typeface="Aptos"/>
              </a:rPr>
              <a:t>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487168"/>
            <a:ext cx="1709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>
                <a:solidFill>
                  <a:srgbClr val="61758A"/>
                </a:solidFill>
                <a:latin typeface="Noto Sans CJK JP"/>
              </a:rPr>
              <a:t>数字0〜9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0032" y="1709928"/>
            <a:ext cx="1984248" cy="105156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37192" y="1837944"/>
            <a:ext cx="170992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19334F"/>
                </a:solidFill>
                <a:latin typeface="Aptos"/>
              </a:rPr>
              <a:t>28×28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2267712"/>
            <a:ext cx="1709928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80" b="1">
                <a:solidFill>
                  <a:srgbClr val="24384D"/>
                </a:solidFill>
                <a:latin typeface="Aptos"/>
              </a:rPr>
              <a:t>Pixels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2487168"/>
            <a:ext cx="1709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>
                <a:solidFill>
                  <a:srgbClr val="61758A"/>
                </a:solidFill>
                <a:latin typeface="Noto Sans CJK JP"/>
              </a:rPr>
              <a:t>画素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2904" y="3008376"/>
            <a:ext cx="1984248" cy="105156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70064" y="3136392"/>
            <a:ext cx="170992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19334F"/>
                </a:solidFill>
                <a:latin typeface="Aptos"/>
              </a:rPr>
              <a:t>60k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4" y="3566160"/>
            <a:ext cx="1709928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80" b="1">
                <a:solidFill>
                  <a:srgbClr val="24384D"/>
                </a:solidFill>
                <a:latin typeface="Aptos"/>
              </a:rPr>
              <a:t>Train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3785616"/>
            <a:ext cx="1709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>
                <a:solidFill>
                  <a:srgbClr val="61758A"/>
                </a:solidFill>
                <a:latin typeface="Noto Sans CJK JP"/>
              </a:rPr>
              <a:t>元の学習画像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2" y="3008376"/>
            <a:ext cx="1984248" cy="105156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37192" y="3136392"/>
            <a:ext cx="170992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19334F"/>
                </a:solidFill>
                <a:latin typeface="Aptos"/>
              </a:rPr>
              <a:t>10k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3566160"/>
            <a:ext cx="1709928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80" b="1">
                <a:solidFill>
                  <a:srgbClr val="24384D"/>
                </a:solidFill>
                <a:latin typeface="Aptos"/>
              </a:rPr>
              <a:t>Test images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2" y="3785616"/>
            <a:ext cx="1709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>
                <a:solidFill>
                  <a:srgbClr val="61758A"/>
                </a:solidFill>
                <a:latin typeface="Noto Sans CJK JP"/>
              </a:rPr>
              <a:t>テスト画像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42048" y="4443984"/>
            <a:ext cx="4160520" cy="868680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4572000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>
                <a:solidFill>
                  <a:srgbClr val="24384D"/>
                </a:solidFill>
                <a:latin typeface="Aptos"/>
              </a:rPr>
              <a:t>Task: predict the digit 0–9.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855464"/>
            <a:ext cx="3822192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>
                <a:solidFill>
                  <a:srgbClr val="61758A"/>
                </a:solidFill>
                <a:latin typeface="Noto Sans CJK JP"/>
              </a:rPr>
              <a:t>目的：画像の数字を0〜9に分類する。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8AF1C69-E618-56CE-4148-CCCC7ECE41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102" r="49967"/>
          <a:stretch/>
        </p:blipFill>
        <p:spPr>
          <a:xfrm>
            <a:off x="807720" y="1488165"/>
            <a:ext cx="4564182" cy="25254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538543-BCE9-26CA-9B40-0DEEB8D38A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967" t="8102"/>
          <a:stretch/>
        </p:blipFill>
        <p:spPr>
          <a:xfrm>
            <a:off x="818634" y="4002950"/>
            <a:ext cx="4494949" cy="24871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BASIC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Image classification = choose a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画像分類＝画像にラベルを付ける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755648"/>
            <a:ext cx="278892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4325112"/>
            <a:ext cx="24048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10">
                <a:solidFill>
                  <a:srgbClr val="24384D"/>
                </a:solidFill>
                <a:latin typeface="Noto Sans CJK JP"/>
              </a:rPr>
              <a:t>Input image / 入力画像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3273552"/>
            <a:ext cx="1124712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0016" y="2505456"/>
            <a:ext cx="2926080" cy="160020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0912" y="2743200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24384D"/>
                </a:solidFill>
                <a:latin typeface="Aptos"/>
              </a:rPr>
              <a:t>CNN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246120"/>
            <a:ext cx="232257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>
                <a:solidFill>
                  <a:srgbClr val="61758A"/>
                </a:solidFill>
                <a:latin typeface="Noto Sans CJK JP"/>
              </a:rPr>
              <a:t>CNNモデル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63256" y="3273552"/>
            <a:ext cx="896112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05088" y="2212848"/>
            <a:ext cx="2761488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0616" y="2459736"/>
            <a:ext cx="1097280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0" b="1">
                <a:solidFill>
                  <a:srgbClr val="168E91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7947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>
                <a:solidFill>
                  <a:srgbClr val="24384D"/>
                </a:solidFill>
                <a:latin typeface="Aptos"/>
              </a:rPr>
              <a:t>Predicted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032504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>
                <a:solidFill>
                  <a:srgbClr val="61758A"/>
                </a:solidFill>
                <a:latin typeface="Noto Sans CJK JP"/>
              </a:rPr>
              <a:t>予測された数字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276088"/>
            <a:ext cx="105978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>
                <a:solidFill>
                  <a:srgbClr val="24384D"/>
                </a:solidFill>
                <a:latin typeface="Aptos"/>
              </a:rPr>
              <a:t>The computer sees numbers (pixels), not the picture as a person does.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669280"/>
            <a:ext cx="105978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61758A"/>
                </a:solidFill>
                <a:latin typeface="Noto Sans CJK JP"/>
              </a:rPr>
              <a:t>コンピュータは画像を「画素の数値」として処理します。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9B7377C-5E95-7687-0816-FED5E68181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481" t="59456" b="-1"/>
          <a:stretch/>
        </p:blipFill>
        <p:spPr>
          <a:xfrm>
            <a:off x="990600" y="2221993"/>
            <a:ext cx="2061974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IMAGE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An image is a tensor of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画像は数値のテンソル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64208"/>
            <a:ext cx="3840480" cy="4261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590288"/>
            <a:ext cx="335584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>
                <a:solidFill>
                  <a:srgbClr val="24384D"/>
                </a:solidFill>
                <a:latin typeface="Aptos"/>
              </a:rPr>
              <a:t>Grayscale: 0 = black, 1 = white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92624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>
                <a:solidFill>
                  <a:srgbClr val="61758A"/>
                </a:solidFill>
                <a:latin typeface="Noto Sans CJK JP"/>
              </a:rPr>
              <a:t>グレースケール：0＝黒、1＝白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664208"/>
            <a:ext cx="6803136" cy="4261104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0056" y="2029968"/>
            <a:ext cx="610819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1">
                <a:solidFill>
                  <a:srgbClr val="19334F"/>
                </a:solidFill>
                <a:latin typeface="Aptos Mono"/>
              </a:rPr>
              <a:t>image.shape = (1, 28, 28)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3072384"/>
            <a:ext cx="183794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85232" y="3282696"/>
            <a:ext cx="1271016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900" b="1">
                <a:solidFill>
                  <a:srgbClr val="168E9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3941064"/>
            <a:ext cx="16642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40">
                <a:solidFill>
                  <a:srgbClr val="24384D"/>
                </a:solidFill>
                <a:latin typeface="Noto Sans CJK JP"/>
              </a:rPr>
              <a:t>Channel / チャネル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440740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>
                <a:solidFill>
                  <a:srgbClr val="61758A"/>
                </a:solidFill>
                <a:latin typeface="Noto Sans CJK JP"/>
              </a:rPr>
              <a:t>grayscale / 白黒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072384"/>
            <a:ext cx="183794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24344" y="3282696"/>
            <a:ext cx="1271016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900" b="1">
                <a:solidFill>
                  <a:srgbClr val="168E91"/>
                </a:solidFill>
                <a:latin typeface="Aptos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941064"/>
            <a:ext cx="16642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40">
                <a:solidFill>
                  <a:srgbClr val="24384D"/>
                </a:solidFill>
                <a:latin typeface="Noto Sans CJK JP"/>
              </a:rPr>
              <a:t>Height / 高さ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40740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>
                <a:solidFill>
                  <a:srgbClr val="61758A"/>
                </a:solidFill>
                <a:latin typeface="Noto Sans CJK JP"/>
              </a:rPr>
              <a:t>28 pixels / 28画素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9992" y="3072384"/>
            <a:ext cx="183794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63456" y="3282696"/>
            <a:ext cx="1271016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900" b="1">
                <a:solidFill>
                  <a:srgbClr val="168E91"/>
                </a:solidFill>
                <a:latin typeface="Aptos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941064"/>
            <a:ext cx="16642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40">
                <a:solidFill>
                  <a:srgbClr val="24384D"/>
                </a:solidFill>
                <a:latin typeface="Noto Sans CJK JP"/>
              </a:rPr>
              <a:t>Width / 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440740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>
                <a:solidFill>
                  <a:srgbClr val="61758A"/>
                </a:solidFill>
                <a:latin typeface="Noto Sans CJK JP"/>
              </a:rPr>
              <a:t>28 pixels / 28画素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79CD11-6798-0A98-8556-DA3333B0AC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481" t="59456" b="-1"/>
          <a:stretch/>
        </p:blipFill>
        <p:spPr>
          <a:xfrm>
            <a:off x="1570479" y="2523744"/>
            <a:ext cx="2061974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GOOD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Train, validation, and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学習・検証・テストデータ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1865376"/>
            <a:ext cx="3200400" cy="3081528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231136"/>
            <a:ext cx="283464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500" b="1">
                <a:solidFill>
                  <a:srgbClr val="19334F"/>
                </a:solidFill>
                <a:latin typeface="Aptos"/>
              </a:rPr>
              <a:t>55,000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546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61758A"/>
                </a:solidFill>
                <a:latin typeface="Noto Sans CJK JP"/>
              </a:rPr>
              <a:t>学習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251960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40">
                <a:solidFill>
                  <a:srgbClr val="61758A"/>
                </a:solidFill>
                <a:latin typeface="Noto Sans CJK JP"/>
              </a:rPr>
              <a:t>Update weights / 重みを更新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865376"/>
            <a:ext cx="3200400" cy="3081528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2231136"/>
            <a:ext cx="283464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500" b="1">
                <a:solidFill>
                  <a:srgbClr val="19334F"/>
                </a:solidFill>
                <a:latin typeface="Aptos"/>
              </a:rPr>
              <a:t>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1546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61758A"/>
                </a:solidFill>
                <a:latin typeface="Noto Sans CJK JP"/>
              </a:rPr>
              <a:t>検証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251960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40">
                <a:solidFill>
                  <a:srgbClr val="61758A"/>
                </a:solidFill>
                <a:latin typeface="Noto Sans CJK JP"/>
              </a:rPr>
              <a:t>Tune settings / 設定を調整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865376"/>
            <a:ext cx="3200400" cy="3081528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2231136"/>
            <a:ext cx="283464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500" b="1">
                <a:solidFill>
                  <a:srgbClr val="19334F"/>
                </a:solidFill>
                <a:latin typeface="Aptos"/>
              </a:rPr>
              <a:t>10,000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1546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61758A"/>
                </a:solidFill>
                <a:latin typeface="Noto Sans CJK JP"/>
              </a:rPr>
              <a:t>テスト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4251960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40">
                <a:solidFill>
                  <a:srgbClr val="61758A"/>
                </a:solidFill>
                <a:latin typeface="Noto Sans CJK JP"/>
              </a:rPr>
              <a:t>Final evaluation / 最終評価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367528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19334F"/>
                </a:solidFill>
                <a:latin typeface="Aptos"/>
              </a:rPr>
              <a:t>Never repeatedly tune a model using the test 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742432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50">
                <a:solidFill>
                  <a:srgbClr val="61758A"/>
                </a:solidFill>
                <a:latin typeface="Noto Sans CJK JP"/>
              </a:rPr>
              <a:t>テストデータを見ながら何度もモデルを調整しないこと。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CNN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Why use a convolutional network?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なぜCNNを使うのか？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28216"/>
            <a:ext cx="5330952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56816"/>
            <a:ext cx="4837176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1">
                <a:solidFill>
                  <a:srgbClr val="19334F"/>
                </a:solidFill>
                <a:latin typeface="Aptos"/>
              </a:rPr>
              <a:t>Fully connected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23160"/>
            <a:ext cx="4837176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>
                <a:solidFill>
                  <a:srgbClr val="61758A"/>
                </a:solidFill>
                <a:latin typeface="Noto Sans CJK JP"/>
              </a:rPr>
              <a:t>全結合ニューラルネットワーク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" y="3017520"/>
            <a:ext cx="1307592" cy="841248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3273552"/>
            <a:ext cx="106984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28×28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51176" y="3456432"/>
            <a:ext cx="603504" cy="0"/>
          </a:xfrm>
          <a:prstGeom prst="line">
            <a:avLst/>
          </a:prstGeom>
          <a:ln w="25400">
            <a:solidFill>
              <a:srgbClr val="3677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91256" y="3017520"/>
            <a:ext cx="2002536" cy="841248"/>
          </a:xfrm>
          <a:prstGeom prst="roundRect">
            <a:avLst/>
          </a:prstGeom>
          <a:solidFill>
            <a:srgbClr val="E7E9F8"/>
          </a:solidFill>
          <a:ln w="12700">
            <a:solidFill>
              <a:srgbClr val="E7E9F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0128" y="3264408"/>
            <a:ext cx="174650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>
                <a:solidFill>
                  <a:srgbClr val="24384D"/>
                </a:solidFill>
                <a:latin typeface="Aptos"/>
              </a:rPr>
              <a:t>784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27024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40">
                <a:solidFill>
                  <a:srgbClr val="24384D"/>
                </a:solidFill>
                <a:latin typeface="Aptos"/>
              </a:rPr>
              <a:t>Flatten first: spatial layout is not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728216"/>
            <a:ext cx="5330952" cy="3255264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1956816"/>
            <a:ext cx="4837176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1">
                <a:solidFill>
                  <a:srgbClr val="19334F"/>
                </a:solidFill>
                <a:latin typeface="Aptos"/>
              </a:rPr>
              <a:t>Convolutional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423160"/>
            <a:ext cx="4837176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>
                <a:solidFill>
                  <a:srgbClr val="61758A"/>
                </a:solidFill>
                <a:latin typeface="Noto Sans CJK JP"/>
              </a:rPr>
              <a:t>畳み込みニューラルネットワーク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044952"/>
            <a:ext cx="192024" cy="19202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57416" y="3035808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76872" y="3044952"/>
            <a:ext cx="192024" cy="19202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67728" y="3035808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3044952"/>
            <a:ext cx="192024" cy="19202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3035808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7496" y="3044952"/>
            <a:ext cx="192024" cy="19202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88352" y="3035808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255264"/>
            <a:ext cx="192024" cy="19202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57416" y="3246120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76872" y="3255264"/>
            <a:ext cx="192024" cy="19202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67728" y="3246120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87184" y="3255264"/>
            <a:ext cx="192024" cy="19202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78040" y="3246120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97496" y="3255264"/>
            <a:ext cx="192024" cy="19202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88352" y="3246120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3465576"/>
            <a:ext cx="192024" cy="19202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57416" y="3456432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76872" y="3465576"/>
            <a:ext cx="192024" cy="19202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67728" y="3456432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87184" y="3465576"/>
            <a:ext cx="192024" cy="19202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78040" y="3456432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97496" y="3465576"/>
            <a:ext cx="192024" cy="19202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88352" y="3456432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3675888"/>
            <a:ext cx="192024" cy="19202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57416" y="3666744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76872" y="3675888"/>
            <a:ext cx="192024" cy="19202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67728" y="3666744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87184" y="3675888"/>
            <a:ext cx="192024" cy="19202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78040" y="3666744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97496" y="3675888"/>
            <a:ext cx="192024" cy="19202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88352" y="3666744"/>
            <a:ext cx="210312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845552" y="3456432"/>
            <a:ext cx="658368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613648" y="2980944"/>
            <a:ext cx="224942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14232" y="3291840"/>
            <a:ext cx="202996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24384D"/>
                </a:solidFill>
                <a:latin typeface="Aptos"/>
              </a:rPr>
              <a:t>3×3 local filters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2702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40">
                <a:solidFill>
                  <a:srgbClr val="24384D"/>
                </a:solidFill>
                <a:latin typeface="Aptos"/>
              </a:rPr>
              <a:t>Look for local strokes and patterns.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4" y="5230368"/>
            <a:ext cx="10195560" cy="667512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71016" y="5330952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60">
                <a:solidFill>
                  <a:srgbClr val="24384D"/>
                </a:solidFill>
                <a:latin typeface="Aptos"/>
              </a:rPr>
              <a:t>Key idea: CNNs use nearby pixels together.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1016" y="5623560"/>
            <a:ext cx="9692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80">
                <a:solidFill>
                  <a:srgbClr val="61758A"/>
                </a:solidFill>
                <a:latin typeface="Noto Sans CJK JP"/>
              </a:rPr>
              <a:t>重要：CNNは近くの画素をまとめて調べます。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CORE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Convolution: a sliding 3×3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畳み込み：3×3フィルタを動かす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>
                <a:solidFill>
                  <a:srgbClr val="19334F"/>
                </a:solidFill>
                <a:latin typeface="Noto Sans CJK JP"/>
              </a:rPr>
              <a:t>Example: vertical-edge filter / 縦エッジを強調するフィルタ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" y="2276856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276856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91056" y="226771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5416" y="2276856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226771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0632" y="2276856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61488" y="226771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2276856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46704" y="226771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" y="2862072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852928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2862072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91056" y="2852928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5416" y="2862072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76272" y="2852928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0632" y="2862072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61488" y="2852928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5848" y="2862072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46704" y="2852928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" y="3447288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3438144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3447288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91056" y="3438144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85416" y="3447288"/>
            <a:ext cx="566928" cy="566928"/>
          </a:xfrm>
          <a:prstGeom prst="rect">
            <a:avLst/>
          </a:prstGeom>
          <a:solidFill>
            <a:srgbClr val="EBF4FD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76272" y="3438144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70632" y="3447288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61488" y="3438144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55848" y="3447288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46704" y="3438144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" y="4032504"/>
            <a:ext cx="566928" cy="566928"/>
          </a:xfrm>
          <a:prstGeom prst="rect">
            <a:avLst/>
          </a:prstGeom>
          <a:solidFill>
            <a:srgbClr val="E9EDF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402336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4032504"/>
            <a:ext cx="566928" cy="566928"/>
          </a:xfrm>
          <a:prstGeom prst="rect">
            <a:avLst/>
          </a:prstGeom>
          <a:solidFill>
            <a:srgbClr val="E9EDF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91056" y="402336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85416" y="4032504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76272" y="402336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70632" y="4032504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61488" y="402336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55848" y="4032504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46704" y="402336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" y="4617720"/>
            <a:ext cx="566928" cy="566928"/>
          </a:xfrm>
          <a:prstGeom prst="rect">
            <a:avLst/>
          </a:prstGeom>
          <a:solidFill>
            <a:srgbClr val="E9EDF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5840" y="46085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617720"/>
            <a:ext cx="566928" cy="566928"/>
          </a:xfrm>
          <a:prstGeom prst="rect">
            <a:avLst/>
          </a:prstGeom>
          <a:solidFill>
            <a:srgbClr val="E9EDF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591056" y="46085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85416" y="4617720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176272" y="46085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70632" y="4617720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61488" y="46085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55848" y="4617720"/>
            <a:ext cx="566928" cy="566928"/>
          </a:xfrm>
          <a:prstGeom prst="rect">
            <a:avLst/>
          </a:prstGeom>
          <a:solidFill>
            <a:srgbClr val="A2D3D1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46704" y="46085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5431536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>
                <a:solidFill>
                  <a:srgbClr val="24384D"/>
                </a:solidFill>
                <a:latin typeface="Noto Sans CJK JP"/>
              </a:rPr>
              <a:t>Input / 入力：5×5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51376" y="3401568"/>
            <a:ext cx="429768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900" b="1">
                <a:solidFill>
                  <a:srgbClr val="168E91"/>
                </a:solidFill>
                <a:latin typeface="Aptos"/>
              </a:rPr>
              <a:t>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64608" y="2871216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55464" y="2862072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0680" y="2871216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31536" y="2862072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6752" y="2871216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07608" y="2862072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64608" y="3447288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855464" y="343814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3447288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31536" y="343814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16752" y="3447288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007608" y="343814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64608" y="4023360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855464" y="401421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4023360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31536" y="401421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16752" y="4023360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07608" y="401421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3440" y="4846320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60">
                <a:solidFill>
                  <a:srgbClr val="24384D"/>
                </a:solidFill>
                <a:latin typeface="Noto Sans CJK JP"/>
              </a:rPr>
              <a:t>Kernel / カーネル：3×3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75704" y="3694176"/>
            <a:ext cx="713232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7918704" y="2871216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909560" y="2862072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94776" y="2871216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485632" y="2862072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70848" y="2871216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061704" y="2862072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18704" y="3447288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909560" y="343814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94776" y="3447288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485632" y="343814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70848" y="3447288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061704" y="343814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18704" y="4023360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909560" y="401421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494776" y="4023360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485632" y="401421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70848" y="4023360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061704" y="401421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18120" y="4837176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>
                <a:solidFill>
                  <a:srgbClr val="24384D"/>
                </a:solidFill>
                <a:latin typeface="Noto Sans CJK JP"/>
              </a:rPr>
              <a:t>Output / 出力：3×3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820656" y="2286000"/>
            <a:ext cx="1755648" cy="2130552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030968" y="2660904"/>
            <a:ext cx="1380744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>
                <a:solidFill>
                  <a:srgbClr val="19334F"/>
                </a:solidFill>
                <a:latin typeface="Aptos"/>
              </a:rPr>
              <a:t>5−3+1</a:t>
            </a:r>
          </a:p>
          <a:p>
            <a:pPr algn="ctr"/>
            <a:r>
              <a:rPr sz="2200" b="1">
                <a:solidFill>
                  <a:srgbClr val="19334F"/>
                </a:solidFill>
                <a:latin typeface="Aptos"/>
              </a:rPr>
              <a:t>= 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76104" y="3785616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90">
                <a:solidFill>
                  <a:srgbClr val="61758A"/>
                </a:solidFill>
                <a:latin typeface="Aptos"/>
              </a:rPr>
              <a:t>No padding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8096" y="5769864"/>
            <a:ext cx="1063447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>
                <a:solidFill>
                  <a:srgbClr val="19334F"/>
                </a:solidFill>
                <a:latin typeface="Aptos"/>
              </a:rPr>
              <a:t>Move the kernel → multiply corresponding numbers → add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Why does padding preserve image size?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パディングを使うとサイズが維持される理由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73936"/>
            <a:ext cx="5102352" cy="3410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5256" y="1975104"/>
            <a:ext cx="1737360" cy="347472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993392"/>
            <a:ext cx="1591056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9334F"/>
                </a:solidFill>
                <a:latin typeface="Aptos"/>
              </a:rPr>
              <a:t>padding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788920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>
                <a:solidFill>
                  <a:srgbClr val="19334F"/>
                </a:solidFill>
                <a:latin typeface="Aptos"/>
              </a:rPr>
              <a:t>28 × 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52928" y="3054096"/>
            <a:ext cx="649224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0" y="2788920"/>
            <a:ext cx="1755648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>
                <a:solidFill>
                  <a:srgbClr val="C96467"/>
                </a:solidFill>
                <a:latin typeface="Aptos"/>
              </a:rPr>
              <a:t>26 × 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087368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10">
                <a:solidFill>
                  <a:srgbClr val="24384D"/>
                </a:solidFill>
                <a:latin typeface="Aptos"/>
              </a:rPr>
              <a:t>Edges are not padded.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45312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>
                <a:solidFill>
                  <a:srgbClr val="61758A"/>
                </a:solidFill>
                <a:latin typeface="Noto Sans CJK JP"/>
              </a:rPr>
              <a:t>画像の外側に画素を追加しません。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1773936"/>
            <a:ext cx="5431536" cy="341071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0216" y="1975104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1993392"/>
            <a:ext cx="1591056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padding 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88920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>
                <a:solidFill>
                  <a:srgbClr val="19334F"/>
                </a:solidFill>
                <a:latin typeface="Aptos"/>
              </a:rPr>
              <a:t>28 × 28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75320" y="3054096"/>
            <a:ext cx="640080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15984" y="2788920"/>
            <a:ext cx="202082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>
                <a:solidFill>
                  <a:srgbClr val="168E91"/>
                </a:solidFill>
                <a:latin typeface="Aptos"/>
              </a:rPr>
              <a:t>28 × 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087368"/>
            <a:ext cx="473659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90">
                <a:solidFill>
                  <a:srgbClr val="24384D"/>
                </a:solidFill>
                <a:latin typeface="Aptos"/>
              </a:rPr>
              <a:t>Add one zero-valued border around the image.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453128"/>
            <a:ext cx="4736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80">
                <a:solidFill>
                  <a:srgbClr val="61758A"/>
                </a:solidFill>
                <a:latin typeface="Noto Sans CJK JP"/>
              </a:rPr>
              <a:t>画像の周囲に幅1のゼロを追加します。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1952" y="5394960"/>
            <a:ext cx="8357616" cy="502920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03120" y="5522976"/>
            <a:ext cx="797356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>
                <a:solidFill>
                  <a:srgbClr val="19334F"/>
                </a:solidFill>
                <a:latin typeface="Aptos"/>
              </a:rPr>
              <a:t>Output size = (Input + 2×Padding − Kernel) / Stride + 1   [for divisible cases]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MOST ASKED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Why does convolution increase channels?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畳み込みでチャネル数が増えるのはなぜ？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1783080"/>
            <a:ext cx="2907792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20824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19334F"/>
                </a:solidFill>
                <a:latin typeface="Aptos"/>
              </a:rPr>
              <a:t>Input / 入力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53896" y="2752344"/>
            <a:ext cx="1499616" cy="1078992"/>
          </a:xfrm>
          <a:prstGeom prst="rect">
            <a:avLst/>
          </a:prstGeom>
          <a:solidFill>
            <a:srgbClr val="CFD6E0"/>
          </a:solidFill>
          <a:ln w="12700">
            <a:solidFill>
              <a:srgbClr val="95A4B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4197096"/>
            <a:ext cx="240487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9334F"/>
                </a:solidFill>
                <a:latin typeface="Aptos"/>
              </a:rPr>
              <a:t>1 × 28 × 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76472" y="3319272"/>
            <a:ext cx="822960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45152" y="1783080"/>
            <a:ext cx="2871216" cy="3026664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207568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19334F"/>
                </a:solidFill>
                <a:latin typeface="Aptos"/>
              </a:rPr>
              <a:t>16 learned kernels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54203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80">
                <a:solidFill>
                  <a:srgbClr val="61758A"/>
                </a:solidFill>
                <a:latin typeface="Noto Sans CJK JP"/>
              </a:rPr>
              <a:t>16個の学習フィルタ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8344" y="3127248"/>
            <a:ext cx="210312" cy="210312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66944" y="31272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5544" y="31272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8344" y="33558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66944" y="33558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57800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95544" y="33558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0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4" y="3584448"/>
            <a:ext cx="210312" cy="210312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66944" y="35844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57800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95544" y="35844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0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5816" y="3127248"/>
            <a:ext cx="210312" cy="210312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76672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14416" y="31272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05272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43016" y="31272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33872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85816" y="33558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76672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14416" y="33558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05272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3016" y="33558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33872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85816" y="3584448"/>
            <a:ext cx="210312" cy="210312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76672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14416" y="35844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05272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3016" y="35844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33872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33288" y="3127248"/>
            <a:ext cx="210312" cy="210312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24144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61888" y="31272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52744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90488" y="31272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81344" y="3118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33288" y="33558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24144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61888" y="33558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952744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90488" y="33558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81344" y="33467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33288" y="3584448"/>
            <a:ext cx="210312" cy="210312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724144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61888" y="3584448"/>
            <a:ext cx="210312" cy="210312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952744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90488" y="3584448"/>
            <a:ext cx="210312" cy="21031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181344" y="35753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653528" y="3319272"/>
            <a:ext cx="804672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485632" y="1783080"/>
            <a:ext cx="2953512" cy="3026664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714232" y="2075688"/>
            <a:ext cx="2459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19334F"/>
                </a:solidFill>
                <a:latin typeface="Aptos"/>
              </a:rPr>
              <a:t>16 feature maps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4549" y="3038190"/>
            <a:ext cx="1170432" cy="886968"/>
          </a:xfrm>
          <a:prstGeom prst="rect">
            <a:avLst/>
          </a:prstGeom>
          <a:solidFill>
            <a:srgbClr val="BFE6DE"/>
          </a:solidFill>
          <a:ln w="12700">
            <a:solidFill>
              <a:srgbClr val="4B979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5989" y="2951322"/>
            <a:ext cx="1170432" cy="886968"/>
          </a:xfrm>
          <a:prstGeom prst="rect">
            <a:avLst/>
          </a:prstGeom>
          <a:solidFill>
            <a:srgbClr val="91C3D2"/>
          </a:solidFill>
          <a:ln w="12700">
            <a:solidFill>
              <a:srgbClr val="4B979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237429" y="2864454"/>
            <a:ext cx="1170432" cy="886968"/>
          </a:xfrm>
          <a:prstGeom prst="rect">
            <a:avLst/>
          </a:prstGeom>
          <a:solidFill>
            <a:srgbClr val="BFE6DE"/>
          </a:solidFill>
          <a:ln w="12700">
            <a:solidFill>
              <a:srgbClr val="4B979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328869" y="2777586"/>
            <a:ext cx="1170432" cy="886968"/>
          </a:xfrm>
          <a:prstGeom prst="rect">
            <a:avLst/>
          </a:prstGeom>
          <a:solidFill>
            <a:srgbClr val="91C3D2"/>
          </a:solidFill>
          <a:ln w="12700">
            <a:solidFill>
              <a:srgbClr val="4B979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420309" y="2690718"/>
            <a:ext cx="1170432" cy="886968"/>
          </a:xfrm>
          <a:prstGeom prst="rect">
            <a:avLst/>
          </a:prstGeom>
          <a:solidFill>
            <a:srgbClr val="BFE6DE"/>
          </a:solidFill>
          <a:ln w="12700">
            <a:solidFill>
              <a:srgbClr val="4B979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511749" y="2603850"/>
            <a:ext cx="1170432" cy="886968"/>
          </a:xfrm>
          <a:prstGeom prst="rect">
            <a:avLst/>
          </a:prstGeom>
          <a:solidFill>
            <a:srgbClr val="91C3D2"/>
          </a:solidFill>
          <a:ln w="12700">
            <a:solidFill>
              <a:srgbClr val="4B979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603189" y="2516982"/>
            <a:ext cx="1170432" cy="886968"/>
          </a:xfrm>
          <a:prstGeom prst="rect">
            <a:avLst/>
          </a:prstGeom>
          <a:solidFill>
            <a:srgbClr val="BFE6DE"/>
          </a:solidFill>
          <a:ln w="12700">
            <a:solidFill>
              <a:srgbClr val="4B979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723376" y="4197096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9334F"/>
                </a:solidFill>
                <a:latin typeface="Aptos"/>
              </a:rPr>
              <a:t>16 × 28 × 28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" y="5340096"/>
            <a:ext cx="1047902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The number of feature maps increases, NOT height or width.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6112" y="5769864"/>
            <a:ext cx="104790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>
                <a:solidFill>
                  <a:srgbClr val="61758A"/>
                </a:solidFill>
                <a:latin typeface="Noto Sans CJK JP"/>
              </a:rPr>
              <a:t>増えるのは特徴マップの枚数であり、縦横の画素数ではありません。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ReLU: keep positives, zero negatives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ReLU：正の値はそのまま、負の値は0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682496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>
                <a:solidFill>
                  <a:srgbClr val="168E91"/>
                </a:solidFill>
                <a:latin typeface="Aptos"/>
              </a:rPr>
              <a:t>ReLU(x) = max(0, 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487168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247802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3352" y="2487168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64208" y="247802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2487168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40280" y="247802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5496" y="2487168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47802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-4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063240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" y="305409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-5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73352" y="3063240"/>
            <a:ext cx="557784" cy="557784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64208" y="305409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3063240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305409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25496" y="3063240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16352" y="305409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639312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" y="3630168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73352" y="3639312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64208" y="3630168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-2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9424" y="3639312"/>
            <a:ext cx="557784" cy="557784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40280" y="3630168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25496" y="3639312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16352" y="3630168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-4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4215384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88136" y="4206240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-1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73352" y="4215384"/>
            <a:ext cx="557784" cy="557784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64208" y="4206240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9424" y="4215384"/>
            <a:ext cx="557784" cy="557784"/>
          </a:xfrm>
          <a:prstGeom prst="rect">
            <a:avLst/>
          </a:prstGeom>
          <a:solidFill>
            <a:srgbClr val="F4C8C8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40280" y="4206240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-2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25496" y="4215384"/>
            <a:ext cx="557784" cy="557784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16352" y="4206240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5093208"/>
            <a:ext cx="259689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Noto Sans CJK JP"/>
              </a:rPr>
              <a:t>Before / 処理前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950208" y="3657600"/>
            <a:ext cx="1737360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425696" y="3191256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168E91"/>
                </a:solidFill>
                <a:latin typeface="Aptos"/>
              </a:rPr>
              <a:t>ReLU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28816" y="2487168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9672" y="247802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04888" y="2487168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95744" y="247802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2487168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71816" y="247802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57032" y="2487168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47888" y="2478024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28816" y="3063240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19672" y="305409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04888" y="3063240"/>
            <a:ext cx="557784" cy="557784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95744" y="305409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3063240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671816" y="305409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57032" y="3063240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47888" y="3054096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28816" y="3639312"/>
            <a:ext cx="557784" cy="557784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19672" y="3630168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04888" y="3639312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95744" y="3630168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3639312"/>
            <a:ext cx="557784" cy="557784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671816" y="3630168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57032" y="3639312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47888" y="3630168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28816" y="4215384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19672" y="4206240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04888" y="4215384"/>
            <a:ext cx="557784" cy="557784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95744" y="4206240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4215384"/>
            <a:ext cx="557784" cy="557784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71816" y="4206240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57032" y="4215384"/>
            <a:ext cx="557784" cy="557784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47888" y="4206240"/>
            <a:ext cx="576072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24384D"/>
                </a:solidFill>
                <a:latin typeface="Aptos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65976" y="5093208"/>
            <a:ext cx="259689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Noto Sans CJK JP"/>
              </a:rPr>
              <a:t>After / ReLU後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473184" y="2843784"/>
            <a:ext cx="1892808" cy="1481328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4352" y="3081528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>
                <a:solidFill>
                  <a:srgbClr val="C96467"/>
                </a:solidFill>
                <a:latin typeface="Aptos"/>
              </a:rPr>
              <a:t>−3 → 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74352" y="3675888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>
                <a:solidFill>
                  <a:srgbClr val="168E91"/>
                </a:solidFill>
                <a:latin typeface="Aptos"/>
              </a:rPr>
              <a:t>6 → 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" y="5724144"/>
            <a:ext cx="1060704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20">
                <a:solidFill>
                  <a:srgbClr val="19334F"/>
                </a:solidFill>
                <a:latin typeface="Aptos"/>
              </a:rPr>
              <a:t>Why? ReLU introduces nonlinearity so the CNN can learn complex patterns.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DOWNSAMPLING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Max pooling: keep the largest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最大プーリング：領域の最大値を残す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50">
                <a:solidFill>
                  <a:srgbClr val="19334F"/>
                </a:solidFill>
                <a:latin typeface="Noto Sans CJK JP"/>
              </a:rPr>
              <a:t>2×2 window • stride 2 / 2×2の窓・ストライド2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144" y="2258568"/>
            <a:ext cx="676656" cy="676656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24942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2258568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37944" y="224942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2258568"/>
            <a:ext cx="676656" cy="676656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32888" y="224942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2258568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27832" y="224942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144" y="2953512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2944368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47088" y="2953512"/>
            <a:ext cx="676656" cy="676656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37944" y="2944368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24384D"/>
                </a:solidFill>
                <a:latin typeface="Aptos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42032" y="2953512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32888" y="2944368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6976" y="2953512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27832" y="2944368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52144" y="3648456"/>
            <a:ext cx="676656" cy="676656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639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47088" y="3648456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37944" y="3639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42032" y="3648456"/>
            <a:ext cx="676656" cy="676656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32888" y="3639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24384D"/>
                </a:solidFill>
                <a:latin typeface="Aptos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36976" y="3648456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27832" y="3639312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2144" y="4343400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43000" y="4334256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47088" y="4343400"/>
            <a:ext cx="676656" cy="676656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37944" y="4334256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24384D"/>
                </a:solidFill>
                <a:latin typeface="Aptos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42032" y="4343400"/>
            <a:ext cx="676656" cy="676656"/>
          </a:xfrm>
          <a:prstGeom prst="rect">
            <a:avLst/>
          </a:prstGeom>
          <a:solidFill>
            <a:srgbClr val="F0F2F6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32888" y="4334256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>
                <a:solidFill>
                  <a:srgbClr val="24384D"/>
                </a:solidFill>
                <a:latin typeface="Aptos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36976" y="4343400"/>
            <a:ext cx="676656" cy="676656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27832" y="4334256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24384D"/>
                </a:solidFill>
                <a:latin typeface="Aptos"/>
              </a:rPr>
              <a:t>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379976" y="3666744"/>
            <a:ext cx="1984248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837176" y="3182112"/>
            <a:ext cx="113385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68E91"/>
                </a:solidFill>
                <a:latin typeface="Aptos"/>
              </a:rPr>
              <a:t>max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94576" y="2916936"/>
            <a:ext cx="850392" cy="850392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85432" y="2907792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24384D"/>
                </a:solidFill>
                <a:latin typeface="Aptos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63256" y="2916936"/>
            <a:ext cx="850392" cy="850392"/>
          </a:xfrm>
          <a:prstGeom prst="rect">
            <a:avLst/>
          </a:prstGeom>
          <a:solidFill>
            <a:srgbClr val="D8EDEB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54112" y="2907792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>
                <a:solidFill>
                  <a:srgbClr val="24384D"/>
                </a:solidFill>
                <a:latin typeface="Aptos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94576" y="3785616"/>
            <a:ext cx="850392" cy="850392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85432" y="3776472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24384D"/>
                </a:solidFill>
                <a:latin typeface="Aptos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63256" y="3785616"/>
            <a:ext cx="850392" cy="850392"/>
          </a:xfrm>
          <a:prstGeom prst="rect">
            <a:avLst/>
          </a:prstGeom>
          <a:solidFill>
            <a:srgbClr val="A0D2D2"/>
          </a:solidFill>
          <a:ln w="1270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54112" y="3776472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>
                <a:solidFill>
                  <a:srgbClr val="24384D"/>
                </a:solidFill>
                <a:latin typeface="Aptos"/>
              </a:rPr>
              <a:t>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36776" y="5266944"/>
            <a:ext cx="1783080" cy="347472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709928" y="5285232"/>
            <a:ext cx="1636776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3677B8"/>
                </a:solidFill>
                <a:latin typeface="Aptos"/>
              </a:rPr>
              <a:t>4 × 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0296" y="5266944"/>
            <a:ext cx="1783080" cy="34747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13448" y="5285232"/>
            <a:ext cx="1636776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2 × 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81160" y="2532888"/>
            <a:ext cx="2103120" cy="2112264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18904" y="2852928"/>
            <a:ext cx="16367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>
                <a:solidFill>
                  <a:srgbClr val="24384D"/>
                </a:solidFill>
                <a:latin typeface="Aptos"/>
              </a:rPr>
              <a:t>Smaller map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18904" y="3319272"/>
            <a:ext cx="163677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60">
                <a:solidFill>
                  <a:srgbClr val="61758A"/>
                </a:solidFill>
                <a:latin typeface="Noto Sans CJK JP"/>
              </a:rPr>
              <a:t>小さな特徴マップ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82912" y="3986784"/>
            <a:ext cx="151790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9334F"/>
                </a:solidFill>
                <a:latin typeface="Aptos"/>
              </a:rPr>
              <a:t>4 →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" y="5797296"/>
            <a:ext cx="1055217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>
                <a:solidFill>
                  <a:srgbClr val="19334F"/>
                </a:solidFill>
                <a:latin typeface="Aptos"/>
              </a:rPr>
              <a:t>Pooling reduces height and width, but keeps the channel count.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Our MNIST CNN: follow the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MNIST用CNN：サイズの変化を追う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618488"/>
            <a:ext cx="981151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4752" y="1700784"/>
            <a:ext cx="376732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20" b="1">
                <a:solidFill>
                  <a:srgbClr val="19334F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3832" y="1700784"/>
            <a:ext cx="226771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30" b="1">
                <a:solidFill>
                  <a:srgbClr val="24384D"/>
                </a:solidFill>
                <a:latin typeface="Aptos"/>
              </a:rPr>
              <a:t>1 × 28 × 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1700784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60">
                <a:solidFill>
                  <a:srgbClr val="61758A"/>
                </a:solidFill>
                <a:latin typeface="Noto Sans CJK JP"/>
              </a:rPr>
              <a:t>入力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267712"/>
            <a:ext cx="9811512" cy="466344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44752" y="2350008"/>
            <a:ext cx="376732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20">
                <a:solidFill>
                  <a:srgbClr val="19334F"/>
                </a:solidFill>
                <a:latin typeface="Aptos"/>
              </a:rPr>
              <a:t>Conv1 + ReLU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3832" y="2350008"/>
            <a:ext cx="226771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30" b="1">
                <a:solidFill>
                  <a:srgbClr val="24384D"/>
                </a:solidFill>
                <a:latin typeface="Aptos"/>
              </a:rPr>
              <a:t>16 × 28 ×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6" y="2350008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60">
                <a:solidFill>
                  <a:srgbClr val="61758A"/>
                </a:solidFill>
                <a:latin typeface="Noto Sans CJK JP"/>
              </a:rPr>
              <a:t>特徴を16種類抽出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916936"/>
            <a:ext cx="981151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44752" y="2999232"/>
            <a:ext cx="376732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20">
                <a:solidFill>
                  <a:srgbClr val="19334F"/>
                </a:solidFill>
                <a:latin typeface="Aptos"/>
              </a:rPr>
              <a:t>MaxPool1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2999232"/>
            <a:ext cx="226771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30" b="1">
                <a:solidFill>
                  <a:srgbClr val="24384D"/>
                </a:solidFill>
                <a:latin typeface="Aptos"/>
              </a:rPr>
              <a:t>16 × 14 ×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999232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60">
                <a:solidFill>
                  <a:srgbClr val="61758A"/>
                </a:solidFill>
                <a:latin typeface="Noto Sans CJK JP"/>
              </a:rPr>
              <a:t>縦横半分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566160"/>
            <a:ext cx="9811512" cy="466344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44752" y="3648456"/>
            <a:ext cx="376732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20">
                <a:solidFill>
                  <a:srgbClr val="19334F"/>
                </a:solidFill>
                <a:latin typeface="Aptos"/>
              </a:rPr>
              <a:t>Conv2 + ReLU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3648456"/>
            <a:ext cx="226771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30" b="1">
                <a:solidFill>
                  <a:srgbClr val="24384D"/>
                </a:solidFill>
                <a:latin typeface="Aptos"/>
              </a:rPr>
              <a:t>32 × 14 ×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648456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60">
                <a:solidFill>
                  <a:srgbClr val="61758A"/>
                </a:solidFill>
                <a:latin typeface="Noto Sans CJK JP"/>
              </a:rPr>
              <a:t>特徴を32種類抽出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4215384"/>
            <a:ext cx="981151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44752" y="4297680"/>
            <a:ext cx="376732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20">
                <a:solidFill>
                  <a:srgbClr val="19334F"/>
                </a:solidFill>
                <a:latin typeface="Aptos"/>
              </a:rPr>
              <a:t>MaxPool2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3832" y="4297680"/>
            <a:ext cx="226771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30" b="1">
                <a:solidFill>
                  <a:srgbClr val="24384D"/>
                </a:solidFill>
                <a:latin typeface="Aptos"/>
              </a:rPr>
              <a:t>32 × 7 ×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7576" y="4297680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60">
                <a:solidFill>
                  <a:srgbClr val="61758A"/>
                </a:solidFill>
                <a:latin typeface="Noto Sans CJK JP"/>
              </a:rPr>
              <a:t>縦横半分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864608"/>
            <a:ext cx="9811512" cy="466344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44752" y="4946904"/>
            <a:ext cx="376732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20">
                <a:solidFill>
                  <a:srgbClr val="19334F"/>
                </a:solidFill>
                <a:latin typeface="Aptos"/>
              </a:rPr>
              <a:t>Flatten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3832" y="4946904"/>
            <a:ext cx="226771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30" b="1">
                <a:solidFill>
                  <a:srgbClr val="24384D"/>
                </a:solidFill>
                <a:latin typeface="Aptos"/>
              </a:rPr>
              <a:t>1,568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6" y="4946904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60">
                <a:solidFill>
                  <a:srgbClr val="61758A"/>
                </a:solidFill>
                <a:latin typeface="Noto Sans CJK JP"/>
              </a:rPr>
              <a:t>1列に並べる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88720" y="5513832"/>
            <a:ext cx="981151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44752" y="5596128"/>
            <a:ext cx="376732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20" b="1">
                <a:solidFill>
                  <a:srgbClr val="19334F"/>
                </a:solidFill>
                <a:latin typeface="Aptos"/>
              </a:rPr>
              <a:t>Linear → ReLU → Linear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3832" y="5596128"/>
            <a:ext cx="226771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30" b="1">
                <a:solidFill>
                  <a:srgbClr val="168E91"/>
                </a:solidFill>
                <a:latin typeface="Aptos"/>
              </a:rPr>
              <a:t>64 →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7576" y="5596128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60">
                <a:solidFill>
                  <a:srgbClr val="61758A"/>
                </a:solidFill>
                <a:latin typeface="Noto Sans CJK JP"/>
              </a:rPr>
              <a:t>10クラスのスコア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Match the diagram to Python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図とPyTorchコードを対応させよう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728216"/>
            <a:ext cx="6583680" cy="4489704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D8E4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883664"/>
            <a:ext cx="6217920" cy="4215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self.conv1 = nn.Conv2d(1, 16, 3, padding=1)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self.relu1 = nn.ReLU()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self.pool1 = nn.MaxPool2d(2)</a:t>
            </a:r>
          </a:p>
          <a:p>
            <a:pPr algn="l"/>
            <a:endParaRPr sz="1410">
              <a:solidFill>
                <a:srgbClr val="213B59"/>
              </a:solidFill>
              <a:latin typeface="Aptos Mono"/>
            </a:endParaRP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self.conv2 = nn.Conv2d(16, 32, 3, padding=1)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self.relu2 = nn.ReLU()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self.pool2 = nn.MaxPool2d(2)</a:t>
            </a:r>
          </a:p>
          <a:p>
            <a:pPr algn="l"/>
            <a:endParaRPr sz="1410">
              <a:solidFill>
                <a:srgbClr val="213B59"/>
              </a:solidFill>
              <a:latin typeface="Aptos Mono"/>
            </a:endParaRP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self.classifier = nn.Sequential(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    nn.Flatten(),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    nn.Linear(32 * 7 * 7, 64),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    nn.ReLU(),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    nn.Linear(64, 10)</a:t>
            </a:r>
          </a:p>
          <a:p>
            <a:pPr algn="l"/>
            <a:r>
              <a:rPr sz="1410">
                <a:solidFill>
                  <a:srgbClr val="213B59"/>
                </a:solidFill>
                <a:latin typeface="Aptos Mono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2944" y="1728216"/>
            <a:ext cx="3867912" cy="1316736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1901952"/>
            <a:ext cx="35021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Conv2d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2322576"/>
            <a:ext cx="350215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特徴マップの枚数を決める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52944" y="3236976"/>
            <a:ext cx="3867912" cy="1261872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35824" y="3410712"/>
            <a:ext cx="35021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MaxPool2d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3831336"/>
            <a:ext cx="350215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画像の縦横を小さくする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4700016"/>
            <a:ext cx="3867912" cy="1335024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873752"/>
            <a:ext cx="35021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Linear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5294376"/>
            <a:ext cx="350215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10個の数字のスコアを出す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How does the CNN learn?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CNNはどのように学習する？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883664"/>
            <a:ext cx="2688336" cy="2587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2084832"/>
            <a:ext cx="429768" cy="347472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103120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3677B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6148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24384D"/>
                </a:solidFill>
                <a:latin typeface="Aptos"/>
              </a:rPr>
              <a:t>Forward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9184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>
                <a:solidFill>
                  <a:srgbClr val="61758A"/>
                </a:solidFill>
                <a:latin typeface="Noto Sans CJK JP"/>
              </a:rPr>
              <a:t>画像を入力して予測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01568" y="3163824"/>
            <a:ext cx="173736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11880" y="1883664"/>
            <a:ext cx="2688336" cy="2587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13048" y="2084832"/>
            <a:ext cx="429768" cy="347472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86200" y="2103120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3677B8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76148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24384D"/>
                </a:solidFill>
                <a:latin typeface="Aptos"/>
              </a:rPr>
              <a:t>Compute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329184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>
                <a:solidFill>
                  <a:srgbClr val="61758A"/>
                </a:solidFill>
                <a:latin typeface="Noto Sans CJK JP"/>
              </a:rPr>
              <a:t>正解とのずれを計算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18504" y="3163824"/>
            <a:ext cx="173736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28816" y="1883664"/>
            <a:ext cx="2688336" cy="2587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729984" y="2084832"/>
            <a:ext cx="429768" cy="347472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6" y="2103120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3677B8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76148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24384D"/>
                </a:solidFill>
                <a:latin typeface="Aptos"/>
              </a:rPr>
              <a:t>Backpropagation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29184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>
                <a:solidFill>
                  <a:srgbClr val="61758A"/>
                </a:solidFill>
                <a:latin typeface="Noto Sans CJK JP"/>
              </a:rPr>
              <a:t>勾配を求める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40" y="3163824"/>
            <a:ext cx="173736" cy="0"/>
          </a:xfrm>
          <a:prstGeom prst="line">
            <a:avLst/>
          </a:prstGeom>
          <a:ln w="25400">
            <a:solidFill>
              <a:srgbClr val="168E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45752" y="1883664"/>
            <a:ext cx="2688336" cy="258775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46920" y="2084832"/>
            <a:ext cx="429768" cy="347472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0072" y="2103120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3677B8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6" y="276148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24384D"/>
                </a:solidFill>
                <a:latin typeface="Aptos"/>
              </a:rPr>
              <a:t>Optimizer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329184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>
                <a:solidFill>
                  <a:srgbClr val="61758A"/>
                </a:solidFill>
                <a:latin typeface="Noto Sans CJK JP"/>
              </a:rPr>
              <a:t>重みを更新する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71016" y="4855464"/>
            <a:ext cx="9637776" cy="1024128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08760" y="5001768"/>
            <a:ext cx="91988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>
                <a:solidFill>
                  <a:srgbClr val="24384D"/>
                </a:solidFill>
                <a:latin typeface="Aptos"/>
              </a:rPr>
              <a:t>Repeat for many batches and epochs.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358384"/>
            <a:ext cx="91988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60">
                <a:solidFill>
                  <a:srgbClr val="61758A"/>
                </a:solidFill>
                <a:latin typeface="Noto Sans CJK JP"/>
              </a:rPr>
              <a:t>この4段階をバッチごと、エポックごとに繰り返します。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Three knobs to understand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最初に覚えたい3つの設定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1920240"/>
            <a:ext cx="3538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32095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9334F"/>
                </a:solidFill>
                <a:latin typeface="Aptos Mono"/>
              </a:rPr>
              <a:t>BATCH_SIZE = 128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90088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>
                <a:solidFill>
                  <a:srgbClr val="24384D"/>
                </a:solidFill>
                <a:latin typeface="Aptos"/>
              </a:rPr>
              <a:t>Batch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493008"/>
            <a:ext cx="307238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10">
                <a:solidFill>
                  <a:srgbClr val="61758A"/>
                </a:solidFill>
                <a:latin typeface="Noto Sans CJK JP"/>
              </a:rPr>
              <a:t>一度に処理する画像枚数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288536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60">
                <a:solidFill>
                  <a:srgbClr val="61758A"/>
                </a:solidFill>
                <a:latin typeface="Aptos"/>
              </a:rPr>
              <a:t>128 images at a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920240"/>
            <a:ext cx="3538728" cy="306324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2584" y="2194560"/>
            <a:ext cx="32095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9334F"/>
                </a:solidFill>
                <a:latin typeface="Aptos Mono"/>
              </a:rPr>
              <a:t>EPOCHS 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990088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>
                <a:solidFill>
                  <a:srgbClr val="24384D"/>
                </a:solidFill>
                <a:latin typeface="Aptos"/>
              </a:rPr>
              <a:t>Epochs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493008"/>
            <a:ext cx="307238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10">
                <a:solidFill>
                  <a:srgbClr val="61758A"/>
                </a:solidFill>
                <a:latin typeface="Noto Sans CJK JP"/>
              </a:rPr>
              <a:t>学習データ全体を繰り返す回数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4288536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60">
                <a:solidFill>
                  <a:srgbClr val="61758A"/>
                </a:solidFill>
                <a:latin typeface="Aptos"/>
              </a:rPr>
              <a:t>3 complete passes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1920240"/>
            <a:ext cx="3538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7344" y="2194560"/>
            <a:ext cx="32095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9334F"/>
                </a:solidFill>
                <a:latin typeface="Aptos Mono"/>
              </a:rPr>
              <a:t>lr = 0.001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990088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>
                <a:solidFill>
                  <a:srgbClr val="24384D"/>
                </a:solidFill>
                <a:latin typeface="Aptos"/>
              </a:rPr>
              <a:t>Learning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493008"/>
            <a:ext cx="307238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10">
                <a:solidFill>
                  <a:srgbClr val="61758A"/>
                </a:solidFill>
                <a:latin typeface="Noto Sans CJK JP"/>
              </a:rPr>
              <a:t>重みを更新する大きさ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4288536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60">
                <a:solidFill>
                  <a:srgbClr val="61758A"/>
                </a:solidFill>
                <a:latin typeface="Aptos"/>
              </a:rPr>
              <a:t>Step size for Adam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5431536"/>
            <a:ext cx="101681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19334F"/>
                </a:solidFill>
                <a:latin typeface="Aptos"/>
              </a:rPr>
              <a:t>In class: use EPOCHS = 2 if training takes too long.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" y="5769864"/>
            <a:ext cx="10168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40">
                <a:solidFill>
                  <a:srgbClr val="61758A"/>
                </a:solidFill>
                <a:latin typeface="Noto Sans CJK JP"/>
              </a:rPr>
              <a:t>授業中、学習に時間がかかる場合は EPOCHS = 2 に変更できます。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EVALUATE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How to read learning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学習曲線をどう読む？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6720840" cy="35021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0376" y="1728216"/>
            <a:ext cx="3803904" cy="3502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08976" y="1938528"/>
            <a:ext cx="332841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24384D"/>
                </a:solidFill>
                <a:latin typeface="Aptos"/>
              </a:rPr>
              <a:t>Training loss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6" y="236829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10">
                <a:solidFill>
                  <a:srgbClr val="61758A"/>
                </a:solidFill>
                <a:latin typeface="Noto Sans CJK JP"/>
              </a:rPr>
              <a:t>学習損失が下がる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6" y="2990088"/>
            <a:ext cx="332841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24384D"/>
                </a:solidFill>
                <a:latin typeface="Aptos"/>
              </a:rPr>
              <a:t>Validation loss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6" y="341985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10">
                <a:solidFill>
                  <a:srgbClr val="61758A"/>
                </a:solidFill>
                <a:latin typeface="Noto Sans CJK JP"/>
              </a:rPr>
              <a:t>検証損失が上がる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6" y="4133088"/>
            <a:ext cx="332841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24384D"/>
                </a:solidFill>
                <a:latin typeface="Aptos"/>
              </a:rPr>
              <a:t>Possible overfitting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4562856"/>
            <a:ext cx="33284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10">
                <a:solidFill>
                  <a:srgbClr val="61758A"/>
                </a:solidFill>
                <a:latin typeface="Noto Sans CJK JP"/>
              </a:rPr>
              <a:t>過学習の可能性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21808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>
                <a:solidFill>
                  <a:srgbClr val="61758A"/>
                </a:solidFill>
                <a:latin typeface="Noto Sans CJK JP"/>
              </a:rPr>
              <a:t>Illustrative curves (not measured MNIST results) / 説明用の曲線（実測値ではありません）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CD9D76-B8F6-1913-2062-2554AC6AD78B}"/>
              </a:ext>
            </a:extLst>
          </p:cNvPr>
          <p:cNvCxnSpPr/>
          <p:nvPr/>
        </p:nvCxnSpPr>
        <p:spPr>
          <a:xfrm>
            <a:off x="4611625" y="1728216"/>
            <a:ext cx="0" cy="281635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Accuracy and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正解率と混同行列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55064"/>
            <a:ext cx="5833872" cy="41330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0" y="1755648"/>
            <a:ext cx="4407408" cy="1225296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78040" y="1929384"/>
            <a:ext cx="378561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50" b="1">
                <a:solidFill>
                  <a:srgbClr val="19334F"/>
                </a:solidFill>
                <a:latin typeface="Aptos"/>
              </a:rPr>
              <a:t>Accuracy = correct /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450592"/>
            <a:ext cx="39776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30">
                <a:solidFill>
                  <a:srgbClr val="61758A"/>
                </a:solidFill>
                <a:latin typeface="Noto Sans CJK JP"/>
              </a:rPr>
              <a:t>正解率＝正解した数 ÷ 全画像数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209544"/>
            <a:ext cx="4407408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474720"/>
            <a:ext cx="37764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10" b="1">
                <a:solidFill>
                  <a:srgbClr val="24384D"/>
                </a:solidFill>
                <a:latin typeface="Aptos"/>
              </a:rPr>
              <a:t>Diagonal = correct predictions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913632"/>
            <a:ext cx="37764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90">
                <a:solidFill>
                  <a:srgbClr val="61758A"/>
                </a:solidFill>
                <a:latin typeface="Noto Sans CJK JP"/>
              </a:rPr>
              <a:t>対角線＝正しく分類された画像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4462272"/>
            <a:ext cx="37764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10" b="1">
                <a:solidFill>
                  <a:srgbClr val="24384D"/>
                </a:solidFill>
                <a:latin typeface="Aptos"/>
              </a:rPr>
              <a:t>Off-diagonal = mistakes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4" y="4901184"/>
            <a:ext cx="37764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90">
                <a:solidFill>
                  <a:srgbClr val="61758A"/>
                </a:solidFill>
                <a:latin typeface="Noto Sans CJK JP"/>
              </a:rPr>
              <a:t>対角線以外＝誤分類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833872"/>
            <a:ext cx="103144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>
                <a:solidFill>
                  <a:srgbClr val="61758A"/>
                </a:solidFill>
                <a:latin typeface="Aptos"/>
              </a:rPr>
              <a:t>Example matrix only; inspect the real matrix produced by your notebook.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What does the model predict?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モデルは何を予測する？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19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74520"/>
            <a:ext cx="7077456" cy="35021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91272" y="1911096"/>
            <a:ext cx="3520440" cy="3447288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2249424"/>
            <a:ext cx="296265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50">
                <a:solidFill>
                  <a:srgbClr val="19334F"/>
                </a:solidFill>
                <a:latin typeface="Noto Sans CJK JP"/>
              </a:rPr>
              <a:t>Predicted / 予測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679192"/>
            <a:ext cx="2121408" cy="1271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700" b="1">
                <a:solidFill>
                  <a:srgbClr val="168E91"/>
                </a:solidFill>
                <a:latin typeface="Apto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17880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9334F"/>
                </a:solidFill>
                <a:latin typeface="Aptos"/>
              </a:rPr>
              <a:t>Softmax = 98.4%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4700016"/>
            <a:ext cx="29352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10">
                <a:solidFill>
                  <a:srgbClr val="61758A"/>
                </a:solidFill>
                <a:latin typeface="Noto Sans CJK JP"/>
              </a:rPr>
              <a:t>Example scores only / 説明用の値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522976"/>
            <a:ext cx="1049731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60">
                <a:solidFill>
                  <a:srgbClr val="24384D"/>
                </a:solidFill>
                <a:latin typeface="Aptos"/>
              </a:rPr>
              <a:t>Softmax turns 10 logits into scores that add to 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879592"/>
            <a:ext cx="104973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20">
                <a:solidFill>
                  <a:srgbClr val="61758A"/>
                </a:solidFill>
                <a:latin typeface="Noto Sans CJK JP"/>
              </a:rPr>
              <a:t>Softmaxは10個のスコアを合計1の値に変換します。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INSIDE 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Learned kernels and feature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学習済みカーネルと特徴マップ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27632"/>
            <a:ext cx="551383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01368"/>
            <a:ext cx="50657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40" b="1">
                <a:solidFill>
                  <a:srgbClr val="19334F"/>
                </a:solidFill>
                <a:latin typeface="Noto Sans CJK JP"/>
              </a:rPr>
              <a:t>Learned 3×3 kernels / 学習された3×3の重み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13432"/>
            <a:ext cx="5074920" cy="31363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27648" y="1627632"/>
            <a:ext cx="523036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801368"/>
            <a:ext cx="48006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>
                <a:solidFill>
                  <a:srgbClr val="19334F"/>
                </a:solidFill>
                <a:latin typeface="Noto Sans CJK JP"/>
              </a:rPr>
              <a:t>Feature maps / 特徴マップ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75488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30">
                <a:solidFill>
                  <a:srgbClr val="24384D"/>
                </a:solidFill>
                <a:latin typeface="Aptos"/>
              </a:rPr>
              <a:t>Different filters respond to different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093208"/>
            <a:ext cx="47091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20">
                <a:solidFill>
                  <a:srgbClr val="61758A"/>
                </a:solidFill>
                <a:latin typeface="Noto Sans CJK JP"/>
              </a:rPr>
              <a:t>フィルタごとに反応する特徴が異なります。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6227064"/>
            <a:ext cx="10881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>
                <a:solidFill>
                  <a:srgbClr val="61758A"/>
                </a:solidFill>
                <a:latin typeface="Aptos"/>
              </a:rPr>
              <a:t>Illustrative weights and manually chosen filters; run the notebook for learned outputs.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6A1301-26F4-46DA-CA60-148797469E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00" t="7799" r="4738" b="4238"/>
          <a:stretch/>
        </p:blipFill>
        <p:spPr>
          <a:xfrm>
            <a:off x="6430617" y="2631086"/>
            <a:ext cx="1274197" cy="13445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EF0506-6DC5-37D2-C890-1B236E37298B}"/>
              </a:ext>
            </a:extLst>
          </p:cNvPr>
          <p:cNvSpPr txBox="1"/>
          <p:nvPr/>
        </p:nvSpPr>
        <p:spPr>
          <a:xfrm>
            <a:off x="6610515" y="2345091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200" dirty="0"/>
              <a:t>Input/入力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307882-1296-F501-4C61-7C742B899F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144"/>
          <a:stretch/>
        </p:blipFill>
        <p:spPr>
          <a:xfrm>
            <a:off x="7892067" y="2236530"/>
            <a:ext cx="3386858" cy="2417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Student experiment: change the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演習：フィルタ数を変更しよう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19072"/>
            <a:ext cx="105247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90">
                <a:solidFill>
                  <a:srgbClr val="19334F"/>
                </a:solidFill>
                <a:latin typeface="Aptos"/>
              </a:rPr>
              <a:t>Change only FILTERS. Keep the data split, epochs, and learning rate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93976"/>
            <a:ext cx="105247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60">
                <a:solidFill>
                  <a:srgbClr val="61758A"/>
                </a:solidFill>
                <a:latin typeface="Noto Sans CJK JP"/>
              </a:rPr>
              <a:t>FILTERSだけを変更し、他の設定は同じにします。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615184"/>
            <a:ext cx="2011680" cy="566928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24912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40" b="1">
                <a:solidFill>
                  <a:srgbClr val="19334F"/>
                </a:solidFill>
                <a:latin typeface="Noto Sans CJK JP"/>
              </a:rPr>
              <a:t>Experiment / 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615184"/>
            <a:ext cx="2194560" cy="566928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64408" y="2724912"/>
            <a:ext cx="206654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40" b="1">
                <a:solidFill>
                  <a:srgbClr val="19334F"/>
                </a:solidFill>
                <a:latin typeface="Noto Sans CJK JP"/>
              </a:rPr>
              <a:t>Filters / 枚数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615184"/>
            <a:ext cx="2926080" cy="566928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41848" y="2724912"/>
            <a:ext cx="279806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40" b="1">
                <a:solidFill>
                  <a:srgbClr val="19334F"/>
                </a:solidFill>
                <a:latin typeface="Noto Sans CJK JP"/>
              </a:rPr>
              <a:t>Parameters / 重み数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615184"/>
            <a:ext cx="2286000" cy="566928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EBF4F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0808" y="2724912"/>
            <a:ext cx="21579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40" b="1">
                <a:solidFill>
                  <a:srgbClr val="19334F"/>
                </a:solidFill>
                <a:latin typeface="Noto Sans CJK JP"/>
              </a:rPr>
              <a:t>Val. accuracy / 検証正解率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264408"/>
            <a:ext cx="2011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392424"/>
            <a:ext cx="188366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264408"/>
            <a:ext cx="2194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64408" y="3392424"/>
            <a:ext cx="206654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3264408"/>
            <a:ext cx="2926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41848" y="3392424"/>
            <a:ext cx="279806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24384D"/>
                </a:solidFill>
                <a:latin typeface="Aptos"/>
              </a:rPr>
              <a:t>52,138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3264408"/>
            <a:ext cx="228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0808" y="3392424"/>
            <a:ext cx="2157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3922776"/>
            <a:ext cx="2011680" cy="54864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050792"/>
            <a:ext cx="188366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3922776"/>
            <a:ext cx="2194560" cy="54864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64408" y="4050792"/>
            <a:ext cx="206654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3922776"/>
            <a:ext cx="2926080" cy="54864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41848" y="4050792"/>
            <a:ext cx="279806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24384D"/>
                </a:solidFill>
                <a:latin typeface="Aptos"/>
              </a:rPr>
              <a:t>105,866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922776"/>
            <a:ext cx="2286000" cy="54864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50808" y="4050792"/>
            <a:ext cx="2157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" y="4581144"/>
            <a:ext cx="2011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5568" y="4709160"/>
            <a:ext cx="188366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4581144"/>
            <a:ext cx="2194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64408" y="4709160"/>
            <a:ext cx="206654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32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4581144"/>
            <a:ext cx="2926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41848" y="4709160"/>
            <a:ext cx="279806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24384D"/>
                </a:solidFill>
                <a:latin typeface="Aptos"/>
              </a:rPr>
              <a:t>220,234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4581144"/>
            <a:ext cx="228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50808" y="4709160"/>
            <a:ext cx="215798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24384D"/>
                </a:solidFill>
                <a:latin typeface="Aptos"/>
              </a:rPr>
              <a:t>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" y="5504688"/>
            <a:ext cx="10204704" cy="566928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71016" y="5641848"/>
            <a:ext cx="969264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50" b="1">
                <a:solidFill>
                  <a:srgbClr val="19334F"/>
                </a:solidFill>
                <a:latin typeface="Noto Sans CJK JP"/>
              </a:rPr>
              <a:t>Question / 質問：More filters → more accuracy? More computation?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E91"/>
          </a:solidFill>
          <a:ln w="12700">
            <a:solidFill>
              <a:srgbClr val="168E9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651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30" b="1">
                <a:solidFill>
                  <a:srgbClr val="168E91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30352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40" b="1">
                <a:solidFill>
                  <a:srgbClr val="19334F"/>
                </a:solidFill>
                <a:latin typeface="Aptos"/>
              </a:rPr>
              <a:t>Three things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>
                <a:solidFill>
                  <a:srgbClr val="61758A"/>
                </a:solidFill>
                <a:latin typeface="Noto Sans CJK JP"/>
              </a:rPr>
              <a:t>最後に覚えてほしい3つのこと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08176"/>
            <a:ext cx="10991088" cy="0"/>
          </a:xfrm>
          <a:prstGeom prst="line">
            <a:avLst/>
          </a:prstGeom>
          <a:ln w="12700">
            <a:solidFill>
              <a:srgbClr val="DDE6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6547104"/>
            <a:ext cx="82296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>
                <a:solidFill>
                  <a:srgbClr val="61758A"/>
                </a:solidFill>
                <a:latin typeface="Aptos"/>
              </a:rPr>
              <a:t>CNN × MNIST  •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>
                <a:solidFill>
                  <a:srgbClr val="61758A"/>
                </a:solidFill>
                <a:latin typeface="Apto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64792"/>
            <a:ext cx="3474720" cy="2843784"/>
          </a:xfrm>
          <a:prstGeom prst="roundRect">
            <a:avLst/>
          </a:prstGeom>
          <a:solidFill>
            <a:srgbClr val="EBF4FD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6968" y="1911096"/>
            <a:ext cx="438912" cy="34747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29260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Convolution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局所的な特徴を抽出する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764792"/>
            <a:ext cx="3474720" cy="2843784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07992" y="1911096"/>
            <a:ext cx="438912" cy="34747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929384"/>
            <a:ext cx="29260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35915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ReLU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788920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負の値を0にして非線形性を加える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764792"/>
            <a:ext cx="3474720" cy="2843784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DDE6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38160" y="1911096"/>
            <a:ext cx="438912" cy="347472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E7F6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1929384"/>
            <a:ext cx="29260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>
                <a:solidFill>
                  <a:srgbClr val="168E9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35915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19334F"/>
                </a:solidFill>
                <a:latin typeface="Aptos"/>
              </a:rPr>
              <a:t>Pooling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788920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>
                <a:solidFill>
                  <a:srgbClr val="61758A"/>
                </a:solidFill>
                <a:latin typeface="Noto Sans CJK JP"/>
              </a:rPr>
              <a:t>特徴マップの縦横を小さくする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946904"/>
            <a:ext cx="9454896" cy="996696"/>
          </a:xfrm>
          <a:prstGeom prst="roundRect">
            <a:avLst/>
          </a:prstGeom>
          <a:solidFill>
            <a:srgbClr val="19334F"/>
          </a:solidFill>
          <a:ln w="12700">
            <a:solidFill>
              <a:srgbClr val="19334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73352" y="5084064"/>
            <a:ext cx="8823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Next: classify color images of flowers!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" y="5504688"/>
            <a:ext cx="882396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>
                <a:solidFill>
                  <a:srgbClr val="D1ECE9"/>
                </a:solidFill>
                <a:latin typeface="Noto Sans CJK JP"/>
              </a:rPr>
              <a:t>次はカラー画像を使って花を分類してみましょう！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2423</Words>
  <Application>Microsoft Macintosh PowerPoint</Application>
  <PresentationFormat>Widescreen</PresentationFormat>
  <Paragraphs>556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Noto Sans CJK JP</vt:lpstr>
      <vt:lpstr>Aptos</vt:lpstr>
      <vt:lpstr>Aptos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Matus Tanonwong</cp:lastModifiedBy>
  <cp:revision>9</cp:revision>
  <dcterms:created xsi:type="dcterms:W3CDTF">2013-01-27T09:14:16Z</dcterms:created>
  <dcterms:modified xsi:type="dcterms:W3CDTF">2026-10-20T06:47:03Z</dcterms:modified>
  <cp:category/>
</cp:coreProperties>
</file>