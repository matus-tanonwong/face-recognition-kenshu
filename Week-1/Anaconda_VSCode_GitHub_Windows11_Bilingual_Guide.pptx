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127" d="100"/>
          <a:sy n="127"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138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hyperlink" Target="https://git-scm.com/download/win" TargetMode="External"/><Relationship Id="rId3" Type="http://schemas.openxmlformats.org/officeDocument/2006/relationships/hyperlink" Target="https://docs.conda.io/projects/conda/en/stable/user-guide/tasks/manage-environments.html" TargetMode="External"/><Relationship Id="rId7" Type="http://schemas.openxmlformats.org/officeDocument/2006/relationships/hyperlink" Target="https://code.visualstudio.com/docs/sourcecontrol/github"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hyperlink" Target="https://code.visualstudio.com/docs/sourcecontrol/repos-remotes" TargetMode="External"/><Relationship Id="rId5" Type="http://schemas.openxmlformats.org/officeDocument/2006/relationships/hyperlink" Target="https://code.visualstudio.com/docs/sourcecontrol/quickstart" TargetMode="External"/><Relationship Id="rId4" Type="http://schemas.openxmlformats.org/officeDocument/2006/relationships/hyperlink" Target="https://code.visualstudio.com/docs/python/environmen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822960" y="932688"/>
            <a:ext cx="10058400" cy="365760"/>
          </a:xfrm>
          <a:prstGeom prst="rect">
            <a:avLst/>
          </a:prstGeom>
          <a:noFill/>
          <a:ln/>
        </p:spPr>
        <p:txBody>
          <a:bodyPr wrap="square" lIns="508" tIns="508" rIns="508" bIns="508" rtlCol="0" anchor="ctr"/>
          <a:lstStyle/>
          <a:p>
            <a:pPr marL="0" indent="0" algn="l">
              <a:buNone/>
            </a:pPr>
            <a:r>
              <a:rPr lang="en-US" sz="1600" b="1" kern="0" spc="120" dirty="0">
                <a:solidFill>
                  <a:srgbClr val="7DCECB"/>
                </a:solidFill>
                <a:latin typeface="Aptos" pitchFamily="34" charset="0"/>
                <a:ea typeface="Aptos" pitchFamily="34" charset="-122"/>
                <a:cs typeface="Aptos" pitchFamily="34" charset="-120"/>
              </a:rPr>
              <a:t>BEGINNER WORKSHOP · WINDOWS 11</a:t>
            </a:r>
            <a:endParaRPr lang="en-US" sz="1600" dirty="0"/>
          </a:p>
        </p:txBody>
      </p:sp>
      <p:sp>
        <p:nvSpPr>
          <p:cNvPr id="4" name="Text 2"/>
          <p:cNvSpPr/>
          <p:nvPr/>
        </p:nvSpPr>
        <p:spPr>
          <a:xfrm>
            <a:off x="822960" y="1691640"/>
            <a:ext cx="10698480" cy="1005840"/>
          </a:xfrm>
          <a:prstGeom prst="rect">
            <a:avLst/>
          </a:prstGeom>
          <a:noFill/>
          <a:ln/>
        </p:spPr>
        <p:txBody>
          <a:bodyPr wrap="square" lIns="508" tIns="508" rIns="508" bIns="508" rtlCol="0" anchor="ctr"/>
          <a:lstStyle/>
          <a:p>
            <a:pPr marL="0" indent="0" algn="l">
              <a:buNone/>
            </a:pPr>
            <a:r>
              <a:rPr lang="en-US" sz="3500" b="1" dirty="0">
                <a:solidFill>
                  <a:srgbClr val="FFFFFF"/>
                </a:solidFill>
                <a:latin typeface="Aptos" pitchFamily="34" charset="0"/>
                <a:ea typeface="Aptos" pitchFamily="34" charset="-122"/>
                <a:cs typeface="Aptos" pitchFamily="34" charset="-120"/>
              </a:rPr>
              <a:t>Python Environments, VS Code &amp; GitHub</a:t>
            </a:r>
            <a:endParaRPr lang="en-US" sz="3500" dirty="0"/>
          </a:p>
        </p:txBody>
      </p:sp>
      <p:sp>
        <p:nvSpPr>
          <p:cNvPr id="5" name="Text 3"/>
          <p:cNvSpPr/>
          <p:nvPr/>
        </p:nvSpPr>
        <p:spPr>
          <a:xfrm>
            <a:off x="822960" y="2788920"/>
            <a:ext cx="10424160" cy="731520"/>
          </a:xfrm>
          <a:prstGeom prst="rect">
            <a:avLst/>
          </a:prstGeom>
          <a:noFill/>
          <a:ln/>
        </p:spPr>
        <p:txBody>
          <a:bodyPr wrap="square" lIns="508" tIns="508" rIns="508" bIns="508" rtlCol="0" anchor="ctr"/>
          <a:lstStyle/>
          <a:p>
            <a:pPr marL="0" indent="0" algn="l">
              <a:buNone/>
            </a:pPr>
            <a:r>
              <a:rPr lang="en-US" sz="2100" dirty="0">
                <a:solidFill>
                  <a:srgbClr val="E1EDF6"/>
                </a:solidFill>
                <a:latin typeface="Aptos" pitchFamily="34" charset="0"/>
                <a:ea typeface="Aptos" pitchFamily="34" charset="-122"/>
                <a:cs typeface="Aptos" pitchFamily="34" charset="-120"/>
              </a:rPr>
              <a:t>Anaconda環境の作成・VS Codeの設定・GitHubへのアップロード</a:t>
            </a:r>
            <a:endParaRPr lang="en-US" sz="2100" dirty="0"/>
          </a:p>
        </p:txBody>
      </p:sp>
      <p:sp>
        <p:nvSpPr>
          <p:cNvPr id="6" name="Text 4"/>
          <p:cNvSpPr/>
          <p:nvPr/>
        </p:nvSpPr>
        <p:spPr>
          <a:xfrm>
            <a:off x="822960" y="5102352"/>
            <a:ext cx="10058400" cy="548640"/>
          </a:xfrm>
          <a:prstGeom prst="rect">
            <a:avLst/>
          </a:prstGeom>
          <a:noFill/>
          <a:ln/>
        </p:spPr>
        <p:txBody>
          <a:bodyPr wrap="square" lIns="508" tIns="508" rIns="508" bIns="508" rtlCol="0" anchor="ctr"/>
          <a:lstStyle/>
          <a:p>
            <a:pPr marL="0" indent="0" algn="l">
              <a:buNone/>
            </a:pPr>
            <a:r>
              <a:rPr lang="en-US" sz="1500" dirty="0">
                <a:solidFill>
                  <a:srgbClr val="D2E5F0"/>
                </a:solidFill>
                <a:latin typeface="Aptos" pitchFamily="34" charset="0"/>
                <a:ea typeface="Aptos" pitchFamily="34" charset="-122"/>
                <a:cs typeface="Aptos" pitchFamily="34" charset="-120"/>
              </a:rPr>
              <a:t>Bilingual / </a:t>
            </a:r>
            <a:r>
              <a:rPr lang="en-US" sz="1500" dirty="0" err="1">
                <a:solidFill>
                  <a:srgbClr val="D2E5F0"/>
                </a:solidFill>
                <a:latin typeface="Aptos" pitchFamily="34" charset="0"/>
                <a:ea typeface="Aptos" pitchFamily="34" charset="-122"/>
                <a:cs typeface="Aptos" pitchFamily="34" charset="-120"/>
              </a:rPr>
              <a:t>英語・日本語</a:t>
            </a:r>
            <a:endParaRPr lang="en-US" sz="1500" dirty="0"/>
          </a:p>
        </p:txBody>
      </p:sp>
      <p:sp>
        <p:nvSpPr>
          <p:cNvPr id="7" name="Text 5"/>
          <p:cNvSpPr/>
          <p:nvPr/>
        </p:nvSpPr>
        <p:spPr>
          <a:xfrm>
            <a:off x="822960" y="5797296"/>
            <a:ext cx="10058400" cy="365760"/>
          </a:xfrm>
          <a:prstGeom prst="rect">
            <a:avLst/>
          </a:prstGeom>
          <a:noFill/>
          <a:ln/>
        </p:spPr>
        <p:txBody>
          <a:bodyPr wrap="square" lIns="508" tIns="508" rIns="508" bIns="508" rtlCol="0" anchor="ctr"/>
          <a:lstStyle/>
          <a:p>
            <a:pPr marL="0" indent="0" algn="l">
              <a:buNone/>
            </a:pPr>
            <a:r>
              <a:rPr lang="en-US" sz="1300" dirty="0">
                <a:solidFill>
                  <a:srgbClr val="A8C8D6"/>
                </a:solidFill>
                <a:latin typeface="Aptos" pitchFamily="34" charset="0"/>
                <a:ea typeface="Aptos" pitchFamily="34" charset="-122"/>
                <a:cs typeface="Aptos" pitchFamily="34" charset="-120"/>
              </a:rPr>
              <a:t>Follow each slide on your own Windows 11 computer / Windows 11のPCで順番に操作しましょう</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LEARNING GOALS</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What will you be able to do?</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この講義の到達目標</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a:t>
            </a:r>
            <a:endParaRPr lang="en-US" sz="1000" dirty="0"/>
          </a:p>
        </p:txBody>
      </p:sp>
      <p:sp>
        <p:nvSpPr>
          <p:cNvPr id="9" name="Shape 7"/>
          <p:cNvSpPr/>
          <p:nvPr/>
        </p:nvSpPr>
        <p:spPr>
          <a:xfrm>
            <a:off x="676656" y="1883664"/>
            <a:ext cx="5321808" cy="1645920"/>
          </a:xfrm>
          <a:prstGeom prst="roundRect">
            <a:avLst>
              <a:gd name="adj" fmla="val 7222"/>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676656" y="1883664"/>
            <a:ext cx="64008" cy="1645920"/>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886968" y="2039112"/>
            <a:ext cx="4910328"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01  Conda</a:t>
            </a:r>
            <a:endParaRPr lang="en-US" sz="1700" dirty="0"/>
          </a:p>
        </p:txBody>
      </p:sp>
      <p:sp>
        <p:nvSpPr>
          <p:cNvPr id="12" name="Text 10"/>
          <p:cNvSpPr/>
          <p:nvPr/>
        </p:nvSpPr>
        <p:spPr>
          <a:xfrm>
            <a:off x="886968" y="2459736"/>
            <a:ext cx="4901184" cy="641909"/>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Create, activate, and install packages in an isolated Python environment.</a:t>
            </a:r>
            <a:endParaRPr lang="en-US" sz="1500" dirty="0"/>
          </a:p>
        </p:txBody>
      </p:sp>
      <p:sp>
        <p:nvSpPr>
          <p:cNvPr id="13" name="Text 11"/>
          <p:cNvSpPr/>
          <p:nvPr/>
        </p:nvSpPr>
        <p:spPr>
          <a:xfrm>
            <a:off x="886968" y="2871216"/>
            <a:ext cx="4901184" cy="52669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独立したPython環境の作成・切り替え・ライブラリの導入。</a:t>
            </a:r>
            <a:endParaRPr lang="en-US" sz="1200" dirty="0"/>
          </a:p>
        </p:txBody>
      </p:sp>
      <p:sp>
        <p:nvSpPr>
          <p:cNvPr id="14" name="Shape 12"/>
          <p:cNvSpPr/>
          <p:nvPr/>
        </p:nvSpPr>
        <p:spPr>
          <a:xfrm>
            <a:off x="6181344" y="1883664"/>
            <a:ext cx="5321808" cy="1645920"/>
          </a:xfrm>
          <a:prstGeom prst="roundRect">
            <a:avLst>
              <a:gd name="adj" fmla="val 7222"/>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6181344" y="1883664"/>
            <a:ext cx="64008" cy="1645920"/>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6391656" y="2039112"/>
            <a:ext cx="4910328"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02  VS Code</a:t>
            </a:r>
            <a:endParaRPr lang="en-US" sz="1700" dirty="0"/>
          </a:p>
        </p:txBody>
      </p:sp>
      <p:sp>
        <p:nvSpPr>
          <p:cNvPr id="17" name="Text 15"/>
          <p:cNvSpPr/>
          <p:nvPr/>
        </p:nvSpPr>
        <p:spPr>
          <a:xfrm>
            <a:off x="6391656" y="2459736"/>
            <a:ext cx="4901184" cy="641909"/>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Select your Conda interpreter and run Python programs.</a:t>
            </a:r>
            <a:endParaRPr lang="en-US" sz="1500" dirty="0"/>
          </a:p>
        </p:txBody>
      </p:sp>
      <p:sp>
        <p:nvSpPr>
          <p:cNvPr id="18" name="Text 16"/>
          <p:cNvSpPr/>
          <p:nvPr/>
        </p:nvSpPr>
        <p:spPr>
          <a:xfrm>
            <a:off x="6391656" y="2871216"/>
            <a:ext cx="4901184" cy="52669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Conda環境を選択し、Pythonを実行する。</a:t>
            </a:r>
            <a:endParaRPr lang="en-US" sz="1200" dirty="0"/>
          </a:p>
        </p:txBody>
      </p:sp>
      <p:sp>
        <p:nvSpPr>
          <p:cNvPr id="19" name="Shape 17"/>
          <p:cNvSpPr/>
          <p:nvPr/>
        </p:nvSpPr>
        <p:spPr>
          <a:xfrm>
            <a:off x="676656" y="3721608"/>
            <a:ext cx="5321808" cy="1645920"/>
          </a:xfrm>
          <a:prstGeom prst="roundRect">
            <a:avLst>
              <a:gd name="adj" fmla="val 7222"/>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676656" y="3721608"/>
            <a:ext cx="64008" cy="1645920"/>
          </a:xfrm>
          <a:prstGeom prst="rect">
            <a:avLst/>
          </a:prstGeom>
          <a:solidFill>
            <a:srgbClr val="E99D39"/>
          </a:solidFill>
          <a:ln w="12700">
            <a:solidFill>
              <a:srgbClr val="E99D39"/>
            </a:solidFill>
            <a:prstDash val="solid"/>
          </a:ln>
        </p:spPr>
        <p:txBody>
          <a:bodyPr/>
          <a:lstStyle/>
          <a:p>
            <a:endParaRPr lang="en-JP"/>
          </a:p>
        </p:txBody>
      </p:sp>
      <p:sp>
        <p:nvSpPr>
          <p:cNvPr id="21" name="Text 19"/>
          <p:cNvSpPr/>
          <p:nvPr/>
        </p:nvSpPr>
        <p:spPr>
          <a:xfrm>
            <a:off x="886968" y="3877056"/>
            <a:ext cx="4910328" cy="347472"/>
          </a:xfrm>
          <a:prstGeom prst="rect">
            <a:avLst/>
          </a:prstGeom>
          <a:noFill/>
          <a:ln/>
        </p:spPr>
        <p:txBody>
          <a:bodyPr wrap="square" lIns="508" tIns="508" rIns="508" bIns="508" rtlCol="0" anchor="ctr"/>
          <a:lstStyle/>
          <a:p>
            <a:pPr marL="0" indent="0" algn="l">
              <a:buNone/>
            </a:pPr>
            <a:r>
              <a:rPr lang="en-US" sz="1700" b="1" dirty="0">
                <a:solidFill>
                  <a:srgbClr val="E99D39"/>
                </a:solidFill>
                <a:latin typeface="Aptos" pitchFamily="34" charset="0"/>
                <a:ea typeface="Aptos" pitchFamily="34" charset="-122"/>
                <a:cs typeface="Aptos" pitchFamily="34" charset="-120"/>
              </a:rPr>
              <a:t>03  Git</a:t>
            </a:r>
            <a:endParaRPr lang="en-US" sz="1700" dirty="0"/>
          </a:p>
        </p:txBody>
      </p:sp>
      <p:sp>
        <p:nvSpPr>
          <p:cNvPr id="22" name="Text 20"/>
          <p:cNvSpPr/>
          <p:nvPr/>
        </p:nvSpPr>
        <p:spPr>
          <a:xfrm>
            <a:off x="886968" y="4297680"/>
            <a:ext cx="4901184" cy="641909"/>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Track changes and make local commits in VS Code.</a:t>
            </a:r>
            <a:endParaRPr lang="en-US" sz="1500" dirty="0"/>
          </a:p>
        </p:txBody>
      </p:sp>
      <p:sp>
        <p:nvSpPr>
          <p:cNvPr id="23" name="Text 21"/>
          <p:cNvSpPr/>
          <p:nvPr/>
        </p:nvSpPr>
        <p:spPr>
          <a:xfrm>
            <a:off x="886968" y="4709160"/>
            <a:ext cx="4901184" cy="52669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VS Codeで変更を記録し、コミットする。</a:t>
            </a:r>
            <a:endParaRPr lang="en-US" sz="1200" dirty="0"/>
          </a:p>
        </p:txBody>
      </p:sp>
      <p:sp>
        <p:nvSpPr>
          <p:cNvPr id="24" name="Shape 22"/>
          <p:cNvSpPr/>
          <p:nvPr/>
        </p:nvSpPr>
        <p:spPr>
          <a:xfrm>
            <a:off x="6181344" y="3721608"/>
            <a:ext cx="5321808" cy="1645920"/>
          </a:xfrm>
          <a:prstGeom prst="roundRect">
            <a:avLst>
              <a:gd name="adj" fmla="val 7222"/>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6181344" y="3721608"/>
            <a:ext cx="64008" cy="1645920"/>
          </a:xfrm>
          <a:prstGeom prst="rect">
            <a:avLst/>
          </a:prstGeom>
          <a:solidFill>
            <a:srgbClr val="247D60"/>
          </a:solidFill>
          <a:ln w="12700">
            <a:solidFill>
              <a:srgbClr val="247D60"/>
            </a:solidFill>
            <a:prstDash val="solid"/>
          </a:ln>
        </p:spPr>
        <p:txBody>
          <a:bodyPr/>
          <a:lstStyle/>
          <a:p>
            <a:endParaRPr lang="en-JP"/>
          </a:p>
        </p:txBody>
      </p:sp>
      <p:sp>
        <p:nvSpPr>
          <p:cNvPr id="26" name="Text 24"/>
          <p:cNvSpPr/>
          <p:nvPr/>
        </p:nvSpPr>
        <p:spPr>
          <a:xfrm>
            <a:off x="6391656" y="3877056"/>
            <a:ext cx="4910328" cy="347472"/>
          </a:xfrm>
          <a:prstGeom prst="rect">
            <a:avLst/>
          </a:prstGeom>
          <a:noFill/>
          <a:ln/>
        </p:spPr>
        <p:txBody>
          <a:bodyPr wrap="square" lIns="508" tIns="508" rIns="508" bIns="508" rtlCol="0" anchor="ctr"/>
          <a:lstStyle/>
          <a:p>
            <a:pPr marL="0" indent="0" algn="l">
              <a:buNone/>
            </a:pPr>
            <a:r>
              <a:rPr lang="en-US" sz="1700" b="1" dirty="0">
                <a:solidFill>
                  <a:srgbClr val="247D60"/>
                </a:solidFill>
                <a:latin typeface="Aptos" pitchFamily="34" charset="0"/>
                <a:ea typeface="Aptos" pitchFamily="34" charset="-122"/>
                <a:cs typeface="Aptos" pitchFamily="34" charset="-120"/>
              </a:rPr>
              <a:t>04  GitHub</a:t>
            </a:r>
            <a:endParaRPr lang="en-US" sz="1700" dirty="0"/>
          </a:p>
        </p:txBody>
      </p:sp>
      <p:sp>
        <p:nvSpPr>
          <p:cNvPr id="27" name="Text 25"/>
          <p:cNvSpPr/>
          <p:nvPr/>
        </p:nvSpPr>
        <p:spPr>
          <a:xfrm>
            <a:off x="6391656" y="4297680"/>
            <a:ext cx="4901184" cy="641909"/>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Publish files to a private GitHub repository and push updates.</a:t>
            </a:r>
            <a:endParaRPr lang="en-US" sz="1500" dirty="0"/>
          </a:p>
        </p:txBody>
      </p:sp>
      <p:sp>
        <p:nvSpPr>
          <p:cNvPr id="28" name="Text 26"/>
          <p:cNvSpPr/>
          <p:nvPr/>
        </p:nvSpPr>
        <p:spPr>
          <a:xfrm>
            <a:off x="6391656" y="4709160"/>
            <a:ext cx="4901184" cy="52669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GitHubに非公開リポジトリを作成し、更新を送信する。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OVERVIEW</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Know the four tools</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4つのツールの役割</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3</a:t>
            </a:r>
            <a:endParaRPr lang="en-US" sz="1000" dirty="0"/>
          </a:p>
        </p:txBody>
      </p:sp>
      <p:sp>
        <p:nvSpPr>
          <p:cNvPr id="9" name="Shape 7"/>
          <p:cNvSpPr/>
          <p:nvPr/>
        </p:nvSpPr>
        <p:spPr>
          <a:xfrm>
            <a:off x="713232" y="1828800"/>
            <a:ext cx="10771632" cy="859536"/>
          </a:xfrm>
          <a:prstGeom prst="roundRect">
            <a:avLst>
              <a:gd name="adj" fmla="val 13830"/>
            </a:avLst>
          </a:prstGeom>
          <a:solidFill>
            <a:srgbClr val="F3F7FB"/>
          </a:solidFill>
          <a:ln w="10160">
            <a:solidFill>
              <a:srgbClr val="DBE4ED"/>
            </a:solidFill>
            <a:prstDash val="solid"/>
          </a:ln>
        </p:spPr>
        <p:txBody>
          <a:bodyPr/>
          <a:lstStyle/>
          <a:p>
            <a:endParaRPr lang="en-JP"/>
          </a:p>
        </p:txBody>
      </p:sp>
      <p:sp>
        <p:nvSpPr>
          <p:cNvPr id="10" name="Text 8"/>
          <p:cNvSpPr/>
          <p:nvPr/>
        </p:nvSpPr>
        <p:spPr>
          <a:xfrm>
            <a:off x="978408" y="1956816"/>
            <a:ext cx="2926080" cy="301752"/>
          </a:xfrm>
          <a:prstGeom prst="rect">
            <a:avLst/>
          </a:prstGeom>
          <a:noFill/>
          <a:ln/>
        </p:spPr>
        <p:txBody>
          <a:bodyPr wrap="square" lIns="508" tIns="508" rIns="508" bIns="508" rtlCol="0" anchor="ctr"/>
          <a:lstStyle/>
          <a:p>
            <a:pPr marL="0" indent="0" algn="l">
              <a:buNone/>
            </a:pPr>
            <a:r>
              <a:rPr lang="en-US" sz="1800" b="1" dirty="0">
                <a:solidFill>
                  <a:srgbClr val="2676A8"/>
                </a:solidFill>
                <a:latin typeface="Aptos" pitchFamily="34" charset="0"/>
                <a:ea typeface="Aptos" pitchFamily="34" charset="-122"/>
                <a:cs typeface="Aptos" pitchFamily="34" charset="-120"/>
              </a:rPr>
              <a:t>Anaconda / Conda</a:t>
            </a:r>
            <a:endParaRPr lang="en-US" sz="1800" dirty="0"/>
          </a:p>
        </p:txBody>
      </p:sp>
      <p:sp>
        <p:nvSpPr>
          <p:cNvPr id="11" name="Text 9"/>
          <p:cNvSpPr/>
          <p:nvPr/>
        </p:nvSpPr>
        <p:spPr>
          <a:xfrm>
            <a:off x="3794760" y="1911096"/>
            <a:ext cx="7315200" cy="301752"/>
          </a:xfrm>
          <a:prstGeom prst="rect">
            <a:avLst/>
          </a:prstGeom>
          <a:noFill/>
          <a:ln/>
        </p:spPr>
        <p:txBody>
          <a:bodyPr wrap="square" lIns="508" tIns="508" rIns="508" bIns="508" rtlCol="0" anchor="ctr"/>
          <a:lstStyle/>
          <a:p>
            <a:pPr marL="0" indent="0" algn="l">
              <a:buNone/>
            </a:pPr>
            <a:r>
              <a:rPr lang="en-US" sz="1500" dirty="0">
                <a:solidFill>
                  <a:srgbClr val="213348"/>
                </a:solidFill>
                <a:latin typeface="Aptos" pitchFamily="34" charset="0"/>
                <a:ea typeface="Aptos" pitchFamily="34" charset="-122"/>
                <a:cs typeface="Aptos" pitchFamily="34" charset="-120"/>
              </a:rPr>
              <a:t>Manages Python and its packages</a:t>
            </a:r>
            <a:endParaRPr lang="en-US" sz="1500" dirty="0"/>
          </a:p>
        </p:txBody>
      </p:sp>
      <p:sp>
        <p:nvSpPr>
          <p:cNvPr id="12" name="Text 10"/>
          <p:cNvSpPr/>
          <p:nvPr/>
        </p:nvSpPr>
        <p:spPr>
          <a:xfrm>
            <a:off x="3794760" y="2304288"/>
            <a:ext cx="7315200" cy="210312"/>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Python環境・パッケージの管理</a:t>
            </a:r>
            <a:endParaRPr lang="en-US" sz="1100" dirty="0"/>
          </a:p>
        </p:txBody>
      </p:sp>
      <p:sp>
        <p:nvSpPr>
          <p:cNvPr id="13" name="Shape 11"/>
          <p:cNvSpPr/>
          <p:nvPr/>
        </p:nvSpPr>
        <p:spPr>
          <a:xfrm>
            <a:off x="713232" y="2834640"/>
            <a:ext cx="10771632" cy="859536"/>
          </a:xfrm>
          <a:prstGeom prst="roundRect">
            <a:avLst>
              <a:gd name="adj" fmla="val 13830"/>
            </a:avLst>
          </a:prstGeom>
          <a:solidFill>
            <a:srgbClr val="F3F7FB"/>
          </a:solidFill>
          <a:ln w="10160">
            <a:solidFill>
              <a:srgbClr val="DBE4ED"/>
            </a:solidFill>
            <a:prstDash val="solid"/>
          </a:ln>
        </p:spPr>
        <p:txBody>
          <a:bodyPr/>
          <a:lstStyle/>
          <a:p>
            <a:endParaRPr lang="en-JP"/>
          </a:p>
        </p:txBody>
      </p:sp>
      <p:sp>
        <p:nvSpPr>
          <p:cNvPr id="14" name="Text 12"/>
          <p:cNvSpPr/>
          <p:nvPr/>
        </p:nvSpPr>
        <p:spPr>
          <a:xfrm>
            <a:off x="978408" y="2962656"/>
            <a:ext cx="2926080" cy="301752"/>
          </a:xfrm>
          <a:prstGeom prst="rect">
            <a:avLst/>
          </a:prstGeom>
          <a:noFill/>
          <a:ln/>
        </p:spPr>
        <p:txBody>
          <a:bodyPr wrap="square" lIns="508" tIns="508" rIns="508" bIns="508" rtlCol="0" anchor="ctr"/>
          <a:lstStyle/>
          <a:p>
            <a:pPr marL="0" indent="0" algn="l">
              <a:buNone/>
            </a:pPr>
            <a:r>
              <a:rPr lang="en-US" sz="1800" b="1" dirty="0">
                <a:solidFill>
                  <a:srgbClr val="138D87"/>
                </a:solidFill>
                <a:latin typeface="Aptos" pitchFamily="34" charset="0"/>
                <a:ea typeface="Aptos" pitchFamily="34" charset="-122"/>
                <a:cs typeface="Aptos" pitchFamily="34" charset="-120"/>
              </a:rPr>
              <a:t>VS Code</a:t>
            </a:r>
            <a:endParaRPr lang="en-US" sz="1800" dirty="0"/>
          </a:p>
        </p:txBody>
      </p:sp>
      <p:sp>
        <p:nvSpPr>
          <p:cNvPr id="15" name="Text 13"/>
          <p:cNvSpPr/>
          <p:nvPr/>
        </p:nvSpPr>
        <p:spPr>
          <a:xfrm>
            <a:off x="3794760" y="2916936"/>
            <a:ext cx="7315200" cy="301752"/>
          </a:xfrm>
          <a:prstGeom prst="rect">
            <a:avLst/>
          </a:prstGeom>
          <a:noFill/>
          <a:ln/>
        </p:spPr>
        <p:txBody>
          <a:bodyPr wrap="square" lIns="508" tIns="508" rIns="508" bIns="508" rtlCol="0" anchor="ctr"/>
          <a:lstStyle/>
          <a:p>
            <a:pPr marL="0" indent="0" algn="l">
              <a:buNone/>
            </a:pPr>
            <a:r>
              <a:rPr lang="en-US" sz="1500" dirty="0">
                <a:solidFill>
                  <a:srgbClr val="213348"/>
                </a:solidFill>
                <a:latin typeface="Aptos" pitchFamily="34" charset="0"/>
                <a:ea typeface="Aptos" pitchFamily="34" charset="-122"/>
                <a:cs typeface="Aptos" pitchFamily="34" charset="-120"/>
              </a:rPr>
              <a:t>Editor for writing and running code</a:t>
            </a:r>
            <a:endParaRPr lang="en-US" sz="1500" dirty="0"/>
          </a:p>
        </p:txBody>
      </p:sp>
      <p:sp>
        <p:nvSpPr>
          <p:cNvPr id="16" name="Text 14"/>
          <p:cNvSpPr/>
          <p:nvPr/>
        </p:nvSpPr>
        <p:spPr>
          <a:xfrm>
            <a:off x="3794760" y="3310128"/>
            <a:ext cx="7315200" cy="210312"/>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コードの編集・実行</a:t>
            </a:r>
            <a:endParaRPr lang="en-US" sz="1100" dirty="0"/>
          </a:p>
        </p:txBody>
      </p:sp>
      <p:sp>
        <p:nvSpPr>
          <p:cNvPr id="17" name="Shape 15"/>
          <p:cNvSpPr/>
          <p:nvPr/>
        </p:nvSpPr>
        <p:spPr>
          <a:xfrm>
            <a:off x="713232" y="3840480"/>
            <a:ext cx="10771632" cy="859536"/>
          </a:xfrm>
          <a:prstGeom prst="roundRect">
            <a:avLst>
              <a:gd name="adj" fmla="val 13830"/>
            </a:avLst>
          </a:prstGeom>
          <a:solidFill>
            <a:srgbClr val="F3F7FB"/>
          </a:solidFill>
          <a:ln w="10160">
            <a:solidFill>
              <a:srgbClr val="DBE4ED"/>
            </a:solidFill>
            <a:prstDash val="solid"/>
          </a:ln>
        </p:spPr>
        <p:txBody>
          <a:bodyPr/>
          <a:lstStyle/>
          <a:p>
            <a:endParaRPr lang="en-JP"/>
          </a:p>
        </p:txBody>
      </p:sp>
      <p:sp>
        <p:nvSpPr>
          <p:cNvPr id="18" name="Text 16"/>
          <p:cNvSpPr/>
          <p:nvPr/>
        </p:nvSpPr>
        <p:spPr>
          <a:xfrm>
            <a:off x="978408" y="3968496"/>
            <a:ext cx="2926080" cy="301752"/>
          </a:xfrm>
          <a:prstGeom prst="rect">
            <a:avLst/>
          </a:prstGeom>
          <a:noFill/>
          <a:ln/>
        </p:spPr>
        <p:txBody>
          <a:bodyPr wrap="square" lIns="508" tIns="508" rIns="508" bIns="508" rtlCol="0" anchor="ctr"/>
          <a:lstStyle/>
          <a:p>
            <a:pPr marL="0" indent="0" algn="l">
              <a:buNone/>
            </a:pPr>
            <a:r>
              <a:rPr lang="en-US" sz="1800" b="1" dirty="0">
                <a:solidFill>
                  <a:srgbClr val="2676A8"/>
                </a:solidFill>
                <a:latin typeface="Aptos" pitchFamily="34" charset="0"/>
                <a:ea typeface="Aptos" pitchFamily="34" charset="-122"/>
                <a:cs typeface="Aptos" pitchFamily="34" charset="-120"/>
              </a:rPr>
              <a:t>Git</a:t>
            </a:r>
            <a:endParaRPr lang="en-US" sz="1800" dirty="0"/>
          </a:p>
        </p:txBody>
      </p:sp>
      <p:sp>
        <p:nvSpPr>
          <p:cNvPr id="19" name="Text 17"/>
          <p:cNvSpPr/>
          <p:nvPr/>
        </p:nvSpPr>
        <p:spPr>
          <a:xfrm>
            <a:off x="3794760" y="3922776"/>
            <a:ext cx="7315200" cy="301752"/>
          </a:xfrm>
          <a:prstGeom prst="rect">
            <a:avLst/>
          </a:prstGeom>
          <a:noFill/>
          <a:ln/>
        </p:spPr>
        <p:txBody>
          <a:bodyPr wrap="square" lIns="508" tIns="508" rIns="508" bIns="508" rtlCol="0" anchor="ctr"/>
          <a:lstStyle/>
          <a:p>
            <a:pPr marL="0" indent="0" algn="l">
              <a:buNone/>
            </a:pPr>
            <a:r>
              <a:rPr lang="en-US" sz="1500" dirty="0">
                <a:solidFill>
                  <a:srgbClr val="213348"/>
                </a:solidFill>
                <a:latin typeface="Aptos" pitchFamily="34" charset="0"/>
                <a:ea typeface="Aptos" pitchFamily="34" charset="-122"/>
                <a:cs typeface="Aptos" pitchFamily="34" charset="-120"/>
              </a:rPr>
              <a:t>Tracks versions on your computer</a:t>
            </a:r>
            <a:endParaRPr lang="en-US" sz="1500" dirty="0"/>
          </a:p>
        </p:txBody>
      </p:sp>
      <p:sp>
        <p:nvSpPr>
          <p:cNvPr id="20" name="Text 18"/>
          <p:cNvSpPr/>
          <p:nvPr/>
        </p:nvSpPr>
        <p:spPr>
          <a:xfrm>
            <a:off x="3794760" y="4315968"/>
            <a:ext cx="7315200" cy="210312"/>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PC内で変更履歴を記録</a:t>
            </a:r>
            <a:endParaRPr lang="en-US" sz="1100" dirty="0"/>
          </a:p>
        </p:txBody>
      </p:sp>
      <p:sp>
        <p:nvSpPr>
          <p:cNvPr id="21" name="Shape 19"/>
          <p:cNvSpPr/>
          <p:nvPr/>
        </p:nvSpPr>
        <p:spPr>
          <a:xfrm>
            <a:off x="713232" y="4846320"/>
            <a:ext cx="10771632" cy="859536"/>
          </a:xfrm>
          <a:prstGeom prst="roundRect">
            <a:avLst>
              <a:gd name="adj" fmla="val 13830"/>
            </a:avLst>
          </a:prstGeom>
          <a:solidFill>
            <a:srgbClr val="F3F7FB"/>
          </a:solidFill>
          <a:ln w="10160">
            <a:solidFill>
              <a:srgbClr val="DBE4ED"/>
            </a:solidFill>
            <a:prstDash val="solid"/>
          </a:ln>
        </p:spPr>
        <p:txBody>
          <a:bodyPr/>
          <a:lstStyle/>
          <a:p>
            <a:endParaRPr lang="en-JP"/>
          </a:p>
        </p:txBody>
      </p:sp>
      <p:sp>
        <p:nvSpPr>
          <p:cNvPr id="22" name="Text 20"/>
          <p:cNvSpPr/>
          <p:nvPr/>
        </p:nvSpPr>
        <p:spPr>
          <a:xfrm>
            <a:off x="978408" y="4974336"/>
            <a:ext cx="2926080" cy="301752"/>
          </a:xfrm>
          <a:prstGeom prst="rect">
            <a:avLst/>
          </a:prstGeom>
          <a:noFill/>
          <a:ln/>
        </p:spPr>
        <p:txBody>
          <a:bodyPr wrap="square" lIns="508" tIns="508" rIns="508" bIns="508" rtlCol="0" anchor="ctr"/>
          <a:lstStyle/>
          <a:p>
            <a:pPr marL="0" indent="0" algn="l">
              <a:buNone/>
            </a:pPr>
            <a:r>
              <a:rPr lang="en-US" sz="1800" b="1" dirty="0">
                <a:solidFill>
                  <a:srgbClr val="138D87"/>
                </a:solidFill>
                <a:latin typeface="Aptos" pitchFamily="34" charset="0"/>
                <a:ea typeface="Aptos" pitchFamily="34" charset="-122"/>
                <a:cs typeface="Aptos" pitchFamily="34" charset="-120"/>
              </a:rPr>
              <a:t>GitHub</a:t>
            </a:r>
            <a:endParaRPr lang="en-US" sz="1800" dirty="0"/>
          </a:p>
        </p:txBody>
      </p:sp>
      <p:sp>
        <p:nvSpPr>
          <p:cNvPr id="23" name="Text 21"/>
          <p:cNvSpPr/>
          <p:nvPr/>
        </p:nvSpPr>
        <p:spPr>
          <a:xfrm>
            <a:off x="3794760" y="4928616"/>
            <a:ext cx="7315200" cy="301752"/>
          </a:xfrm>
          <a:prstGeom prst="rect">
            <a:avLst/>
          </a:prstGeom>
          <a:noFill/>
          <a:ln/>
        </p:spPr>
        <p:txBody>
          <a:bodyPr wrap="square" lIns="508" tIns="508" rIns="508" bIns="508" rtlCol="0" anchor="ctr"/>
          <a:lstStyle/>
          <a:p>
            <a:pPr marL="0" indent="0" algn="l">
              <a:buNone/>
            </a:pPr>
            <a:r>
              <a:rPr lang="en-US" sz="1500" dirty="0">
                <a:solidFill>
                  <a:srgbClr val="213348"/>
                </a:solidFill>
                <a:latin typeface="Aptos" pitchFamily="34" charset="0"/>
                <a:ea typeface="Aptos" pitchFamily="34" charset="-122"/>
                <a:cs typeface="Aptos" pitchFamily="34" charset="-120"/>
              </a:rPr>
              <a:t>Hosts Git repositories online</a:t>
            </a:r>
            <a:endParaRPr lang="en-US" sz="1500" dirty="0"/>
          </a:p>
        </p:txBody>
      </p:sp>
      <p:sp>
        <p:nvSpPr>
          <p:cNvPr id="24" name="Text 22"/>
          <p:cNvSpPr/>
          <p:nvPr/>
        </p:nvSpPr>
        <p:spPr>
          <a:xfrm>
            <a:off x="3794760" y="5321808"/>
            <a:ext cx="7315200" cy="210312"/>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Gitの履歴をオンラインで共有</a:t>
            </a:r>
            <a:endParaRPr lang="en-US" sz="1100" dirty="0"/>
          </a:p>
        </p:txBody>
      </p:sp>
      <p:sp>
        <p:nvSpPr>
          <p:cNvPr id="25" name="Shape 23"/>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6" name="Text 24"/>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Git ≠ GitHub. Conda ≠ VS Code.</a:t>
            </a:r>
            <a:endParaRPr lang="en-US" sz="1200" dirty="0"/>
          </a:p>
        </p:txBody>
      </p:sp>
      <p:sp>
        <p:nvSpPr>
          <p:cNvPr id="27" name="Text 25"/>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GitとGitHub、CondaとVS Codeはそれぞれ別の役割です。</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OVERVIEW</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The full workflow</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全体の流れ</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4</a:t>
            </a:r>
            <a:endParaRPr lang="en-US" sz="1000" dirty="0"/>
          </a:p>
        </p:txBody>
      </p:sp>
      <p:sp>
        <p:nvSpPr>
          <p:cNvPr id="9" name="Shape 7"/>
          <p:cNvSpPr/>
          <p:nvPr/>
        </p:nvSpPr>
        <p:spPr>
          <a:xfrm>
            <a:off x="749808" y="2011680"/>
            <a:ext cx="3438144" cy="1078992"/>
          </a:xfrm>
          <a:prstGeom prst="roundRect">
            <a:avLst>
              <a:gd name="adj" fmla="val 11017"/>
            </a:avLst>
          </a:prstGeom>
          <a:solidFill>
            <a:srgbClr val="ECF5FB"/>
          </a:solidFill>
          <a:ln w="10160">
            <a:solidFill>
              <a:srgbClr val="DBE4ED"/>
            </a:solidFill>
            <a:prstDash val="solid"/>
          </a:ln>
        </p:spPr>
        <p:txBody>
          <a:bodyPr/>
          <a:lstStyle/>
          <a:p>
            <a:endParaRPr lang="en-JP"/>
          </a:p>
        </p:txBody>
      </p:sp>
      <p:sp>
        <p:nvSpPr>
          <p:cNvPr id="10" name="Text 8"/>
          <p:cNvSpPr/>
          <p:nvPr/>
        </p:nvSpPr>
        <p:spPr>
          <a:xfrm>
            <a:off x="896112" y="2176272"/>
            <a:ext cx="3163824" cy="320040"/>
          </a:xfrm>
          <a:prstGeom prst="rect">
            <a:avLst/>
          </a:prstGeom>
          <a:noFill/>
          <a:ln/>
        </p:spPr>
        <p:txBody>
          <a:bodyPr wrap="square" lIns="508" tIns="508" rIns="508" bIns="508" rtlCol="0" anchor="ctr"/>
          <a:lstStyle/>
          <a:p>
            <a:pPr marL="0" indent="0" algn="l">
              <a:buNone/>
            </a:pPr>
            <a:r>
              <a:rPr lang="en-US" sz="1700" b="1" dirty="0">
                <a:solidFill>
                  <a:srgbClr val="10243A"/>
                </a:solidFill>
                <a:latin typeface="Aptos" pitchFamily="34" charset="0"/>
                <a:ea typeface="Aptos" pitchFamily="34" charset="-122"/>
                <a:cs typeface="Aptos" pitchFamily="34" charset="-120"/>
              </a:rPr>
              <a:t>1  Install tools</a:t>
            </a:r>
            <a:endParaRPr lang="en-US" sz="1700" dirty="0"/>
          </a:p>
        </p:txBody>
      </p:sp>
      <p:sp>
        <p:nvSpPr>
          <p:cNvPr id="11" name="Text 9"/>
          <p:cNvSpPr/>
          <p:nvPr/>
        </p:nvSpPr>
        <p:spPr>
          <a:xfrm>
            <a:off x="896112" y="2606040"/>
            <a:ext cx="3145536" cy="27432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ソフトを導入</a:t>
            </a:r>
            <a:endParaRPr lang="en-US" sz="1300" dirty="0"/>
          </a:p>
        </p:txBody>
      </p:sp>
      <p:sp>
        <p:nvSpPr>
          <p:cNvPr id="12" name="Shape 10"/>
          <p:cNvSpPr/>
          <p:nvPr/>
        </p:nvSpPr>
        <p:spPr>
          <a:xfrm>
            <a:off x="4572000" y="2011680"/>
            <a:ext cx="3438144" cy="1078992"/>
          </a:xfrm>
          <a:prstGeom prst="roundRect">
            <a:avLst>
              <a:gd name="adj" fmla="val 11017"/>
            </a:avLst>
          </a:prstGeom>
          <a:solidFill>
            <a:srgbClr val="ECF5FB"/>
          </a:solidFill>
          <a:ln w="10160">
            <a:solidFill>
              <a:srgbClr val="DBE4ED"/>
            </a:solidFill>
            <a:prstDash val="solid"/>
          </a:ln>
        </p:spPr>
        <p:txBody>
          <a:bodyPr/>
          <a:lstStyle/>
          <a:p>
            <a:endParaRPr lang="en-JP"/>
          </a:p>
        </p:txBody>
      </p:sp>
      <p:sp>
        <p:nvSpPr>
          <p:cNvPr id="13" name="Text 11"/>
          <p:cNvSpPr/>
          <p:nvPr/>
        </p:nvSpPr>
        <p:spPr>
          <a:xfrm>
            <a:off x="4718304" y="2176272"/>
            <a:ext cx="3163824" cy="320040"/>
          </a:xfrm>
          <a:prstGeom prst="rect">
            <a:avLst/>
          </a:prstGeom>
          <a:noFill/>
          <a:ln/>
        </p:spPr>
        <p:txBody>
          <a:bodyPr wrap="square" lIns="508" tIns="508" rIns="508" bIns="508" rtlCol="0" anchor="ctr"/>
          <a:lstStyle/>
          <a:p>
            <a:pPr marL="0" indent="0" algn="l">
              <a:buNone/>
            </a:pPr>
            <a:r>
              <a:rPr lang="en-US" sz="1700" b="1" dirty="0">
                <a:solidFill>
                  <a:srgbClr val="10243A"/>
                </a:solidFill>
                <a:latin typeface="Aptos" pitchFamily="34" charset="0"/>
                <a:ea typeface="Aptos" pitchFamily="34" charset="-122"/>
                <a:cs typeface="Aptos" pitchFamily="34" charset="-120"/>
              </a:rPr>
              <a:t>2  Create conda env</a:t>
            </a:r>
            <a:endParaRPr lang="en-US" sz="1700" dirty="0"/>
          </a:p>
        </p:txBody>
      </p:sp>
      <p:sp>
        <p:nvSpPr>
          <p:cNvPr id="14" name="Text 12"/>
          <p:cNvSpPr/>
          <p:nvPr/>
        </p:nvSpPr>
        <p:spPr>
          <a:xfrm>
            <a:off x="4718304" y="2606040"/>
            <a:ext cx="3145536" cy="27432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環境を作成</a:t>
            </a:r>
            <a:endParaRPr lang="en-US" sz="1300" dirty="0"/>
          </a:p>
        </p:txBody>
      </p:sp>
      <p:sp>
        <p:nvSpPr>
          <p:cNvPr id="15" name="Shape 13"/>
          <p:cNvSpPr/>
          <p:nvPr/>
        </p:nvSpPr>
        <p:spPr>
          <a:xfrm>
            <a:off x="8394192" y="2011680"/>
            <a:ext cx="3438144" cy="1078992"/>
          </a:xfrm>
          <a:prstGeom prst="roundRect">
            <a:avLst>
              <a:gd name="adj" fmla="val 11017"/>
            </a:avLst>
          </a:prstGeom>
          <a:solidFill>
            <a:srgbClr val="ECF5FB"/>
          </a:solidFill>
          <a:ln w="10160">
            <a:solidFill>
              <a:srgbClr val="DBE4ED"/>
            </a:solidFill>
            <a:prstDash val="solid"/>
          </a:ln>
        </p:spPr>
        <p:txBody>
          <a:bodyPr/>
          <a:lstStyle/>
          <a:p>
            <a:endParaRPr lang="en-JP"/>
          </a:p>
        </p:txBody>
      </p:sp>
      <p:sp>
        <p:nvSpPr>
          <p:cNvPr id="16" name="Text 14"/>
          <p:cNvSpPr/>
          <p:nvPr/>
        </p:nvSpPr>
        <p:spPr>
          <a:xfrm>
            <a:off x="8540496" y="2176272"/>
            <a:ext cx="3163824" cy="320040"/>
          </a:xfrm>
          <a:prstGeom prst="rect">
            <a:avLst/>
          </a:prstGeom>
          <a:noFill/>
          <a:ln/>
        </p:spPr>
        <p:txBody>
          <a:bodyPr wrap="square" lIns="508" tIns="508" rIns="508" bIns="508" rtlCol="0" anchor="ctr"/>
          <a:lstStyle/>
          <a:p>
            <a:pPr marL="0" indent="0" algn="l">
              <a:buNone/>
            </a:pPr>
            <a:r>
              <a:rPr lang="en-US" sz="1700" b="1" dirty="0">
                <a:solidFill>
                  <a:srgbClr val="10243A"/>
                </a:solidFill>
                <a:latin typeface="Aptos" pitchFamily="34" charset="0"/>
                <a:ea typeface="Aptos" pitchFamily="34" charset="-122"/>
                <a:cs typeface="Aptos" pitchFamily="34" charset="-120"/>
              </a:rPr>
              <a:t>3  Choose interpreter</a:t>
            </a:r>
            <a:endParaRPr lang="en-US" sz="1700" dirty="0"/>
          </a:p>
        </p:txBody>
      </p:sp>
      <p:sp>
        <p:nvSpPr>
          <p:cNvPr id="17" name="Text 15"/>
          <p:cNvSpPr/>
          <p:nvPr/>
        </p:nvSpPr>
        <p:spPr>
          <a:xfrm>
            <a:off x="8540496" y="2606040"/>
            <a:ext cx="3145536" cy="27432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環境を選択</a:t>
            </a:r>
            <a:endParaRPr lang="en-US" sz="1300" dirty="0"/>
          </a:p>
        </p:txBody>
      </p:sp>
      <p:sp>
        <p:nvSpPr>
          <p:cNvPr id="18" name="Shape 16"/>
          <p:cNvSpPr/>
          <p:nvPr/>
        </p:nvSpPr>
        <p:spPr>
          <a:xfrm>
            <a:off x="749808" y="3657600"/>
            <a:ext cx="3438144" cy="1078992"/>
          </a:xfrm>
          <a:prstGeom prst="roundRect">
            <a:avLst>
              <a:gd name="adj" fmla="val 11017"/>
            </a:avLst>
          </a:prstGeom>
          <a:solidFill>
            <a:srgbClr val="ECF7F1"/>
          </a:solidFill>
          <a:ln w="10160">
            <a:solidFill>
              <a:srgbClr val="DBE4ED"/>
            </a:solidFill>
            <a:prstDash val="solid"/>
          </a:ln>
        </p:spPr>
        <p:txBody>
          <a:bodyPr/>
          <a:lstStyle/>
          <a:p>
            <a:endParaRPr lang="en-JP"/>
          </a:p>
        </p:txBody>
      </p:sp>
      <p:sp>
        <p:nvSpPr>
          <p:cNvPr id="19" name="Text 17"/>
          <p:cNvSpPr/>
          <p:nvPr/>
        </p:nvSpPr>
        <p:spPr>
          <a:xfrm>
            <a:off x="896112" y="3822192"/>
            <a:ext cx="3163824" cy="320040"/>
          </a:xfrm>
          <a:prstGeom prst="rect">
            <a:avLst/>
          </a:prstGeom>
          <a:noFill/>
          <a:ln/>
        </p:spPr>
        <p:txBody>
          <a:bodyPr wrap="square" lIns="508" tIns="508" rIns="508" bIns="508" rtlCol="0" anchor="ctr"/>
          <a:lstStyle/>
          <a:p>
            <a:pPr marL="0" indent="0" algn="l">
              <a:buNone/>
            </a:pPr>
            <a:r>
              <a:rPr lang="en-US" sz="1700" b="1" dirty="0">
                <a:solidFill>
                  <a:srgbClr val="10243A"/>
                </a:solidFill>
                <a:latin typeface="Aptos" pitchFamily="34" charset="0"/>
                <a:ea typeface="Aptos" pitchFamily="34" charset="-122"/>
                <a:cs typeface="Aptos" pitchFamily="34" charset="-120"/>
              </a:rPr>
              <a:t>4  Write and run</a:t>
            </a:r>
            <a:endParaRPr lang="en-US" sz="1700" dirty="0"/>
          </a:p>
        </p:txBody>
      </p:sp>
      <p:sp>
        <p:nvSpPr>
          <p:cNvPr id="20" name="Text 18"/>
          <p:cNvSpPr/>
          <p:nvPr/>
        </p:nvSpPr>
        <p:spPr>
          <a:xfrm>
            <a:off x="896112" y="4251960"/>
            <a:ext cx="3145536" cy="27432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コードを実行</a:t>
            </a:r>
            <a:endParaRPr lang="en-US" sz="1300" dirty="0"/>
          </a:p>
        </p:txBody>
      </p:sp>
      <p:sp>
        <p:nvSpPr>
          <p:cNvPr id="21" name="Shape 19"/>
          <p:cNvSpPr/>
          <p:nvPr/>
        </p:nvSpPr>
        <p:spPr>
          <a:xfrm>
            <a:off x="4572000" y="3657600"/>
            <a:ext cx="3438144" cy="1078992"/>
          </a:xfrm>
          <a:prstGeom prst="roundRect">
            <a:avLst>
              <a:gd name="adj" fmla="val 11017"/>
            </a:avLst>
          </a:prstGeom>
          <a:solidFill>
            <a:srgbClr val="ECF7F1"/>
          </a:solidFill>
          <a:ln w="10160">
            <a:solidFill>
              <a:srgbClr val="DBE4ED"/>
            </a:solidFill>
            <a:prstDash val="solid"/>
          </a:ln>
        </p:spPr>
        <p:txBody>
          <a:bodyPr/>
          <a:lstStyle/>
          <a:p>
            <a:endParaRPr lang="en-JP"/>
          </a:p>
        </p:txBody>
      </p:sp>
      <p:sp>
        <p:nvSpPr>
          <p:cNvPr id="22" name="Text 20"/>
          <p:cNvSpPr/>
          <p:nvPr/>
        </p:nvSpPr>
        <p:spPr>
          <a:xfrm>
            <a:off x="4718304" y="3822192"/>
            <a:ext cx="3163824" cy="320040"/>
          </a:xfrm>
          <a:prstGeom prst="rect">
            <a:avLst/>
          </a:prstGeom>
          <a:noFill/>
          <a:ln/>
        </p:spPr>
        <p:txBody>
          <a:bodyPr wrap="square" lIns="508" tIns="508" rIns="508" bIns="508" rtlCol="0" anchor="ctr"/>
          <a:lstStyle/>
          <a:p>
            <a:pPr marL="0" indent="0" algn="l">
              <a:buNone/>
            </a:pPr>
            <a:r>
              <a:rPr lang="en-US" sz="1700" b="1" dirty="0">
                <a:solidFill>
                  <a:srgbClr val="10243A"/>
                </a:solidFill>
                <a:latin typeface="Aptos" pitchFamily="34" charset="0"/>
                <a:ea typeface="Aptos" pitchFamily="34" charset="-122"/>
                <a:cs typeface="Aptos" pitchFamily="34" charset="-120"/>
              </a:rPr>
              <a:t>5  Commit</a:t>
            </a:r>
            <a:endParaRPr lang="en-US" sz="1700" dirty="0"/>
          </a:p>
        </p:txBody>
      </p:sp>
      <p:sp>
        <p:nvSpPr>
          <p:cNvPr id="23" name="Text 21"/>
          <p:cNvSpPr/>
          <p:nvPr/>
        </p:nvSpPr>
        <p:spPr>
          <a:xfrm>
            <a:off x="4718304" y="4251960"/>
            <a:ext cx="3145536" cy="27432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変更を記録</a:t>
            </a:r>
            <a:endParaRPr lang="en-US" sz="1300" dirty="0"/>
          </a:p>
        </p:txBody>
      </p:sp>
      <p:sp>
        <p:nvSpPr>
          <p:cNvPr id="24" name="Shape 22"/>
          <p:cNvSpPr/>
          <p:nvPr/>
        </p:nvSpPr>
        <p:spPr>
          <a:xfrm>
            <a:off x="8394192" y="3657600"/>
            <a:ext cx="3438144" cy="1078992"/>
          </a:xfrm>
          <a:prstGeom prst="roundRect">
            <a:avLst>
              <a:gd name="adj" fmla="val 11017"/>
            </a:avLst>
          </a:prstGeom>
          <a:solidFill>
            <a:srgbClr val="ECF7F1"/>
          </a:solidFill>
          <a:ln w="10160">
            <a:solidFill>
              <a:srgbClr val="DBE4ED"/>
            </a:solidFill>
            <a:prstDash val="solid"/>
          </a:ln>
        </p:spPr>
        <p:txBody>
          <a:bodyPr/>
          <a:lstStyle/>
          <a:p>
            <a:endParaRPr lang="en-JP"/>
          </a:p>
        </p:txBody>
      </p:sp>
      <p:sp>
        <p:nvSpPr>
          <p:cNvPr id="25" name="Text 23"/>
          <p:cNvSpPr/>
          <p:nvPr/>
        </p:nvSpPr>
        <p:spPr>
          <a:xfrm>
            <a:off x="8540496" y="3822192"/>
            <a:ext cx="3163824" cy="320040"/>
          </a:xfrm>
          <a:prstGeom prst="rect">
            <a:avLst/>
          </a:prstGeom>
          <a:noFill/>
          <a:ln/>
        </p:spPr>
        <p:txBody>
          <a:bodyPr wrap="square" lIns="508" tIns="508" rIns="508" bIns="508" rtlCol="0" anchor="ctr"/>
          <a:lstStyle/>
          <a:p>
            <a:pPr marL="0" indent="0" algn="l">
              <a:buNone/>
            </a:pPr>
            <a:r>
              <a:rPr lang="en-US" sz="1700" b="1" dirty="0">
                <a:solidFill>
                  <a:srgbClr val="10243A"/>
                </a:solidFill>
                <a:latin typeface="Aptos" pitchFamily="34" charset="0"/>
                <a:ea typeface="Aptos" pitchFamily="34" charset="-122"/>
                <a:cs typeface="Aptos" pitchFamily="34" charset="-120"/>
              </a:rPr>
              <a:t>6  Push to GitHub</a:t>
            </a:r>
            <a:endParaRPr lang="en-US" sz="1700" dirty="0"/>
          </a:p>
        </p:txBody>
      </p:sp>
      <p:sp>
        <p:nvSpPr>
          <p:cNvPr id="26" name="Text 24"/>
          <p:cNvSpPr/>
          <p:nvPr/>
        </p:nvSpPr>
        <p:spPr>
          <a:xfrm>
            <a:off x="8540496" y="4251960"/>
            <a:ext cx="3145536" cy="27432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GitHubへ送信</a:t>
            </a:r>
            <a:endParaRPr lang="en-US" sz="1300" dirty="0"/>
          </a:p>
        </p:txBody>
      </p:sp>
      <p:sp>
        <p:nvSpPr>
          <p:cNvPr id="27" name="Text 25"/>
          <p:cNvSpPr/>
          <p:nvPr/>
        </p:nvSpPr>
        <p:spPr>
          <a:xfrm>
            <a:off x="1828800" y="5897880"/>
            <a:ext cx="8595360" cy="320040"/>
          </a:xfrm>
          <a:prstGeom prst="rect">
            <a:avLst/>
          </a:prstGeom>
          <a:noFill/>
          <a:ln/>
        </p:spPr>
        <p:txBody>
          <a:bodyPr wrap="square" lIns="508" tIns="508" rIns="508" bIns="508" rtlCol="0" anchor="ctr"/>
          <a:lstStyle/>
          <a:p>
            <a:pPr marL="0" indent="0" algn="ctr">
              <a:buNone/>
            </a:pPr>
            <a:r>
              <a:rPr lang="en-US" sz="1900" b="1" dirty="0">
                <a:solidFill>
                  <a:srgbClr val="138D87"/>
                </a:solidFill>
                <a:latin typeface="Aptos" pitchFamily="34" charset="0"/>
                <a:ea typeface="Aptos" pitchFamily="34" charset="-122"/>
                <a:cs typeface="Aptos" pitchFamily="34" charset="-120"/>
              </a:rPr>
              <a:t>① → ② → ③ → ④ → ⑤ → ⑥</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SETUP</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Before you start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始める前のチェック</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5</a:t>
            </a:r>
            <a:endParaRPr lang="en-US" sz="1000" dirty="0"/>
          </a:p>
        </p:txBody>
      </p:sp>
      <p:sp>
        <p:nvSpPr>
          <p:cNvPr id="9" name="Shape 7"/>
          <p:cNvSpPr/>
          <p:nvPr/>
        </p:nvSpPr>
        <p:spPr>
          <a:xfrm>
            <a:off x="713232" y="1828800"/>
            <a:ext cx="10753344"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713232" y="1828800"/>
            <a:ext cx="64008" cy="914400"/>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23544" y="1984248"/>
            <a:ext cx="10341864"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Windows 11</a:t>
            </a:r>
            <a:endParaRPr lang="en-US" sz="1700" dirty="0"/>
          </a:p>
        </p:txBody>
      </p:sp>
      <p:sp>
        <p:nvSpPr>
          <p:cNvPr id="12" name="Text 10"/>
          <p:cNvSpPr/>
          <p:nvPr/>
        </p:nvSpPr>
        <p:spPr>
          <a:xfrm>
            <a:off x="923544" y="2404872"/>
            <a:ext cx="10332720"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Administrator / installation permission</a:t>
            </a:r>
            <a:endParaRPr lang="en-US" sz="1500" dirty="0"/>
          </a:p>
        </p:txBody>
      </p:sp>
      <p:sp>
        <p:nvSpPr>
          <p:cNvPr id="13" name="Text 11"/>
          <p:cNvSpPr/>
          <p:nvPr/>
        </p:nvSpPr>
        <p:spPr>
          <a:xfrm>
            <a:off x="923544" y="2377440"/>
            <a:ext cx="10332720"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インストール権限</a:t>
            </a:r>
            <a:endParaRPr lang="en-US" sz="1200" dirty="0"/>
          </a:p>
        </p:txBody>
      </p:sp>
      <p:sp>
        <p:nvSpPr>
          <p:cNvPr id="14" name="Shape 12"/>
          <p:cNvSpPr/>
          <p:nvPr/>
        </p:nvSpPr>
        <p:spPr>
          <a:xfrm>
            <a:off x="713232" y="2852928"/>
            <a:ext cx="10753344"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713232" y="2852928"/>
            <a:ext cx="64008" cy="914400"/>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923544" y="3008376"/>
            <a:ext cx="10341864"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Internet</a:t>
            </a:r>
            <a:endParaRPr lang="en-US" sz="1700" dirty="0"/>
          </a:p>
        </p:txBody>
      </p:sp>
      <p:sp>
        <p:nvSpPr>
          <p:cNvPr id="17" name="Text 15"/>
          <p:cNvSpPr/>
          <p:nvPr/>
        </p:nvSpPr>
        <p:spPr>
          <a:xfrm>
            <a:off x="923544" y="3429000"/>
            <a:ext cx="10332720"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Required to download installers and sign in</a:t>
            </a:r>
            <a:endParaRPr lang="en-US" sz="1500" dirty="0"/>
          </a:p>
        </p:txBody>
      </p:sp>
      <p:sp>
        <p:nvSpPr>
          <p:cNvPr id="18" name="Text 16"/>
          <p:cNvSpPr/>
          <p:nvPr/>
        </p:nvSpPr>
        <p:spPr>
          <a:xfrm>
            <a:off x="923544" y="3401568"/>
            <a:ext cx="10332720"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ダウンロード・認証に必要</a:t>
            </a:r>
            <a:endParaRPr lang="en-US" sz="1200" dirty="0"/>
          </a:p>
        </p:txBody>
      </p:sp>
      <p:sp>
        <p:nvSpPr>
          <p:cNvPr id="19" name="Shape 17"/>
          <p:cNvSpPr/>
          <p:nvPr/>
        </p:nvSpPr>
        <p:spPr>
          <a:xfrm>
            <a:off x="713232" y="3877056"/>
            <a:ext cx="10753344"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713232" y="3877056"/>
            <a:ext cx="64008" cy="914400"/>
          </a:xfrm>
          <a:prstGeom prst="rect">
            <a:avLst/>
          </a:prstGeom>
          <a:solidFill>
            <a:srgbClr val="2676A8"/>
          </a:solidFill>
          <a:ln w="12700">
            <a:solidFill>
              <a:srgbClr val="2676A8"/>
            </a:solidFill>
            <a:prstDash val="solid"/>
          </a:ln>
        </p:spPr>
        <p:txBody>
          <a:bodyPr/>
          <a:lstStyle/>
          <a:p>
            <a:endParaRPr lang="en-JP"/>
          </a:p>
        </p:txBody>
      </p:sp>
      <p:sp>
        <p:nvSpPr>
          <p:cNvPr id="21" name="Text 19"/>
          <p:cNvSpPr/>
          <p:nvPr/>
        </p:nvSpPr>
        <p:spPr>
          <a:xfrm>
            <a:off x="923544" y="4032504"/>
            <a:ext cx="10341864"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GitHub account</a:t>
            </a:r>
            <a:endParaRPr lang="en-US" sz="1700" dirty="0"/>
          </a:p>
        </p:txBody>
      </p:sp>
      <p:sp>
        <p:nvSpPr>
          <p:cNvPr id="22" name="Text 20"/>
          <p:cNvSpPr/>
          <p:nvPr/>
        </p:nvSpPr>
        <p:spPr>
          <a:xfrm>
            <a:off x="923544" y="4453128"/>
            <a:ext cx="10332720"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Create at github.com if you do not have one</a:t>
            </a:r>
            <a:endParaRPr lang="en-US" sz="1500" dirty="0"/>
          </a:p>
        </p:txBody>
      </p:sp>
      <p:sp>
        <p:nvSpPr>
          <p:cNvPr id="23" name="Text 21"/>
          <p:cNvSpPr/>
          <p:nvPr/>
        </p:nvSpPr>
        <p:spPr>
          <a:xfrm>
            <a:off x="923544" y="4425696"/>
            <a:ext cx="10332720"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未登録ならアカウント作成</a:t>
            </a:r>
            <a:endParaRPr lang="en-US" sz="1200" dirty="0"/>
          </a:p>
        </p:txBody>
      </p:sp>
      <p:sp>
        <p:nvSpPr>
          <p:cNvPr id="24" name="Shape 22"/>
          <p:cNvSpPr/>
          <p:nvPr/>
        </p:nvSpPr>
        <p:spPr>
          <a:xfrm>
            <a:off x="713232" y="4901184"/>
            <a:ext cx="10753344"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713232" y="4901184"/>
            <a:ext cx="64008" cy="914400"/>
          </a:xfrm>
          <a:prstGeom prst="rect">
            <a:avLst/>
          </a:prstGeom>
          <a:solidFill>
            <a:srgbClr val="138D87"/>
          </a:solidFill>
          <a:ln w="12700">
            <a:solidFill>
              <a:srgbClr val="138D87"/>
            </a:solidFill>
            <a:prstDash val="solid"/>
          </a:ln>
        </p:spPr>
        <p:txBody>
          <a:bodyPr/>
          <a:lstStyle/>
          <a:p>
            <a:endParaRPr lang="en-JP"/>
          </a:p>
        </p:txBody>
      </p:sp>
      <p:sp>
        <p:nvSpPr>
          <p:cNvPr id="26" name="Text 24"/>
          <p:cNvSpPr/>
          <p:nvPr/>
        </p:nvSpPr>
        <p:spPr>
          <a:xfrm>
            <a:off x="923544" y="5056632"/>
            <a:ext cx="10341864"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Practice folder</a:t>
            </a:r>
            <a:endParaRPr lang="en-US" sz="1700" dirty="0"/>
          </a:p>
        </p:txBody>
      </p:sp>
      <p:sp>
        <p:nvSpPr>
          <p:cNvPr id="27" name="Text 25"/>
          <p:cNvSpPr/>
          <p:nvPr/>
        </p:nvSpPr>
        <p:spPr>
          <a:xfrm>
            <a:off x="923544" y="5477256"/>
            <a:ext cx="10332720"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Use Documents\face-recognition-practice</a:t>
            </a:r>
            <a:endParaRPr lang="en-US" sz="1500" dirty="0"/>
          </a:p>
        </p:txBody>
      </p:sp>
      <p:sp>
        <p:nvSpPr>
          <p:cNvPr id="28" name="Text 26"/>
          <p:cNvSpPr/>
          <p:nvPr/>
        </p:nvSpPr>
        <p:spPr>
          <a:xfrm>
            <a:off x="923544" y="5449824"/>
            <a:ext cx="10332720"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練習用フォルダを準備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SETUP</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Install these three applications</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必要な3つのアプリをインストール</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6</a:t>
            </a:r>
            <a:endParaRPr lang="en-US" sz="1000" dirty="0"/>
          </a:p>
        </p:txBody>
      </p:sp>
      <p:sp>
        <p:nvSpPr>
          <p:cNvPr id="9" name="Shape 7"/>
          <p:cNvSpPr/>
          <p:nvPr/>
        </p:nvSpPr>
        <p:spPr>
          <a:xfrm>
            <a:off x="676656" y="1874520"/>
            <a:ext cx="3511296" cy="3328416"/>
          </a:xfrm>
          <a:prstGeom prst="roundRect">
            <a:avLst>
              <a:gd name="adj" fmla="val 3571"/>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676656" y="1874520"/>
            <a:ext cx="64008" cy="3328416"/>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886968" y="2029968"/>
            <a:ext cx="3099816"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Anaconda</a:t>
            </a:r>
            <a:endParaRPr lang="en-US" sz="1700" dirty="0"/>
          </a:p>
        </p:txBody>
      </p:sp>
      <p:sp>
        <p:nvSpPr>
          <p:cNvPr id="12" name="Text 10"/>
          <p:cNvSpPr/>
          <p:nvPr/>
        </p:nvSpPr>
        <p:spPr>
          <a:xfrm>
            <a:off x="886968" y="2450592"/>
            <a:ext cx="3090672" cy="129808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Download the Windows installer from anaconda.com/download. Run the installer and complete setup.</a:t>
            </a:r>
            <a:endParaRPr lang="en-US" sz="1500" dirty="0"/>
          </a:p>
        </p:txBody>
      </p:sp>
      <p:sp>
        <p:nvSpPr>
          <p:cNvPr id="13" name="Text 11"/>
          <p:cNvSpPr/>
          <p:nvPr/>
        </p:nvSpPr>
        <p:spPr>
          <a:xfrm>
            <a:off x="886968" y="3871570"/>
            <a:ext cx="3090672" cy="1065093"/>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公式サイトからWindows版をダウンロードし、画面に従ってインストール。</a:t>
            </a:r>
            <a:endParaRPr lang="en-US" sz="1200" dirty="0"/>
          </a:p>
        </p:txBody>
      </p:sp>
      <p:sp>
        <p:nvSpPr>
          <p:cNvPr id="14" name="Shape 12"/>
          <p:cNvSpPr/>
          <p:nvPr/>
        </p:nvSpPr>
        <p:spPr>
          <a:xfrm>
            <a:off x="4343400" y="1874520"/>
            <a:ext cx="3511296" cy="3328416"/>
          </a:xfrm>
          <a:prstGeom prst="roundRect">
            <a:avLst>
              <a:gd name="adj" fmla="val 3571"/>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4343400" y="1874520"/>
            <a:ext cx="64008" cy="3328416"/>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4553712" y="2029968"/>
            <a:ext cx="3099816"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VS Code</a:t>
            </a:r>
            <a:endParaRPr lang="en-US" sz="1700" dirty="0"/>
          </a:p>
        </p:txBody>
      </p:sp>
      <p:sp>
        <p:nvSpPr>
          <p:cNvPr id="17" name="Text 15"/>
          <p:cNvSpPr/>
          <p:nvPr/>
        </p:nvSpPr>
        <p:spPr>
          <a:xfrm>
            <a:off x="4553712" y="2450592"/>
            <a:ext cx="3090672" cy="129808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Download from code.visualstudio.com. Install the Windows version.</a:t>
            </a:r>
            <a:endParaRPr lang="en-US" sz="1500" dirty="0"/>
          </a:p>
        </p:txBody>
      </p:sp>
      <p:sp>
        <p:nvSpPr>
          <p:cNvPr id="18" name="Text 16"/>
          <p:cNvSpPr/>
          <p:nvPr/>
        </p:nvSpPr>
        <p:spPr>
          <a:xfrm>
            <a:off x="4553712" y="3871570"/>
            <a:ext cx="3090672" cy="1065093"/>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code.visualstudio.comからWindows版を導入。</a:t>
            </a:r>
            <a:endParaRPr lang="en-US" sz="1200" dirty="0"/>
          </a:p>
        </p:txBody>
      </p:sp>
      <p:sp>
        <p:nvSpPr>
          <p:cNvPr id="19" name="Shape 17"/>
          <p:cNvSpPr/>
          <p:nvPr/>
        </p:nvSpPr>
        <p:spPr>
          <a:xfrm>
            <a:off x="8010144" y="1874520"/>
            <a:ext cx="3511296" cy="3328416"/>
          </a:xfrm>
          <a:prstGeom prst="roundRect">
            <a:avLst>
              <a:gd name="adj" fmla="val 3571"/>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8010144" y="1874520"/>
            <a:ext cx="64008" cy="3328416"/>
          </a:xfrm>
          <a:prstGeom prst="rect">
            <a:avLst/>
          </a:prstGeom>
          <a:solidFill>
            <a:srgbClr val="E99D39"/>
          </a:solidFill>
          <a:ln w="12700">
            <a:solidFill>
              <a:srgbClr val="E99D39"/>
            </a:solidFill>
            <a:prstDash val="solid"/>
          </a:ln>
        </p:spPr>
        <p:txBody>
          <a:bodyPr/>
          <a:lstStyle/>
          <a:p>
            <a:endParaRPr lang="en-JP"/>
          </a:p>
        </p:txBody>
      </p:sp>
      <p:sp>
        <p:nvSpPr>
          <p:cNvPr id="21" name="Text 19"/>
          <p:cNvSpPr/>
          <p:nvPr/>
        </p:nvSpPr>
        <p:spPr>
          <a:xfrm>
            <a:off x="8220456" y="2029968"/>
            <a:ext cx="3099816" cy="347472"/>
          </a:xfrm>
          <a:prstGeom prst="rect">
            <a:avLst/>
          </a:prstGeom>
          <a:noFill/>
          <a:ln/>
        </p:spPr>
        <p:txBody>
          <a:bodyPr wrap="square" lIns="508" tIns="508" rIns="508" bIns="508" rtlCol="0" anchor="ctr"/>
          <a:lstStyle/>
          <a:p>
            <a:pPr marL="0" indent="0" algn="l">
              <a:buNone/>
            </a:pPr>
            <a:r>
              <a:rPr lang="en-US" sz="1700" b="1" dirty="0">
                <a:solidFill>
                  <a:srgbClr val="E99D39"/>
                </a:solidFill>
                <a:latin typeface="Aptos" pitchFamily="34" charset="0"/>
                <a:ea typeface="Aptos" pitchFamily="34" charset="-122"/>
                <a:cs typeface="Aptos" pitchFamily="34" charset="-120"/>
              </a:rPr>
              <a:t>Git for Windows</a:t>
            </a:r>
            <a:endParaRPr lang="en-US" sz="1700" dirty="0"/>
          </a:p>
        </p:txBody>
      </p:sp>
      <p:sp>
        <p:nvSpPr>
          <p:cNvPr id="22" name="Text 20"/>
          <p:cNvSpPr/>
          <p:nvPr/>
        </p:nvSpPr>
        <p:spPr>
          <a:xfrm>
            <a:off x="8220456" y="2450592"/>
            <a:ext cx="3090672" cy="129808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Download from git-scm.com/download/win. Accept defaults for beginners.</a:t>
            </a:r>
            <a:endParaRPr lang="en-US" sz="1500" dirty="0"/>
          </a:p>
        </p:txBody>
      </p:sp>
      <p:sp>
        <p:nvSpPr>
          <p:cNvPr id="23" name="Text 21"/>
          <p:cNvSpPr/>
          <p:nvPr/>
        </p:nvSpPr>
        <p:spPr>
          <a:xfrm>
            <a:off x="8220456" y="3871570"/>
            <a:ext cx="3090672" cy="1065093"/>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git-scm.comからインストール。初学者は基本設定でOK。</a:t>
            </a:r>
            <a:endParaRPr lang="en-US" sz="1200" dirty="0"/>
          </a:p>
        </p:txBody>
      </p:sp>
      <p:sp>
        <p:nvSpPr>
          <p:cNvPr id="24" name="Shape 22"/>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5" name="Text 23"/>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Do not assume Git is installed just because VS Code is installed.</a:t>
            </a:r>
            <a:endParaRPr lang="en-US" sz="1200" dirty="0"/>
          </a:p>
        </p:txBody>
      </p:sp>
      <p:sp>
        <p:nvSpPr>
          <p:cNvPr id="26" name="Text 24"/>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VS Codeを導入しただけではGitが使えるとは限りません。</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1 · CONDA</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Open Anaconda Prompt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Anaconda Promptを起動する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7</a:t>
            </a:r>
            <a:endParaRPr lang="en-US" sz="1000" dirty="0"/>
          </a:p>
        </p:txBody>
      </p:sp>
      <p:sp>
        <p:nvSpPr>
          <p:cNvPr id="9" name="Shape 7"/>
          <p:cNvSpPr/>
          <p:nvPr/>
        </p:nvSpPr>
        <p:spPr>
          <a:xfrm>
            <a:off x="685800" y="1856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859536" y="2011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1" name="Text 9"/>
          <p:cNvSpPr/>
          <p:nvPr/>
        </p:nvSpPr>
        <p:spPr>
          <a:xfrm>
            <a:off x="932688" y="2020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2" name="Text 10"/>
          <p:cNvSpPr/>
          <p:nvPr/>
        </p:nvSpPr>
        <p:spPr>
          <a:xfrm>
            <a:off x="1435608" y="1956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Press the Windows key and type “Anaconda Prompt”.</a:t>
            </a:r>
            <a:endParaRPr lang="en-US" sz="1600" dirty="0"/>
          </a:p>
        </p:txBody>
      </p:sp>
      <p:sp>
        <p:nvSpPr>
          <p:cNvPr id="13" name="Text 11"/>
          <p:cNvSpPr/>
          <p:nvPr/>
        </p:nvSpPr>
        <p:spPr>
          <a:xfrm>
            <a:off x="1444752" y="2359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Windowsキーを押し「Anaconda Prompt」と入力</a:t>
            </a:r>
            <a:endParaRPr lang="en-US" sz="1200" dirty="0"/>
          </a:p>
        </p:txBody>
      </p:sp>
      <p:sp>
        <p:nvSpPr>
          <p:cNvPr id="14" name="Shape 12"/>
          <p:cNvSpPr/>
          <p:nvPr/>
        </p:nvSpPr>
        <p:spPr>
          <a:xfrm>
            <a:off x="685800" y="2999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859536" y="3154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6" name="Text 14"/>
          <p:cNvSpPr/>
          <p:nvPr/>
        </p:nvSpPr>
        <p:spPr>
          <a:xfrm>
            <a:off x="932688" y="3163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7" name="Text 15"/>
          <p:cNvSpPr/>
          <p:nvPr/>
        </p:nvSpPr>
        <p:spPr>
          <a:xfrm>
            <a:off x="1435608" y="3099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Open “Anaconda Prompt” from the Start menu.</a:t>
            </a:r>
            <a:endParaRPr lang="en-US" sz="1600" dirty="0"/>
          </a:p>
        </p:txBody>
      </p:sp>
      <p:sp>
        <p:nvSpPr>
          <p:cNvPr id="18" name="Text 16"/>
          <p:cNvSpPr/>
          <p:nvPr/>
        </p:nvSpPr>
        <p:spPr>
          <a:xfrm>
            <a:off x="1444752" y="3502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検索結果から「Anaconda Prompt」を開く</a:t>
            </a:r>
            <a:endParaRPr lang="en-US" sz="1200" dirty="0"/>
          </a:p>
        </p:txBody>
      </p:sp>
      <p:sp>
        <p:nvSpPr>
          <p:cNvPr id="19" name="Shape 17"/>
          <p:cNvSpPr/>
          <p:nvPr/>
        </p:nvSpPr>
        <p:spPr>
          <a:xfrm>
            <a:off x="685800" y="4142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859536" y="4297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1" name="Text 19"/>
          <p:cNvSpPr/>
          <p:nvPr/>
        </p:nvSpPr>
        <p:spPr>
          <a:xfrm>
            <a:off x="932688" y="4306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2" name="Text 20"/>
          <p:cNvSpPr/>
          <p:nvPr/>
        </p:nvSpPr>
        <p:spPr>
          <a:xfrm>
            <a:off x="1435608" y="4242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Type `conda --version` and press Enter.</a:t>
            </a:r>
            <a:endParaRPr lang="en-US" sz="1600" dirty="0"/>
          </a:p>
        </p:txBody>
      </p:sp>
      <p:sp>
        <p:nvSpPr>
          <p:cNvPr id="23" name="Text 21"/>
          <p:cNvSpPr/>
          <p:nvPr/>
        </p:nvSpPr>
        <p:spPr>
          <a:xfrm>
            <a:off x="1444752" y="4645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`conda --version`を実行し、バージョン番号が出ることを確認</a:t>
            </a:r>
            <a:endParaRPr lang="en-US" sz="1200" dirty="0"/>
          </a:p>
        </p:txBody>
      </p:sp>
      <p:sp>
        <p:nvSpPr>
          <p:cNvPr id="24" name="Shape 22"/>
          <p:cNvSpPr/>
          <p:nvPr/>
        </p:nvSpPr>
        <p:spPr>
          <a:xfrm>
            <a:off x="658368" y="5276088"/>
            <a:ext cx="10853928" cy="566928"/>
          </a:xfrm>
          <a:prstGeom prst="roundRect">
            <a:avLst>
              <a:gd name="adj" fmla="val 20968"/>
            </a:avLst>
          </a:prstGeom>
          <a:solidFill>
            <a:srgbClr val="10243A"/>
          </a:solidFill>
          <a:ln w="10160">
            <a:solidFill>
              <a:srgbClr val="10243A"/>
            </a:solidFill>
            <a:prstDash val="solid"/>
          </a:ln>
        </p:spPr>
        <p:txBody>
          <a:bodyPr/>
          <a:lstStyle/>
          <a:p>
            <a:endParaRPr lang="en-JP"/>
          </a:p>
        </p:txBody>
      </p:sp>
      <p:sp>
        <p:nvSpPr>
          <p:cNvPr id="25" name="Text 23"/>
          <p:cNvSpPr/>
          <p:nvPr/>
        </p:nvSpPr>
        <p:spPr>
          <a:xfrm>
            <a:off x="914400" y="5422392"/>
            <a:ext cx="10287000" cy="292608"/>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conda --version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1 · CONDA</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Why create a separate environment?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なぜ環境を分けるのか？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8</a:t>
            </a:r>
            <a:endParaRPr lang="en-US" sz="1000" dirty="0"/>
          </a:p>
        </p:txBody>
      </p:sp>
      <p:sp>
        <p:nvSpPr>
          <p:cNvPr id="9" name="Shape 7"/>
          <p:cNvSpPr/>
          <p:nvPr/>
        </p:nvSpPr>
        <p:spPr>
          <a:xfrm>
            <a:off x="685800" y="1901952"/>
            <a:ext cx="5257800" cy="3520440"/>
          </a:xfrm>
          <a:prstGeom prst="roundRect">
            <a:avLst>
              <a:gd name="adj" fmla="val 3377"/>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685800" y="1901952"/>
            <a:ext cx="64008" cy="3520440"/>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896112" y="2057400"/>
            <a:ext cx="4846320"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Environment A</a:t>
            </a:r>
            <a:endParaRPr lang="en-US" sz="1700" dirty="0"/>
          </a:p>
        </p:txBody>
      </p:sp>
      <p:sp>
        <p:nvSpPr>
          <p:cNvPr id="12" name="Text 10"/>
          <p:cNvSpPr/>
          <p:nvPr/>
        </p:nvSpPr>
        <p:spPr>
          <a:xfrm>
            <a:off x="896112" y="2478024"/>
            <a:ext cx="4837176" cy="137297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Project 1: Python 3.11 + NumPy and OpenCV. Avoid changing other projects.</a:t>
            </a:r>
            <a:endParaRPr lang="en-US" sz="1500" dirty="0"/>
          </a:p>
        </p:txBody>
      </p:sp>
      <p:sp>
        <p:nvSpPr>
          <p:cNvPr id="13" name="Text 11"/>
          <p:cNvSpPr/>
          <p:nvPr/>
        </p:nvSpPr>
        <p:spPr>
          <a:xfrm>
            <a:off x="896112" y="4014216"/>
            <a:ext cx="4837176" cy="1126541"/>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環境A：授業用。別の課題の環境に影響しません。</a:t>
            </a:r>
            <a:endParaRPr lang="en-US" sz="1200" dirty="0"/>
          </a:p>
        </p:txBody>
      </p:sp>
      <p:sp>
        <p:nvSpPr>
          <p:cNvPr id="14" name="Shape 12"/>
          <p:cNvSpPr/>
          <p:nvPr/>
        </p:nvSpPr>
        <p:spPr>
          <a:xfrm>
            <a:off x="6163056" y="1901952"/>
            <a:ext cx="5257800" cy="3520440"/>
          </a:xfrm>
          <a:prstGeom prst="roundRect">
            <a:avLst>
              <a:gd name="adj" fmla="val 3377"/>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6163056" y="1901952"/>
            <a:ext cx="64008" cy="3520440"/>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6373368" y="2057400"/>
            <a:ext cx="4846320"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Environment B</a:t>
            </a:r>
            <a:endParaRPr lang="en-US" sz="1700" dirty="0"/>
          </a:p>
        </p:txBody>
      </p:sp>
      <p:sp>
        <p:nvSpPr>
          <p:cNvPr id="17" name="Text 15"/>
          <p:cNvSpPr/>
          <p:nvPr/>
        </p:nvSpPr>
        <p:spPr>
          <a:xfrm>
            <a:off x="6373368" y="2478024"/>
            <a:ext cx="4837176" cy="137297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Project 2: Different Python and package versions can coexist.</a:t>
            </a:r>
            <a:endParaRPr lang="en-US" sz="1500" dirty="0"/>
          </a:p>
        </p:txBody>
      </p:sp>
      <p:sp>
        <p:nvSpPr>
          <p:cNvPr id="18" name="Text 16"/>
          <p:cNvSpPr/>
          <p:nvPr/>
        </p:nvSpPr>
        <p:spPr>
          <a:xfrm>
            <a:off x="6373368" y="4014216"/>
            <a:ext cx="4837176" cy="1126541"/>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環境B：異なるバージョンのPythonやライブラリを併用できます。</a:t>
            </a:r>
            <a:endParaRPr lang="en-US" sz="1200" dirty="0"/>
          </a:p>
        </p:txBody>
      </p:sp>
      <p:sp>
        <p:nvSpPr>
          <p:cNvPr id="19" name="Shape 17"/>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0" name="Text 18"/>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Avoid installing all project libraries into the base environment.</a:t>
            </a:r>
            <a:endParaRPr lang="en-US" sz="1200" dirty="0"/>
          </a:p>
        </p:txBody>
      </p:sp>
      <p:sp>
        <p:nvSpPr>
          <p:cNvPr id="21" name="Text 19"/>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base環境に授業用のライブラリを何でも入れないようにしましょう。</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1 · CONDA</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Create a new Conda environment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新しいConda環境を作成</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9</a:t>
            </a:r>
            <a:endParaRPr lang="en-US" sz="1000" dirty="0"/>
          </a:p>
        </p:txBody>
      </p:sp>
      <p:sp>
        <p:nvSpPr>
          <p:cNvPr id="9" name="Text 7"/>
          <p:cNvSpPr/>
          <p:nvPr/>
        </p:nvSpPr>
        <p:spPr>
          <a:xfrm>
            <a:off x="713232" y="1929384"/>
            <a:ext cx="10058400" cy="320040"/>
          </a:xfrm>
          <a:prstGeom prst="rect">
            <a:avLst/>
          </a:prstGeom>
          <a:noFill/>
          <a:ln/>
        </p:spPr>
        <p:txBody>
          <a:bodyPr wrap="square" lIns="508" tIns="508" rIns="508" bIns="508" rtlCol="0" anchor="ctr"/>
          <a:lstStyle/>
          <a:p>
            <a:pPr marL="0" indent="0" algn="l">
              <a:buNone/>
            </a:pPr>
            <a:r>
              <a:rPr lang="en-US" sz="1800" b="1" dirty="0">
                <a:solidFill>
                  <a:srgbClr val="213348"/>
                </a:solidFill>
                <a:latin typeface="Aptos" pitchFamily="34" charset="0"/>
                <a:ea typeface="Aptos" pitchFamily="34" charset="-122"/>
                <a:cs typeface="Aptos" pitchFamily="34" charset="-120"/>
              </a:rPr>
              <a:t>In Anaconda Prompt, enter:</a:t>
            </a:r>
            <a:endParaRPr lang="en-US" sz="1800" dirty="0"/>
          </a:p>
        </p:txBody>
      </p:sp>
      <p:sp>
        <p:nvSpPr>
          <p:cNvPr id="10" name="Shape 8"/>
          <p:cNvSpPr/>
          <p:nvPr/>
        </p:nvSpPr>
        <p:spPr>
          <a:xfrm>
            <a:off x="658368" y="2395728"/>
            <a:ext cx="10853928" cy="960120"/>
          </a:xfrm>
          <a:prstGeom prst="roundRect">
            <a:avLst>
              <a:gd name="adj" fmla="val 12381"/>
            </a:avLst>
          </a:prstGeom>
          <a:solidFill>
            <a:srgbClr val="10243A"/>
          </a:solidFill>
          <a:ln w="10160">
            <a:solidFill>
              <a:srgbClr val="10243A"/>
            </a:solidFill>
            <a:prstDash val="solid"/>
          </a:ln>
        </p:spPr>
        <p:txBody>
          <a:bodyPr/>
          <a:lstStyle/>
          <a:p>
            <a:endParaRPr lang="en-JP"/>
          </a:p>
        </p:txBody>
      </p:sp>
      <p:sp>
        <p:nvSpPr>
          <p:cNvPr id="11" name="Text 9"/>
          <p:cNvSpPr/>
          <p:nvPr/>
        </p:nvSpPr>
        <p:spPr>
          <a:xfrm>
            <a:off x="914400" y="2542032"/>
            <a:ext cx="10287000" cy="685800"/>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conda create -n face_course python=3.11 -y</a:t>
            </a:r>
            <a:endParaRPr lang="en-US" sz="1700" dirty="0"/>
          </a:p>
        </p:txBody>
      </p:sp>
      <p:sp>
        <p:nvSpPr>
          <p:cNvPr id="12" name="Shape 10"/>
          <p:cNvSpPr/>
          <p:nvPr/>
        </p:nvSpPr>
        <p:spPr>
          <a:xfrm>
            <a:off x="704088" y="3749040"/>
            <a:ext cx="5257800" cy="1316736"/>
          </a:xfrm>
          <a:prstGeom prst="roundRect">
            <a:avLst>
              <a:gd name="adj" fmla="val 9028"/>
            </a:avLst>
          </a:prstGeom>
          <a:solidFill>
            <a:srgbClr val="F3F7FB"/>
          </a:solidFill>
          <a:ln w="10160">
            <a:solidFill>
              <a:srgbClr val="DBE4ED"/>
            </a:solidFill>
            <a:prstDash val="solid"/>
          </a:ln>
        </p:spPr>
        <p:txBody>
          <a:bodyPr/>
          <a:lstStyle/>
          <a:p>
            <a:endParaRPr lang="en-JP"/>
          </a:p>
        </p:txBody>
      </p:sp>
      <p:sp>
        <p:nvSpPr>
          <p:cNvPr id="13" name="Shape 11"/>
          <p:cNvSpPr/>
          <p:nvPr/>
        </p:nvSpPr>
        <p:spPr>
          <a:xfrm>
            <a:off x="704088" y="3749040"/>
            <a:ext cx="64008" cy="1316736"/>
          </a:xfrm>
          <a:prstGeom prst="rect">
            <a:avLst/>
          </a:prstGeom>
          <a:solidFill>
            <a:srgbClr val="2676A8"/>
          </a:solidFill>
          <a:ln w="12700">
            <a:solidFill>
              <a:srgbClr val="2676A8"/>
            </a:solidFill>
            <a:prstDash val="solid"/>
          </a:ln>
        </p:spPr>
        <p:txBody>
          <a:bodyPr/>
          <a:lstStyle/>
          <a:p>
            <a:endParaRPr lang="en-JP"/>
          </a:p>
        </p:txBody>
      </p:sp>
      <p:sp>
        <p:nvSpPr>
          <p:cNvPr id="14" name="Text 12"/>
          <p:cNvSpPr/>
          <p:nvPr/>
        </p:nvSpPr>
        <p:spPr>
          <a:xfrm>
            <a:off x="914400" y="3904488"/>
            <a:ext cx="4846320"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-n face_course</a:t>
            </a:r>
            <a:endParaRPr lang="en-US" sz="1700" dirty="0"/>
          </a:p>
        </p:txBody>
      </p:sp>
      <p:sp>
        <p:nvSpPr>
          <p:cNvPr id="15" name="Text 13"/>
          <p:cNvSpPr/>
          <p:nvPr/>
        </p:nvSpPr>
        <p:spPr>
          <a:xfrm>
            <a:off x="914400" y="4325112"/>
            <a:ext cx="4837176" cy="513527"/>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The environment name (you choose it).</a:t>
            </a:r>
            <a:endParaRPr lang="en-US" sz="1500" dirty="0"/>
          </a:p>
        </p:txBody>
      </p:sp>
      <p:sp>
        <p:nvSpPr>
          <p:cNvPr id="16" name="Text 14"/>
          <p:cNvSpPr/>
          <p:nvPr/>
        </p:nvSpPr>
        <p:spPr>
          <a:xfrm>
            <a:off x="914400" y="4539082"/>
            <a:ext cx="4837176" cy="421356"/>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環境名（自由に変更可能）。</a:t>
            </a:r>
            <a:endParaRPr lang="en-US" sz="1200" dirty="0"/>
          </a:p>
        </p:txBody>
      </p:sp>
      <p:sp>
        <p:nvSpPr>
          <p:cNvPr id="17" name="Shape 15"/>
          <p:cNvSpPr/>
          <p:nvPr/>
        </p:nvSpPr>
        <p:spPr>
          <a:xfrm>
            <a:off x="6172200" y="3749040"/>
            <a:ext cx="5257800" cy="1316736"/>
          </a:xfrm>
          <a:prstGeom prst="roundRect">
            <a:avLst>
              <a:gd name="adj" fmla="val 9028"/>
            </a:avLst>
          </a:prstGeom>
          <a:solidFill>
            <a:srgbClr val="F3F7FB"/>
          </a:solidFill>
          <a:ln w="10160">
            <a:solidFill>
              <a:srgbClr val="DBE4ED"/>
            </a:solidFill>
            <a:prstDash val="solid"/>
          </a:ln>
        </p:spPr>
        <p:txBody>
          <a:bodyPr/>
          <a:lstStyle/>
          <a:p>
            <a:endParaRPr lang="en-JP"/>
          </a:p>
        </p:txBody>
      </p:sp>
      <p:sp>
        <p:nvSpPr>
          <p:cNvPr id="18" name="Shape 16"/>
          <p:cNvSpPr/>
          <p:nvPr/>
        </p:nvSpPr>
        <p:spPr>
          <a:xfrm>
            <a:off x="6172200" y="3749040"/>
            <a:ext cx="64008" cy="1316736"/>
          </a:xfrm>
          <a:prstGeom prst="rect">
            <a:avLst/>
          </a:prstGeom>
          <a:solidFill>
            <a:srgbClr val="138D87"/>
          </a:solidFill>
          <a:ln w="12700">
            <a:solidFill>
              <a:srgbClr val="138D87"/>
            </a:solidFill>
            <a:prstDash val="solid"/>
          </a:ln>
        </p:spPr>
        <p:txBody>
          <a:bodyPr/>
          <a:lstStyle/>
          <a:p>
            <a:endParaRPr lang="en-JP"/>
          </a:p>
        </p:txBody>
      </p:sp>
      <p:sp>
        <p:nvSpPr>
          <p:cNvPr id="19" name="Text 17"/>
          <p:cNvSpPr/>
          <p:nvPr/>
        </p:nvSpPr>
        <p:spPr>
          <a:xfrm>
            <a:off x="6382512" y="3904488"/>
            <a:ext cx="4846320"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python=3.11  /  -y</a:t>
            </a:r>
            <a:endParaRPr lang="en-US" sz="1700" dirty="0"/>
          </a:p>
        </p:txBody>
      </p:sp>
      <p:sp>
        <p:nvSpPr>
          <p:cNvPr id="20" name="Text 18"/>
          <p:cNvSpPr/>
          <p:nvPr/>
        </p:nvSpPr>
        <p:spPr>
          <a:xfrm>
            <a:off x="6382512" y="4325112"/>
            <a:ext cx="4837176" cy="513527"/>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Choose Python 3.11; answer yes automatically.</a:t>
            </a:r>
            <a:endParaRPr lang="en-US" sz="1500" dirty="0"/>
          </a:p>
        </p:txBody>
      </p:sp>
      <p:sp>
        <p:nvSpPr>
          <p:cNvPr id="21" name="Text 19"/>
          <p:cNvSpPr/>
          <p:nvPr/>
        </p:nvSpPr>
        <p:spPr>
          <a:xfrm>
            <a:off x="6382512" y="4539082"/>
            <a:ext cx="4837176" cy="421356"/>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Pythonのバージョンを指定し、確認に自動回答。</a:t>
            </a:r>
            <a:endParaRPr lang="en-US" sz="1200" dirty="0"/>
          </a:p>
        </p:txBody>
      </p:sp>
      <p:sp>
        <p:nvSpPr>
          <p:cNvPr id="22" name="Shape 20"/>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3" name="Text 21"/>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Expected result: the command finishes without errors.</a:t>
            </a:r>
            <a:endParaRPr lang="en-US" sz="1200" dirty="0"/>
          </a:p>
        </p:txBody>
      </p:sp>
      <p:sp>
        <p:nvSpPr>
          <p:cNvPr id="24" name="Text 22"/>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エラーが出ずに処理が終了したら成功です。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1 · CONDA</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Activate and verify the environment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環境を有効化して確認</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10</a:t>
            </a:r>
            <a:endParaRPr lang="en-US" sz="1000" dirty="0"/>
          </a:p>
        </p:txBody>
      </p:sp>
      <p:sp>
        <p:nvSpPr>
          <p:cNvPr id="9" name="Shape 7"/>
          <p:cNvSpPr/>
          <p:nvPr/>
        </p:nvSpPr>
        <p:spPr>
          <a:xfrm>
            <a:off x="658368" y="2002536"/>
            <a:ext cx="10853928" cy="1508760"/>
          </a:xfrm>
          <a:prstGeom prst="roundRect">
            <a:avLst>
              <a:gd name="adj" fmla="val 7879"/>
            </a:avLst>
          </a:prstGeom>
          <a:solidFill>
            <a:srgbClr val="10243A"/>
          </a:solidFill>
          <a:ln w="10160">
            <a:solidFill>
              <a:srgbClr val="10243A"/>
            </a:solidFill>
            <a:prstDash val="solid"/>
          </a:ln>
        </p:spPr>
        <p:txBody>
          <a:bodyPr/>
          <a:lstStyle/>
          <a:p>
            <a:endParaRPr lang="en-JP"/>
          </a:p>
        </p:txBody>
      </p:sp>
      <p:sp>
        <p:nvSpPr>
          <p:cNvPr id="10" name="Text 8"/>
          <p:cNvSpPr/>
          <p:nvPr/>
        </p:nvSpPr>
        <p:spPr>
          <a:xfrm>
            <a:off x="914400" y="2148840"/>
            <a:ext cx="10287000" cy="1234440"/>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conda activate face_course</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python --version</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conda env list</a:t>
            </a:r>
            <a:endParaRPr lang="en-US" sz="1700" dirty="0"/>
          </a:p>
        </p:txBody>
      </p:sp>
      <p:sp>
        <p:nvSpPr>
          <p:cNvPr id="11" name="Shape 9"/>
          <p:cNvSpPr/>
          <p:nvPr/>
        </p:nvSpPr>
        <p:spPr>
          <a:xfrm>
            <a:off x="740664" y="3886200"/>
            <a:ext cx="5166360" cy="1143000"/>
          </a:xfrm>
          <a:prstGeom prst="roundRect">
            <a:avLst>
              <a:gd name="adj" fmla="val 10400"/>
            </a:avLst>
          </a:prstGeom>
          <a:solidFill>
            <a:srgbClr val="F3F7FB"/>
          </a:solidFill>
          <a:ln w="10160">
            <a:solidFill>
              <a:srgbClr val="DBE4ED"/>
            </a:solidFill>
            <a:prstDash val="solid"/>
          </a:ln>
        </p:spPr>
        <p:txBody>
          <a:bodyPr/>
          <a:lstStyle/>
          <a:p>
            <a:endParaRPr lang="en-JP"/>
          </a:p>
        </p:txBody>
      </p:sp>
      <p:sp>
        <p:nvSpPr>
          <p:cNvPr id="12" name="Shape 10"/>
          <p:cNvSpPr/>
          <p:nvPr/>
        </p:nvSpPr>
        <p:spPr>
          <a:xfrm>
            <a:off x="740664" y="3886200"/>
            <a:ext cx="64008" cy="1143000"/>
          </a:xfrm>
          <a:prstGeom prst="rect">
            <a:avLst/>
          </a:prstGeom>
          <a:solidFill>
            <a:srgbClr val="2676A8"/>
          </a:solidFill>
          <a:ln w="12700">
            <a:solidFill>
              <a:srgbClr val="2676A8"/>
            </a:solidFill>
            <a:prstDash val="solid"/>
          </a:ln>
        </p:spPr>
        <p:txBody>
          <a:bodyPr/>
          <a:lstStyle/>
          <a:p>
            <a:endParaRPr lang="en-JP"/>
          </a:p>
        </p:txBody>
      </p:sp>
      <p:sp>
        <p:nvSpPr>
          <p:cNvPr id="13" name="Text 11"/>
          <p:cNvSpPr/>
          <p:nvPr/>
        </p:nvSpPr>
        <p:spPr>
          <a:xfrm>
            <a:off x="950976" y="4041648"/>
            <a:ext cx="4754880"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Expected prompt</a:t>
            </a:r>
            <a:endParaRPr lang="en-US" sz="1700" dirty="0"/>
          </a:p>
        </p:txBody>
      </p:sp>
      <p:sp>
        <p:nvSpPr>
          <p:cNvPr id="14" name="Text 12"/>
          <p:cNvSpPr/>
          <p:nvPr/>
        </p:nvSpPr>
        <p:spPr>
          <a:xfrm>
            <a:off x="950976" y="4462272"/>
            <a:ext cx="4745736" cy="445770"/>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(face_course) appears at the start of the prompt.</a:t>
            </a:r>
            <a:endParaRPr lang="en-US" sz="1500" dirty="0"/>
          </a:p>
        </p:txBody>
      </p:sp>
      <p:sp>
        <p:nvSpPr>
          <p:cNvPr id="15" name="Text 13"/>
          <p:cNvSpPr/>
          <p:nvPr/>
        </p:nvSpPr>
        <p:spPr>
          <a:xfrm>
            <a:off x="950976" y="4572000"/>
            <a:ext cx="4745736" cy="365760"/>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プロンプトの先頭に (face_course) と表示。</a:t>
            </a:r>
            <a:endParaRPr lang="en-US" sz="1200" dirty="0"/>
          </a:p>
        </p:txBody>
      </p:sp>
      <p:sp>
        <p:nvSpPr>
          <p:cNvPr id="16" name="Shape 14"/>
          <p:cNvSpPr/>
          <p:nvPr/>
        </p:nvSpPr>
        <p:spPr>
          <a:xfrm>
            <a:off x="6108192" y="3886200"/>
            <a:ext cx="5166360" cy="1143000"/>
          </a:xfrm>
          <a:prstGeom prst="roundRect">
            <a:avLst>
              <a:gd name="adj" fmla="val 10400"/>
            </a:avLst>
          </a:prstGeom>
          <a:solidFill>
            <a:srgbClr val="F3F7FB"/>
          </a:solidFill>
          <a:ln w="10160">
            <a:solidFill>
              <a:srgbClr val="DBE4ED"/>
            </a:solidFill>
            <a:prstDash val="solid"/>
          </a:ln>
        </p:spPr>
        <p:txBody>
          <a:bodyPr/>
          <a:lstStyle/>
          <a:p>
            <a:endParaRPr lang="en-JP"/>
          </a:p>
        </p:txBody>
      </p:sp>
      <p:sp>
        <p:nvSpPr>
          <p:cNvPr id="17" name="Shape 15"/>
          <p:cNvSpPr/>
          <p:nvPr/>
        </p:nvSpPr>
        <p:spPr>
          <a:xfrm>
            <a:off x="6108192" y="3886200"/>
            <a:ext cx="64008" cy="1143000"/>
          </a:xfrm>
          <a:prstGeom prst="rect">
            <a:avLst/>
          </a:prstGeom>
          <a:solidFill>
            <a:srgbClr val="138D87"/>
          </a:solidFill>
          <a:ln w="12700">
            <a:solidFill>
              <a:srgbClr val="138D87"/>
            </a:solidFill>
            <a:prstDash val="solid"/>
          </a:ln>
        </p:spPr>
        <p:txBody>
          <a:bodyPr/>
          <a:lstStyle/>
          <a:p>
            <a:endParaRPr lang="en-JP"/>
          </a:p>
        </p:txBody>
      </p:sp>
      <p:sp>
        <p:nvSpPr>
          <p:cNvPr id="18" name="Text 16"/>
          <p:cNvSpPr/>
          <p:nvPr/>
        </p:nvSpPr>
        <p:spPr>
          <a:xfrm>
            <a:off x="6318504" y="4041648"/>
            <a:ext cx="4754880"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Check interpreter</a:t>
            </a:r>
            <a:endParaRPr lang="en-US" sz="1700" dirty="0"/>
          </a:p>
        </p:txBody>
      </p:sp>
      <p:sp>
        <p:nvSpPr>
          <p:cNvPr id="19" name="Text 17"/>
          <p:cNvSpPr/>
          <p:nvPr/>
        </p:nvSpPr>
        <p:spPr>
          <a:xfrm>
            <a:off x="6318504" y="4462272"/>
            <a:ext cx="4745736" cy="445770"/>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Python 3.11.x and the active environment * should be visible.</a:t>
            </a:r>
            <a:endParaRPr lang="en-US" sz="1500" dirty="0"/>
          </a:p>
        </p:txBody>
      </p:sp>
      <p:sp>
        <p:nvSpPr>
          <p:cNvPr id="20" name="Text 18"/>
          <p:cNvSpPr/>
          <p:nvPr/>
        </p:nvSpPr>
        <p:spPr>
          <a:xfrm>
            <a:off x="6318504" y="4572000"/>
            <a:ext cx="4745736" cy="365760"/>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Python 3.11.xと現在の環境を確認。</a:t>
            </a:r>
            <a:endParaRPr lang="en-US" sz="1200" dirty="0"/>
          </a:p>
        </p:txBody>
      </p:sp>
      <p:sp>
        <p:nvSpPr>
          <p:cNvPr id="21" name="Shape 19"/>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2" name="Text 20"/>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Every new Anaconda Prompt session may require `conda activate face_course`.</a:t>
            </a:r>
            <a:endParaRPr lang="en-US" sz="1200" dirty="0"/>
          </a:p>
        </p:txBody>
      </p:sp>
      <p:sp>
        <p:nvSpPr>
          <p:cNvPr id="23" name="Text 21"/>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新しくPromptを開いた場合は再度activateが必要なことがあります。</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1 · CONDA</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Install packages safely</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必要なライブラリを導入する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11</a:t>
            </a:r>
            <a:endParaRPr lang="en-US" sz="1000" dirty="0"/>
          </a:p>
        </p:txBody>
      </p:sp>
      <p:sp>
        <p:nvSpPr>
          <p:cNvPr id="9" name="Text 7"/>
          <p:cNvSpPr/>
          <p:nvPr/>
        </p:nvSpPr>
        <p:spPr>
          <a:xfrm>
            <a:off x="713232" y="1901952"/>
            <a:ext cx="10515600" cy="402336"/>
          </a:xfrm>
          <a:prstGeom prst="rect">
            <a:avLst/>
          </a:prstGeom>
          <a:noFill/>
          <a:ln/>
        </p:spPr>
        <p:txBody>
          <a:bodyPr wrap="square" lIns="508" tIns="508" rIns="508" bIns="508" rtlCol="0" anchor="ctr"/>
          <a:lstStyle/>
          <a:p>
            <a:pPr marL="0" indent="0" algn="l">
              <a:buNone/>
            </a:pPr>
            <a:r>
              <a:rPr lang="en-US" sz="1700" dirty="0">
                <a:solidFill>
                  <a:srgbClr val="213348"/>
                </a:solidFill>
                <a:latin typeface="Aptos" pitchFamily="34" charset="0"/>
                <a:ea typeface="Aptos" pitchFamily="34" charset="-122"/>
                <a:cs typeface="Aptos" pitchFamily="34" charset="-120"/>
              </a:rPr>
              <a:t>Use the package versions needed for the coursework. / 授業で使うパッケージを導入します。</a:t>
            </a:r>
            <a:endParaRPr lang="en-US" sz="1700" dirty="0"/>
          </a:p>
        </p:txBody>
      </p:sp>
      <p:sp>
        <p:nvSpPr>
          <p:cNvPr id="10" name="Shape 8"/>
          <p:cNvSpPr/>
          <p:nvPr/>
        </p:nvSpPr>
        <p:spPr>
          <a:xfrm>
            <a:off x="658368" y="2450592"/>
            <a:ext cx="10853928" cy="1444752"/>
          </a:xfrm>
          <a:prstGeom prst="roundRect">
            <a:avLst>
              <a:gd name="adj" fmla="val 8228"/>
            </a:avLst>
          </a:prstGeom>
          <a:solidFill>
            <a:srgbClr val="10243A"/>
          </a:solidFill>
          <a:ln w="10160">
            <a:solidFill>
              <a:srgbClr val="10243A"/>
            </a:solidFill>
            <a:prstDash val="solid"/>
          </a:ln>
        </p:spPr>
        <p:txBody>
          <a:bodyPr/>
          <a:lstStyle/>
          <a:p>
            <a:endParaRPr lang="en-JP"/>
          </a:p>
        </p:txBody>
      </p:sp>
      <p:sp>
        <p:nvSpPr>
          <p:cNvPr id="11" name="Text 9"/>
          <p:cNvSpPr/>
          <p:nvPr/>
        </p:nvSpPr>
        <p:spPr>
          <a:xfrm>
            <a:off x="914400" y="2596896"/>
            <a:ext cx="10287000" cy="1170432"/>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python -m pip install numpy matplotlib pandas</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python -m pip install opencv-python scikit-learn joblib</a:t>
            </a:r>
            <a:endParaRPr lang="en-US" sz="1700" dirty="0"/>
          </a:p>
        </p:txBody>
      </p:sp>
      <p:sp>
        <p:nvSpPr>
          <p:cNvPr id="12" name="Text 10"/>
          <p:cNvSpPr/>
          <p:nvPr/>
        </p:nvSpPr>
        <p:spPr>
          <a:xfrm>
            <a:off x="740664" y="4224528"/>
            <a:ext cx="2743200" cy="347472"/>
          </a:xfrm>
          <a:prstGeom prst="rect">
            <a:avLst/>
          </a:prstGeom>
          <a:noFill/>
          <a:ln/>
        </p:spPr>
        <p:txBody>
          <a:bodyPr wrap="square" lIns="508" tIns="508" rIns="508" bIns="508" rtlCol="0" anchor="ctr"/>
          <a:lstStyle/>
          <a:p>
            <a:pPr marL="0" indent="0" algn="l">
              <a:buNone/>
            </a:pPr>
            <a:r>
              <a:rPr lang="en-US" sz="1700" b="1" dirty="0">
                <a:solidFill>
                  <a:srgbClr val="213348"/>
                </a:solidFill>
                <a:latin typeface="Aptos" pitchFamily="34" charset="0"/>
                <a:ea typeface="Aptos" pitchFamily="34" charset="-122"/>
                <a:cs typeface="Aptos" pitchFamily="34" charset="-120"/>
              </a:rPr>
              <a:t>Verify / 確認:</a:t>
            </a:r>
            <a:endParaRPr lang="en-US" sz="1700" dirty="0"/>
          </a:p>
        </p:txBody>
      </p:sp>
      <p:sp>
        <p:nvSpPr>
          <p:cNvPr id="13" name="Shape 11"/>
          <p:cNvSpPr/>
          <p:nvPr/>
        </p:nvSpPr>
        <p:spPr>
          <a:xfrm>
            <a:off x="658368" y="4626864"/>
            <a:ext cx="10853928" cy="740664"/>
          </a:xfrm>
          <a:prstGeom prst="roundRect">
            <a:avLst>
              <a:gd name="adj" fmla="val 16049"/>
            </a:avLst>
          </a:prstGeom>
          <a:solidFill>
            <a:srgbClr val="10243A"/>
          </a:solidFill>
          <a:ln w="10160">
            <a:solidFill>
              <a:srgbClr val="10243A"/>
            </a:solidFill>
            <a:prstDash val="solid"/>
          </a:ln>
        </p:spPr>
        <p:txBody>
          <a:bodyPr/>
          <a:lstStyle/>
          <a:p>
            <a:endParaRPr lang="en-JP"/>
          </a:p>
        </p:txBody>
      </p:sp>
      <p:sp>
        <p:nvSpPr>
          <p:cNvPr id="14" name="Text 12"/>
          <p:cNvSpPr/>
          <p:nvPr/>
        </p:nvSpPr>
        <p:spPr>
          <a:xfrm>
            <a:off x="914400" y="4773168"/>
            <a:ext cx="10287000" cy="466344"/>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python -c "import numpy, cv2, sklearn; print('OK')"</a:t>
            </a:r>
            <a:endParaRPr lang="en-US" sz="1700" dirty="0"/>
          </a:p>
        </p:txBody>
      </p:sp>
      <p:sp>
        <p:nvSpPr>
          <p:cNvPr id="15" name="Shape 13"/>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16" name="Text 14"/>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Install into the activated environment, not base. Use `python -m pip` to target the current Python.</a:t>
            </a:r>
            <a:endParaRPr lang="en-US" sz="1200" dirty="0"/>
          </a:p>
        </p:txBody>
      </p:sp>
      <p:sp>
        <p:nvSpPr>
          <p:cNvPr id="17" name="Text 15"/>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有効化した環境に導入します。`python -m pip`なら対象のPythonを明確にできます。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1 · CONDA</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Useful Conda commands</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覚えておくと便利なコマンド</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12</a:t>
            </a:r>
            <a:endParaRPr lang="en-US" sz="1000" dirty="0"/>
          </a:p>
        </p:txBody>
      </p:sp>
      <p:sp>
        <p:nvSpPr>
          <p:cNvPr id="9" name="Shape 7"/>
          <p:cNvSpPr/>
          <p:nvPr/>
        </p:nvSpPr>
        <p:spPr>
          <a:xfrm>
            <a:off x="713232" y="1847088"/>
            <a:ext cx="10753344" cy="658368"/>
          </a:xfrm>
          <a:prstGeom prst="roundRect">
            <a:avLst>
              <a:gd name="adj" fmla="val 18056"/>
            </a:avLst>
          </a:prstGeom>
          <a:solidFill>
            <a:srgbClr val="F3F7FB"/>
          </a:solidFill>
          <a:ln w="10160">
            <a:solidFill>
              <a:srgbClr val="DBE4ED"/>
            </a:solidFill>
            <a:prstDash val="solid"/>
          </a:ln>
        </p:spPr>
        <p:txBody>
          <a:bodyPr/>
          <a:lstStyle/>
          <a:p>
            <a:endParaRPr lang="en-JP"/>
          </a:p>
        </p:txBody>
      </p:sp>
      <p:sp>
        <p:nvSpPr>
          <p:cNvPr id="10" name="Text 8"/>
          <p:cNvSpPr/>
          <p:nvPr/>
        </p:nvSpPr>
        <p:spPr>
          <a:xfrm>
            <a:off x="941832" y="1956816"/>
            <a:ext cx="5257800" cy="274320"/>
          </a:xfrm>
          <a:prstGeom prst="rect">
            <a:avLst/>
          </a:prstGeom>
          <a:noFill/>
          <a:ln/>
        </p:spPr>
        <p:txBody>
          <a:bodyPr wrap="square" lIns="508" tIns="508" rIns="508" bIns="508" rtlCol="0" anchor="ctr"/>
          <a:lstStyle/>
          <a:p>
            <a:pPr marL="0" indent="0" algn="l">
              <a:buNone/>
            </a:pPr>
            <a:r>
              <a:rPr lang="en-US" sz="1400" b="1" dirty="0">
                <a:solidFill>
                  <a:srgbClr val="2676A8"/>
                </a:solidFill>
                <a:latin typeface="Consolas" pitchFamily="34" charset="0"/>
                <a:ea typeface="Consolas" pitchFamily="34" charset="-122"/>
                <a:cs typeface="Consolas" pitchFamily="34" charset="-120"/>
              </a:rPr>
              <a:t>conda env list</a:t>
            </a:r>
            <a:endParaRPr lang="en-US" sz="1400" dirty="0"/>
          </a:p>
        </p:txBody>
      </p:sp>
      <p:sp>
        <p:nvSpPr>
          <p:cNvPr id="11" name="Text 9"/>
          <p:cNvSpPr/>
          <p:nvPr/>
        </p:nvSpPr>
        <p:spPr>
          <a:xfrm>
            <a:off x="6483096" y="1920240"/>
            <a:ext cx="4572000" cy="237744"/>
          </a:xfrm>
          <a:prstGeom prst="rect">
            <a:avLst/>
          </a:prstGeom>
          <a:noFill/>
          <a:ln/>
        </p:spPr>
        <p:txBody>
          <a:bodyPr wrap="square" lIns="508" tIns="508" rIns="508" bIns="508" rtlCol="0" anchor="ctr"/>
          <a:lstStyle/>
          <a:p>
            <a:pPr marL="0" indent="0" algn="l">
              <a:buNone/>
            </a:pPr>
            <a:r>
              <a:rPr lang="en-US" sz="1200" dirty="0">
                <a:solidFill>
                  <a:srgbClr val="213348"/>
                </a:solidFill>
                <a:latin typeface="Aptos" pitchFamily="34" charset="0"/>
                <a:ea typeface="Aptos" pitchFamily="34" charset="-122"/>
                <a:cs typeface="Aptos" pitchFamily="34" charset="-120"/>
              </a:rPr>
              <a:t>Show available environments</a:t>
            </a:r>
            <a:endParaRPr lang="en-US" sz="1200" dirty="0"/>
          </a:p>
        </p:txBody>
      </p:sp>
      <p:sp>
        <p:nvSpPr>
          <p:cNvPr id="12" name="Text 10"/>
          <p:cNvSpPr/>
          <p:nvPr/>
        </p:nvSpPr>
        <p:spPr>
          <a:xfrm>
            <a:off x="6483096" y="2194560"/>
            <a:ext cx="4572000" cy="173736"/>
          </a:xfrm>
          <a:prstGeom prst="rect">
            <a:avLst/>
          </a:prstGeom>
          <a:noFill/>
          <a:ln/>
        </p:spPr>
        <p:txBody>
          <a:bodyPr wrap="square" lIns="508" tIns="508" rIns="508" bIns="508" rtlCol="0" anchor="ctr"/>
          <a:lstStyle/>
          <a:p>
            <a:pPr marL="0" indent="0" algn="l">
              <a:buNone/>
            </a:pPr>
            <a:r>
              <a:rPr lang="en-US" sz="1000" dirty="0">
                <a:solidFill>
                  <a:srgbClr val="546678"/>
                </a:solidFill>
                <a:latin typeface="Aptos" pitchFamily="34" charset="0"/>
                <a:ea typeface="Aptos" pitchFamily="34" charset="-122"/>
                <a:cs typeface="Aptos" pitchFamily="34" charset="-120"/>
              </a:rPr>
              <a:t>環境一覧を表示</a:t>
            </a:r>
            <a:endParaRPr lang="en-US" sz="1000" dirty="0"/>
          </a:p>
        </p:txBody>
      </p:sp>
      <p:sp>
        <p:nvSpPr>
          <p:cNvPr id="13" name="Shape 11"/>
          <p:cNvSpPr/>
          <p:nvPr/>
        </p:nvSpPr>
        <p:spPr>
          <a:xfrm>
            <a:off x="713232" y="2615184"/>
            <a:ext cx="10753344" cy="658368"/>
          </a:xfrm>
          <a:prstGeom prst="roundRect">
            <a:avLst>
              <a:gd name="adj" fmla="val 18056"/>
            </a:avLst>
          </a:prstGeom>
          <a:solidFill>
            <a:srgbClr val="F3F7FB"/>
          </a:solidFill>
          <a:ln w="10160">
            <a:solidFill>
              <a:srgbClr val="DBE4ED"/>
            </a:solidFill>
            <a:prstDash val="solid"/>
          </a:ln>
        </p:spPr>
        <p:txBody>
          <a:bodyPr/>
          <a:lstStyle/>
          <a:p>
            <a:endParaRPr lang="en-JP"/>
          </a:p>
        </p:txBody>
      </p:sp>
      <p:sp>
        <p:nvSpPr>
          <p:cNvPr id="14" name="Text 12"/>
          <p:cNvSpPr/>
          <p:nvPr/>
        </p:nvSpPr>
        <p:spPr>
          <a:xfrm>
            <a:off x="941832" y="2724912"/>
            <a:ext cx="5257800" cy="274320"/>
          </a:xfrm>
          <a:prstGeom prst="rect">
            <a:avLst/>
          </a:prstGeom>
          <a:noFill/>
          <a:ln/>
        </p:spPr>
        <p:txBody>
          <a:bodyPr wrap="square" lIns="508" tIns="508" rIns="508" bIns="508" rtlCol="0" anchor="ctr"/>
          <a:lstStyle/>
          <a:p>
            <a:pPr marL="0" indent="0" algn="l">
              <a:buNone/>
            </a:pPr>
            <a:r>
              <a:rPr lang="en-US" sz="1400" b="1" dirty="0">
                <a:solidFill>
                  <a:srgbClr val="2676A8"/>
                </a:solidFill>
                <a:latin typeface="Consolas" pitchFamily="34" charset="0"/>
                <a:ea typeface="Consolas" pitchFamily="34" charset="-122"/>
                <a:cs typeface="Consolas" pitchFamily="34" charset="-120"/>
              </a:rPr>
              <a:t>conda activate face_course</a:t>
            </a:r>
            <a:endParaRPr lang="en-US" sz="1400" dirty="0"/>
          </a:p>
        </p:txBody>
      </p:sp>
      <p:sp>
        <p:nvSpPr>
          <p:cNvPr id="15" name="Text 13"/>
          <p:cNvSpPr/>
          <p:nvPr/>
        </p:nvSpPr>
        <p:spPr>
          <a:xfrm>
            <a:off x="6483096" y="2688336"/>
            <a:ext cx="4572000" cy="237744"/>
          </a:xfrm>
          <a:prstGeom prst="rect">
            <a:avLst/>
          </a:prstGeom>
          <a:noFill/>
          <a:ln/>
        </p:spPr>
        <p:txBody>
          <a:bodyPr wrap="square" lIns="508" tIns="508" rIns="508" bIns="508" rtlCol="0" anchor="ctr"/>
          <a:lstStyle/>
          <a:p>
            <a:pPr marL="0" indent="0" algn="l">
              <a:buNone/>
            </a:pPr>
            <a:r>
              <a:rPr lang="en-US" sz="1200" dirty="0">
                <a:solidFill>
                  <a:srgbClr val="213348"/>
                </a:solidFill>
                <a:latin typeface="Aptos" pitchFamily="34" charset="0"/>
                <a:ea typeface="Aptos" pitchFamily="34" charset="-122"/>
                <a:cs typeface="Aptos" pitchFamily="34" charset="-120"/>
              </a:rPr>
              <a:t>Switch to this environment</a:t>
            </a:r>
            <a:endParaRPr lang="en-US" sz="1200" dirty="0"/>
          </a:p>
        </p:txBody>
      </p:sp>
      <p:sp>
        <p:nvSpPr>
          <p:cNvPr id="16" name="Text 14"/>
          <p:cNvSpPr/>
          <p:nvPr/>
        </p:nvSpPr>
        <p:spPr>
          <a:xfrm>
            <a:off x="6483096" y="2962656"/>
            <a:ext cx="4572000" cy="173736"/>
          </a:xfrm>
          <a:prstGeom prst="rect">
            <a:avLst/>
          </a:prstGeom>
          <a:noFill/>
          <a:ln/>
        </p:spPr>
        <p:txBody>
          <a:bodyPr wrap="square" lIns="508" tIns="508" rIns="508" bIns="508" rtlCol="0" anchor="ctr"/>
          <a:lstStyle/>
          <a:p>
            <a:pPr marL="0" indent="0" algn="l">
              <a:buNone/>
            </a:pPr>
            <a:r>
              <a:rPr lang="en-US" sz="1000" dirty="0">
                <a:solidFill>
                  <a:srgbClr val="546678"/>
                </a:solidFill>
                <a:latin typeface="Aptos" pitchFamily="34" charset="0"/>
                <a:ea typeface="Aptos" pitchFamily="34" charset="-122"/>
                <a:cs typeface="Aptos" pitchFamily="34" charset="-120"/>
              </a:rPr>
              <a:t>環境を切り替える</a:t>
            </a:r>
            <a:endParaRPr lang="en-US" sz="1000" dirty="0"/>
          </a:p>
        </p:txBody>
      </p:sp>
      <p:sp>
        <p:nvSpPr>
          <p:cNvPr id="17" name="Shape 15"/>
          <p:cNvSpPr/>
          <p:nvPr/>
        </p:nvSpPr>
        <p:spPr>
          <a:xfrm>
            <a:off x="713232" y="3383280"/>
            <a:ext cx="10753344" cy="658368"/>
          </a:xfrm>
          <a:prstGeom prst="roundRect">
            <a:avLst>
              <a:gd name="adj" fmla="val 18056"/>
            </a:avLst>
          </a:prstGeom>
          <a:solidFill>
            <a:srgbClr val="F3F7FB"/>
          </a:solidFill>
          <a:ln w="10160">
            <a:solidFill>
              <a:srgbClr val="DBE4ED"/>
            </a:solidFill>
            <a:prstDash val="solid"/>
          </a:ln>
        </p:spPr>
        <p:txBody>
          <a:bodyPr/>
          <a:lstStyle/>
          <a:p>
            <a:endParaRPr lang="en-JP"/>
          </a:p>
        </p:txBody>
      </p:sp>
      <p:sp>
        <p:nvSpPr>
          <p:cNvPr id="18" name="Text 16"/>
          <p:cNvSpPr/>
          <p:nvPr/>
        </p:nvSpPr>
        <p:spPr>
          <a:xfrm>
            <a:off x="941832" y="3493008"/>
            <a:ext cx="5257800" cy="274320"/>
          </a:xfrm>
          <a:prstGeom prst="rect">
            <a:avLst/>
          </a:prstGeom>
          <a:noFill/>
          <a:ln/>
        </p:spPr>
        <p:txBody>
          <a:bodyPr wrap="square" lIns="508" tIns="508" rIns="508" bIns="508" rtlCol="0" anchor="ctr"/>
          <a:lstStyle/>
          <a:p>
            <a:pPr marL="0" indent="0" algn="l">
              <a:buNone/>
            </a:pPr>
            <a:r>
              <a:rPr lang="en-US" sz="1400" b="1" dirty="0">
                <a:solidFill>
                  <a:srgbClr val="2676A8"/>
                </a:solidFill>
                <a:latin typeface="Consolas" pitchFamily="34" charset="0"/>
                <a:ea typeface="Consolas" pitchFamily="34" charset="-122"/>
                <a:cs typeface="Consolas" pitchFamily="34" charset="-120"/>
              </a:rPr>
              <a:t>conda deactivate</a:t>
            </a:r>
            <a:endParaRPr lang="en-US" sz="1400" dirty="0"/>
          </a:p>
        </p:txBody>
      </p:sp>
      <p:sp>
        <p:nvSpPr>
          <p:cNvPr id="19" name="Text 17"/>
          <p:cNvSpPr/>
          <p:nvPr/>
        </p:nvSpPr>
        <p:spPr>
          <a:xfrm>
            <a:off x="6483096" y="3456432"/>
            <a:ext cx="4572000" cy="237744"/>
          </a:xfrm>
          <a:prstGeom prst="rect">
            <a:avLst/>
          </a:prstGeom>
          <a:noFill/>
          <a:ln/>
        </p:spPr>
        <p:txBody>
          <a:bodyPr wrap="square" lIns="508" tIns="508" rIns="508" bIns="508" rtlCol="0" anchor="ctr"/>
          <a:lstStyle/>
          <a:p>
            <a:pPr marL="0" indent="0" algn="l">
              <a:buNone/>
            </a:pPr>
            <a:r>
              <a:rPr lang="en-US" sz="1200" dirty="0">
                <a:solidFill>
                  <a:srgbClr val="213348"/>
                </a:solidFill>
                <a:latin typeface="Aptos" pitchFamily="34" charset="0"/>
                <a:ea typeface="Aptos" pitchFamily="34" charset="-122"/>
                <a:cs typeface="Aptos" pitchFamily="34" charset="-120"/>
              </a:rPr>
              <a:t>Leave the active environment</a:t>
            </a:r>
            <a:endParaRPr lang="en-US" sz="1200" dirty="0"/>
          </a:p>
        </p:txBody>
      </p:sp>
      <p:sp>
        <p:nvSpPr>
          <p:cNvPr id="20" name="Text 18"/>
          <p:cNvSpPr/>
          <p:nvPr/>
        </p:nvSpPr>
        <p:spPr>
          <a:xfrm>
            <a:off x="6483096" y="3730752"/>
            <a:ext cx="4572000" cy="173736"/>
          </a:xfrm>
          <a:prstGeom prst="rect">
            <a:avLst/>
          </a:prstGeom>
          <a:noFill/>
          <a:ln/>
        </p:spPr>
        <p:txBody>
          <a:bodyPr wrap="square" lIns="508" tIns="508" rIns="508" bIns="508" rtlCol="0" anchor="ctr"/>
          <a:lstStyle/>
          <a:p>
            <a:pPr marL="0" indent="0" algn="l">
              <a:buNone/>
            </a:pPr>
            <a:r>
              <a:rPr lang="en-US" sz="1000" dirty="0">
                <a:solidFill>
                  <a:srgbClr val="546678"/>
                </a:solidFill>
                <a:latin typeface="Aptos" pitchFamily="34" charset="0"/>
                <a:ea typeface="Aptos" pitchFamily="34" charset="-122"/>
                <a:cs typeface="Aptos" pitchFamily="34" charset="-120"/>
              </a:rPr>
              <a:t>環境を終了</a:t>
            </a:r>
            <a:endParaRPr lang="en-US" sz="1000" dirty="0"/>
          </a:p>
        </p:txBody>
      </p:sp>
      <p:sp>
        <p:nvSpPr>
          <p:cNvPr id="21" name="Shape 19"/>
          <p:cNvSpPr/>
          <p:nvPr/>
        </p:nvSpPr>
        <p:spPr>
          <a:xfrm>
            <a:off x="713232" y="4151376"/>
            <a:ext cx="10753344" cy="658368"/>
          </a:xfrm>
          <a:prstGeom prst="roundRect">
            <a:avLst>
              <a:gd name="adj" fmla="val 18056"/>
            </a:avLst>
          </a:prstGeom>
          <a:solidFill>
            <a:srgbClr val="F3F7FB"/>
          </a:solidFill>
          <a:ln w="10160">
            <a:solidFill>
              <a:srgbClr val="DBE4ED"/>
            </a:solidFill>
            <a:prstDash val="solid"/>
          </a:ln>
        </p:spPr>
        <p:txBody>
          <a:bodyPr/>
          <a:lstStyle/>
          <a:p>
            <a:endParaRPr lang="en-JP"/>
          </a:p>
        </p:txBody>
      </p:sp>
      <p:sp>
        <p:nvSpPr>
          <p:cNvPr id="22" name="Text 20"/>
          <p:cNvSpPr/>
          <p:nvPr/>
        </p:nvSpPr>
        <p:spPr>
          <a:xfrm>
            <a:off x="941832" y="4261104"/>
            <a:ext cx="5257800" cy="274320"/>
          </a:xfrm>
          <a:prstGeom prst="rect">
            <a:avLst/>
          </a:prstGeom>
          <a:noFill/>
          <a:ln/>
        </p:spPr>
        <p:txBody>
          <a:bodyPr wrap="square" lIns="508" tIns="508" rIns="508" bIns="508" rtlCol="0" anchor="ctr"/>
          <a:lstStyle/>
          <a:p>
            <a:pPr marL="0" indent="0" algn="l">
              <a:buNone/>
            </a:pPr>
            <a:r>
              <a:rPr lang="en-US" sz="1400" b="1" dirty="0">
                <a:solidFill>
                  <a:srgbClr val="2676A8"/>
                </a:solidFill>
                <a:latin typeface="Consolas" pitchFamily="34" charset="0"/>
                <a:ea typeface="Consolas" pitchFamily="34" charset="-122"/>
                <a:cs typeface="Consolas" pitchFamily="34" charset="-120"/>
              </a:rPr>
              <a:t>conda list</a:t>
            </a:r>
            <a:endParaRPr lang="en-US" sz="1400" dirty="0"/>
          </a:p>
        </p:txBody>
      </p:sp>
      <p:sp>
        <p:nvSpPr>
          <p:cNvPr id="23" name="Text 21"/>
          <p:cNvSpPr/>
          <p:nvPr/>
        </p:nvSpPr>
        <p:spPr>
          <a:xfrm>
            <a:off x="6483096" y="4224528"/>
            <a:ext cx="4572000" cy="237744"/>
          </a:xfrm>
          <a:prstGeom prst="rect">
            <a:avLst/>
          </a:prstGeom>
          <a:noFill/>
          <a:ln/>
        </p:spPr>
        <p:txBody>
          <a:bodyPr wrap="square" lIns="508" tIns="508" rIns="508" bIns="508" rtlCol="0" anchor="ctr"/>
          <a:lstStyle/>
          <a:p>
            <a:pPr marL="0" indent="0" algn="l">
              <a:buNone/>
            </a:pPr>
            <a:r>
              <a:rPr lang="en-US" sz="1200" dirty="0">
                <a:solidFill>
                  <a:srgbClr val="213348"/>
                </a:solidFill>
                <a:latin typeface="Aptos" pitchFamily="34" charset="0"/>
                <a:ea typeface="Aptos" pitchFamily="34" charset="-122"/>
                <a:cs typeface="Aptos" pitchFamily="34" charset="-120"/>
              </a:rPr>
              <a:t>Show installed packages</a:t>
            </a:r>
            <a:endParaRPr lang="en-US" sz="1200" dirty="0"/>
          </a:p>
        </p:txBody>
      </p:sp>
      <p:sp>
        <p:nvSpPr>
          <p:cNvPr id="24" name="Text 22"/>
          <p:cNvSpPr/>
          <p:nvPr/>
        </p:nvSpPr>
        <p:spPr>
          <a:xfrm>
            <a:off x="6483096" y="4498848"/>
            <a:ext cx="4572000" cy="173736"/>
          </a:xfrm>
          <a:prstGeom prst="rect">
            <a:avLst/>
          </a:prstGeom>
          <a:noFill/>
          <a:ln/>
        </p:spPr>
        <p:txBody>
          <a:bodyPr wrap="square" lIns="508" tIns="508" rIns="508" bIns="508" rtlCol="0" anchor="ctr"/>
          <a:lstStyle/>
          <a:p>
            <a:pPr marL="0" indent="0" algn="l">
              <a:buNone/>
            </a:pPr>
            <a:r>
              <a:rPr lang="en-US" sz="1000" dirty="0">
                <a:solidFill>
                  <a:srgbClr val="546678"/>
                </a:solidFill>
                <a:latin typeface="Aptos" pitchFamily="34" charset="0"/>
                <a:ea typeface="Aptos" pitchFamily="34" charset="-122"/>
                <a:cs typeface="Aptos" pitchFamily="34" charset="-120"/>
              </a:rPr>
              <a:t>パッケージ一覧を表示</a:t>
            </a:r>
            <a:endParaRPr lang="en-US" sz="1000" dirty="0"/>
          </a:p>
        </p:txBody>
      </p:sp>
      <p:sp>
        <p:nvSpPr>
          <p:cNvPr id="25" name="Shape 23"/>
          <p:cNvSpPr/>
          <p:nvPr/>
        </p:nvSpPr>
        <p:spPr>
          <a:xfrm>
            <a:off x="713232" y="4919472"/>
            <a:ext cx="10753344" cy="658368"/>
          </a:xfrm>
          <a:prstGeom prst="roundRect">
            <a:avLst>
              <a:gd name="adj" fmla="val 18056"/>
            </a:avLst>
          </a:prstGeom>
          <a:solidFill>
            <a:srgbClr val="F3F7FB"/>
          </a:solidFill>
          <a:ln w="10160">
            <a:solidFill>
              <a:srgbClr val="DBE4ED"/>
            </a:solidFill>
            <a:prstDash val="solid"/>
          </a:ln>
        </p:spPr>
        <p:txBody>
          <a:bodyPr/>
          <a:lstStyle/>
          <a:p>
            <a:endParaRPr lang="en-JP"/>
          </a:p>
        </p:txBody>
      </p:sp>
      <p:sp>
        <p:nvSpPr>
          <p:cNvPr id="26" name="Text 24"/>
          <p:cNvSpPr/>
          <p:nvPr/>
        </p:nvSpPr>
        <p:spPr>
          <a:xfrm>
            <a:off x="941832" y="5029200"/>
            <a:ext cx="5257800" cy="274320"/>
          </a:xfrm>
          <a:prstGeom prst="rect">
            <a:avLst/>
          </a:prstGeom>
          <a:noFill/>
          <a:ln/>
        </p:spPr>
        <p:txBody>
          <a:bodyPr wrap="square" lIns="508" tIns="508" rIns="508" bIns="508" rtlCol="0" anchor="ctr"/>
          <a:lstStyle/>
          <a:p>
            <a:pPr marL="0" indent="0" algn="l">
              <a:buNone/>
            </a:pPr>
            <a:r>
              <a:rPr lang="en-US" sz="1400" b="1" dirty="0">
                <a:solidFill>
                  <a:srgbClr val="2676A8"/>
                </a:solidFill>
                <a:latin typeface="Consolas" pitchFamily="34" charset="0"/>
                <a:ea typeface="Consolas" pitchFamily="34" charset="-122"/>
                <a:cs typeface="Consolas" pitchFamily="34" charset="-120"/>
              </a:rPr>
              <a:t>conda remove -n face_course --all</a:t>
            </a:r>
            <a:endParaRPr lang="en-US" sz="1400" dirty="0"/>
          </a:p>
        </p:txBody>
      </p:sp>
      <p:sp>
        <p:nvSpPr>
          <p:cNvPr id="27" name="Text 25"/>
          <p:cNvSpPr/>
          <p:nvPr/>
        </p:nvSpPr>
        <p:spPr>
          <a:xfrm>
            <a:off x="6483096" y="4992624"/>
            <a:ext cx="4572000" cy="237744"/>
          </a:xfrm>
          <a:prstGeom prst="rect">
            <a:avLst/>
          </a:prstGeom>
          <a:noFill/>
          <a:ln/>
        </p:spPr>
        <p:txBody>
          <a:bodyPr wrap="square" lIns="508" tIns="508" rIns="508" bIns="508" rtlCol="0" anchor="ctr"/>
          <a:lstStyle/>
          <a:p>
            <a:pPr marL="0" indent="0" algn="l">
              <a:buNone/>
            </a:pPr>
            <a:r>
              <a:rPr lang="en-US" sz="1200" dirty="0">
                <a:solidFill>
                  <a:srgbClr val="213348"/>
                </a:solidFill>
                <a:latin typeface="Aptos" pitchFamily="34" charset="0"/>
                <a:ea typeface="Aptos" pitchFamily="34" charset="-122"/>
                <a:cs typeface="Aptos" pitchFamily="34" charset="-120"/>
              </a:rPr>
              <a:t>Delete the environment (CAUTION)</a:t>
            </a:r>
            <a:endParaRPr lang="en-US" sz="1200" dirty="0"/>
          </a:p>
        </p:txBody>
      </p:sp>
      <p:sp>
        <p:nvSpPr>
          <p:cNvPr id="28" name="Text 26"/>
          <p:cNvSpPr/>
          <p:nvPr/>
        </p:nvSpPr>
        <p:spPr>
          <a:xfrm>
            <a:off x="6483096" y="5266944"/>
            <a:ext cx="4572000" cy="173736"/>
          </a:xfrm>
          <a:prstGeom prst="rect">
            <a:avLst/>
          </a:prstGeom>
          <a:noFill/>
          <a:ln/>
        </p:spPr>
        <p:txBody>
          <a:bodyPr wrap="square" lIns="508" tIns="508" rIns="508" bIns="508" rtlCol="0" anchor="ctr"/>
          <a:lstStyle/>
          <a:p>
            <a:pPr marL="0" indent="0" algn="l">
              <a:buNone/>
            </a:pPr>
            <a:r>
              <a:rPr lang="en-US" sz="1000" dirty="0">
                <a:solidFill>
                  <a:srgbClr val="546678"/>
                </a:solidFill>
                <a:latin typeface="Aptos" pitchFamily="34" charset="0"/>
                <a:ea typeface="Aptos" pitchFamily="34" charset="-122"/>
                <a:cs typeface="Aptos" pitchFamily="34" charset="-120"/>
              </a:rPr>
              <a:t>環境全体を削除（注意）</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2 · VS CODE</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Install Python support in VS Code</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VS CodeにPython拡張機能を入れる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13</a:t>
            </a:r>
            <a:endParaRPr lang="en-US" sz="1000" dirty="0"/>
          </a:p>
        </p:txBody>
      </p:sp>
      <p:sp>
        <p:nvSpPr>
          <p:cNvPr id="9" name="Shape 7"/>
          <p:cNvSpPr/>
          <p:nvPr/>
        </p:nvSpPr>
        <p:spPr>
          <a:xfrm>
            <a:off x="685800" y="1856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859536" y="2011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1" name="Text 9"/>
          <p:cNvSpPr/>
          <p:nvPr/>
        </p:nvSpPr>
        <p:spPr>
          <a:xfrm>
            <a:off x="932688" y="2020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2" name="Text 10"/>
          <p:cNvSpPr/>
          <p:nvPr/>
        </p:nvSpPr>
        <p:spPr>
          <a:xfrm>
            <a:off x="1435608" y="1956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Launch VS Code and click Extensions (Ctrl+Shift+X).</a:t>
            </a:r>
            <a:endParaRPr lang="en-US" sz="1600" dirty="0"/>
          </a:p>
        </p:txBody>
      </p:sp>
      <p:sp>
        <p:nvSpPr>
          <p:cNvPr id="13" name="Text 11"/>
          <p:cNvSpPr/>
          <p:nvPr/>
        </p:nvSpPr>
        <p:spPr>
          <a:xfrm>
            <a:off x="1444752" y="2359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VS Codeを起動し、拡張機能画面を開く</a:t>
            </a:r>
            <a:endParaRPr lang="en-US" sz="1200" dirty="0"/>
          </a:p>
        </p:txBody>
      </p:sp>
      <p:sp>
        <p:nvSpPr>
          <p:cNvPr id="14" name="Shape 12"/>
          <p:cNvSpPr/>
          <p:nvPr/>
        </p:nvSpPr>
        <p:spPr>
          <a:xfrm>
            <a:off x="685800" y="2999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859536" y="3154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6" name="Text 14"/>
          <p:cNvSpPr/>
          <p:nvPr/>
        </p:nvSpPr>
        <p:spPr>
          <a:xfrm>
            <a:off x="932688" y="3163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7" name="Text 15"/>
          <p:cNvSpPr/>
          <p:nvPr/>
        </p:nvSpPr>
        <p:spPr>
          <a:xfrm>
            <a:off x="1435608" y="3099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Search for “Python” by Microsoft, then select Install.</a:t>
            </a:r>
            <a:endParaRPr lang="en-US" sz="1600" dirty="0"/>
          </a:p>
        </p:txBody>
      </p:sp>
      <p:sp>
        <p:nvSpPr>
          <p:cNvPr id="18" name="Text 16"/>
          <p:cNvSpPr/>
          <p:nvPr/>
        </p:nvSpPr>
        <p:spPr>
          <a:xfrm>
            <a:off x="1444752" y="3502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Microsoft製の「Python」拡張機能を検索して導入</a:t>
            </a:r>
            <a:endParaRPr lang="en-US" sz="1200" dirty="0"/>
          </a:p>
        </p:txBody>
      </p:sp>
      <p:sp>
        <p:nvSpPr>
          <p:cNvPr id="19" name="Shape 17"/>
          <p:cNvSpPr/>
          <p:nvPr/>
        </p:nvSpPr>
        <p:spPr>
          <a:xfrm>
            <a:off x="685800" y="4142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859536" y="4297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1" name="Text 19"/>
          <p:cNvSpPr/>
          <p:nvPr/>
        </p:nvSpPr>
        <p:spPr>
          <a:xfrm>
            <a:off x="932688" y="4306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2" name="Text 20"/>
          <p:cNvSpPr/>
          <p:nvPr/>
        </p:nvSpPr>
        <p:spPr>
          <a:xfrm>
            <a:off x="1435608" y="4242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Optionally install “Jupyter” for .ipynb notebooks.</a:t>
            </a:r>
            <a:endParaRPr lang="en-US" sz="1600" dirty="0"/>
          </a:p>
        </p:txBody>
      </p:sp>
      <p:sp>
        <p:nvSpPr>
          <p:cNvPr id="23" name="Text 21"/>
          <p:cNvSpPr/>
          <p:nvPr/>
        </p:nvSpPr>
        <p:spPr>
          <a:xfrm>
            <a:off x="1444752" y="4645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ノートブックを使う場合は「Jupyter」も導入</a:t>
            </a:r>
            <a:endParaRPr lang="en-US" sz="1200" dirty="0"/>
          </a:p>
        </p:txBody>
      </p:sp>
      <p:sp>
        <p:nvSpPr>
          <p:cNvPr id="24" name="Shape 22"/>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5" name="Text 23"/>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Python extension handles interpreter discovery; Jupyter is optional for ordinary .py scripts.</a:t>
            </a:r>
            <a:endParaRPr lang="en-US" sz="1200" dirty="0"/>
          </a:p>
        </p:txBody>
      </p:sp>
      <p:sp>
        <p:nvSpPr>
          <p:cNvPr id="26" name="Text 24"/>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通常の.pyファイルならJupyterは必須ではありません。</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2 · VS CODE</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Open the correct project folder</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授業用フォルダを開く</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14</a:t>
            </a:r>
            <a:endParaRPr lang="en-US" sz="1000" dirty="0"/>
          </a:p>
        </p:txBody>
      </p:sp>
      <p:sp>
        <p:nvSpPr>
          <p:cNvPr id="9" name="Shape 7"/>
          <p:cNvSpPr/>
          <p:nvPr/>
        </p:nvSpPr>
        <p:spPr>
          <a:xfrm>
            <a:off x="685800" y="1856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859536" y="2011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1" name="Text 9"/>
          <p:cNvSpPr/>
          <p:nvPr/>
        </p:nvSpPr>
        <p:spPr>
          <a:xfrm>
            <a:off x="932688" y="2020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2" name="Text 10"/>
          <p:cNvSpPr/>
          <p:nvPr/>
        </p:nvSpPr>
        <p:spPr>
          <a:xfrm>
            <a:off x="1435608" y="1956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Create `Documents\face-recognition-practice`.</a:t>
            </a:r>
            <a:endParaRPr lang="en-US" sz="1600" dirty="0"/>
          </a:p>
        </p:txBody>
      </p:sp>
      <p:sp>
        <p:nvSpPr>
          <p:cNvPr id="13" name="Text 11"/>
          <p:cNvSpPr/>
          <p:nvPr/>
        </p:nvSpPr>
        <p:spPr>
          <a:xfrm>
            <a:off x="1444752" y="2359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ドキュメント内に練習用フォルダを作る</a:t>
            </a:r>
            <a:endParaRPr lang="en-US" sz="1200" dirty="0"/>
          </a:p>
        </p:txBody>
      </p:sp>
      <p:sp>
        <p:nvSpPr>
          <p:cNvPr id="14" name="Shape 12"/>
          <p:cNvSpPr/>
          <p:nvPr/>
        </p:nvSpPr>
        <p:spPr>
          <a:xfrm>
            <a:off x="685800" y="2999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859536" y="3154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6" name="Text 14"/>
          <p:cNvSpPr/>
          <p:nvPr/>
        </p:nvSpPr>
        <p:spPr>
          <a:xfrm>
            <a:off x="932688" y="3163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7" name="Text 15"/>
          <p:cNvSpPr/>
          <p:nvPr/>
        </p:nvSpPr>
        <p:spPr>
          <a:xfrm>
            <a:off x="1435608" y="3099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In VS Code: File → Open Folder…</a:t>
            </a:r>
            <a:endParaRPr lang="en-US" sz="1600" dirty="0"/>
          </a:p>
        </p:txBody>
      </p:sp>
      <p:sp>
        <p:nvSpPr>
          <p:cNvPr id="18" name="Text 16"/>
          <p:cNvSpPr/>
          <p:nvPr/>
        </p:nvSpPr>
        <p:spPr>
          <a:xfrm>
            <a:off x="1444752" y="3502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VS Codeで「ファイル → フォルダーを開く」</a:t>
            </a:r>
            <a:endParaRPr lang="en-US" sz="1200" dirty="0"/>
          </a:p>
        </p:txBody>
      </p:sp>
      <p:sp>
        <p:nvSpPr>
          <p:cNvPr id="19" name="Shape 17"/>
          <p:cNvSpPr/>
          <p:nvPr/>
        </p:nvSpPr>
        <p:spPr>
          <a:xfrm>
            <a:off x="685800" y="4142232"/>
            <a:ext cx="10789920" cy="1024128"/>
          </a:xfrm>
          <a:prstGeom prst="roundRect">
            <a:avLst>
              <a:gd name="adj" fmla="val 11607"/>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859536" y="4297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1" name="Text 19"/>
          <p:cNvSpPr/>
          <p:nvPr/>
        </p:nvSpPr>
        <p:spPr>
          <a:xfrm>
            <a:off x="932688" y="4306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2" name="Text 20"/>
          <p:cNvSpPr/>
          <p:nvPr/>
        </p:nvSpPr>
        <p:spPr>
          <a:xfrm>
            <a:off x="1435608" y="4242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Select the folder and accept trust only if it is yours.</a:t>
            </a:r>
            <a:endParaRPr lang="en-US" sz="1600" dirty="0"/>
          </a:p>
        </p:txBody>
      </p:sp>
      <p:sp>
        <p:nvSpPr>
          <p:cNvPr id="23" name="Text 21"/>
          <p:cNvSpPr/>
          <p:nvPr/>
        </p:nvSpPr>
        <p:spPr>
          <a:xfrm>
            <a:off x="1444752" y="4645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自分で作ったフォルダを選択し、信頼確認に応じる</a:t>
            </a:r>
            <a:endParaRPr lang="en-US" sz="1200" dirty="0"/>
          </a:p>
        </p:txBody>
      </p:sp>
      <p:sp>
        <p:nvSpPr>
          <p:cNvPr id="24" name="Shape 22"/>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5" name="Text 23"/>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Open a folder, not only a single Python file, to make Git and relative paths easier.</a:t>
            </a:r>
            <a:endParaRPr lang="en-US" sz="1200" dirty="0"/>
          </a:p>
        </p:txBody>
      </p:sp>
      <p:sp>
        <p:nvSpPr>
          <p:cNvPr id="26" name="Text 24"/>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Gitと相対パスのためにファイル単体よりフォルダを開くのがおすすめ。</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2 · VS CODE</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Choose the Conda Python interpreter</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Conda環境のPythonを選択</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15</a:t>
            </a:r>
            <a:endParaRPr lang="en-US" sz="1000" dirty="0"/>
          </a:p>
        </p:txBody>
      </p:sp>
      <p:sp>
        <p:nvSpPr>
          <p:cNvPr id="9" name="Text 7"/>
          <p:cNvSpPr/>
          <p:nvPr/>
        </p:nvSpPr>
        <p:spPr>
          <a:xfrm>
            <a:off x="713232" y="1874520"/>
            <a:ext cx="10607040" cy="402336"/>
          </a:xfrm>
          <a:prstGeom prst="rect">
            <a:avLst/>
          </a:prstGeom>
          <a:noFill/>
          <a:ln/>
        </p:spPr>
        <p:txBody>
          <a:bodyPr wrap="square" lIns="508" tIns="508" rIns="508" bIns="508" rtlCol="0" anchor="ctr"/>
          <a:lstStyle/>
          <a:p>
            <a:pPr marL="0" indent="0" algn="l">
              <a:buNone/>
            </a:pPr>
            <a:r>
              <a:rPr lang="en-US" sz="2000" b="1" dirty="0">
                <a:solidFill>
                  <a:srgbClr val="2676A8"/>
                </a:solidFill>
                <a:latin typeface="Aptos" pitchFamily="34" charset="0"/>
                <a:ea typeface="Aptos" pitchFamily="34" charset="-122"/>
                <a:cs typeface="Aptos" pitchFamily="34" charset="-120"/>
              </a:rPr>
              <a:t>Open Command Palette: Ctrl + Shift + P</a:t>
            </a:r>
            <a:endParaRPr lang="en-US" sz="2000" dirty="0"/>
          </a:p>
        </p:txBody>
      </p:sp>
      <p:sp>
        <p:nvSpPr>
          <p:cNvPr id="10" name="Shape 8"/>
          <p:cNvSpPr/>
          <p:nvPr/>
        </p:nvSpPr>
        <p:spPr>
          <a:xfrm>
            <a:off x="658368" y="2441448"/>
            <a:ext cx="10853928" cy="713232"/>
          </a:xfrm>
          <a:prstGeom prst="roundRect">
            <a:avLst>
              <a:gd name="adj" fmla="val 16667"/>
            </a:avLst>
          </a:prstGeom>
          <a:solidFill>
            <a:srgbClr val="10243A"/>
          </a:solidFill>
          <a:ln w="10160">
            <a:solidFill>
              <a:srgbClr val="10243A"/>
            </a:solidFill>
            <a:prstDash val="solid"/>
          </a:ln>
        </p:spPr>
        <p:txBody>
          <a:bodyPr/>
          <a:lstStyle/>
          <a:p>
            <a:endParaRPr lang="en-JP"/>
          </a:p>
        </p:txBody>
      </p:sp>
      <p:sp>
        <p:nvSpPr>
          <p:cNvPr id="11" name="Text 9"/>
          <p:cNvSpPr/>
          <p:nvPr/>
        </p:nvSpPr>
        <p:spPr>
          <a:xfrm>
            <a:off x="914400" y="2587752"/>
            <a:ext cx="10287000" cy="438912"/>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Python: Select Interpreter</a:t>
            </a:r>
            <a:endParaRPr lang="en-US" sz="1700" dirty="0"/>
          </a:p>
        </p:txBody>
      </p:sp>
      <p:sp>
        <p:nvSpPr>
          <p:cNvPr id="12" name="Shape 10"/>
          <p:cNvSpPr/>
          <p:nvPr/>
        </p:nvSpPr>
        <p:spPr>
          <a:xfrm>
            <a:off x="713232" y="3383280"/>
            <a:ext cx="5230368" cy="1709928"/>
          </a:xfrm>
          <a:prstGeom prst="roundRect">
            <a:avLst>
              <a:gd name="adj" fmla="val 6952"/>
            </a:avLst>
          </a:prstGeom>
          <a:solidFill>
            <a:srgbClr val="F3F7FB"/>
          </a:solidFill>
          <a:ln w="10160">
            <a:solidFill>
              <a:srgbClr val="DBE4ED"/>
            </a:solidFill>
            <a:prstDash val="solid"/>
          </a:ln>
        </p:spPr>
        <p:txBody>
          <a:bodyPr/>
          <a:lstStyle/>
          <a:p>
            <a:endParaRPr lang="en-JP"/>
          </a:p>
        </p:txBody>
      </p:sp>
      <p:sp>
        <p:nvSpPr>
          <p:cNvPr id="13" name="Shape 11"/>
          <p:cNvSpPr/>
          <p:nvPr/>
        </p:nvSpPr>
        <p:spPr>
          <a:xfrm>
            <a:off x="713232" y="3383280"/>
            <a:ext cx="64008" cy="1709928"/>
          </a:xfrm>
          <a:prstGeom prst="rect">
            <a:avLst/>
          </a:prstGeom>
          <a:solidFill>
            <a:srgbClr val="2676A8"/>
          </a:solidFill>
          <a:ln w="12700">
            <a:solidFill>
              <a:srgbClr val="2676A8"/>
            </a:solidFill>
            <a:prstDash val="solid"/>
          </a:ln>
        </p:spPr>
        <p:txBody>
          <a:bodyPr/>
          <a:lstStyle/>
          <a:p>
            <a:endParaRPr lang="en-JP"/>
          </a:p>
        </p:txBody>
      </p:sp>
      <p:sp>
        <p:nvSpPr>
          <p:cNvPr id="14" name="Text 12"/>
          <p:cNvSpPr/>
          <p:nvPr/>
        </p:nvSpPr>
        <p:spPr>
          <a:xfrm>
            <a:off x="923544" y="3538728"/>
            <a:ext cx="4818888"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Find face_course</a:t>
            </a:r>
            <a:endParaRPr lang="en-US" sz="1700" dirty="0"/>
          </a:p>
        </p:txBody>
      </p:sp>
      <p:sp>
        <p:nvSpPr>
          <p:cNvPr id="15" name="Text 13"/>
          <p:cNvSpPr/>
          <p:nvPr/>
        </p:nvSpPr>
        <p:spPr>
          <a:xfrm>
            <a:off x="923544" y="3959352"/>
            <a:ext cx="4809744" cy="66687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Select the interpreter labeled Conda (face_course), preferably Python 3.11.</a:t>
            </a:r>
            <a:endParaRPr lang="en-US" sz="1500" dirty="0"/>
          </a:p>
        </p:txBody>
      </p:sp>
      <p:sp>
        <p:nvSpPr>
          <p:cNvPr id="16" name="Text 14"/>
          <p:cNvSpPr/>
          <p:nvPr/>
        </p:nvSpPr>
        <p:spPr>
          <a:xfrm>
            <a:off x="923544" y="4409237"/>
            <a:ext cx="4809744" cy="547177"/>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一覧からCondaのface_course環境を選択。</a:t>
            </a:r>
            <a:endParaRPr lang="en-US" sz="1200" dirty="0"/>
          </a:p>
        </p:txBody>
      </p:sp>
      <p:sp>
        <p:nvSpPr>
          <p:cNvPr id="17" name="Shape 15"/>
          <p:cNvSpPr/>
          <p:nvPr/>
        </p:nvSpPr>
        <p:spPr>
          <a:xfrm>
            <a:off x="6153912" y="3383280"/>
            <a:ext cx="5230368" cy="1709928"/>
          </a:xfrm>
          <a:prstGeom prst="roundRect">
            <a:avLst>
              <a:gd name="adj" fmla="val 6952"/>
            </a:avLst>
          </a:prstGeom>
          <a:solidFill>
            <a:srgbClr val="F3F7FB"/>
          </a:solidFill>
          <a:ln w="10160">
            <a:solidFill>
              <a:srgbClr val="DBE4ED"/>
            </a:solidFill>
            <a:prstDash val="solid"/>
          </a:ln>
        </p:spPr>
        <p:txBody>
          <a:bodyPr/>
          <a:lstStyle/>
          <a:p>
            <a:endParaRPr lang="en-JP"/>
          </a:p>
        </p:txBody>
      </p:sp>
      <p:sp>
        <p:nvSpPr>
          <p:cNvPr id="18" name="Shape 16"/>
          <p:cNvSpPr/>
          <p:nvPr/>
        </p:nvSpPr>
        <p:spPr>
          <a:xfrm>
            <a:off x="6153912" y="3383280"/>
            <a:ext cx="64008" cy="1709928"/>
          </a:xfrm>
          <a:prstGeom prst="rect">
            <a:avLst/>
          </a:prstGeom>
          <a:solidFill>
            <a:srgbClr val="138D87"/>
          </a:solidFill>
          <a:ln w="12700">
            <a:solidFill>
              <a:srgbClr val="138D87"/>
            </a:solidFill>
            <a:prstDash val="solid"/>
          </a:ln>
        </p:spPr>
        <p:txBody>
          <a:bodyPr/>
          <a:lstStyle/>
          <a:p>
            <a:endParaRPr lang="en-JP"/>
          </a:p>
        </p:txBody>
      </p:sp>
      <p:sp>
        <p:nvSpPr>
          <p:cNvPr id="19" name="Text 17"/>
          <p:cNvSpPr/>
          <p:nvPr/>
        </p:nvSpPr>
        <p:spPr>
          <a:xfrm>
            <a:off x="6364224" y="3538728"/>
            <a:ext cx="4818888"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If it is missing</a:t>
            </a:r>
            <a:endParaRPr lang="en-US" sz="1700" dirty="0"/>
          </a:p>
        </p:txBody>
      </p:sp>
      <p:sp>
        <p:nvSpPr>
          <p:cNvPr id="20" name="Text 18"/>
          <p:cNvSpPr/>
          <p:nvPr/>
        </p:nvSpPr>
        <p:spPr>
          <a:xfrm>
            <a:off x="6364224" y="3959352"/>
            <a:ext cx="4809744" cy="66687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Restart VS Code or run “Python Environments: Refresh All Environment Managers”.</a:t>
            </a:r>
            <a:endParaRPr lang="en-US" sz="1500" dirty="0"/>
          </a:p>
        </p:txBody>
      </p:sp>
      <p:sp>
        <p:nvSpPr>
          <p:cNvPr id="21" name="Text 19"/>
          <p:cNvSpPr/>
          <p:nvPr/>
        </p:nvSpPr>
        <p:spPr>
          <a:xfrm>
            <a:off x="6364224" y="4409237"/>
            <a:ext cx="4809744" cy="547177"/>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見つからない場合はVS Codeを再起動、または環境一覧を更新。</a:t>
            </a:r>
            <a:endParaRPr lang="en-US" sz="1200" dirty="0"/>
          </a:p>
        </p:txBody>
      </p:sp>
      <p:sp>
        <p:nvSpPr>
          <p:cNvPr id="22" name="Shape 20"/>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3" name="Text 21"/>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Selected interpreter controls running, debugging, and code analysis.</a:t>
            </a:r>
            <a:endParaRPr lang="en-US" sz="1200" dirty="0"/>
          </a:p>
        </p:txBody>
      </p:sp>
      <p:sp>
        <p:nvSpPr>
          <p:cNvPr id="24" name="Text 22"/>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選択したInterpreterは実行・デバッグ・補完などに使われます。</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2 · VS CODE</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Create and run hello.py</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Pythonファイルの作成と実行</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16</a:t>
            </a:r>
            <a:endParaRPr lang="en-US" sz="1000" dirty="0"/>
          </a:p>
        </p:txBody>
      </p:sp>
      <p:sp>
        <p:nvSpPr>
          <p:cNvPr id="9" name="Text 7"/>
          <p:cNvSpPr/>
          <p:nvPr/>
        </p:nvSpPr>
        <p:spPr>
          <a:xfrm>
            <a:off x="713232" y="1883664"/>
            <a:ext cx="10515600" cy="338328"/>
          </a:xfrm>
          <a:prstGeom prst="rect">
            <a:avLst/>
          </a:prstGeom>
          <a:noFill/>
          <a:ln/>
        </p:spPr>
        <p:txBody>
          <a:bodyPr wrap="square" lIns="508" tIns="508" rIns="508" bIns="508" rtlCol="0" anchor="ctr"/>
          <a:lstStyle/>
          <a:p>
            <a:pPr marL="0" indent="0" algn="l">
              <a:buNone/>
            </a:pPr>
            <a:r>
              <a:rPr lang="en-US" sz="1600" dirty="0">
                <a:solidFill>
                  <a:srgbClr val="213348"/>
                </a:solidFill>
                <a:latin typeface="Aptos" pitchFamily="34" charset="0"/>
                <a:ea typeface="Aptos" pitchFamily="34" charset="-122"/>
                <a:cs typeface="Aptos" pitchFamily="34" charset="-120"/>
              </a:rPr>
              <a:t>Create `hello.py` in the Explorer / エクスプローラーでhello.pyを作成</a:t>
            </a:r>
            <a:endParaRPr lang="en-US" sz="1600" dirty="0"/>
          </a:p>
        </p:txBody>
      </p:sp>
      <p:sp>
        <p:nvSpPr>
          <p:cNvPr id="10" name="Shape 8"/>
          <p:cNvSpPr/>
          <p:nvPr/>
        </p:nvSpPr>
        <p:spPr>
          <a:xfrm>
            <a:off x="658368" y="2331720"/>
            <a:ext cx="10853928" cy="1645920"/>
          </a:xfrm>
          <a:prstGeom prst="roundRect">
            <a:avLst>
              <a:gd name="adj" fmla="val 7222"/>
            </a:avLst>
          </a:prstGeom>
          <a:solidFill>
            <a:srgbClr val="10243A"/>
          </a:solidFill>
          <a:ln w="10160">
            <a:solidFill>
              <a:srgbClr val="10243A"/>
            </a:solidFill>
            <a:prstDash val="solid"/>
          </a:ln>
        </p:spPr>
        <p:txBody>
          <a:bodyPr/>
          <a:lstStyle/>
          <a:p>
            <a:endParaRPr lang="en-JP"/>
          </a:p>
        </p:txBody>
      </p:sp>
      <p:sp>
        <p:nvSpPr>
          <p:cNvPr id="11" name="Text 9"/>
          <p:cNvSpPr/>
          <p:nvPr/>
        </p:nvSpPr>
        <p:spPr>
          <a:xfrm>
            <a:off x="914400" y="2478024"/>
            <a:ext cx="10287000" cy="1371600"/>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import sys</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print("Hello from VS Code!")</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print(sys.executable)</a:t>
            </a:r>
            <a:endParaRPr lang="en-US" sz="1700" dirty="0"/>
          </a:p>
        </p:txBody>
      </p:sp>
      <p:sp>
        <p:nvSpPr>
          <p:cNvPr id="12" name="Text 10"/>
          <p:cNvSpPr/>
          <p:nvPr/>
        </p:nvSpPr>
        <p:spPr>
          <a:xfrm>
            <a:off x="758952" y="4325112"/>
            <a:ext cx="10607040" cy="329184"/>
          </a:xfrm>
          <a:prstGeom prst="rect">
            <a:avLst/>
          </a:prstGeom>
          <a:noFill/>
          <a:ln/>
        </p:spPr>
        <p:txBody>
          <a:bodyPr wrap="square" lIns="508" tIns="508" rIns="508" bIns="508" rtlCol="0" anchor="ctr"/>
          <a:lstStyle/>
          <a:p>
            <a:pPr marL="0" indent="0" algn="l">
              <a:buNone/>
            </a:pPr>
            <a:r>
              <a:rPr lang="en-US" sz="1500" dirty="0">
                <a:solidFill>
                  <a:srgbClr val="213348"/>
                </a:solidFill>
                <a:latin typeface="Aptos" pitchFamily="34" charset="0"/>
                <a:ea typeface="Aptos" pitchFamily="34" charset="-122"/>
                <a:cs typeface="Aptos" pitchFamily="34" charset="-120"/>
              </a:rPr>
              <a:t>Save (Ctrl+S), then select “Run Python File” ▶ or use the terminal:</a:t>
            </a:r>
            <a:endParaRPr lang="en-US" sz="1500" dirty="0"/>
          </a:p>
        </p:txBody>
      </p:sp>
      <p:sp>
        <p:nvSpPr>
          <p:cNvPr id="13" name="Shape 11"/>
          <p:cNvSpPr/>
          <p:nvPr/>
        </p:nvSpPr>
        <p:spPr>
          <a:xfrm>
            <a:off x="658368" y="4754880"/>
            <a:ext cx="10853928" cy="603504"/>
          </a:xfrm>
          <a:prstGeom prst="roundRect">
            <a:avLst>
              <a:gd name="adj" fmla="val 19697"/>
            </a:avLst>
          </a:prstGeom>
          <a:solidFill>
            <a:srgbClr val="10243A"/>
          </a:solidFill>
          <a:ln w="10160">
            <a:solidFill>
              <a:srgbClr val="10243A"/>
            </a:solidFill>
            <a:prstDash val="solid"/>
          </a:ln>
        </p:spPr>
        <p:txBody>
          <a:bodyPr/>
          <a:lstStyle/>
          <a:p>
            <a:endParaRPr lang="en-JP"/>
          </a:p>
        </p:txBody>
      </p:sp>
      <p:sp>
        <p:nvSpPr>
          <p:cNvPr id="14" name="Text 12"/>
          <p:cNvSpPr/>
          <p:nvPr/>
        </p:nvSpPr>
        <p:spPr>
          <a:xfrm>
            <a:off x="914400" y="4901184"/>
            <a:ext cx="10287000" cy="329184"/>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python hello.py</a:t>
            </a:r>
            <a:endParaRPr lang="en-US" sz="1700" dirty="0"/>
          </a:p>
        </p:txBody>
      </p:sp>
      <p:sp>
        <p:nvSpPr>
          <p:cNvPr id="15" name="Shape 13"/>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16" name="Text 14"/>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sys.executable should point inside the face_course environment.</a:t>
            </a:r>
            <a:endParaRPr lang="en-US" sz="1200" dirty="0"/>
          </a:p>
        </p:txBody>
      </p:sp>
      <p:sp>
        <p:nvSpPr>
          <p:cNvPr id="17" name="Text 15"/>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sys.executableがface_course環境内を指しているか確認します。</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2 · VS CODE</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Share the environment: requirements.txt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環境情報を共有する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17</a:t>
            </a:r>
            <a:endParaRPr lang="en-US" sz="1000" dirty="0"/>
          </a:p>
        </p:txBody>
      </p:sp>
      <p:sp>
        <p:nvSpPr>
          <p:cNvPr id="9" name="Shape 7"/>
          <p:cNvSpPr/>
          <p:nvPr/>
        </p:nvSpPr>
        <p:spPr>
          <a:xfrm>
            <a:off x="713232" y="1938528"/>
            <a:ext cx="5257800" cy="1993392"/>
          </a:xfrm>
          <a:prstGeom prst="roundRect">
            <a:avLst>
              <a:gd name="adj" fmla="val 5963"/>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713232" y="1938528"/>
            <a:ext cx="64008" cy="1993392"/>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23544" y="2093976"/>
            <a:ext cx="4846320"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requirements.txt</a:t>
            </a:r>
            <a:endParaRPr lang="en-US" sz="1700" dirty="0"/>
          </a:p>
        </p:txBody>
      </p:sp>
      <p:sp>
        <p:nvSpPr>
          <p:cNvPr id="12" name="Text 10"/>
          <p:cNvSpPr/>
          <p:nvPr/>
        </p:nvSpPr>
        <p:spPr>
          <a:xfrm>
            <a:off x="923544" y="2514600"/>
            <a:ext cx="4837176" cy="777423"/>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List the packages required to reproduce a project. Example: numpy, opencv-python, scikit-learn.</a:t>
            </a:r>
            <a:endParaRPr lang="en-US" sz="1500" dirty="0"/>
          </a:p>
        </p:txBody>
      </p:sp>
      <p:sp>
        <p:nvSpPr>
          <p:cNvPr id="13" name="Text 11"/>
          <p:cNvSpPr/>
          <p:nvPr/>
        </p:nvSpPr>
        <p:spPr>
          <a:xfrm>
            <a:off x="923544" y="3134563"/>
            <a:ext cx="4837176" cy="637885"/>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他の人が同じ環境を再現するための依存関係ファイル。</a:t>
            </a:r>
            <a:endParaRPr lang="en-US" sz="1200" dirty="0"/>
          </a:p>
        </p:txBody>
      </p:sp>
      <p:sp>
        <p:nvSpPr>
          <p:cNvPr id="14" name="Shape 12"/>
          <p:cNvSpPr/>
          <p:nvPr/>
        </p:nvSpPr>
        <p:spPr>
          <a:xfrm>
            <a:off x="6163056" y="1938528"/>
            <a:ext cx="5257800" cy="1993392"/>
          </a:xfrm>
          <a:prstGeom prst="roundRect">
            <a:avLst>
              <a:gd name="adj" fmla="val 5963"/>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6163056" y="1938528"/>
            <a:ext cx="64008" cy="1993392"/>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6373368" y="2093976"/>
            <a:ext cx="4846320"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Install from file</a:t>
            </a:r>
            <a:endParaRPr lang="en-US" sz="1700" dirty="0"/>
          </a:p>
        </p:txBody>
      </p:sp>
      <p:sp>
        <p:nvSpPr>
          <p:cNvPr id="17" name="Text 15"/>
          <p:cNvSpPr/>
          <p:nvPr/>
        </p:nvSpPr>
        <p:spPr>
          <a:xfrm>
            <a:off x="6373368" y="2514600"/>
            <a:ext cx="4837176" cy="777423"/>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In the activated environment, run the command below.</a:t>
            </a:r>
            <a:endParaRPr lang="en-US" sz="1500" dirty="0"/>
          </a:p>
        </p:txBody>
      </p:sp>
      <p:sp>
        <p:nvSpPr>
          <p:cNvPr id="18" name="Text 16"/>
          <p:cNvSpPr/>
          <p:nvPr/>
        </p:nvSpPr>
        <p:spPr>
          <a:xfrm>
            <a:off x="6373368" y="3134563"/>
            <a:ext cx="4837176" cy="637885"/>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有効化した環境で以下のコマンドを実行。</a:t>
            </a:r>
            <a:endParaRPr lang="en-US" sz="1200" dirty="0"/>
          </a:p>
        </p:txBody>
      </p:sp>
      <p:sp>
        <p:nvSpPr>
          <p:cNvPr id="19" name="Shape 17"/>
          <p:cNvSpPr/>
          <p:nvPr/>
        </p:nvSpPr>
        <p:spPr>
          <a:xfrm>
            <a:off x="658368" y="4169664"/>
            <a:ext cx="10853928" cy="813816"/>
          </a:xfrm>
          <a:prstGeom prst="roundRect">
            <a:avLst>
              <a:gd name="adj" fmla="val 14607"/>
            </a:avLst>
          </a:prstGeom>
          <a:solidFill>
            <a:srgbClr val="10243A"/>
          </a:solidFill>
          <a:ln w="10160">
            <a:solidFill>
              <a:srgbClr val="10243A"/>
            </a:solidFill>
            <a:prstDash val="solid"/>
          </a:ln>
        </p:spPr>
        <p:txBody>
          <a:bodyPr/>
          <a:lstStyle/>
          <a:p>
            <a:endParaRPr lang="en-JP"/>
          </a:p>
        </p:txBody>
      </p:sp>
      <p:sp>
        <p:nvSpPr>
          <p:cNvPr id="20" name="Text 18"/>
          <p:cNvSpPr/>
          <p:nvPr/>
        </p:nvSpPr>
        <p:spPr>
          <a:xfrm>
            <a:off x="914400" y="4315968"/>
            <a:ext cx="10287000" cy="539496"/>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python -m pip install -r requirements.txt</a:t>
            </a:r>
            <a:endParaRPr lang="en-US" sz="1700" dirty="0"/>
          </a:p>
        </p:txBody>
      </p:sp>
      <p:sp>
        <p:nvSpPr>
          <p:cNvPr id="21" name="Shape 19"/>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2" name="Text 20"/>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Avoid committing the entire Conda environment folder. Commit requirements.txt instead.</a:t>
            </a:r>
            <a:endParaRPr lang="en-US" sz="1200" dirty="0"/>
          </a:p>
        </p:txBody>
      </p:sp>
      <p:sp>
        <p:nvSpPr>
          <p:cNvPr id="23" name="Text 21"/>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Conda環境フォルダ全体ではなく、requirements.txtを共有しましょう。</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3 · GIT</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Git and GitHub are different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GitとGitHubの違い</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18</a:t>
            </a:r>
            <a:endParaRPr lang="en-US" sz="1000" dirty="0"/>
          </a:p>
        </p:txBody>
      </p:sp>
      <p:sp>
        <p:nvSpPr>
          <p:cNvPr id="9" name="Shape 7"/>
          <p:cNvSpPr/>
          <p:nvPr/>
        </p:nvSpPr>
        <p:spPr>
          <a:xfrm>
            <a:off x="694944" y="1965960"/>
            <a:ext cx="5248656" cy="2395728"/>
          </a:xfrm>
          <a:prstGeom prst="roundRect">
            <a:avLst>
              <a:gd name="adj" fmla="val 4962"/>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694944" y="1965960"/>
            <a:ext cx="64008" cy="2395728"/>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05256" y="2121408"/>
            <a:ext cx="4837176"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Git = local version history</a:t>
            </a:r>
            <a:endParaRPr lang="en-US" sz="1700" dirty="0"/>
          </a:p>
        </p:txBody>
      </p:sp>
      <p:sp>
        <p:nvSpPr>
          <p:cNvPr id="12" name="Text 10"/>
          <p:cNvSpPr/>
          <p:nvPr/>
        </p:nvSpPr>
        <p:spPr>
          <a:xfrm>
            <a:off x="905256" y="2542032"/>
            <a:ext cx="4828032" cy="934334"/>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Records snapshots of your files as commits on your PC; works offline.</a:t>
            </a:r>
            <a:endParaRPr lang="en-US" sz="1500" dirty="0"/>
          </a:p>
        </p:txBody>
      </p:sp>
      <p:sp>
        <p:nvSpPr>
          <p:cNvPr id="13" name="Text 11"/>
          <p:cNvSpPr/>
          <p:nvPr/>
        </p:nvSpPr>
        <p:spPr>
          <a:xfrm>
            <a:off x="905256" y="3403397"/>
            <a:ext cx="4828032" cy="766633"/>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PC内に変更履歴を保存します。オフラインでも使用可能。</a:t>
            </a:r>
            <a:endParaRPr lang="en-US" sz="1200" dirty="0"/>
          </a:p>
        </p:txBody>
      </p:sp>
      <p:sp>
        <p:nvSpPr>
          <p:cNvPr id="14" name="Shape 12"/>
          <p:cNvSpPr/>
          <p:nvPr/>
        </p:nvSpPr>
        <p:spPr>
          <a:xfrm>
            <a:off x="6181344" y="1965960"/>
            <a:ext cx="5248656" cy="2395728"/>
          </a:xfrm>
          <a:prstGeom prst="roundRect">
            <a:avLst>
              <a:gd name="adj" fmla="val 4962"/>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6181344" y="1965960"/>
            <a:ext cx="64008" cy="2395728"/>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6391656" y="2121408"/>
            <a:ext cx="4837176"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GitHub = remote hosting</a:t>
            </a:r>
            <a:endParaRPr lang="en-US" sz="1700" dirty="0"/>
          </a:p>
        </p:txBody>
      </p:sp>
      <p:sp>
        <p:nvSpPr>
          <p:cNvPr id="17" name="Text 15"/>
          <p:cNvSpPr/>
          <p:nvPr/>
        </p:nvSpPr>
        <p:spPr>
          <a:xfrm>
            <a:off x="6391656" y="2542032"/>
            <a:ext cx="4828032" cy="934334"/>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Stores repositories online so you can back up and share code.</a:t>
            </a:r>
            <a:endParaRPr lang="en-US" sz="1500" dirty="0"/>
          </a:p>
        </p:txBody>
      </p:sp>
      <p:sp>
        <p:nvSpPr>
          <p:cNvPr id="18" name="Text 16"/>
          <p:cNvSpPr/>
          <p:nvPr/>
        </p:nvSpPr>
        <p:spPr>
          <a:xfrm>
            <a:off x="6391656" y="3403397"/>
            <a:ext cx="4828032" cy="766633"/>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オンラインでリポジトリを管理・共有します。</a:t>
            </a:r>
            <a:endParaRPr lang="en-US" sz="1200" dirty="0"/>
          </a:p>
        </p:txBody>
      </p:sp>
      <p:sp>
        <p:nvSpPr>
          <p:cNvPr id="19" name="Shape 17"/>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0" name="Text 18"/>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A commit alone does NOT upload files. You must push/publish to GitHub.</a:t>
            </a:r>
            <a:endParaRPr lang="en-US" sz="1200" dirty="0"/>
          </a:p>
        </p:txBody>
      </p:sp>
      <p:sp>
        <p:nvSpPr>
          <p:cNvPr id="21" name="Text 19"/>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コミットだけではアップロードされません。Pushが必要です。</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3 · GIT</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Check Git and configure your author</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Gitを確認しユーザー情報を設定</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19</a:t>
            </a:r>
            <a:endParaRPr lang="en-US" sz="1000" dirty="0"/>
          </a:p>
        </p:txBody>
      </p:sp>
      <p:sp>
        <p:nvSpPr>
          <p:cNvPr id="9" name="Shape 7"/>
          <p:cNvSpPr/>
          <p:nvPr/>
        </p:nvSpPr>
        <p:spPr>
          <a:xfrm>
            <a:off x="658368" y="1965960"/>
            <a:ext cx="10853928" cy="1965960"/>
          </a:xfrm>
          <a:prstGeom prst="roundRect">
            <a:avLst>
              <a:gd name="adj" fmla="val 6047"/>
            </a:avLst>
          </a:prstGeom>
          <a:solidFill>
            <a:srgbClr val="10243A"/>
          </a:solidFill>
          <a:ln w="10160">
            <a:solidFill>
              <a:srgbClr val="10243A"/>
            </a:solidFill>
            <a:prstDash val="solid"/>
          </a:ln>
        </p:spPr>
        <p:txBody>
          <a:bodyPr/>
          <a:lstStyle/>
          <a:p>
            <a:endParaRPr lang="en-JP"/>
          </a:p>
        </p:txBody>
      </p:sp>
      <p:sp>
        <p:nvSpPr>
          <p:cNvPr id="10" name="Text 8"/>
          <p:cNvSpPr/>
          <p:nvPr/>
        </p:nvSpPr>
        <p:spPr>
          <a:xfrm>
            <a:off x="914400" y="2112264"/>
            <a:ext cx="10287000" cy="1691640"/>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git --version</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git config --global user.name "Student Name"</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git config --global user.email "student@example.com"</a:t>
            </a:r>
            <a:endParaRPr lang="en-US" sz="1700" dirty="0"/>
          </a:p>
        </p:txBody>
      </p:sp>
      <p:sp>
        <p:nvSpPr>
          <p:cNvPr id="11" name="Shape 9"/>
          <p:cNvSpPr/>
          <p:nvPr/>
        </p:nvSpPr>
        <p:spPr>
          <a:xfrm>
            <a:off x="722376" y="4306824"/>
            <a:ext cx="10707624" cy="1005840"/>
          </a:xfrm>
          <a:prstGeom prst="roundRect">
            <a:avLst>
              <a:gd name="adj" fmla="val 11818"/>
            </a:avLst>
          </a:prstGeom>
          <a:solidFill>
            <a:srgbClr val="F3F7FB"/>
          </a:solidFill>
          <a:ln w="10160">
            <a:solidFill>
              <a:srgbClr val="DBE4ED"/>
            </a:solidFill>
            <a:prstDash val="solid"/>
          </a:ln>
        </p:spPr>
        <p:txBody>
          <a:bodyPr/>
          <a:lstStyle/>
          <a:p>
            <a:endParaRPr lang="en-JP"/>
          </a:p>
        </p:txBody>
      </p:sp>
      <p:sp>
        <p:nvSpPr>
          <p:cNvPr id="12" name="Shape 10"/>
          <p:cNvSpPr/>
          <p:nvPr/>
        </p:nvSpPr>
        <p:spPr>
          <a:xfrm>
            <a:off x="722376" y="4306824"/>
            <a:ext cx="64008" cy="1005840"/>
          </a:xfrm>
          <a:prstGeom prst="rect">
            <a:avLst/>
          </a:prstGeom>
          <a:solidFill>
            <a:srgbClr val="2676A8"/>
          </a:solidFill>
          <a:ln w="12700">
            <a:solidFill>
              <a:srgbClr val="2676A8"/>
            </a:solidFill>
            <a:prstDash val="solid"/>
          </a:ln>
        </p:spPr>
        <p:txBody>
          <a:bodyPr/>
          <a:lstStyle/>
          <a:p>
            <a:endParaRPr lang="en-JP"/>
          </a:p>
        </p:txBody>
      </p:sp>
      <p:sp>
        <p:nvSpPr>
          <p:cNvPr id="13" name="Text 11"/>
          <p:cNvSpPr/>
          <p:nvPr/>
        </p:nvSpPr>
        <p:spPr>
          <a:xfrm>
            <a:off x="932688" y="4462272"/>
            <a:ext cx="10296144"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Why is this needed?</a:t>
            </a:r>
            <a:endParaRPr lang="en-US" sz="1700" dirty="0"/>
          </a:p>
        </p:txBody>
      </p:sp>
      <p:sp>
        <p:nvSpPr>
          <p:cNvPr id="14" name="Text 12"/>
          <p:cNvSpPr/>
          <p:nvPr/>
        </p:nvSpPr>
        <p:spPr>
          <a:xfrm>
            <a:off x="932688" y="4882896"/>
            <a:ext cx="10287000" cy="392278"/>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Git stores an author name and email with each commit. These are NOT your GitHub password.</a:t>
            </a:r>
            <a:endParaRPr lang="en-US" sz="1500" dirty="0"/>
          </a:p>
        </p:txBody>
      </p:sp>
      <p:sp>
        <p:nvSpPr>
          <p:cNvPr id="15" name="Text 13"/>
          <p:cNvSpPr/>
          <p:nvPr/>
        </p:nvSpPr>
        <p:spPr>
          <a:xfrm>
            <a:off x="932688" y="4910328"/>
            <a:ext cx="10287000" cy="321869"/>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コミットの作成者情報です。GitHubのパスワードではありません。</a:t>
            </a:r>
            <a:endParaRPr lang="en-US" sz="1200" dirty="0"/>
          </a:p>
        </p:txBody>
      </p:sp>
      <p:sp>
        <p:nvSpPr>
          <p:cNvPr id="16" name="Shape 14"/>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17" name="Text 15"/>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Use an email you intend to associate with your commits, such as a GitHub no-reply email.</a:t>
            </a:r>
            <a:endParaRPr lang="en-US" sz="1200" dirty="0"/>
          </a:p>
        </p:txBody>
      </p:sp>
      <p:sp>
        <p:nvSpPr>
          <p:cNvPr id="18" name="Text 16"/>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公開したくないメールアドレスは使わず、GitHubの非公開用アドレスも検討。</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3 · GIT</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Initialize Git in VS Code</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VS CodeでGitを有効化</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20</a:t>
            </a:r>
            <a:endParaRPr lang="en-US" sz="1000" dirty="0"/>
          </a:p>
        </p:txBody>
      </p:sp>
      <p:sp>
        <p:nvSpPr>
          <p:cNvPr id="9" name="Shape 7"/>
          <p:cNvSpPr/>
          <p:nvPr/>
        </p:nvSpPr>
        <p:spPr>
          <a:xfrm>
            <a:off x="685800" y="185623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859536" y="2011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1" name="Text 9"/>
          <p:cNvSpPr/>
          <p:nvPr/>
        </p:nvSpPr>
        <p:spPr>
          <a:xfrm>
            <a:off x="932688" y="2020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2" name="Text 10"/>
          <p:cNvSpPr/>
          <p:nvPr/>
        </p:nvSpPr>
        <p:spPr>
          <a:xfrm>
            <a:off x="1435608" y="1956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Open your own project folder.</a:t>
            </a:r>
            <a:endParaRPr lang="en-US" sz="1600" dirty="0"/>
          </a:p>
        </p:txBody>
      </p:sp>
      <p:sp>
        <p:nvSpPr>
          <p:cNvPr id="13" name="Text 11"/>
          <p:cNvSpPr/>
          <p:nvPr/>
        </p:nvSpPr>
        <p:spPr>
          <a:xfrm>
            <a:off x="1444752" y="2359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自分のプロジェクトフォルダを開く</a:t>
            </a:r>
            <a:endParaRPr lang="en-US" sz="1200" dirty="0"/>
          </a:p>
        </p:txBody>
      </p:sp>
      <p:sp>
        <p:nvSpPr>
          <p:cNvPr id="14" name="Shape 12"/>
          <p:cNvSpPr/>
          <p:nvPr/>
        </p:nvSpPr>
        <p:spPr>
          <a:xfrm>
            <a:off x="685800" y="297637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859536" y="313182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6" name="Text 14"/>
          <p:cNvSpPr/>
          <p:nvPr/>
        </p:nvSpPr>
        <p:spPr>
          <a:xfrm>
            <a:off x="932688" y="314096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7" name="Text 15"/>
          <p:cNvSpPr/>
          <p:nvPr/>
        </p:nvSpPr>
        <p:spPr>
          <a:xfrm>
            <a:off x="1435608" y="307695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Open Source Control (Ctrl+Shift+G).</a:t>
            </a:r>
            <a:endParaRPr lang="en-US" sz="1600" dirty="0"/>
          </a:p>
        </p:txBody>
      </p:sp>
      <p:sp>
        <p:nvSpPr>
          <p:cNvPr id="18" name="Text 16"/>
          <p:cNvSpPr/>
          <p:nvPr/>
        </p:nvSpPr>
        <p:spPr>
          <a:xfrm>
            <a:off x="1444752" y="347929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ソース管理を開く</a:t>
            </a:r>
            <a:endParaRPr lang="en-US" sz="1200" dirty="0"/>
          </a:p>
        </p:txBody>
      </p:sp>
      <p:sp>
        <p:nvSpPr>
          <p:cNvPr id="19" name="Shape 17"/>
          <p:cNvSpPr/>
          <p:nvPr/>
        </p:nvSpPr>
        <p:spPr>
          <a:xfrm>
            <a:off x="685800" y="409651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859536" y="425196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1" name="Text 19"/>
          <p:cNvSpPr/>
          <p:nvPr/>
        </p:nvSpPr>
        <p:spPr>
          <a:xfrm>
            <a:off x="932688" y="426110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2" name="Text 20"/>
          <p:cNvSpPr/>
          <p:nvPr/>
        </p:nvSpPr>
        <p:spPr>
          <a:xfrm>
            <a:off x="1435608" y="419709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Click “Initialize Repository”.</a:t>
            </a:r>
            <a:endParaRPr lang="en-US" sz="1600" dirty="0"/>
          </a:p>
        </p:txBody>
      </p:sp>
      <p:sp>
        <p:nvSpPr>
          <p:cNvPr id="23" name="Text 21"/>
          <p:cNvSpPr/>
          <p:nvPr/>
        </p:nvSpPr>
        <p:spPr>
          <a:xfrm>
            <a:off x="1444752" y="459943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「Initialize Repository」を選択</a:t>
            </a:r>
            <a:endParaRPr lang="en-US" sz="1200" dirty="0"/>
          </a:p>
        </p:txBody>
      </p:sp>
      <p:sp>
        <p:nvSpPr>
          <p:cNvPr id="24" name="Shape 22"/>
          <p:cNvSpPr/>
          <p:nvPr/>
        </p:nvSpPr>
        <p:spPr>
          <a:xfrm>
            <a:off x="685800" y="521665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859536" y="537210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6" name="Text 24"/>
          <p:cNvSpPr/>
          <p:nvPr/>
        </p:nvSpPr>
        <p:spPr>
          <a:xfrm>
            <a:off x="932688" y="538124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7" name="Text 25"/>
          <p:cNvSpPr/>
          <p:nvPr/>
        </p:nvSpPr>
        <p:spPr>
          <a:xfrm>
            <a:off x="1435608" y="531723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Git creates a local `.git` history folder. Nothing is online yet.</a:t>
            </a:r>
            <a:endParaRPr lang="en-US" sz="1600" dirty="0"/>
          </a:p>
        </p:txBody>
      </p:sp>
      <p:sp>
        <p:nvSpPr>
          <p:cNvPr id="28" name="Text 26"/>
          <p:cNvSpPr/>
          <p:nvPr/>
        </p:nvSpPr>
        <p:spPr>
          <a:xfrm>
            <a:off x="1444752" y="571957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ローカルに.gitが作られます。まだGitHubには送信されません。</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3 · GIT</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Protect private and unnecessary files</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公開・追跡しないファイルを設定</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21</a:t>
            </a:r>
            <a:endParaRPr lang="en-US" sz="1000" dirty="0"/>
          </a:p>
        </p:txBody>
      </p:sp>
      <p:sp>
        <p:nvSpPr>
          <p:cNvPr id="9" name="Text 7"/>
          <p:cNvSpPr/>
          <p:nvPr/>
        </p:nvSpPr>
        <p:spPr>
          <a:xfrm>
            <a:off x="704088" y="1920240"/>
            <a:ext cx="10698480" cy="393192"/>
          </a:xfrm>
          <a:prstGeom prst="rect">
            <a:avLst/>
          </a:prstGeom>
          <a:noFill/>
          <a:ln/>
        </p:spPr>
        <p:txBody>
          <a:bodyPr wrap="square" lIns="508" tIns="508" rIns="508" bIns="508" rtlCol="0" anchor="ctr"/>
          <a:lstStyle/>
          <a:p>
            <a:pPr marL="0" indent="0" algn="l">
              <a:buNone/>
            </a:pPr>
            <a:r>
              <a:rPr lang="en-US" sz="1700" b="1" dirty="0">
                <a:solidFill>
                  <a:srgbClr val="213348"/>
                </a:solidFill>
                <a:latin typeface="Aptos" pitchFamily="34" charset="0"/>
                <a:ea typeface="Aptos" pitchFamily="34" charset="-122"/>
                <a:cs typeface="Aptos" pitchFamily="34" charset="-120"/>
              </a:rPr>
              <a:t>Create a file named `.gitignore` / `.gitignore`ファイルを作成</a:t>
            </a:r>
            <a:endParaRPr lang="en-US" sz="1700" dirty="0"/>
          </a:p>
        </p:txBody>
      </p:sp>
      <p:sp>
        <p:nvSpPr>
          <p:cNvPr id="10" name="Shape 8"/>
          <p:cNvSpPr/>
          <p:nvPr/>
        </p:nvSpPr>
        <p:spPr>
          <a:xfrm>
            <a:off x="658368" y="2404872"/>
            <a:ext cx="10853928" cy="2468880"/>
          </a:xfrm>
          <a:prstGeom prst="roundRect">
            <a:avLst>
              <a:gd name="adj" fmla="val 4815"/>
            </a:avLst>
          </a:prstGeom>
          <a:solidFill>
            <a:srgbClr val="10243A"/>
          </a:solidFill>
          <a:ln w="10160">
            <a:solidFill>
              <a:srgbClr val="10243A"/>
            </a:solidFill>
            <a:prstDash val="solid"/>
          </a:ln>
        </p:spPr>
        <p:txBody>
          <a:bodyPr/>
          <a:lstStyle/>
          <a:p>
            <a:endParaRPr lang="en-JP"/>
          </a:p>
        </p:txBody>
      </p:sp>
      <p:sp>
        <p:nvSpPr>
          <p:cNvPr id="11" name="Text 9"/>
          <p:cNvSpPr/>
          <p:nvPr/>
        </p:nvSpPr>
        <p:spPr>
          <a:xfrm>
            <a:off x="914400" y="2551176"/>
            <a:ext cx="10287000" cy="2194560"/>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__pycache__/</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.ipynb_checkpoints/</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.env</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.venv/</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*.pyc</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enrolled_faces/</a:t>
            </a:r>
            <a:endParaRPr lang="en-US" sz="1700" dirty="0"/>
          </a:p>
          <a:p>
            <a:pPr marL="0" indent="0" algn="l">
              <a:buNone/>
            </a:pPr>
            <a:r>
              <a:rPr lang="en-US" sz="1700" dirty="0">
                <a:solidFill>
                  <a:srgbClr val="E7F5FF"/>
                </a:solidFill>
                <a:latin typeface="Consolas" pitchFamily="34" charset="0"/>
                <a:ea typeface="Consolas" pitchFamily="34" charset="-122"/>
                <a:cs typeface="Consolas" pitchFamily="34" charset="-120"/>
              </a:rPr>
              <a:t>saved_model/</a:t>
            </a:r>
            <a:endParaRPr lang="en-US" sz="1700" dirty="0"/>
          </a:p>
        </p:txBody>
      </p:sp>
      <p:sp>
        <p:nvSpPr>
          <p:cNvPr id="12" name="Shape 10"/>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13" name="Text 11"/>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Never upload passwords, tokens, personal face photos, or identifiable participant data.</a:t>
            </a:r>
            <a:endParaRPr lang="en-US" sz="1200" dirty="0"/>
          </a:p>
        </p:txBody>
      </p:sp>
      <p:sp>
        <p:nvSpPr>
          <p:cNvPr id="14" name="Text 12"/>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パスワード・トークン・個人の顔写真・被験者情報はアップロードしない。</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3 · GIT</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Review and stage changes</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変更を確認してステージング</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22</a:t>
            </a:r>
            <a:endParaRPr lang="en-US" sz="1000" dirty="0"/>
          </a:p>
        </p:txBody>
      </p:sp>
      <p:sp>
        <p:nvSpPr>
          <p:cNvPr id="9" name="Shape 7"/>
          <p:cNvSpPr/>
          <p:nvPr/>
        </p:nvSpPr>
        <p:spPr>
          <a:xfrm>
            <a:off x="694944" y="1984248"/>
            <a:ext cx="5230368" cy="2670048"/>
          </a:xfrm>
          <a:prstGeom prst="roundRect">
            <a:avLst>
              <a:gd name="adj" fmla="val 4452"/>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694944" y="1984248"/>
            <a:ext cx="64008" cy="2670048"/>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05256" y="2139696"/>
            <a:ext cx="4818888"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Changes</a:t>
            </a:r>
            <a:endParaRPr lang="en-US" sz="1700" dirty="0"/>
          </a:p>
        </p:txBody>
      </p:sp>
      <p:sp>
        <p:nvSpPr>
          <p:cNvPr id="12" name="Text 10"/>
          <p:cNvSpPr/>
          <p:nvPr/>
        </p:nvSpPr>
        <p:spPr>
          <a:xfrm>
            <a:off x="905256" y="2560320"/>
            <a:ext cx="4809744" cy="1041319"/>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New files show U (untracked); edited files show M (modified). Click a file to review differences.</a:t>
            </a:r>
            <a:endParaRPr lang="en-US" sz="1500" dirty="0"/>
          </a:p>
        </p:txBody>
      </p:sp>
      <p:sp>
        <p:nvSpPr>
          <p:cNvPr id="13" name="Text 11"/>
          <p:cNvSpPr/>
          <p:nvPr/>
        </p:nvSpPr>
        <p:spPr>
          <a:xfrm>
            <a:off x="905256" y="3586277"/>
            <a:ext cx="4809744" cy="854415"/>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新規ファイルはU、変更済みはM。クリックして差分を確認。</a:t>
            </a:r>
            <a:endParaRPr lang="en-US" sz="1200" dirty="0"/>
          </a:p>
        </p:txBody>
      </p:sp>
      <p:sp>
        <p:nvSpPr>
          <p:cNvPr id="14" name="Shape 12"/>
          <p:cNvSpPr/>
          <p:nvPr/>
        </p:nvSpPr>
        <p:spPr>
          <a:xfrm>
            <a:off x="6163056" y="1984248"/>
            <a:ext cx="5230368" cy="2670048"/>
          </a:xfrm>
          <a:prstGeom prst="roundRect">
            <a:avLst>
              <a:gd name="adj" fmla="val 4452"/>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6163056" y="1984248"/>
            <a:ext cx="64008" cy="2670048"/>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6373368" y="2139696"/>
            <a:ext cx="4818888"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Stage (+)</a:t>
            </a:r>
            <a:endParaRPr lang="en-US" sz="1700" dirty="0"/>
          </a:p>
        </p:txBody>
      </p:sp>
      <p:sp>
        <p:nvSpPr>
          <p:cNvPr id="17" name="Text 15"/>
          <p:cNvSpPr/>
          <p:nvPr/>
        </p:nvSpPr>
        <p:spPr>
          <a:xfrm>
            <a:off x="6373368" y="2560320"/>
            <a:ext cx="4809744" cy="1041319"/>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Click the + next to files you want in the next snapshot. This does NOT upload them.</a:t>
            </a:r>
            <a:endParaRPr lang="en-US" sz="1500" dirty="0"/>
          </a:p>
        </p:txBody>
      </p:sp>
      <p:sp>
        <p:nvSpPr>
          <p:cNvPr id="18" name="Text 16"/>
          <p:cNvSpPr/>
          <p:nvPr/>
        </p:nvSpPr>
        <p:spPr>
          <a:xfrm>
            <a:off x="6373368" y="3586277"/>
            <a:ext cx="4809744" cy="854415"/>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「+」で次のコミットに含めるファイルを選択。まだ送信されません。</a:t>
            </a:r>
            <a:endParaRPr lang="en-US" sz="1200" dirty="0"/>
          </a:p>
        </p:txBody>
      </p:sp>
      <p:sp>
        <p:nvSpPr>
          <p:cNvPr id="19" name="Shape 17"/>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0" name="Text 18"/>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If the wrong file is staged, select Unstage (−), not Discard Changes.</a:t>
            </a:r>
            <a:endParaRPr lang="en-US" sz="1200" dirty="0"/>
          </a:p>
        </p:txBody>
      </p:sp>
      <p:sp>
        <p:nvSpPr>
          <p:cNvPr id="21" name="Text 19"/>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間違えたらステージ解除（−）。「変更を破棄」は慎重に。</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3 · GIT</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Commit: save a local snapshot</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コミットでPCに変更履歴を保存</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23</a:t>
            </a:r>
            <a:endParaRPr lang="en-US" sz="1000" dirty="0"/>
          </a:p>
        </p:txBody>
      </p:sp>
      <p:sp>
        <p:nvSpPr>
          <p:cNvPr id="9" name="Text 7"/>
          <p:cNvSpPr/>
          <p:nvPr/>
        </p:nvSpPr>
        <p:spPr>
          <a:xfrm>
            <a:off x="704088" y="1865376"/>
            <a:ext cx="10424160" cy="338328"/>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In Source Control / ソース管理画面で:</a:t>
            </a:r>
            <a:endParaRPr lang="en-US" sz="1600" dirty="0"/>
          </a:p>
        </p:txBody>
      </p:sp>
      <p:sp>
        <p:nvSpPr>
          <p:cNvPr id="10" name="Shape 8"/>
          <p:cNvSpPr/>
          <p:nvPr/>
        </p:nvSpPr>
        <p:spPr>
          <a:xfrm>
            <a:off x="713232" y="2322576"/>
            <a:ext cx="5239512" cy="1965960"/>
          </a:xfrm>
          <a:prstGeom prst="roundRect">
            <a:avLst>
              <a:gd name="adj" fmla="val 6047"/>
            </a:avLst>
          </a:prstGeom>
          <a:solidFill>
            <a:srgbClr val="F3F7FB"/>
          </a:solidFill>
          <a:ln w="10160">
            <a:solidFill>
              <a:srgbClr val="DBE4ED"/>
            </a:solidFill>
            <a:prstDash val="solid"/>
          </a:ln>
        </p:spPr>
        <p:txBody>
          <a:bodyPr/>
          <a:lstStyle/>
          <a:p>
            <a:endParaRPr lang="en-JP"/>
          </a:p>
        </p:txBody>
      </p:sp>
      <p:sp>
        <p:nvSpPr>
          <p:cNvPr id="11" name="Shape 9"/>
          <p:cNvSpPr/>
          <p:nvPr/>
        </p:nvSpPr>
        <p:spPr>
          <a:xfrm>
            <a:off x="713232" y="2322576"/>
            <a:ext cx="64008" cy="1965960"/>
          </a:xfrm>
          <a:prstGeom prst="rect">
            <a:avLst/>
          </a:prstGeom>
          <a:solidFill>
            <a:srgbClr val="2676A8"/>
          </a:solidFill>
          <a:ln w="12700">
            <a:solidFill>
              <a:srgbClr val="2676A8"/>
            </a:solidFill>
            <a:prstDash val="solid"/>
          </a:ln>
        </p:spPr>
        <p:txBody>
          <a:bodyPr/>
          <a:lstStyle/>
          <a:p>
            <a:endParaRPr lang="en-JP"/>
          </a:p>
        </p:txBody>
      </p:sp>
      <p:sp>
        <p:nvSpPr>
          <p:cNvPr id="12" name="Text 10"/>
          <p:cNvSpPr/>
          <p:nvPr/>
        </p:nvSpPr>
        <p:spPr>
          <a:xfrm>
            <a:off x="923544" y="2478024"/>
            <a:ext cx="4828032"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1  Write a message</a:t>
            </a:r>
            <a:endParaRPr lang="en-US" sz="1700" dirty="0"/>
          </a:p>
        </p:txBody>
      </p:sp>
      <p:sp>
        <p:nvSpPr>
          <p:cNvPr id="13" name="Text 11"/>
          <p:cNvSpPr/>
          <p:nvPr/>
        </p:nvSpPr>
        <p:spPr>
          <a:xfrm>
            <a:off x="923544" y="2898648"/>
            <a:ext cx="4818888" cy="766724"/>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Example: `Add first Python script`. Explain the change briefly.</a:t>
            </a:r>
            <a:endParaRPr lang="en-US" sz="1500" dirty="0"/>
          </a:p>
        </p:txBody>
      </p:sp>
      <p:sp>
        <p:nvSpPr>
          <p:cNvPr id="14" name="Text 12"/>
          <p:cNvSpPr/>
          <p:nvPr/>
        </p:nvSpPr>
        <p:spPr>
          <a:xfrm>
            <a:off x="923544" y="3502152"/>
            <a:ext cx="4818888" cy="629107"/>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例：「Add first Python script」。変更内容を簡潔に記述。</a:t>
            </a:r>
            <a:endParaRPr lang="en-US" sz="1200" dirty="0"/>
          </a:p>
        </p:txBody>
      </p:sp>
      <p:sp>
        <p:nvSpPr>
          <p:cNvPr id="15" name="Shape 13"/>
          <p:cNvSpPr/>
          <p:nvPr/>
        </p:nvSpPr>
        <p:spPr>
          <a:xfrm>
            <a:off x="6144768" y="2322576"/>
            <a:ext cx="5239512" cy="1965960"/>
          </a:xfrm>
          <a:prstGeom prst="roundRect">
            <a:avLst>
              <a:gd name="adj" fmla="val 6047"/>
            </a:avLst>
          </a:prstGeom>
          <a:solidFill>
            <a:srgbClr val="F3F7FB"/>
          </a:solidFill>
          <a:ln w="10160">
            <a:solidFill>
              <a:srgbClr val="DBE4ED"/>
            </a:solidFill>
            <a:prstDash val="solid"/>
          </a:ln>
        </p:spPr>
        <p:txBody>
          <a:bodyPr/>
          <a:lstStyle/>
          <a:p>
            <a:endParaRPr lang="en-JP"/>
          </a:p>
        </p:txBody>
      </p:sp>
      <p:sp>
        <p:nvSpPr>
          <p:cNvPr id="16" name="Shape 14"/>
          <p:cNvSpPr/>
          <p:nvPr/>
        </p:nvSpPr>
        <p:spPr>
          <a:xfrm>
            <a:off x="6144768" y="2322576"/>
            <a:ext cx="64008" cy="1965960"/>
          </a:xfrm>
          <a:prstGeom prst="rect">
            <a:avLst/>
          </a:prstGeom>
          <a:solidFill>
            <a:srgbClr val="138D87"/>
          </a:solidFill>
          <a:ln w="12700">
            <a:solidFill>
              <a:srgbClr val="138D87"/>
            </a:solidFill>
            <a:prstDash val="solid"/>
          </a:ln>
        </p:spPr>
        <p:txBody>
          <a:bodyPr/>
          <a:lstStyle/>
          <a:p>
            <a:endParaRPr lang="en-JP"/>
          </a:p>
        </p:txBody>
      </p:sp>
      <p:sp>
        <p:nvSpPr>
          <p:cNvPr id="17" name="Text 15"/>
          <p:cNvSpPr/>
          <p:nvPr/>
        </p:nvSpPr>
        <p:spPr>
          <a:xfrm>
            <a:off x="6355080" y="2478024"/>
            <a:ext cx="4828032"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2  Click Commit</a:t>
            </a:r>
            <a:endParaRPr lang="en-US" sz="1700" dirty="0"/>
          </a:p>
        </p:txBody>
      </p:sp>
      <p:sp>
        <p:nvSpPr>
          <p:cNvPr id="18" name="Text 16"/>
          <p:cNvSpPr/>
          <p:nvPr/>
        </p:nvSpPr>
        <p:spPr>
          <a:xfrm>
            <a:off x="6355080" y="2898648"/>
            <a:ext cx="4818888" cy="766724"/>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The snapshot is now in local Git history, not GitHub.</a:t>
            </a:r>
            <a:endParaRPr lang="en-US" sz="1500" dirty="0"/>
          </a:p>
        </p:txBody>
      </p:sp>
      <p:sp>
        <p:nvSpPr>
          <p:cNvPr id="19" name="Text 17"/>
          <p:cNvSpPr/>
          <p:nvPr/>
        </p:nvSpPr>
        <p:spPr>
          <a:xfrm>
            <a:off x="6355080" y="3502152"/>
            <a:ext cx="4818888" cy="629107"/>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Commitを押すとPCに履歴が保存されます。</a:t>
            </a:r>
            <a:endParaRPr lang="en-US" sz="1200" dirty="0"/>
          </a:p>
        </p:txBody>
      </p:sp>
      <p:sp>
        <p:nvSpPr>
          <p:cNvPr id="20" name="Shape 18"/>
          <p:cNvSpPr/>
          <p:nvPr/>
        </p:nvSpPr>
        <p:spPr>
          <a:xfrm>
            <a:off x="658368" y="4636008"/>
            <a:ext cx="10853928" cy="621792"/>
          </a:xfrm>
          <a:prstGeom prst="roundRect">
            <a:avLst>
              <a:gd name="adj" fmla="val 19118"/>
            </a:avLst>
          </a:prstGeom>
          <a:solidFill>
            <a:srgbClr val="10243A"/>
          </a:solidFill>
          <a:ln w="10160">
            <a:solidFill>
              <a:srgbClr val="10243A"/>
            </a:solidFill>
            <a:prstDash val="solid"/>
          </a:ln>
        </p:spPr>
        <p:txBody>
          <a:bodyPr/>
          <a:lstStyle/>
          <a:p>
            <a:endParaRPr lang="en-JP"/>
          </a:p>
        </p:txBody>
      </p:sp>
      <p:sp>
        <p:nvSpPr>
          <p:cNvPr id="21" name="Text 19"/>
          <p:cNvSpPr/>
          <p:nvPr/>
        </p:nvSpPr>
        <p:spPr>
          <a:xfrm>
            <a:off x="914400" y="4782312"/>
            <a:ext cx="10287000" cy="347472"/>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git status</a:t>
            </a:r>
            <a:endParaRPr lang="en-US" sz="1700" dirty="0"/>
          </a:p>
        </p:txBody>
      </p:sp>
      <p:sp>
        <p:nvSpPr>
          <p:cNvPr id="22" name="Shape 20"/>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3" name="Text 21"/>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Save (Ctrl+S) ≠ Commit ≠ Push. These are three separate actions.</a:t>
            </a:r>
            <a:endParaRPr lang="en-US" sz="1200" dirty="0"/>
          </a:p>
        </p:txBody>
      </p:sp>
      <p:sp>
        <p:nvSpPr>
          <p:cNvPr id="24" name="Text 22"/>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保存 ≠ コミット ≠ Push。3つは別の操作です。</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4 · GITHUB</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Connect VS Code to GitHub</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VS CodeからGitHubにサインイン</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24</a:t>
            </a:r>
            <a:endParaRPr lang="en-US" sz="1000" dirty="0"/>
          </a:p>
        </p:txBody>
      </p:sp>
      <p:sp>
        <p:nvSpPr>
          <p:cNvPr id="9" name="Shape 7"/>
          <p:cNvSpPr/>
          <p:nvPr/>
        </p:nvSpPr>
        <p:spPr>
          <a:xfrm>
            <a:off x="685800" y="185623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859536" y="2011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1" name="Text 9"/>
          <p:cNvSpPr/>
          <p:nvPr/>
        </p:nvSpPr>
        <p:spPr>
          <a:xfrm>
            <a:off x="932688" y="2020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2" name="Text 10"/>
          <p:cNvSpPr/>
          <p:nvPr/>
        </p:nvSpPr>
        <p:spPr>
          <a:xfrm>
            <a:off x="1435608" y="1956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Create a GitHub account at github.com if needed.</a:t>
            </a:r>
            <a:endParaRPr lang="en-US" sz="1600" dirty="0"/>
          </a:p>
        </p:txBody>
      </p:sp>
      <p:sp>
        <p:nvSpPr>
          <p:cNvPr id="13" name="Text 11"/>
          <p:cNvSpPr/>
          <p:nvPr/>
        </p:nvSpPr>
        <p:spPr>
          <a:xfrm>
            <a:off x="1444752" y="2359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GitHubのアカウントを用意</a:t>
            </a:r>
            <a:endParaRPr lang="en-US" sz="1200" dirty="0"/>
          </a:p>
        </p:txBody>
      </p:sp>
      <p:sp>
        <p:nvSpPr>
          <p:cNvPr id="14" name="Shape 12"/>
          <p:cNvSpPr/>
          <p:nvPr/>
        </p:nvSpPr>
        <p:spPr>
          <a:xfrm>
            <a:off x="685800" y="297637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859536" y="313182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6" name="Text 14"/>
          <p:cNvSpPr/>
          <p:nvPr/>
        </p:nvSpPr>
        <p:spPr>
          <a:xfrm>
            <a:off x="932688" y="314096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7" name="Text 15"/>
          <p:cNvSpPr/>
          <p:nvPr/>
        </p:nvSpPr>
        <p:spPr>
          <a:xfrm>
            <a:off x="1435608" y="307695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In VS Code, use “Publish to GitHub” (Command Palette).</a:t>
            </a:r>
            <a:endParaRPr lang="en-US" sz="1600" dirty="0"/>
          </a:p>
        </p:txBody>
      </p:sp>
      <p:sp>
        <p:nvSpPr>
          <p:cNvPr id="18" name="Text 16"/>
          <p:cNvSpPr/>
          <p:nvPr/>
        </p:nvSpPr>
        <p:spPr>
          <a:xfrm>
            <a:off x="1444752" y="347929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VS Codeのコマンドパレットから「Publish to GitHub」を実行</a:t>
            </a:r>
            <a:endParaRPr lang="en-US" sz="1200" dirty="0"/>
          </a:p>
        </p:txBody>
      </p:sp>
      <p:sp>
        <p:nvSpPr>
          <p:cNvPr id="19" name="Shape 17"/>
          <p:cNvSpPr/>
          <p:nvPr/>
        </p:nvSpPr>
        <p:spPr>
          <a:xfrm>
            <a:off x="685800" y="409651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859536" y="425196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1" name="Text 19"/>
          <p:cNvSpPr/>
          <p:nvPr/>
        </p:nvSpPr>
        <p:spPr>
          <a:xfrm>
            <a:off x="932688" y="426110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2" name="Text 20"/>
          <p:cNvSpPr/>
          <p:nvPr/>
        </p:nvSpPr>
        <p:spPr>
          <a:xfrm>
            <a:off x="1435608" y="419709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Choose “Sign in” when prompted; complete authorization in the browser.</a:t>
            </a:r>
            <a:endParaRPr lang="en-US" sz="1600" dirty="0"/>
          </a:p>
        </p:txBody>
      </p:sp>
      <p:sp>
        <p:nvSpPr>
          <p:cNvPr id="23" name="Text 21"/>
          <p:cNvSpPr/>
          <p:nvPr/>
        </p:nvSpPr>
        <p:spPr>
          <a:xfrm>
            <a:off x="1444752" y="459943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認証画面が出たらブラウザでログインと許可を実施</a:t>
            </a:r>
            <a:endParaRPr lang="en-US" sz="1200" dirty="0"/>
          </a:p>
        </p:txBody>
      </p:sp>
      <p:sp>
        <p:nvSpPr>
          <p:cNvPr id="24" name="Shape 22"/>
          <p:cNvSpPr/>
          <p:nvPr/>
        </p:nvSpPr>
        <p:spPr>
          <a:xfrm>
            <a:off x="685800" y="521665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859536" y="537210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6" name="Text 24"/>
          <p:cNvSpPr/>
          <p:nvPr/>
        </p:nvSpPr>
        <p:spPr>
          <a:xfrm>
            <a:off x="932688" y="538124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7" name="Text 25"/>
          <p:cNvSpPr/>
          <p:nvPr/>
        </p:nvSpPr>
        <p:spPr>
          <a:xfrm>
            <a:off x="1435608" y="531723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Return to VS Code after browser authentication.</a:t>
            </a:r>
            <a:endParaRPr lang="en-US" sz="1600" dirty="0"/>
          </a:p>
        </p:txBody>
      </p:sp>
      <p:sp>
        <p:nvSpPr>
          <p:cNvPr id="28" name="Text 26"/>
          <p:cNvSpPr/>
          <p:nvPr/>
        </p:nvSpPr>
        <p:spPr>
          <a:xfrm>
            <a:off x="1444752" y="571957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認証後、VS Codeに戻る</a:t>
            </a:r>
            <a:endParaRPr lang="en-US" sz="1200" dirty="0"/>
          </a:p>
        </p:txBody>
      </p:sp>
      <p:sp>
        <p:nvSpPr>
          <p:cNvPr id="29" name="Shape 27"/>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30" name="Text 28"/>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Basic GitHub publishing works with built-in VS Code Git integration; extra GitHub extensions are optional.</a:t>
            </a:r>
            <a:endParaRPr lang="en-US" sz="1200" dirty="0"/>
          </a:p>
        </p:txBody>
      </p:sp>
      <p:sp>
        <p:nvSpPr>
          <p:cNvPr id="31" name="Text 29"/>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基本的なPushには追加のGitHub拡張機能は必須ではありません。</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4 · GITHUB</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Publish your project to GitHub</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GitHubに初回アップロードする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25</a:t>
            </a:r>
            <a:endParaRPr lang="en-US" sz="1000" dirty="0"/>
          </a:p>
        </p:txBody>
      </p:sp>
      <p:sp>
        <p:nvSpPr>
          <p:cNvPr id="9" name="Text 7"/>
          <p:cNvSpPr/>
          <p:nvPr/>
        </p:nvSpPr>
        <p:spPr>
          <a:xfrm>
            <a:off x="704088" y="1856232"/>
            <a:ext cx="10607040" cy="329184"/>
          </a:xfrm>
          <a:prstGeom prst="rect">
            <a:avLst/>
          </a:prstGeom>
          <a:noFill/>
          <a:ln/>
        </p:spPr>
        <p:txBody>
          <a:bodyPr wrap="square" lIns="508" tIns="508" rIns="508" bIns="508" rtlCol="0" anchor="ctr"/>
          <a:lstStyle/>
          <a:p>
            <a:pPr marL="0" indent="0" algn="l">
              <a:buNone/>
            </a:pPr>
            <a:r>
              <a:rPr lang="en-US" sz="1700" dirty="0">
                <a:solidFill>
                  <a:srgbClr val="213348"/>
                </a:solidFill>
                <a:latin typeface="Aptos" pitchFamily="34" charset="0"/>
                <a:ea typeface="Aptos" pitchFamily="34" charset="-122"/>
                <a:cs typeface="Aptos" pitchFamily="34" charset="-120"/>
              </a:rPr>
              <a:t>Command Palette (Ctrl+Shift+P):</a:t>
            </a:r>
            <a:endParaRPr lang="en-US" sz="1700" dirty="0"/>
          </a:p>
        </p:txBody>
      </p:sp>
      <p:sp>
        <p:nvSpPr>
          <p:cNvPr id="10" name="Shape 8"/>
          <p:cNvSpPr/>
          <p:nvPr/>
        </p:nvSpPr>
        <p:spPr>
          <a:xfrm>
            <a:off x="658368" y="2295144"/>
            <a:ext cx="10853928" cy="694944"/>
          </a:xfrm>
          <a:prstGeom prst="roundRect">
            <a:avLst>
              <a:gd name="adj" fmla="val 17105"/>
            </a:avLst>
          </a:prstGeom>
          <a:solidFill>
            <a:srgbClr val="10243A"/>
          </a:solidFill>
          <a:ln w="10160">
            <a:solidFill>
              <a:srgbClr val="10243A"/>
            </a:solidFill>
            <a:prstDash val="solid"/>
          </a:ln>
        </p:spPr>
        <p:txBody>
          <a:bodyPr/>
          <a:lstStyle/>
          <a:p>
            <a:endParaRPr lang="en-JP"/>
          </a:p>
        </p:txBody>
      </p:sp>
      <p:sp>
        <p:nvSpPr>
          <p:cNvPr id="11" name="Text 9"/>
          <p:cNvSpPr/>
          <p:nvPr/>
        </p:nvSpPr>
        <p:spPr>
          <a:xfrm>
            <a:off x="914400" y="2441448"/>
            <a:ext cx="10287000" cy="420624"/>
          </a:xfrm>
          <a:prstGeom prst="rect">
            <a:avLst/>
          </a:prstGeom>
          <a:noFill/>
          <a:ln/>
        </p:spPr>
        <p:txBody>
          <a:bodyPr wrap="square" lIns="508" tIns="508" rIns="508" bIns="508" rtlCol="0" anchor="ctr"/>
          <a:lstStyle/>
          <a:p>
            <a:pPr marL="0" indent="0" algn="l">
              <a:buNone/>
            </a:pPr>
            <a:r>
              <a:rPr lang="en-US" sz="1700" dirty="0">
                <a:solidFill>
                  <a:srgbClr val="E7F5FF"/>
                </a:solidFill>
                <a:latin typeface="Consolas" pitchFamily="34" charset="0"/>
                <a:ea typeface="Consolas" pitchFamily="34" charset="-122"/>
                <a:cs typeface="Consolas" pitchFamily="34" charset="-120"/>
              </a:rPr>
              <a:t>Publish to GitHub</a:t>
            </a:r>
            <a:endParaRPr lang="en-US" sz="1700" dirty="0"/>
          </a:p>
        </p:txBody>
      </p:sp>
      <p:sp>
        <p:nvSpPr>
          <p:cNvPr id="12" name="Shape 10"/>
          <p:cNvSpPr/>
          <p:nvPr/>
        </p:nvSpPr>
        <p:spPr>
          <a:xfrm>
            <a:off x="694944" y="3200400"/>
            <a:ext cx="5266944" cy="1847088"/>
          </a:xfrm>
          <a:prstGeom prst="roundRect">
            <a:avLst>
              <a:gd name="adj" fmla="val 6436"/>
            </a:avLst>
          </a:prstGeom>
          <a:solidFill>
            <a:srgbClr val="F3F7FB"/>
          </a:solidFill>
          <a:ln w="10160">
            <a:solidFill>
              <a:srgbClr val="DBE4ED"/>
            </a:solidFill>
            <a:prstDash val="solid"/>
          </a:ln>
        </p:spPr>
        <p:txBody>
          <a:bodyPr/>
          <a:lstStyle/>
          <a:p>
            <a:endParaRPr lang="en-JP"/>
          </a:p>
        </p:txBody>
      </p:sp>
      <p:sp>
        <p:nvSpPr>
          <p:cNvPr id="13" name="Shape 11"/>
          <p:cNvSpPr/>
          <p:nvPr/>
        </p:nvSpPr>
        <p:spPr>
          <a:xfrm>
            <a:off x="694944" y="3200400"/>
            <a:ext cx="64008" cy="1847088"/>
          </a:xfrm>
          <a:prstGeom prst="rect">
            <a:avLst/>
          </a:prstGeom>
          <a:solidFill>
            <a:srgbClr val="2676A8"/>
          </a:solidFill>
          <a:ln w="12700">
            <a:solidFill>
              <a:srgbClr val="2676A8"/>
            </a:solidFill>
            <a:prstDash val="solid"/>
          </a:ln>
        </p:spPr>
        <p:txBody>
          <a:bodyPr/>
          <a:lstStyle/>
          <a:p>
            <a:endParaRPr lang="en-JP"/>
          </a:p>
        </p:txBody>
      </p:sp>
      <p:sp>
        <p:nvSpPr>
          <p:cNvPr id="14" name="Text 12"/>
          <p:cNvSpPr/>
          <p:nvPr/>
        </p:nvSpPr>
        <p:spPr>
          <a:xfrm>
            <a:off x="905256" y="3355848"/>
            <a:ext cx="4855464"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Repository name</a:t>
            </a:r>
            <a:endParaRPr lang="en-US" sz="1700" dirty="0"/>
          </a:p>
        </p:txBody>
      </p:sp>
      <p:sp>
        <p:nvSpPr>
          <p:cNvPr id="15" name="Text 13"/>
          <p:cNvSpPr/>
          <p:nvPr/>
        </p:nvSpPr>
        <p:spPr>
          <a:xfrm>
            <a:off x="905256" y="3776472"/>
            <a:ext cx="4846320" cy="720364"/>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Enter `face-recognition-practice` (or another unused name).</a:t>
            </a:r>
            <a:endParaRPr lang="en-US" sz="1500" dirty="0"/>
          </a:p>
        </p:txBody>
      </p:sp>
      <p:sp>
        <p:nvSpPr>
          <p:cNvPr id="16" name="Text 14"/>
          <p:cNvSpPr/>
          <p:nvPr/>
        </p:nvSpPr>
        <p:spPr>
          <a:xfrm>
            <a:off x="905256" y="4308653"/>
            <a:ext cx="4846320" cy="59106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リポジトリ名を入力します。</a:t>
            </a:r>
            <a:endParaRPr lang="en-US" sz="1200" dirty="0"/>
          </a:p>
        </p:txBody>
      </p:sp>
      <p:sp>
        <p:nvSpPr>
          <p:cNvPr id="17" name="Shape 15"/>
          <p:cNvSpPr/>
          <p:nvPr/>
        </p:nvSpPr>
        <p:spPr>
          <a:xfrm>
            <a:off x="6163056" y="3200400"/>
            <a:ext cx="5266944" cy="1847088"/>
          </a:xfrm>
          <a:prstGeom prst="roundRect">
            <a:avLst>
              <a:gd name="adj" fmla="val 6436"/>
            </a:avLst>
          </a:prstGeom>
          <a:solidFill>
            <a:srgbClr val="F3F7FB"/>
          </a:solidFill>
          <a:ln w="10160">
            <a:solidFill>
              <a:srgbClr val="DBE4ED"/>
            </a:solidFill>
            <a:prstDash val="solid"/>
          </a:ln>
        </p:spPr>
        <p:txBody>
          <a:bodyPr/>
          <a:lstStyle/>
          <a:p>
            <a:endParaRPr lang="en-JP"/>
          </a:p>
        </p:txBody>
      </p:sp>
      <p:sp>
        <p:nvSpPr>
          <p:cNvPr id="18" name="Shape 16"/>
          <p:cNvSpPr/>
          <p:nvPr/>
        </p:nvSpPr>
        <p:spPr>
          <a:xfrm>
            <a:off x="6163056" y="3200400"/>
            <a:ext cx="64008" cy="1847088"/>
          </a:xfrm>
          <a:prstGeom prst="rect">
            <a:avLst/>
          </a:prstGeom>
          <a:solidFill>
            <a:srgbClr val="247D60"/>
          </a:solidFill>
          <a:ln w="12700">
            <a:solidFill>
              <a:srgbClr val="247D60"/>
            </a:solidFill>
            <a:prstDash val="solid"/>
          </a:ln>
        </p:spPr>
        <p:txBody>
          <a:bodyPr/>
          <a:lstStyle/>
          <a:p>
            <a:endParaRPr lang="en-JP"/>
          </a:p>
        </p:txBody>
      </p:sp>
      <p:sp>
        <p:nvSpPr>
          <p:cNvPr id="19" name="Text 17"/>
          <p:cNvSpPr/>
          <p:nvPr/>
        </p:nvSpPr>
        <p:spPr>
          <a:xfrm>
            <a:off x="6373368" y="3355848"/>
            <a:ext cx="4855464" cy="347472"/>
          </a:xfrm>
          <a:prstGeom prst="rect">
            <a:avLst/>
          </a:prstGeom>
          <a:noFill/>
          <a:ln/>
        </p:spPr>
        <p:txBody>
          <a:bodyPr wrap="square" lIns="508" tIns="508" rIns="508" bIns="508" rtlCol="0" anchor="ctr"/>
          <a:lstStyle/>
          <a:p>
            <a:pPr marL="0" indent="0" algn="l">
              <a:buNone/>
            </a:pPr>
            <a:r>
              <a:rPr lang="en-US" sz="1700" b="1" dirty="0">
                <a:solidFill>
                  <a:srgbClr val="247D60"/>
                </a:solidFill>
                <a:latin typeface="Aptos" pitchFamily="34" charset="0"/>
                <a:ea typeface="Aptos" pitchFamily="34" charset="-122"/>
                <a:cs typeface="Aptos" pitchFamily="34" charset="-120"/>
              </a:rPr>
              <a:t>Choose PRIVATE</a:t>
            </a:r>
            <a:endParaRPr lang="en-US" sz="1700" dirty="0"/>
          </a:p>
        </p:txBody>
      </p:sp>
      <p:sp>
        <p:nvSpPr>
          <p:cNvPr id="20" name="Text 18"/>
          <p:cNvSpPr/>
          <p:nvPr/>
        </p:nvSpPr>
        <p:spPr>
          <a:xfrm>
            <a:off x="6373368" y="3776472"/>
            <a:ext cx="4846320" cy="720364"/>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Select private for classroom practice, especially if there is any uncertainty about data.</a:t>
            </a:r>
            <a:endParaRPr lang="en-US" sz="1500" dirty="0"/>
          </a:p>
        </p:txBody>
      </p:sp>
      <p:sp>
        <p:nvSpPr>
          <p:cNvPr id="21" name="Text 19"/>
          <p:cNvSpPr/>
          <p:nvPr/>
        </p:nvSpPr>
        <p:spPr>
          <a:xfrm>
            <a:off x="6373368" y="4308653"/>
            <a:ext cx="4846320" cy="59106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授業用はPrivate（非公開）を推奨。</a:t>
            </a:r>
            <a:endParaRPr lang="en-US" sz="1200" dirty="0"/>
          </a:p>
        </p:txBody>
      </p:sp>
      <p:sp>
        <p:nvSpPr>
          <p:cNvPr id="22" name="Shape 20"/>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3" name="Text 21"/>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VS Code creates a remote GitHub repository and pushes your local commits.</a:t>
            </a:r>
            <a:endParaRPr lang="en-US" sz="1200" dirty="0"/>
          </a:p>
        </p:txBody>
      </p:sp>
      <p:sp>
        <p:nvSpPr>
          <p:cNvPr id="24" name="Text 22"/>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GitHub上に新しいリポジトリを作成し、ローカルのコミットを送信。</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4 · GITHUB</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Verify the upload on GitHub</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GitHubでアップロードを確認する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26</a:t>
            </a:r>
            <a:endParaRPr lang="en-US" sz="1000" dirty="0"/>
          </a:p>
        </p:txBody>
      </p:sp>
      <p:sp>
        <p:nvSpPr>
          <p:cNvPr id="9" name="Shape 7"/>
          <p:cNvSpPr/>
          <p:nvPr/>
        </p:nvSpPr>
        <p:spPr>
          <a:xfrm>
            <a:off x="685800" y="185623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859536" y="201168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1" name="Text 9"/>
          <p:cNvSpPr/>
          <p:nvPr/>
        </p:nvSpPr>
        <p:spPr>
          <a:xfrm>
            <a:off x="932688" y="202082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2" name="Text 10"/>
          <p:cNvSpPr/>
          <p:nvPr/>
        </p:nvSpPr>
        <p:spPr>
          <a:xfrm>
            <a:off x="1435608" y="195681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Open github.com and sign in.</a:t>
            </a:r>
            <a:endParaRPr lang="en-US" sz="1600" dirty="0"/>
          </a:p>
        </p:txBody>
      </p:sp>
      <p:sp>
        <p:nvSpPr>
          <p:cNvPr id="13" name="Text 11"/>
          <p:cNvSpPr/>
          <p:nvPr/>
        </p:nvSpPr>
        <p:spPr>
          <a:xfrm>
            <a:off x="1444752" y="235915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github.comにアクセスしてログイン</a:t>
            </a:r>
            <a:endParaRPr lang="en-US" sz="1200" dirty="0"/>
          </a:p>
        </p:txBody>
      </p:sp>
      <p:sp>
        <p:nvSpPr>
          <p:cNvPr id="14" name="Shape 12"/>
          <p:cNvSpPr/>
          <p:nvPr/>
        </p:nvSpPr>
        <p:spPr>
          <a:xfrm>
            <a:off x="685800" y="297637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859536" y="313182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16" name="Text 14"/>
          <p:cNvSpPr/>
          <p:nvPr/>
        </p:nvSpPr>
        <p:spPr>
          <a:xfrm>
            <a:off x="932688" y="314096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7" name="Text 15"/>
          <p:cNvSpPr/>
          <p:nvPr/>
        </p:nvSpPr>
        <p:spPr>
          <a:xfrm>
            <a:off x="1435608" y="307695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Open your newly created repository.</a:t>
            </a:r>
            <a:endParaRPr lang="en-US" sz="1600" dirty="0"/>
          </a:p>
        </p:txBody>
      </p:sp>
      <p:sp>
        <p:nvSpPr>
          <p:cNvPr id="18" name="Text 16"/>
          <p:cNvSpPr/>
          <p:nvPr/>
        </p:nvSpPr>
        <p:spPr>
          <a:xfrm>
            <a:off x="1444752" y="347929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作成したリポジトリを開く</a:t>
            </a:r>
            <a:endParaRPr lang="en-US" sz="1200" dirty="0"/>
          </a:p>
        </p:txBody>
      </p:sp>
      <p:sp>
        <p:nvSpPr>
          <p:cNvPr id="19" name="Shape 17"/>
          <p:cNvSpPr/>
          <p:nvPr/>
        </p:nvSpPr>
        <p:spPr>
          <a:xfrm>
            <a:off x="685800" y="409651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859536" y="425196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1" name="Text 19"/>
          <p:cNvSpPr/>
          <p:nvPr/>
        </p:nvSpPr>
        <p:spPr>
          <a:xfrm>
            <a:off x="932688" y="426110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2" name="Text 20"/>
          <p:cNvSpPr/>
          <p:nvPr/>
        </p:nvSpPr>
        <p:spPr>
          <a:xfrm>
            <a:off x="1435608" y="419709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Check `hello.py`, `README.md`, and `.gitignore` are visible.</a:t>
            </a:r>
            <a:endParaRPr lang="en-US" sz="1600" dirty="0"/>
          </a:p>
        </p:txBody>
      </p:sp>
      <p:sp>
        <p:nvSpPr>
          <p:cNvPr id="23" name="Text 21"/>
          <p:cNvSpPr/>
          <p:nvPr/>
        </p:nvSpPr>
        <p:spPr>
          <a:xfrm>
            <a:off x="1444752" y="459943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hello.pyやREADME.mdが表示されるか確認</a:t>
            </a:r>
            <a:endParaRPr lang="en-US" sz="1200" dirty="0"/>
          </a:p>
        </p:txBody>
      </p:sp>
      <p:sp>
        <p:nvSpPr>
          <p:cNvPr id="24" name="Shape 22"/>
          <p:cNvSpPr/>
          <p:nvPr/>
        </p:nvSpPr>
        <p:spPr>
          <a:xfrm>
            <a:off x="685800" y="5216652"/>
            <a:ext cx="10789920" cy="1001268"/>
          </a:xfrm>
          <a:prstGeom prst="roundRect">
            <a:avLst>
              <a:gd name="adj" fmla="val 11872"/>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859536" y="5372100"/>
            <a:ext cx="402336" cy="402336"/>
          </a:xfrm>
          <a:prstGeom prst="roundRect">
            <a:avLst>
              <a:gd name="adj" fmla="val 29545"/>
            </a:avLst>
          </a:prstGeom>
          <a:solidFill>
            <a:srgbClr val="2676A8"/>
          </a:solidFill>
          <a:ln w="10160">
            <a:solidFill>
              <a:srgbClr val="2676A8"/>
            </a:solidFill>
            <a:prstDash val="solid"/>
          </a:ln>
        </p:spPr>
        <p:txBody>
          <a:bodyPr/>
          <a:lstStyle/>
          <a:p>
            <a:endParaRPr lang="en-JP"/>
          </a:p>
        </p:txBody>
      </p:sp>
      <p:sp>
        <p:nvSpPr>
          <p:cNvPr id="26" name="Text 24"/>
          <p:cNvSpPr/>
          <p:nvPr/>
        </p:nvSpPr>
        <p:spPr>
          <a:xfrm>
            <a:off x="932688" y="5381244"/>
            <a:ext cx="256032" cy="338328"/>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7" name="Text 25"/>
          <p:cNvSpPr/>
          <p:nvPr/>
        </p:nvSpPr>
        <p:spPr>
          <a:xfrm>
            <a:off x="1435608" y="5317236"/>
            <a:ext cx="9601200" cy="393192"/>
          </a:xfrm>
          <a:prstGeom prst="rect">
            <a:avLst/>
          </a:prstGeom>
          <a:noFill/>
          <a:ln/>
        </p:spPr>
        <p:txBody>
          <a:bodyPr wrap="square" lIns="508" tIns="508" rIns="508" bIns="508" rtlCol="0" anchor="ctr"/>
          <a:lstStyle/>
          <a:p>
            <a:pPr marL="0" indent="0" algn="l">
              <a:buNone/>
            </a:pPr>
            <a:r>
              <a:rPr lang="en-US" sz="1600" b="1" dirty="0">
                <a:solidFill>
                  <a:srgbClr val="213348"/>
                </a:solidFill>
                <a:latin typeface="Aptos" pitchFamily="34" charset="0"/>
                <a:ea typeface="Aptos" pitchFamily="34" charset="-122"/>
                <a:cs typeface="Aptos" pitchFamily="34" charset="-120"/>
              </a:rPr>
              <a:t>Check that personal images and secrets are NOT present.</a:t>
            </a:r>
            <a:endParaRPr lang="en-US" sz="1600" dirty="0"/>
          </a:p>
        </p:txBody>
      </p:sp>
      <p:sp>
        <p:nvSpPr>
          <p:cNvPr id="28" name="Text 26"/>
          <p:cNvSpPr/>
          <p:nvPr/>
        </p:nvSpPr>
        <p:spPr>
          <a:xfrm>
            <a:off x="1444752" y="5719572"/>
            <a:ext cx="9509760" cy="292608"/>
          </a:xfrm>
          <a:prstGeom prst="rect">
            <a:avLst/>
          </a:prstGeom>
          <a:noFill/>
          <a:ln/>
        </p:spPr>
        <p:txBody>
          <a:bodyPr wrap="square" lIns="508" tIns="508" rIns="508" bIns="508" rtlCol="0" anchor="ctr"/>
          <a:lstStyle/>
          <a:p>
            <a:pPr marL="0" indent="0" algn="l">
              <a:buNone/>
            </a:pPr>
            <a:r>
              <a:rPr lang="en-US" sz="1200" dirty="0">
                <a:solidFill>
                  <a:srgbClr val="546678"/>
                </a:solidFill>
                <a:latin typeface="Aptos" pitchFamily="34" charset="0"/>
                <a:ea typeface="Aptos" pitchFamily="34" charset="-122"/>
                <a:cs typeface="Aptos" pitchFamily="34" charset="-120"/>
              </a:rPr>
              <a:t>顔写真・個人情報・秘密情報がないことを確認</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4 · GITHUB</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Upload changes after the first publish</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2回目以降の更新を送信する</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27</a:t>
            </a:r>
            <a:endParaRPr lang="en-US" sz="1000" dirty="0"/>
          </a:p>
        </p:txBody>
      </p:sp>
      <p:sp>
        <p:nvSpPr>
          <p:cNvPr id="9" name="Shape 7"/>
          <p:cNvSpPr/>
          <p:nvPr/>
        </p:nvSpPr>
        <p:spPr>
          <a:xfrm>
            <a:off x="722376" y="1856232"/>
            <a:ext cx="10689336" cy="804672"/>
          </a:xfrm>
          <a:prstGeom prst="roundRect">
            <a:avLst>
              <a:gd name="adj" fmla="val 14773"/>
            </a:avLst>
          </a:prstGeom>
          <a:solidFill>
            <a:srgbClr val="F3F7FB"/>
          </a:solidFill>
          <a:ln w="10160">
            <a:solidFill>
              <a:srgbClr val="DBE4ED"/>
            </a:solidFill>
            <a:prstDash val="solid"/>
          </a:ln>
        </p:spPr>
        <p:txBody>
          <a:bodyPr/>
          <a:lstStyle/>
          <a:p>
            <a:endParaRPr lang="en-JP"/>
          </a:p>
        </p:txBody>
      </p:sp>
      <p:sp>
        <p:nvSpPr>
          <p:cNvPr id="10" name="Text 8"/>
          <p:cNvSpPr/>
          <p:nvPr/>
        </p:nvSpPr>
        <p:spPr>
          <a:xfrm>
            <a:off x="914400" y="2039112"/>
            <a:ext cx="365760" cy="411480"/>
          </a:xfrm>
          <a:prstGeom prst="rect">
            <a:avLst/>
          </a:prstGeom>
          <a:noFill/>
          <a:ln/>
        </p:spPr>
        <p:txBody>
          <a:bodyPr wrap="square" lIns="508" tIns="508" rIns="508" bIns="508" rtlCol="0" anchor="ctr"/>
          <a:lstStyle/>
          <a:p>
            <a:pPr marL="0" indent="0" algn="l">
              <a:buNone/>
            </a:pPr>
            <a:r>
              <a:rPr lang="en-US" sz="2000" b="1" dirty="0">
                <a:solidFill>
                  <a:srgbClr val="138D87"/>
                </a:solidFill>
                <a:latin typeface="Aptos" pitchFamily="34" charset="0"/>
                <a:ea typeface="Aptos" pitchFamily="34" charset="-122"/>
                <a:cs typeface="Aptos" pitchFamily="34" charset="-120"/>
              </a:rPr>
              <a:t>1</a:t>
            </a:r>
            <a:endParaRPr lang="en-US" sz="2000" dirty="0"/>
          </a:p>
        </p:txBody>
      </p:sp>
      <p:sp>
        <p:nvSpPr>
          <p:cNvPr id="11" name="Text 9"/>
          <p:cNvSpPr/>
          <p:nvPr/>
        </p:nvSpPr>
        <p:spPr>
          <a:xfrm>
            <a:off x="1517904" y="1975104"/>
            <a:ext cx="3657600" cy="338328"/>
          </a:xfrm>
          <a:prstGeom prst="rect">
            <a:avLst/>
          </a:prstGeom>
          <a:noFill/>
          <a:ln/>
        </p:spPr>
        <p:txBody>
          <a:bodyPr wrap="square" lIns="508" tIns="508" rIns="508" bIns="508" rtlCol="0" anchor="ctr"/>
          <a:lstStyle/>
          <a:p>
            <a:pPr marL="0" indent="0" algn="l">
              <a:buNone/>
            </a:pPr>
            <a:r>
              <a:rPr lang="en-US" sz="1800" b="1" dirty="0">
                <a:solidFill>
                  <a:srgbClr val="213348"/>
                </a:solidFill>
                <a:latin typeface="Aptos" pitchFamily="34" charset="0"/>
                <a:ea typeface="Aptos" pitchFamily="34" charset="-122"/>
                <a:cs typeface="Aptos" pitchFamily="34" charset="-120"/>
              </a:rPr>
              <a:t>Edit + Save</a:t>
            </a:r>
            <a:endParaRPr lang="en-US" sz="1800" dirty="0"/>
          </a:p>
        </p:txBody>
      </p:sp>
      <p:sp>
        <p:nvSpPr>
          <p:cNvPr id="12" name="Text 10"/>
          <p:cNvSpPr/>
          <p:nvPr/>
        </p:nvSpPr>
        <p:spPr>
          <a:xfrm>
            <a:off x="4846320" y="2002536"/>
            <a:ext cx="4663440" cy="32004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コードを編集して保存</a:t>
            </a:r>
            <a:endParaRPr lang="en-US" sz="1300" dirty="0"/>
          </a:p>
        </p:txBody>
      </p:sp>
      <p:sp>
        <p:nvSpPr>
          <p:cNvPr id="13" name="Text 11"/>
          <p:cNvSpPr/>
          <p:nvPr/>
        </p:nvSpPr>
        <p:spPr>
          <a:xfrm>
            <a:off x="9692640" y="2057400"/>
            <a:ext cx="1463040" cy="256032"/>
          </a:xfrm>
          <a:prstGeom prst="rect">
            <a:avLst/>
          </a:prstGeom>
          <a:noFill/>
          <a:ln/>
        </p:spPr>
        <p:txBody>
          <a:bodyPr wrap="square" lIns="508" tIns="508" rIns="508" bIns="508" rtlCol="0" anchor="ctr"/>
          <a:lstStyle/>
          <a:p>
            <a:pPr marL="0" indent="0" algn="l">
              <a:buNone/>
            </a:pPr>
            <a:r>
              <a:rPr lang="en-US" sz="1100" dirty="0">
                <a:solidFill>
                  <a:srgbClr val="2676A8"/>
                </a:solidFill>
                <a:latin typeface="Aptos" pitchFamily="34" charset="0"/>
                <a:ea typeface="Aptos" pitchFamily="34" charset="-122"/>
                <a:cs typeface="Aptos" pitchFamily="34" charset="-120"/>
              </a:rPr>
              <a:t>Ctrl+S</a:t>
            </a:r>
            <a:endParaRPr lang="en-US" sz="1100" dirty="0"/>
          </a:p>
        </p:txBody>
      </p:sp>
      <p:sp>
        <p:nvSpPr>
          <p:cNvPr id="14" name="Shape 12"/>
          <p:cNvSpPr/>
          <p:nvPr/>
        </p:nvSpPr>
        <p:spPr>
          <a:xfrm>
            <a:off x="722376" y="2798064"/>
            <a:ext cx="10689336" cy="804672"/>
          </a:xfrm>
          <a:prstGeom prst="roundRect">
            <a:avLst>
              <a:gd name="adj" fmla="val 14773"/>
            </a:avLst>
          </a:prstGeom>
          <a:solidFill>
            <a:srgbClr val="F3F7FB"/>
          </a:solidFill>
          <a:ln w="10160">
            <a:solidFill>
              <a:srgbClr val="DBE4ED"/>
            </a:solidFill>
            <a:prstDash val="solid"/>
          </a:ln>
        </p:spPr>
        <p:txBody>
          <a:bodyPr/>
          <a:lstStyle/>
          <a:p>
            <a:endParaRPr lang="en-JP"/>
          </a:p>
        </p:txBody>
      </p:sp>
      <p:sp>
        <p:nvSpPr>
          <p:cNvPr id="15" name="Text 13"/>
          <p:cNvSpPr/>
          <p:nvPr/>
        </p:nvSpPr>
        <p:spPr>
          <a:xfrm>
            <a:off x="914400" y="2980944"/>
            <a:ext cx="365760" cy="411480"/>
          </a:xfrm>
          <a:prstGeom prst="rect">
            <a:avLst/>
          </a:prstGeom>
          <a:noFill/>
          <a:ln/>
        </p:spPr>
        <p:txBody>
          <a:bodyPr wrap="square" lIns="508" tIns="508" rIns="508" bIns="508" rtlCol="0" anchor="ctr"/>
          <a:lstStyle/>
          <a:p>
            <a:pPr marL="0" indent="0" algn="l">
              <a:buNone/>
            </a:pPr>
            <a:r>
              <a:rPr lang="en-US" sz="2000" b="1" dirty="0">
                <a:solidFill>
                  <a:srgbClr val="138D87"/>
                </a:solidFill>
                <a:latin typeface="Aptos" pitchFamily="34" charset="0"/>
                <a:ea typeface="Aptos" pitchFamily="34" charset="-122"/>
                <a:cs typeface="Aptos" pitchFamily="34" charset="-120"/>
              </a:rPr>
              <a:t>2</a:t>
            </a:r>
            <a:endParaRPr lang="en-US" sz="2000" dirty="0"/>
          </a:p>
        </p:txBody>
      </p:sp>
      <p:sp>
        <p:nvSpPr>
          <p:cNvPr id="16" name="Text 14"/>
          <p:cNvSpPr/>
          <p:nvPr/>
        </p:nvSpPr>
        <p:spPr>
          <a:xfrm>
            <a:off x="1517904" y="2916936"/>
            <a:ext cx="3657600" cy="338328"/>
          </a:xfrm>
          <a:prstGeom prst="rect">
            <a:avLst/>
          </a:prstGeom>
          <a:noFill/>
          <a:ln/>
        </p:spPr>
        <p:txBody>
          <a:bodyPr wrap="square" lIns="508" tIns="508" rIns="508" bIns="508" rtlCol="0" anchor="ctr"/>
          <a:lstStyle/>
          <a:p>
            <a:pPr marL="0" indent="0" algn="l">
              <a:buNone/>
            </a:pPr>
            <a:r>
              <a:rPr lang="en-US" sz="1800" b="1" dirty="0">
                <a:solidFill>
                  <a:srgbClr val="213348"/>
                </a:solidFill>
                <a:latin typeface="Aptos" pitchFamily="34" charset="0"/>
                <a:ea typeface="Aptos" pitchFamily="34" charset="-122"/>
                <a:cs typeface="Aptos" pitchFamily="34" charset="-120"/>
              </a:rPr>
              <a:t>Stage (+)</a:t>
            </a:r>
            <a:endParaRPr lang="en-US" sz="1800" dirty="0"/>
          </a:p>
        </p:txBody>
      </p:sp>
      <p:sp>
        <p:nvSpPr>
          <p:cNvPr id="17" name="Text 15"/>
          <p:cNvSpPr/>
          <p:nvPr/>
        </p:nvSpPr>
        <p:spPr>
          <a:xfrm>
            <a:off x="4846320" y="2944368"/>
            <a:ext cx="4663440" cy="32004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変更をステージング</a:t>
            </a:r>
            <a:endParaRPr lang="en-US" sz="1300" dirty="0"/>
          </a:p>
        </p:txBody>
      </p:sp>
      <p:sp>
        <p:nvSpPr>
          <p:cNvPr id="18" name="Text 16"/>
          <p:cNvSpPr/>
          <p:nvPr/>
        </p:nvSpPr>
        <p:spPr>
          <a:xfrm>
            <a:off x="9692640" y="2999232"/>
            <a:ext cx="1463040" cy="256032"/>
          </a:xfrm>
          <a:prstGeom prst="rect">
            <a:avLst/>
          </a:prstGeom>
          <a:noFill/>
          <a:ln/>
        </p:spPr>
        <p:txBody>
          <a:bodyPr wrap="square" lIns="508" tIns="508" rIns="508" bIns="508" rtlCol="0" anchor="ctr"/>
          <a:lstStyle/>
          <a:p>
            <a:pPr marL="0" indent="0" algn="l">
              <a:buNone/>
            </a:pPr>
            <a:r>
              <a:rPr lang="en-US" sz="1100" dirty="0">
                <a:solidFill>
                  <a:srgbClr val="2676A8"/>
                </a:solidFill>
                <a:latin typeface="Aptos" pitchFamily="34" charset="0"/>
                <a:ea typeface="Aptos" pitchFamily="34" charset="-122"/>
                <a:cs typeface="Aptos" pitchFamily="34" charset="-120"/>
              </a:rPr>
              <a:t>Source Control</a:t>
            </a:r>
            <a:endParaRPr lang="en-US" sz="1100" dirty="0"/>
          </a:p>
        </p:txBody>
      </p:sp>
      <p:sp>
        <p:nvSpPr>
          <p:cNvPr id="19" name="Shape 17"/>
          <p:cNvSpPr/>
          <p:nvPr/>
        </p:nvSpPr>
        <p:spPr>
          <a:xfrm>
            <a:off x="722376" y="3739896"/>
            <a:ext cx="10689336" cy="804672"/>
          </a:xfrm>
          <a:prstGeom prst="roundRect">
            <a:avLst>
              <a:gd name="adj" fmla="val 14773"/>
            </a:avLst>
          </a:prstGeom>
          <a:solidFill>
            <a:srgbClr val="F3F7FB"/>
          </a:solidFill>
          <a:ln w="10160">
            <a:solidFill>
              <a:srgbClr val="DBE4ED"/>
            </a:solidFill>
            <a:prstDash val="solid"/>
          </a:ln>
        </p:spPr>
        <p:txBody>
          <a:bodyPr/>
          <a:lstStyle/>
          <a:p>
            <a:endParaRPr lang="en-JP"/>
          </a:p>
        </p:txBody>
      </p:sp>
      <p:sp>
        <p:nvSpPr>
          <p:cNvPr id="20" name="Text 18"/>
          <p:cNvSpPr/>
          <p:nvPr/>
        </p:nvSpPr>
        <p:spPr>
          <a:xfrm>
            <a:off x="914400" y="3922776"/>
            <a:ext cx="365760" cy="411480"/>
          </a:xfrm>
          <a:prstGeom prst="rect">
            <a:avLst/>
          </a:prstGeom>
          <a:noFill/>
          <a:ln/>
        </p:spPr>
        <p:txBody>
          <a:bodyPr wrap="square" lIns="508" tIns="508" rIns="508" bIns="508" rtlCol="0" anchor="ctr"/>
          <a:lstStyle/>
          <a:p>
            <a:pPr marL="0" indent="0" algn="l">
              <a:buNone/>
            </a:pPr>
            <a:r>
              <a:rPr lang="en-US" sz="2000" b="1" dirty="0">
                <a:solidFill>
                  <a:srgbClr val="138D87"/>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1517904" y="3858768"/>
            <a:ext cx="3657600" cy="338328"/>
          </a:xfrm>
          <a:prstGeom prst="rect">
            <a:avLst/>
          </a:prstGeom>
          <a:noFill/>
          <a:ln/>
        </p:spPr>
        <p:txBody>
          <a:bodyPr wrap="square" lIns="508" tIns="508" rIns="508" bIns="508" rtlCol="0" anchor="ctr"/>
          <a:lstStyle/>
          <a:p>
            <a:pPr marL="0" indent="0" algn="l">
              <a:buNone/>
            </a:pPr>
            <a:r>
              <a:rPr lang="en-US" sz="1800" b="1" dirty="0">
                <a:solidFill>
                  <a:srgbClr val="213348"/>
                </a:solidFill>
                <a:latin typeface="Aptos" pitchFamily="34" charset="0"/>
                <a:ea typeface="Aptos" pitchFamily="34" charset="-122"/>
                <a:cs typeface="Aptos" pitchFamily="34" charset="-120"/>
              </a:rPr>
              <a:t>Commit</a:t>
            </a:r>
            <a:endParaRPr lang="en-US" sz="1800" dirty="0"/>
          </a:p>
        </p:txBody>
      </p:sp>
      <p:sp>
        <p:nvSpPr>
          <p:cNvPr id="22" name="Text 20"/>
          <p:cNvSpPr/>
          <p:nvPr/>
        </p:nvSpPr>
        <p:spPr>
          <a:xfrm>
            <a:off x="4846320" y="3886200"/>
            <a:ext cx="4663440" cy="32004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変更履歴をローカルに記録</a:t>
            </a:r>
            <a:endParaRPr lang="en-US" sz="1300" dirty="0"/>
          </a:p>
        </p:txBody>
      </p:sp>
      <p:sp>
        <p:nvSpPr>
          <p:cNvPr id="23" name="Text 21"/>
          <p:cNvSpPr/>
          <p:nvPr/>
        </p:nvSpPr>
        <p:spPr>
          <a:xfrm>
            <a:off x="9692640" y="3941064"/>
            <a:ext cx="1463040" cy="256032"/>
          </a:xfrm>
          <a:prstGeom prst="rect">
            <a:avLst/>
          </a:prstGeom>
          <a:noFill/>
          <a:ln/>
        </p:spPr>
        <p:txBody>
          <a:bodyPr wrap="square" lIns="508" tIns="508" rIns="508" bIns="508" rtlCol="0" anchor="ctr"/>
          <a:lstStyle/>
          <a:p>
            <a:pPr marL="0" indent="0" algn="l">
              <a:buNone/>
            </a:pPr>
            <a:r>
              <a:rPr lang="en-US" sz="1100" dirty="0">
                <a:solidFill>
                  <a:srgbClr val="2676A8"/>
                </a:solidFill>
                <a:latin typeface="Aptos" pitchFamily="34" charset="0"/>
                <a:ea typeface="Aptos" pitchFamily="34" charset="-122"/>
                <a:cs typeface="Aptos" pitchFamily="34" charset="-120"/>
              </a:rPr>
              <a:t>Commit button</a:t>
            </a:r>
            <a:endParaRPr lang="en-US" sz="1100" dirty="0"/>
          </a:p>
        </p:txBody>
      </p:sp>
      <p:sp>
        <p:nvSpPr>
          <p:cNvPr id="24" name="Shape 22"/>
          <p:cNvSpPr/>
          <p:nvPr/>
        </p:nvSpPr>
        <p:spPr>
          <a:xfrm>
            <a:off x="722376" y="4681728"/>
            <a:ext cx="10689336" cy="804672"/>
          </a:xfrm>
          <a:prstGeom prst="roundRect">
            <a:avLst>
              <a:gd name="adj" fmla="val 14773"/>
            </a:avLst>
          </a:prstGeom>
          <a:solidFill>
            <a:srgbClr val="F3F7FB"/>
          </a:solidFill>
          <a:ln w="10160">
            <a:solidFill>
              <a:srgbClr val="DBE4ED"/>
            </a:solidFill>
            <a:prstDash val="solid"/>
          </a:ln>
        </p:spPr>
        <p:txBody>
          <a:bodyPr/>
          <a:lstStyle/>
          <a:p>
            <a:endParaRPr lang="en-JP"/>
          </a:p>
        </p:txBody>
      </p:sp>
      <p:sp>
        <p:nvSpPr>
          <p:cNvPr id="25" name="Text 23"/>
          <p:cNvSpPr/>
          <p:nvPr/>
        </p:nvSpPr>
        <p:spPr>
          <a:xfrm>
            <a:off x="914400" y="4864608"/>
            <a:ext cx="365760" cy="411480"/>
          </a:xfrm>
          <a:prstGeom prst="rect">
            <a:avLst/>
          </a:prstGeom>
          <a:noFill/>
          <a:ln/>
        </p:spPr>
        <p:txBody>
          <a:bodyPr wrap="square" lIns="508" tIns="508" rIns="508" bIns="508" rtlCol="0" anchor="ctr"/>
          <a:lstStyle/>
          <a:p>
            <a:pPr marL="0" indent="0" algn="l">
              <a:buNone/>
            </a:pPr>
            <a:r>
              <a:rPr lang="en-US" sz="2000" b="1" dirty="0">
                <a:solidFill>
                  <a:srgbClr val="138D87"/>
                </a:solidFill>
                <a:latin typeface="Aptos" pitchFamily="34" charset="0"/>
                <a:ea typeface="Aptos" pitchFamily="34" charset="-122"/>
                <a:cs typeface="Aptos" pitchFamily="34" charset="-120"/>
              </a:rPr>
              <a:t>4</a:t>
            </a:r>
            <a:endParaRPr lang="en-US" sz="2000" dirty="0"/>
          </a:p>
        </p:txBody>
      </p:sp>
      <p:sp>
        <p:nvSpPr>
          <p:cNvPr id="26" name="Text 24"/>
          <p:cNvSpPr/>
          <p:nvPr/>
        </p:nvSpPr>
        <p:spPr>
          <a:xfrm>
            <a:off x="1517904" y="4800600"/>
            <a:ext cx="3657600" cy="338328"/>
          </a:xfrm>
          <a:prstGeom prst="rect">
            <a:avLst/>
          </a:prstGeom>
          <a:noFill/>
          <a:ln/>
        </p:spPr>
        <p:txBody>
          <a:bodyPr wrap="square" lIns="508" tIns="508" rIns="508" bIns="508" rtlCol="0" anchor="ctr"/>
          <a:lstStyle/>
          <a:p>
            <a:pPr marL="0" indent="0" algn="l">
              <a:buNone/>
            </a:pPr>
            <a:r>
              <a:rPr lang="en-US" sz="1800" b="1" dirty="0">
                <a:solidFill>
                  <a:srgbClr val="213348"/>
                </a:solidFill>
                <a:latin typeface="Aptos" pitchFamily="34" charset="0"/>
                <a:ea typeface="Aptos" pitchFamily="34" charset="-122"/>
                <a:cs typeface="Aptos" pitchFamily="34" charset="-120"/>
              </a:rPr>
              <a:t>Push / Sync</a:t>
            </a:r>
            <a:endParaRPr lang="en-US" sz="1800" dirty="0"/>
          </a:p>
        </p:txBody>
      </p:sp>
      <p:sp>
        <p:nvSpPr>
          <p:cNvPr id="27" name="Text 25"/>
          <p:cNvSpPr/>
          <p:nvPr/>
        </p:nvSpPr>
        <p:spPr>
          <a:xfrm>
            <a:off x="4846320" y="4828032"/>
            <a:ext cx="4663440" cy="320040"/>
          </a:xfrm>
          <a:prstGeom prst="rect">
            <a:avLst/>
          </a:prstGeom>
          <a:noFill/>
          <a:ln/>
        </p:spPr>
        <p:txBody>
          <a:bodyPr wrap="square" lIns="508" tIns="508" rIns="508" bIns="508" rtlCol="0" anchor="ctr"/>
          <a:lstStyle/>
          <a:p>
            <a:pPr marL="0" indent="0" algn="l">
              <a:buNone/>
            </a:pPr>
            <a:r>
              <a:rPr lang="en-US" sz="1300" dirty="0">
                <a:solidFill>
                  <a:srgbClr val="546678"/>
                </a:solidFill>
                <a:latin typeface="Aptos" pitchFamily="34" charset="0"/>
                <a:ea typeface="Aptos" pitchFamily="34" charset="-122"/>
                <a:cs typeface="Aptos" pitchFamily="34" charset="-120"/>
              </a:rPr>
              <a:t>GitHubへ変更をアップロード</a:t>
            </a:r>
            <a:endParaRPr lang="en-US" sz="1300" dirty="0"/>
          </a:p>
        </p:txBody>
      </p:sp>
      <p:sp>
        <p:nvSpPr>
          <p:cNvPr id="28" name="Text 26"/>
          <p:cNvSpPr/>
          <p:nvPr/>
        </p:nvSpPr>
        <p:spPr>
          <a:xfrm>
            <a:off x="9692640" y="4882896"/>
            <a:ext cx="1463040" cy="256032"/>
          </a:xfrm>
          <a:prstGeom prst="rect">
            <a:avLst/>
          </a:prstGeom>
          <a:noFill/>
          <a:ln/>
        </p:spPr>
        <p:txBody>
          <a:bodyPr wrap="square" lIns="508" tIns="508" rIns="508" bIns="508" rtlCol="0" anchor="ctr"/>
          <a:lstStyle/>
          <a:p>
            <a:pPr marL="0" indent="0" algn="l">
              <a:buNone/>
            </a:pPr>
            <a:r>
              <a:rPr lang="en-US" sz="1100" dirty="0">
                <a:solidFill>
                  <a:srgbClr val="2676A8"/>
                </a:solidFill>
                <a:latin typeface="Aptos" pitchFamily="34" charset="0"/>
                <a:ea typeface="Aptos" pitchFamily="34" charset="-122"/>
                <a:cs typeface="Aptos" pitchFamily="34" charset="-120"/>
              </a:rPr>
              <a:t>Push or Sync Changes</a:t>
            </a:r>
            <a:endParaRPr lang="en-US" sz="1100" dirty="0"/>
          </a:p>
        </p:txBody>
      </p:sp>
      <p:sp>
        <p:nvSpPr>
          <p:cNvPr id="29" name="Shape 27"/>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30" name="Text 28"/>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Sync may pull before pushing. When collaborating, review incoming changes first.</a:t>
            </a:r>
            <a:endParaRPr lang="en-US" sz="1200" dirty="0"/>
          </a:p>
        </p:txBody>
      </p:sp>
      <p:sp>
        <p:nvSpPr>
          <p:cNvPr id="31" name="Text 29"/>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SyncはPullしてからPushすることがあります。共同作業では変更内容を確認。</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PART 4 · GITHUB</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Work on an existing GitHub repository</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既存のGitHubリポジトリを開く</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28</a:t>
            </a:r>
            <a:endParaRPr lang="en-US" sz="1000" dirty="0"/>
          </a:p>
        </p:txBody>
      </p:sp>
      <p:sp>
        <p:nvSpPr>
          <p:cNvPr id="9" name="Shape 7"/>
          <p:cNvSpPr/>
          <p:nvPr/>
        </p:nvSpPr>
        <p:spPr>
          <a:xfrm>
            <a:off x="694944" y="2002536"/>
            <a:ext cx="5239512" cy="2423160"/>
          </a:xfrm>
          <a:prstGeom prst="roundRect">
            <a:avLst>
              <a:gd name="adj" fmla="val 4906"/>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694944" y="2002536"/>
            <a:ext cx="64008" cy="2423160"/>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05256" y="2157984"/>
            <a:ext cx="4828032"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Clone Repository</a:t>
            </a:r>
            <a:endParaRPr lang="en-US" sz="1700" dirty="0"/>
          </a:p>
        </p:txBody>
      </p:sp>
      <p:sp>
        <p:nvSpPr>
          <p:cNvPr id="12" name="Text 10"/>
          <p:cNvSpPr/>
          <p:nvPr/>
        </p:nvSpPr>
        <p:spPr>
          <a:xfrm>
            <a:off x="905256" y="2578608"/>
            <a:ext cx="4818888" cy="94503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Ctrl+Shift+P → “Git: Clone” → paste URL → choose a local folder → Open.</a:t>
            </a:r>
            <a:endParaRPr lang="en-US" sz="1500" dirty="0"/>
          </a:p>
        </p:txBody>
      </p:sp>
      <p:sp>
        <p:nvSpPr>
          <p:cNvPr id="13" name="Text 11"/>
          <p:cNvSpPr/>
          <p:nvPr/>
        </p:nvSpPr>
        <p:spPr>
          <a:xfrm>
            <a:off x="905256" y="3456432"/>
            <a:ext cx="4818888" cy="775411"/>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Ctrl+Shift+P → 「Git: Clone」→ URL入力 → 保存先選択 → 開く。</a:t>
            </a:r>
            <a:endParaRPr lang="en-US" sz="1200" dirty="0"/>
          </a:p>
        </p:txBody>
      </p:sp>
      <p:sp>
        <p:nvSpPr>
          <p:cNvPr id="14" name="Shape 12"/>
          <p:cNvSpPr/>
          <p:nvPr/>
        </p:nvSpPr>
        <p:spPr>
          <a:xfrm>
            <a:off x="6163056" y="2002536"/>
            <a:ext cx="5239512" cy="2423160"/>
          </a:xfrm>
          <a:prstGeom prst="roundRect">
            <a:avLst>
              <a:gd name="adj" fmla="val 4906"/>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6163056" y="2002536"/>
            <a:ext cx="64008" cy="2423160"/>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6373368" y="2157984"/>
            <a:ext cx="4828032"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Check permissions</a:t>
            </a:r>
            <a:endParaRPr lang="en-US" sz="1700" dirty="0"/>
          </a:p>
        </p:txBody>
      </p:sp>
      <p:sp>
        <p:nvSpPr>
          <p:cNvPr id="17" name="Text 15"/>
          <p:cNvSpPr/>
          <p:nvPr/>
        </p:nvSpPr>
        <p:spPr>
          <a:xfrm>
            <a:off x="6373368" y="2578608"/>
            <a:ext cx="4818888" cy="945032"/>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Cloning does not automatically allow you to push. You need write access or a fork.</a:t>
            </a:r>
            <a:endParaRPr lang="en-US" sz="1500" dirty="0"/>
          </a:p>
        </p:txBody>
      </p:sp>
      <p:sp>
        <p:nvSpPr>
          <p:cNvPr id="18" name="Text 16"/>
          <p:cNvSpPr/>
          <p:nvPr/>
        </p:nvSpPr>
        <p:spPr>
          <a:xfrm>
            <a:off x="6373368" y="3456432"/>
            <a:ext cx="4818888" cy="775411"/>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Cloneしただけで書き込み権限は得られません。</a:t>
            </a:r>
            <a:endParaRPr lang="en-US" sz="1200" dirty="0"/>
          </a:p>
        </p:txBody>
      </p:sp>
      <p:sp>
        <p:nvSpPr>
          <p:cNvPr id="19" name="Shape 17"/>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0" name="Text 18"/>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Use Clone for an existing remote; use Publish to GitHub to create a NEW remote.</a:t>
            </a:r>
            <a:endParaRPr lang="en-US" sz="1200" dirty="0"/>
          </a:p>
        </p:txBody>
      </p:sp>
      <p:sp>
        <p:nvSpPr>
          <p:cNvPr id="21" name="Text 19"/>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既存ならClone、新規公開ならPublishを使います。</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TROUBLESHOOTING</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Troubleshooting: Conda and Python</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よくあるエラー：CondaとPython</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29</a:t>
            </a:r>
            <a:endParaRPr lang="en-US" sz="1000" dirty="0"/>
          </a:p>
        </p:txBody>
      </p:sp>
      <p:sp>
        <p:nvSpPr>
          <p:cNvPr id="9" name="Shape 7"/>
          <p:cNvSpPr/>
          <p:nvPr/>
        </p:nvSpPr>
        <p:spPr>
          <a:xfrm>
            <a:off x="713232" y="1865376"/>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713232" y="1865376"/>
            <a:ext cx="64008" cy="914400"/>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23544" y="2020824"/>
            <a:ext cx="10351008"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`conda` not recognized</a:t>
            </a:r>
            <a:endParaRPr lang="en-US" sz="1700" dirty="0"/>
          </a:p>
        </p:txBody>
      </p:sp>
      <p:sp>
        <p:nvSpPr>
          <p:cNvPr id="12" name="Text 10"/>
          <p:cNvSpPr/>
          <p:nvPr/>
        </p:nvSpPr>
        <p:spPr>
          <a:xfrm>
            <a:off x="923544" y="2441448"/>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Use Anaconda Prompt; verify the installation.</a:t>
            </a:r>
            <a:endParaRPr lang="en-US" sz="1500" dirty="0"/>
          </a:p>
        </p:txBody>
      </p:sp>
      <p:sp>
        <p:nvSpPr>
          <p:cNvPr id="13" name="Text 11"/>
          <p:cNvSpPr/>
          <p:nvPr/>
        </p:nvSpPr>
        <p:spPr>
          <a:xfrm>
            <a:off x="923544" y="2414016"/>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Anaconda Promptを使い、インストール確認。</a:t>
            </a:r>
            <a:endParaRPr lang="en-US" sz="1200" dirty="0"/>
          </a:p>
        </p:txBody>
      </p:sp>
      <p:sp>
        <p:nvSpPr>
          <p:cNvPr id="14" name="Shape 12"/>
          <p:cNvSpPr/>
          <p:nvPr/>
        </p:nvSpPr>
        <p:spPr>
          <a:xfrm>
            <a:off x="713232" y="2907792"/>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713232" y="2907792"/>
            <a:ext cx="64008" cy="914400"/>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923544" y="3063240"/>
            <a:ext cx="10351008"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Wrong Python version</a:t>
            </a:r>
            <a:endParaRPr lang="en-US" sz="1700" dirty="0"/>
          </a:p>
        </p:txBody>
      </p:sp>
      <p:sp>
        <p:nvSpPr>
          <p:cNvPr id="17" name="Text 15"/>
          <p:cNvSpPr/>
          <p:nvPr/>
        </p:nvSpPr>
        <p:spPr>
          <a:xfrm>
            <a:off x="923544" y="3483864"/>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Select Conda face_course interpreter in VS Code.</a:t>
            </a:r>
            <a:endParaRPr lang="en-US" sz="1500" dirty="0"/>
          </a:p>
        </p:txBody>
      </p:sp>
      <p:sp>
        <p:nvSpPr>
          <p:cNvPr id="18" name="Text 16"/>
          <p:cNvSpPr/>
          <p:nvPr/>
        </p:nvSpPr>
        <p:spPr>
          <a:xfrm>
            <a:off x="923544" y="3456432"/>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VS Codeでface_courseを選び直す。</a:t>
            </a:r>
            <a:endParaRPr lang="en-US" sz="1200" dirty="0"/>
          </a:p>
        </p:txBody>
      </p:sp>
      <p:sp>
        <p:nvSpPr>
          <p:cNvPr id="19" name="Shape 17"/>
          <p:cNvSpPr/>
          <p:nvPr/>
        </p:nvSpPr>
        <p:spPr>
          <a:xfrm>
            <a:off x="713232" y="3950208"/>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713232" y="3950208"/>
            <a:ext cx="64008" cy="914400"/>
          </a:xfrm>
          <a:prstGeom prst="rect">
            <a:avLst/>
          </a:prstGeom>
          <a:solidFill>
            <a:srgbClr val="2676A8"/>
          </a:solidFill>
          <a:ln w="12700">
            <a:solidFill>
              <a:srgbClr val="2676A8"/>
            </a:solidFill>
            <a:prstDash val="solid"/>
          </a:ln>
        </p:spPr>
        <p:txBody>
          <a:bodyPr/>
          <a:lstStyle/>
          <a:p>
            <a:endParaRPr lang="en-JP"/>
          </a:p>
        </p:txBody>
      </p:sp>
      <p:sp>
        <p:nvSpPr>
          <p:cNvPr id="21" name="Text 19"/>
          <p:cNvSpPr/>
          <p:nvPr/>
        </p:nvSpPr>
        <p:spPr>
          <a:xfrm>
            <a:off x="923544" y="4105656"/>
            <a:ext cx="10351008"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`No module named cv2`</a:t>
            </a:r>
            <a:endParaRPr lang="en-US" sz="1700" dirty="0"/>
          </a:p>
        </p:txBody>
      </p:sp>
      <p:sp>
        <p:nvSpPr>
          <p:cNvPr id="22" name="Text 20"/>
          <p:cNvSpPr/>
          <p:nvPr/>
        </p:nvSpPr>
        <p:spPr>
          <a:xfrm>
            <a:off x="923544" y="4526280"/>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Activate env, then run `python -m pip install opencv-python`.</a:t>
            </a:r>
            <a:endParaRPr lang="en-US" sz="1500" dirty="0"/>
          </a:p>
        </p:txBody>
      </p:sp>
      <p:sp>
        <p:nvSpPr>
          <p:cNvPr id="23" name="Text 21"/>
          <p:cNvSpPr/>
          <p:nvPr/>
        </p:nvSpPr>
        <p:spPr>
          <a:xfrm>
            <a:off x="923544" y="4498848"/>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環境を有効化してOpenCVを導入。</a:t>
            </a:r>
            <a:endParaRPr lang="en-US" sz="1200" dirty="0"/>
          </a:p>
        </p:txBody>
      </p:sp>
      <p:sp>
        <p:nvSpPr>
          <p:cNvPr id="24" name="Shape 22"/>
          <p:cNvSpPr/>
          <p:nvPr/>
        </p:nvSpPr>
        <p:spPr>
          <a:xfrm>
            <a:off x="713232" y="4992624"/>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713232" y="4992624"/>
            <a:ext cx="64008" cy="914400"/>
          </a:xfrm>
          <a:prstGeom prst="rect">
            <a:avLst/>
          </a:prstGeom>
          <a:solidFill>
            <a:srgbClr val="138D87"/>
          </a:solidFill>
          <a:ln w="12700">
            <a:solidFill>
              <a:srgbClr val="138D87"/>
            </a:solidFill>
            <a:prstDash val="solid"/>
          </a:ln>
        </p:spPr>
        <p:txBody>
          <a:bodyPr/>
          <a:lstStyle/>
          <a:p>
            <a:endParaRPr lang="en-JP"/>
          </a:p>
        </p:txBody>
      </p:sp>
      <p:sp>
        <p:nvSpPr>
          <p:cNvPr id="26" name="Text 24"/>
          <p:cNvSpPr/>
          <p:nvPr/>
        </p:nvSpPr>
        <p:spPr>
          <a:xfrm>
            <a:off x="923544" y="5148072"/>
            <a:ext cx="10351008"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Camera access denied</a:t>
            </a:r>
            <a:endParaRPr lang="en-US" sz="1700" dirty="0"/>
          </a:p>
        </p:txBody>
      </p:sp>
      <p:sp>
        <p:nvSpPr>
          <p:cNvPr id="27" name="Text 25"/>
          <p:cNvSpPr/>
          <p:nvPr/>
        </p:nvSpPr>
        <p:spPr>
          <a:xfrm>
            <a:off x="923544" y="5568696"/>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Windows Settings → Privacy &amp; security → Camera.</a:t>
            </a:r>
            <a:endParaRPr lang="en-US" sz="1500" dirty="0"/>
          </a:p>
        </p:txBody>
      </p:sp>
      <p:sp>
        <p:nvSpPr>
          <p:cNvPr id="28" name="Text 26"/>
          <p:cNvSpPr/>
          <p:nvPr/>
        </p:nvSpPr>
        <p:spPr>
          <a:xfrm>
            <a:off x="923544" y="5541264"/>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Windowsのカメラアクセス権限を確認。</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TROUBLESHOOTING</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Troubleshooting: Git and GitHub</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よくあるエラー：Git・GitHub</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30</a:t>
            </a:r>
            <a:endParaRPr lang="en-US" sz="1000" dirty="0"/>
          </a:p>
        </p:txBody>
      </p:sp>
      <p:sp>
        <p:nvSpPr>
          <p:cNvPr id="9" name="Shape 7"/>
          <p:cNvSpPr/>
          <p:nvPr/>
        </p:nvSpPr>
        <p:spPr>
          <a:xfrm>
            <a:off x="713232" y="1865376"/>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713232" y="1865376"/>
            <a:ext cx="64008" cy="914400"/>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23544" y="2020824"/>
            <a:ext cx="10351008"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`git` not recognized</a:t>
            </a:r>
            <a:endParaRPr lang="en-US" sz="1700" dirty="0"/>
          </a:p>
        </p:txBody>
      </p:sp>
      <p:sp>
        <p:nvSpPr>
          <p:cNvPr id="12" name="Text 10"/>
          <p:cNvSpPr/>
          <p:nvPr/>
        </p:nvSpPr>
        <p:spPr>
          <a:xfrm>
            <a:off x="923544" y="2441448"/>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Install Git for Windows; restart VS Code.</a:t>
            </a:r>
            <a:endParaRPr lang="en-US" sz="1500" dirty="0"/>
          </a:p>
        </p:txBody>
      </p:sp>
      <p:sp>
        <p:nvSpPr>
          <p:cNvPr id="13" name="Text 11"/>
          <p:cNvSpPr/>
          <p:nvPr/>
        </p:nvSpPr>
        <p:spPr>
          <a:xfrm>
            <a:off x="923544" y="2414016"/>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Gitを導入し、VS Codeを再起動。</a:t>
            </a:r>
            <a:endParaRPr lang="en-US" sz="1200" dirty="0"/>
          </a:p>
        </p:txBody>
      </p:sp>
      <p:sp>
        <p:nvSpPr>
          <p:cNvPr id="14" name="Shape 12"/>
          <p:cNvSpPr/>
          <p:nvPr/>
        </p:nvSpPr>
        <p:spPr>
          <a:xfrm>
            <a:off x="713232" y="2907792"/>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713232" y="2907792"/>
            <a:ext cx="64008" cy="914400"/>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923544" y="3063240"/>
            <a:ext cx="10351008"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Author identity unknown</a:t>
            </a:r>
            <a:endParaRPr lang="en-US" sz="1700" dirty="0"/>
          </a:p>
        </p:txBody>
      </p:sp>
      <p:sp>
        <p:nvSpPr>
          <p:cNvPr id="17" name="Text 15"/>
          <p:cNvSpPr/>
          <p:nvPr/>
        </p:nvSpPr>
        <p:spPr>
          <a:xfrm>
            <a:off x="923544" y="3483864"/>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Set git config user.name and user.email.</a:t>
            </a:r>
            <a:endParaRPr lang="en-US" sz="1500" dirty="0"/>
          </a:p>
        </p:txBody>
      </p:sp>
      <p:sp>
        <p:nvSpPr>
          <p:cNvPr id="18" name="Text 16"/>
          <p:cNvSpPr/>
          <p:nvPr/>
        </p:nvSpPr>
        <p:spPr>
          <a:xfrm>
            <a:off x="923544" y="3456432"/>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Gitのユーザー名とメールを設定。</a:t>
            </a:r>
            <a:endParaRPr lang="en-US" sz="1200" dirty="0"/>
          </a:p>
        </p:txBody>
      </p:sp>
      <p:sp>
        <p:nvSpPr>
          <p:cNvPr id="19" name="Shape 17"/>
          <p:cNvSpPr/>
          <p:nvPr/>
        </p:nvSpPr>
        <p:spPr>
          <a:xfrm>
            <a:off x="713232" y="3950208"/>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713232" y="3950208"/>
            <a:ext cx="64008" cy="914400"/>
          </a:xfrm>
          <a:prstGeom prst="rect">
            <a:avLst/>
          </a:prstGeom>
          <a:solidFill>
            <a:srgbClr val="2676A8"/>
          </a:solidFill>
          <a:ln w="12700">
            <a:solidFill>
              <a:srgbClr val="2676A8"/>
            </a:solidFill>
            <a:prstDash val="solid"/>
          </a:ln>
        </p:spPr>
        <p:txBody>
          <a:bodyPr/>
          <a:lstStyle/>
          <a:p>
            <a:endParaRPr lang="en-JP"/>
          </a:p>
        </p:txBody>
      </p:sp>
      <p:sp>
        <p:nvSpPr>
          <p:cNvPr id="21" name="Text 19"/>
          <p:cNvSpPr/>
          <p:nvPr/>
        </p:nvSpPr>
        <p:spPr>
          <a:xfrm>
            <a:off x="923544" y="4105656"/>
            <a:ext cx="10351008"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Publish / Push unavailable</a:t>
            </a:r>
            <a:endParaRPr lang="en-US" sz="1700" dirty="0"/>
          </a:p>
        </p:txBody>
      </p:sp>
      <p:sp>
        <p:nvSpPr>
          <p:cNvPr id="22" name="Text 20"/>
          <p:cNvSpPr/>
          <p:nvPr/>
        </p:nvSpPr>
        <p:spPr>
          <a:xfrm>
            <a:off x="923544" y="4526280"/>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Check that repository is initialized and remote is configured.</a:t>
            </a:r>
            <a:endParaRPr lang="en-US" sz="1500" dirty="0"/>
          </a:p>
        </p:txBody>
      </p:sp>
      <p:sp>
        <p:nvSpPr>
          <p:cNvPr id="23" name="Text 21"/>
          <p:cNvSpPr/>
          <p:nvPr/>
        </p:nvSpPr>
        <p:spPr>
          <a:xfrm>
            <a:off x="923544" y="4498848"/>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Gitの初期化とremote設定を確認。</a:t>
            </a:r>
            <a:endParaRPr lang="en-US" sz="1200" dirty="0"/>
          </a:p>
        </p:txBody>
      </p:sp>
      <p:sp>
        <p:nvSpPr>
          <p:cNvPr id="24" name="Shape 22"/>
          <p:cNvSpPr/>
          <p:nvPr/>
        </p:nvSpPr>
        <p:spPr>
          <a:xfrm>
            <a:off x="713232" y="4992624"/>
            <a:ext cx="10762488" cy="914400"/>
          </a:xfrm>
          <a:prstGeom prst="roundRect">
            <a:avLst>
              <a:gd name="adj" fmla="val 13000"/>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713232" y="4992624"/>
            <a:ext cx="64008" cy="914400"/>
          </a:xfrm>
          <a:prstGeom prst="rect">
            <a:avLst/>
          </a:prstGeom>
          <a:solidFill>
            <a:srgbClr val="138D87"/>
          </a:solidFill>
          <a:ln w="12700">
            <a:solidFill>
              <a:srgbClr val="138D87"/>
            </a:solidFill>
            <a:prstDash val="solid"/>
          </a:ln>
        </p:spPr>
        <p:txBody>
          <a:bodyPr/>
          <a:lstStyle/>
          <a:p>
            <a:endParaRPr lang="en-JP"/>
          </a:p>
        </p:txBody>
      </p:sp>
      <p:sp>
        <p:nvSpPr>
          <p:cNvPr id="26" name="Text 24"/>
          <p:cNvSpPr/>
          <p:nvPr/>
        </p:nvSpPr>
        <p:spPr>
          <a:xfrm>
            <a:off x="923544" y="5148072"/>
            <a:ext cx="10351008"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Push rejected</a:t>
            </a:r>
            <a:endParaRPr lang="en-US" sz="1700" dirty="0"/>
          </a:p>
        </p:txBody>
      </p:sp>
      <p:sp>
        <p:nvSpPr>
          <p:cNvPr id="27" name="Text 25"/>
          <p:cNvSpPr/>
          <p:nvPr/>
        </p:nvSpPr>
        <p:spPr>
          <a:xfrm>
            <a:off x="923544" y="5568696"/>
            <a:ext cx="10341864" cy="356616"/>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Fetch/Pull and review conflicts; do not force-push blindly.</a:t>
            </a:r>
            <a:endParaRPr lang="en-US" sz="1500" dirty="0"/>
          </a:p>
        </p:txBody>
      </p:sp>
      <p:sp>
        <p:nvSpPr>
          <p:cNvPr id="28" name="Text 26"/>
          <p:cNvSpPr/>
          <p:nvPr/>
        </p:nvSpPr>
        <p:spPr>
          <a:xfrm>
            <a:off x="923544" y="5541264"/>
            <a:ext cx="10341864" cy="292608"/>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Fetch/Pullして競合を確認。安易にforce-pushしない。</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STUDENT EXERCISE</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Hands-on task (20–30 minutes)</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実習課題（20〜30分）</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31</a:t>
            </a:r>
            <a:endParaRPr lang="en-US" sz="1000" dirty="0"/>
          </a:p>
        </p:txBody>
      </p:sp>
      <p:sp>
        <p:nvSpPr>
          <p:cNvPr id="9" name="Shape 7"/>
          <p:cNvSpPr/>
          <p:nvPr/>
        </p:nvSpPr>
        <p:spPr>
          <a:xfrm>
            <a:off x="740664" y="1828800"/>
            <a:ext cx="10680192" cy="722376"/>
          </a:xfrm>
          <a:prstGeom prst="roundRect">
            <a:avLst>
              <a:gd name="adj" fmla="val 16456"/>
            </a:avLst>
          </a:prstGeom>
          <a:solidFill>
            <a:srgbClr val="F3F7FB"/>
          </a:solidFill>
          <a:ln w="10160">
            <a:solidFill>
              <a:srgbClr val="DBE4ED"/>
            </a:solidFill>
            <a:prstDash val="solid"/>
          </a:ln>
        </p:spPr>
        <p:txBody>
          <a:bodyPr/>
          <a:lstStyle/>
          <a:p>
            <a:endParaRPr lang="en-JP"/>
          </a:p>
        </p:txBody>
      </p:sp>
      <p:sp>
        <p:nvSpPr>
          <p:cNvPr id="10" name="Text 8"/>
          <p:cNvSpPr/>
          <p:nvPr/>
        </p:nvSpPr>
        <p:spPr>
          <a:xfrm>
            <a:off x="923544" y="1956816"/>
            <a:ext cx="502920" cy="420624"/>
          </a:xfrm>
          <a:prstGeom prst="rect">
            <a:avLst/>
          </a:prstGeom>
          <a:noFill/>
          <a:ln/>
        </p:spPr>
        <p:txBody>
          <a:bodyPr wrap="square" lIns="508" tIns="508" rIns="508" bIns="508" rtlCol="0" anchor="ctr"/>
          <a:lstStyle/>
          <a:p>
            <a:pPr marL="0" indent="0" algn="l">
              <a:buNone/>
            </a:pPr>
            <a:r>
              <a:rPr lang="en-US" sz="2100" dirty="0">
                <a:solidFill>
                  <a:srgbClr val="138D87"/>
                </a:solidFill>
                <a:latin typeface="Aptos" pitchFamily="34" charset="0"/>
                <a:ea typeface="Aptos" pitchFamily="34" charset="-122"/>
                <a:cs typeface="Aptos" pitchFamily="34" charset="-120"/>
              </a:rPr>
              <a:t>☐</a:t>
            </a:r>
            <a:endParaRPr lang="en-US" sz="2100" dirty="0"/>
          </a:p>
        </p:txBody>
      </p:sp>
      <p:sp>
        <p:nvSpPr>
          <p:cNvPr id="11" name="Text 9"/>
          <p:cNvSpPr/>
          <p:nvPr/>
        </p:nvSpPr>
        <p:spPr>
          <a:xfrm>
            <a:off x="1444752" y="1920240"/>
            <a:ext cx="9601200" cy="292608"/>
          </a:xfrm>
          <a:prstGeom prst="rect">
            <a:avLst/>
          </a:prstGeom>
          <a:noFill/>
          <a:ln/>
        </p:spPr>
        <p:txBody>
          <a:bodyPr wrap="square" lIns="508" tIns="508" rIns="508" bIns="508" rtlCol="0" anchor="ctr"/>
          <a:lstStyle/>
          <a:p>
            <a:pPr marL="0" indent="0" algn="l">
              <a:buNone/>
            </a:pPr>
            <a:r>
              <a:rPr lang="en-US" sz="1500" b="1" dirty="0">
                <a:solidFill>
                  <a:srgbClr val="213348"/>
                </a:solidFill>
                <a:latin typeface="Aptos" pitchFamily="34" charset="0"/>
                <a:ea typeface="Aptos" pitchFamily="34" charset="-122"/>
                <a:cs typeface="Aptos" pitchFamily="34" charset="-120"/>
              </a:rPr>
              <a:t>Create Conda environment `face_course`</a:t>
            </a:r>
            <a:endParaRPr lang="en-US" sz="1500" dirty="0"/>
          </a:p>
        </p:txBody>
      </p:sp>
      <p:sp>
        <p:nvSpPr>
          <p:cNvPr id="12" name="Text 10"/>
          <p:cNvSpPr/>
          <p:nvPr/>
        </p:nvSpPr>
        <p:spPr>
          <a:xfrm>
            <a:off x="1444752" y="2267712"/>
            <a:ext cx="9601200" cy="182880"/>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face_course環境を作成</a:t>
            </a:r>
            <a:endParaRPr lang="en-US" sz="1100" dirty="0"/>
          </a:p>
        </p:txBody>
      </p:sp>
      <p:sp>
        <p:nvSpPr>
          <p:cNvPr id="13" name="Shape 11"/>
          <p:cNvSpPr/>
          <p:nvPr/>
        </p:nvSpPr>
        <p:spPr>
          <a:xfrm>
            <a:off x="740664" y="2660904"/>
            <a:ext cx="10680192" cy="722376"/>
          </a:xfrm>
          <a:prstGeom prst="roundRect">
            <a:avLst>
              <a:gd name="adj" fmla="val 16456"/>
            </a:avLst>
          </a:prstGeom>
          <a:solidFill>
            <a:srgbClr val="F3F7FB"/>
          </a:solidFill>
          <a:ln w="10160">
            <a:solidFill>
              <a:srgbClr val="DBE4ED"/>
            </a:solidFill>
            <a:prstDash val="solid"/>
          </a:ln>
        </p:spPr>
        <p:txBody>
          <a:bodyPr/>
          <a:lstStyle/>
          <a:p>
            <a:endParaRPr lang="en-JP"/>
          </a:p>
        </p:txBody>
      </p:sp>
      <p:sp>
        <p:nvSpPr>
          <p:cNvPr id="14" name="Text 12"/>
          <p:cNvSpPr/>
          <p:nvPr/>
        </p:nvSpPr>
        <p:spPr>
          <a:xfrm>
            <a:off x="923544" y="2788920"/>
            <a:ext cx="502920" cy="420624"/>
          </a:xfrm>
          <a:prstGeom prst="rect">
            <a:avLst/>
          </a:prstGeom>
          <a:noFill/>
          <a:ln/>
        </p:spPr>
        <p:txBody>
          <a:bodyPr wrap="square" lIns="508" tIns="508" rIns="508" bIns="508" rtlCol="0" anchor="ctr"/>
          <a:lstStyle/>
          <a:p>
            <a:pPr marL="0" indent="0" algn="l">
              <a:buNone/>
            </a:pPr>
            <a:r>
              <a:rPr lang="en-US" sz="2100" dirty="0">
                <a:solidFill>
                  <a:srgbClr val="138D87"/>
                </a:solidFill>
                <a:latin typeface="Aptos" pitchFamily="34" charset="0"/>
                <a:ea typeface="Aptos" pitchFamily="34" charset="-122"/>
                <a:cs typeface="Aptos" pitchFamily="34" charset="-120"/>
              </a:rPr>
              <a:t>☐</a:t>
            </a:r>
            <a:endParaRPr lang="en-US" sz="2100" dirty="0"/>
          </a:p>
        </p:txBody>
      </p:sp>
      <p:sp>
        <p:nvSpPr>
          <p:cNvPr id="15" name="Text 13"/>
          <p:cNvSpPr/>
          <p:nvPr/>
        </p:nvSpPr>
        <p:spPr>
          <a:xfrm>
            <a:off x="1444752" y="2752344"/>
            <a:ext cx="9601200" cy="292608"/>
          </a:xfrm>
          <a:prstGeom prst="rect">
            <a:avLst/>
          </a:prstGeom>
          <a:noFill/>
          <a:ln/>
        </p:spPr>
        <p:txBody>
          <a:bodyPr wrap="square" lIns="508" tIns="508" rIns="508" bIns="508" rtlCol="0" anchor="ctr"/>
          <a:lstStyle/>
          <a:p>
            <a:pPr marL="0" indent="0" algn="l">
              <a:buNone/>
            </a:pPr>
            <a:r>
              <a:rPr lang="en-US" sz="1500" b="1" dirty="0">
                <a:solidFill>
                  <a:srgbClr val="213348"/>
                </a:solidFill>
                <a:latin typeface="Aptos" pitchFamily="34" charset="0"/>
                <a:ea typeface="Aptos" pitchFamily="34" charset="-122"/>
                <a:cs typeface="Aptos" pitchFamily="34" charset="-120"/>
              </a:rPr>
              <a:t>Install NumPy and test `import numpy`</a:t>
            </a:r>
            <a:endParaRPr lang="en-US" sz="1500" dirty="0"/>
          </a:p>
        </p:txBody>
      </p:sp>
      <p:sp>
        <p:nvSpPr>
          <p:cNvPr id="16" name="Text 14"/>
          <p:cNvSpPr/>
          <p:nvPr/>
        </p:nvSpPr>
        <p:spPr>
          <a:xfrm>
            <a:off x="1444752" y="3099816"/>
            <a:ext cx="9601200" cy="182880"/>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NumPyをインストールし、importを確認</a:t>
            </a:r>
            <a:endParaRPr lang="en-US" sz="1100" dirty="0"/>
          </a:p>
        </p:txBody>
      </p:sp>
      <p:sp>
        <p:nvSpPr>
          <p:cNvPr id="17" name="Shape 15"/>
          <p:cNvSpPr/>
          <p:nvPr/>
        </p:nvSpPr>
        <p:spPr>
          <a:xfrm>
            <a:off x="740664" y="3493008"/>
            <a:ext cx="10680192" cy="722376"/>
          </a:xfrm>
          <a:prstGeom prst="roundRect">
            <a:avLst>
              <a:gd name="adj" fmla="val 16456"/>
            </a:avLst>
          </a:prstGeom>
          <a:solidFill>
            <a:srgbClr val="F3F7FB"/>
          </a:solidFill>
          <a:ln w="10160">
            <a:solidFill>
              <a:srgbClr val="DBE4ED"/>
            </a:solidFill>
            <a:prstDash val="solid"/>
          </a:ln>
        </p:spPr>
        <p:txBody>
          <a:bodyPr/>
          <a:lstStyle/>
          <a:p>
            <a:endParaRPr lang="en-JP"/>
          </a:p>
        </p:txBody>
      </p:sp>
      <p:sp>
        <p:nvSpPr>
          <p:cNvPr id="18" name="Text 16"/>
          <p:cNvSpPr/>
          <p:nvPr/>
        </p:nvSpPr>
        <p:spPr>
          <a:xfrm>
            <a:off x="923544" y="3621024"/>
            <a:ext cx="502920" cy="420624"/>
          </a:xfrm>
          <a:prstGeom prst="rect">
            <a:avLst/>
          </a:prstGeom>
          <a:noFill/>
          <a:ln/>
        </p:spPr>
        <p:txBody>
          <a:bodyPr wrap="square" lIns="508" tIns="508" rIns="508" bIns="508" rtlCol="0" anchor="ctr"/>
          <a:lstStyle/>
          <a:p>
            <a:pPr marL="0" indent="0" algn="l">
              <a:buNone/>
            </a:pPr>
            <a:r>
              <a:rPr lang="en-US" sz="2100" dirty="0">
                <a:solidFill>
                  <a:srgbClr val="138D87"/>
                </a:solidFill>
                <a:latin typeface="Aptos" pitchFamily="34" charset="0"/>
                <a:ea typeface="Aptos" pitchFamily="34" charset="-122"/>
                <a:cs typeface="Aptos" pitchFamily="34" charset="-120"/>
              </a:rPr>
              <a:t>☐</a:t>
            </a:r>
            <a:endParaRPr lang="en-US" sz="2100" dirty="0"/>
          </a:p>
        </p:txBody>
      </p:sp>
      <p:sp>
        <p:nvSpPr>
          <p:cNvPr id="19" name="Text 17"/>
          <p:cNvSpPr/>
          <p:nvPr/>
        </p:nvSpPr>
        <p:spPr>
          <a:xfrm>
            <a:off x="1444752" y="3584448"/>
            <a:ext cx="9601200" cy="292608"/>
          </a:xfrm>
          <a:prstGeom prst="rect">
            <a:avLst/>
          </a:prstGeom>
          <a:noFill/>
          <a:ln/>
        </p:spPr>
        <p:txBody>
          <a:bodyPr wrap="square" lIns="508" tIns="508" rIns="508" bIns="508" rtlCol="0" anchor="ctr"/>
          <a:lstStyle/>
          <a:p>
            <a:pPr marL="0" indent="0" algn="l">
              <a:buNone/>
            </a:pPr>
            <a:r>
              <a:rPr lang="en-US" sz="1500" b="1" dirty="0">
                <a:solidFill>
                  <a:srgbClr val="213348"/>
                </a:solidFill>
                <a:latin typeface="Aptos" pitchFamily="34" charset="0"/>
                <a:ea typeface="Aptos" pitchFamily="34" charset="-122"/>
                <a:cs typeface="Aptos" pitchFamily="34" charset="-120"/>
              </a:rPr>
              <a:t>Create `hello.py` and print Python executable path</a:t>
            </a:r>
            <a:endParaRPr lang="en-US" sz="1500" dirty="0"/>
          </a:p>
        </p:txBody>
      </p:sp>
      <p:sp>
        <p:nvSpPr>
          <p:cNvPr id="20" name="Text 18"/>
          <p:cNvSpPr/>
          <p:nvPr/>
        </p:nvSpPr>
        <p:spPr>
          <a:xfrm>
            <a:off x="1444752" y="3931920"/>
            <a:ext cx="9601200" cy="182880"/>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hello.pyを作り、実行環境のパスを表示</a:t>
            </a:r>
            <a:endParaRPr lang="en-US" sz="1100" dirty="0"/>
          </a:p>
        </p:txBody>
      </p:sp>
      <p:sp>
        <p:nvSpPr>
          <p:cNvPr id="21" name="Shape 19"/>
          <p:cNvSpPr/>
          <p:nvPr/>
        </p:nvSpPr>
        <p:spPr>
          <a:xfrm>
            <a:off x="740664" y="4325112"/>
            <a:ext cx="10680192" cy="722376"/>
          </a:xfrm>
          <a:prstGeom prst="roundRect">
            <a:avLst>
              <a:gd name="adj" fmla="val 16456"/>
            </a:avLst>
          </a:prstGeom>
          <a:solidFill>
            <a:srgbClr val="F3F7FB"/>
          </a:solidFill>
          <a:ln w="10160">
            <a:solidFill>
              <a:srgbClr val="DBE4ED"/>
            </a:solidFill>
            <a:prstDash val="solid"/>
          </a:ln>
        </p:spPr>
        <p:txBody>
          <a:bodyPr/>
          <a:lstStyle/>
          <a:p>
            <a:endParaRPr lang="en-JP"/>
          </a:p>
        </p:txBody>
      </p:sp>
      <p:sp>
        <p:nvSpPr>
          <p:cNvPr id="22" name="Text 20"/>
          <p:cNvSpPr/>
          <p:nvPr/>
        </p:nvSpPr>
        <p:spPr>
          <a:xfrm>
            <a:off x="923544" y="4453128"/>
            <a:ext cx="502920" cy="420624"/>
          </a:xfrm>
          <a:prstGeom prst="rect">
            <a:avLst/>
          </a:prstGeom>
          <a:noFill/>
          <a:ln/>
        </p:spPr>
        <p:txBody>
          <a:bodyPr wrap="square" lIns="508" tIns="508" rIns="508" bIns="508" rtlCol="0" anchor="ctr"/>
          <a:lstStyle/>
          <a:p>
            <a:pPr marL="0" indent="0" algn="l">
              <a:buNone/>
            </a:pPr>
            <a:r>
              <a:rPr lang="en-US" sz="2100" dirty="0">
                <a:solidFill>
                  <a:srgbClr val="138D87"/>
                </a:solidFill>
                <a:latin typeface="Aptos" pitchFamily="34" charset="0"/>
                <a:ea typeface="Aptos" pitchFamily="34" charset="-122"/>
                <a:cs typeface="Aptos" pitchFamily="34" charset="-120"/>
              </a:rPr>
              <a:t>☐</a:t>
            </a:r>
            <a:endParaRPr lang="en-US" sz="2100" dirty="0"/>
          </a:p>
        </p:txBody>
      </p:sp>
      <p:sp>
        <p:nvSpPr>
          <p:cNvPr id="23" name="Text 21"/>
          <p:cNvSpPr/>
          <p:nvPr/>
        </p:nvSpPr>
        <p:spPr>
          <a:xfrm>
            <a:off x="1444752" y="4416552"/>
            <a:ext cx="9601200" cy="292608"/>
          </a:xfrm>
          <a:prstGeom prst="rect">
            <a:avLst/>
          </a:prstGeom>
          <a:noFill/>
          <a:ln/>
        </p:spPr>
        <p:txBody>
          <a:bodyPr wrap="square" lIns="508" tIns="508" rIns="508" bIns="508" rtlCol="0" anchor="ctr"/>
          <a:lstStyle/>
          <a:p>
            <a:pPr marL="0" indent="0" algn="l">
              <a:buNone/>
            </a:pPr>
            <a:r>
              <a:rPr lang="en-US" sz="1500" b="1" dirty="0">
                <a:solidFill>
                  <a:srgbClr val="213348"/>
                </a:solidFill>
                <a:latin typeface="Aptos" pitchFamily="34" charset="0"/>
                <a:ea typeface="Aptos" pitchFamily="34" charset="-122"/>
                <a:cs typeface="Aptos" pitchFamily="34" charset="-120"/>
              </a:rPr>
              <a:t>Initialize Git, commit README.md and hello.py</a:t>
            </a:r>
            <a:endParaRPr lang="en-US" sz="1500" dirty="0"/>
          </a:p>
        </p:txBody>
      </p:sp>
      <p:sp>
        <p:nvSpPr>
          <p:cNvPr id="24" name="Text 22"/>
          <p:cNvSpPr/>
          <p:nvPr/>
        </p:nvSpPr>
        <p:spPr>
          <a:xfrm>
            <a:off x="1444752" y="4764024"/>
            <a:ext cx="9601200" cy="182880"/>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Gitで初回コミットを作成</a:t>
            </a:r>
            <a:endParaRPr lang="en-US" sz="1100" dirty="0"/>
          </a:p>
        </p:txBody>
      </p:sp>
      <p:sp>
        <p:nvSpPr>
          <p:cNvPr id="25" name="Shape 23"/>
          <p:cNvSpPr/>
          <p:nvPr/>
        </p:nvSpPr>
        <p:spPr>
          <a:xfrm>
            <a:off x="740664" y="5157216"/>
            <a:ext cx="10680192" cy="722376"/>
          </a:xfrm>
          <a:prstGeom prst="roundRect">
            <a:avLst>
              <a:gd name="adj" fmla="val 16456"/>
            </a:avLst>
          </a:prstGeom>
          <a:solidFill>
            <a:srgbClr val="F3F7FB"/>
          </a:solidFill>
          <a:ln w="10160">
            <a:solidFill>
              <a:srgbClr val="DBE4ED"/>
            </a:solidFill>
            <a:prstDash val="solid"/>
          </a:ln>
        </p:spPr>
        <p:txBody>
          <a:bodyPr/>
          <a:lstStyle/>
          <a:p>
            <a:endParaRPr lang="en-JP"/>
          </a:p>
        </p:txBody>
      </p:sp>
      <p:sp>
        <p:nvSpPr>
          <p:cNvPr id="26" name="Text 24"/>
          <p:cNvSpPr/>
          <p:nvPr/>
        </p:nvSpPr>
        <p:spPr>
          <a:xfrm>
            <a:off x="923544" y="5285232"/>
            <a:ext cx="502920" cy="420624"/>
          </a:xfrm>
          <a:prstGeom prst="rect">
            <a:avLst/>
          </a:prstGeom>
          <a:noFill/>
          <a:ln/>
        </p:spPr>
        <p:txBody>
          <a:bodyPr wrap="square" lIns="508" tIns="508" rIns="508" bIns="508" rtlCol="0" anchor="ctr"/>
          <a:lstStyle/>
          <a:p>
            <a:pPr marL="0" indent="0" algn="l">
              <a:buNone/>
            </a:pPr>
            <a:r>
              <a:rPr lang="en-US" sz="2100" dirty="0">
                <a:solidFill>
                  <a:srgbClr val="138D87"/>
                </a:solidFill>
                <a:latin typeface="Aptos" pitchFamily="34" charset="0"/>
                <a:ea typeface="Aptos" pitchFamily="34" charset="-122"/>
                <a:cs typeface="Aptos" pitchFamily="34" charset="-120"/>
              </a:rPr>
              <a:t>☐</a:t>
            </a:r>
            <a:endParaRPr lang="en-US" sz="2100" dirty="0"/>
          </a:p>
        </p:txBody>
      </p:sp>
      <p:sp>
        <p:nvSpPr>
          <p:cNvPr id="27" name="Text 25"/>
          <p:cNvSpPr/>
          <p:nvPr/>
        </p:nvSpPr>
        <p:spPr>
          <a:xfrm>
            <a:off x="1444752" y="5248656"/>
            <a:ext cx="9601200" cy="292608"/>
          </a:xfrm>
          <a:prstGeom prst="rect">
            <a:avLst/>
          </a:prstGeom>
          <a:noFill/>
          <a:ln/>
        </p:spPr>
        <p:txBody>
          <a:bodyPr wrap="square" lIns="508" tIns="508" rIns="508" bIns="508" rtlCol="0" anchor="ctr"/>
          <a:lstStyle/>
          <a:p>
            <a:pPr marL="0" indent="0" algn="l">
              <a:buNone/>
            </a:pPr>
            <a:r>
              <a:rPr lang="en-US" sz="1500" b="1" dirty="0">
                <a:solidFill>
                  <a:srgbClr val="213348"/>
                </a:solidFill>
                <a:latin typeface="Aptos" pitchFamily="34" charset="0"/>
                <a:ea typeface="Aptos" pitchFamily="34" charset="-122"/>
                <a:cs typeface="Aptos" pitchFamily="34" charset="-120"/>
              </a:rPr>
              <a:t>Publish a PRIVATE GitHub repository and verify files</a:t>
            </a:r>
            <a:endParaRPr lang="en-US" sz="1500" dirty="0"/>
          </a:p>
        </p:txBody>
      </p:sp>
      <p:sp>
        <p:nvSpPr>
          <p:cNvPr id="28" name="Text 26"/>
          <p:cNvSpPr/>
          <p:nvPr/>
        </p:nvSpPr>
        <p:spPr>
          <a:xfrm>
            <a:off x="1444752" y="5596128"/>
            <a:ext cx="9601200" cy="182880"/>
          </a:xfrm>
          <a:prstGeom prst="rect">
            <a:avLst/>
          </a:prstGeom>
          <a:noFill/>
          <a:ln/>
        </p:spPr>
        <p:txBody>
          <a:bodyPr wrap="square" lIns="508" tIns="508" rIns="508" bIns="508" rtlCol="0" anchor="ctr"/>
          <a:lstStyle/>
          <a:p>
            <a:pPr marL="0" indent="0" algn="l">
              <a:buNone/>
            </a:pPr>
            <a:r>
              <a:rPr lang="en-US" sz="1100" dirty="0">
                <a:solidFill>
                  <a:srgbClr val="546678"/>
                </a:solidFill>
                <a:latin typeface="Aptos" pitchFamily="34" charset="0"/>
                <a:ea typeface="Aptos" pitchFamily="34" charset="-122"/>
                <a:cs typeface="Aptos" pitchFamily="34" charset="-120"/>
              </a:rPr>
              <a:t>非公開リポジトリを公開し、ファイルを確認</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STUDENT REVIEW</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Review questions + answers</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復習問題と答え</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32</a:t>
            </a:r>
            <a:endParaRPr lang="en-US" sz="1000" dirty="0"/>
          </a:p>
        </p:txBody>
      </p:sp>
      <p:sp>
        <p:nvSpPr>
          <p:cNvPr id="9" name="Shape 7"/>
          <p:cNvSpPr/>
          <p:nvPr/>
        </p:nvSpPr>
        <p:spPr>
          <a:xfrm>
            <a:off x="722376" y="1801368"/>
            <a:ext cx="10698480" cy="969264"/>
          </a:xfrm>
          <a:prstGeom prst="roundRect">
            <a:avLst>
              <a:gd name="adj" fmla="val 12264"/>
            </a:avLst>
          </a:prstGeom>
          <a:solidFill>
            <a:srgbClr val="F3F7FB"/>
          </a:solidFill>
          <a:ln w="10160">
            <a:solidFill>
              <a:srgbClr val="DBE4ED"/>
            </a:solidFill>
            <a:prstDash val="solid"/>
          </a:ln>
        </p:spPr>
        <p:txBody>
          <a:bodyPr/>
          <a:lstStyle/>
          <a:p>
            <a:endParaRPr lang="en-JP"/>
          </a:p>
        </p:txBody>
      </p:sp>
      <p:sp>
        <p:nvSpPr>
          <p:cNvPr id="10" name="Shape 8"/>
          <p:cNvSpPr/>
          <p:nvPr/>
        </p:nvSpPr>
        <p:spPr>
          <a:xfrm>
            <a:off x="722376" y="1801368"/>
            <a:ext cx="64008" cy="969264"/>
          </a:xfrm>
          <a:prstGeom prst="rect">
            <a:avLst/>
          </a:prstGeom>
          <a:solidFill>
            <a:srgbClr val="2676A8"/>
          </a:solidFill>
          <a:ln w="12700">
            <a:solidFill>
              <a:srgbClr val="2676A8"/>
            </a:solidFill>
            <a:prstDash val="solid"/>
          </a:ln>
        </p:spPr>
        <p:txBody>
          <a:bodyPr/>
          <a:lstStyle/>
          <a:p>
            <a:endParaRPr lang="en-JP"/>
          </a:p>
        </p:txBody>
      </p:sp>
      <p:sp>
        <p:nvSpPr>
          <p:cNvPr id="11" name="Text 9"/>
          <p:cNvSpPr/>
          <p:nvPr/>
        </p:nvSpPr>
        <p:spPr>
          <a:xfrm>
            <a:off x="932688" y="1956816"/>
            <a:ext cx="10287000"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Q: Is Commit an upload?</a:t>
            </a:r>
            <a:endParaRPr lang="en-US" sz="1700" dirty="0"/>
          </a:p>
        </p:txBody>
      </p:sp>
      <p:sp>
        <p:nvSpPr>
          <p:cNvPr id="12" name="Text 10"/>
          <p:cNvSpPr/>
          <p:nvPr/>
        </p:nvSpPr>
        <p:spPr>
          <a:xfrm>
            <a:off x="932688" y="2377440"/>
            <a:ext cx="10277856" cy="378013"/>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A: No. It saves a local snapshot.</a:t>
            </a:r>
            <a:endParaRPr lang="en-US" sz="1500" dirty="0"/>
          </a:p>
        </p:txBody>
      </p:sp>
      <p:sp>
        <p:nvSpPr>
          <p:cNvPr id="13" name="Text 11"/>
          <p:cNvSpPr/>
          <p:nvPr/>
        </p:nvSpPr>
        <p:spPr>
          <a:xfrm>
            <a:off x="932688" y="2382926"/>
            <a:ext cx="10277856" cy="31016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いいえ。ローカルへの保存です。</a:t>
            </a:r>
            <a:endParaRPr lang="en-US" sz="1200" dirty="0"/>
          </a:p>
        </p:txBody>
      </p:sp>
      <p:sp>
        <p:nvSpPr>
          <p:cNvPr id="14" name="Shape 12"/>
          <p:cNvSpPr/>
          <p:nvPr/>
        </p:nvSpPr>
        <p:spPr>
          <a:xfrm>
            <a:off x="722376" y="2862072"/>
            <a:ext cx="10698480" cy="969264"/>
          </a:xfrm>
          <a:prstGeom prst="roundRect">
            <a:avLst>
              <a:gd name="adj" fmla="val 12264"/>
            </a:avLst>
          </a:prstGeom>
          <a:solidFill>
            <a:srgbClr val="F3F7FB"/>
          </a:solidFill>
          <a:ln w="10160">
            <a:solidFill>
              <a:srgbClr val="DBE4ED"/>
            </a:solidFill>
            <a:prstDash val="solid"/>
          </a:ln>
        </p:spPr>
        <p:txBody>
          <a:bodyPr/>
          <a:lstStyle/>
          <a:p>
            <a:endParaRPr lang="en-JP"/>
          </a:p>
        </p:txBody>
      </p:sp>
      <p:sp>
        <p:nvSpPr>
          <p:cNvPr id="15" name="Shape 13"/>
          <p:cNvSpPr/>
          <p:nvPr/>
        </p:nvSpPr>
        <p:spPr>
          <a:xfrm>
            <a:off x="722376" y="2862072"/>
            <a:ext cx="64008" cy="969264"/>
          </a:xfrm>
          <a:prstGeom prst="rect">
            <a:avLst/>
          </a:prstGeom>
          <a:solidFill>
            <a:srgbClr val="138D87"/>
          </a:solidFill>
          <a:ln w="12700">
            <a:solidFill>
              <a:srgbClr val="138D87"/>
            </a:solidFill>
            <a:prstDash val="solid"/>
          </a:ln>
        </p:spPr>
        <p:txBody>
          <a:bodyPr/>
          <a:lstStyle/>
          <a:p>
            <a:endParaRPr lang="en-JP"/>
          </a:p>
        </p:txBody>
      </p:sp>
      <p:sp>
        <p:nvSpPr>
          <p:cNvPr id="16" name="Text 14"/>
          <p:cNvSpPr/>
          <p:nvPr/>
        </p:nvSpPr>
        <p:spPr>
          <a:xfrm>
            <a:off x="932688" y="3017520"/>
            <a:ext cx="10287000"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Q: How do you change the Python used by VS Code?</a:t>
            </a:r>
            <a:endParaRPr lang="en-US" sz="1700" dirty="0"/>
          </a:p>
        </p:txBody>
      </p:sp>
      <p:sp>
        <p:nvSpPr>
          <p:cNvPr id="17" name="Text 15"/>
          <p:cNvSpPr/>
          <p:nvPr/>
        </p:nvSpPr>
        <p:spPr>
          <a:xfrm>
            <a:off x="932688" y="3438144"/>
            <a:ext cx="10277856" cy="378013"/>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A: Python: Select Interpreter.</a:t>
            </a:r>
            <a:endParaRPr lang="en-US" sz="1500" dirty="0"/>
          </a:p>
        </p:txBody>
      </p:sp>
      <p:sp>
        <p:nvSpPr>
          <p:cNvPr id="18" name="Text 16"/>
          <p:cNvSpPr/>
          <p:nvPr/>
        </p:nvSpPr>
        <p:spPr>
          <a:xfrm>
            <a:off x="932688" y="3443630"/>
            <a:ext cx="10277856" cy="31016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Python: Select Interpreterを使用。</a:t>
            </a:r>
            <a:endParaRPr lang="en-US" sz="1200" dirty="0"/>
          </a:p>
        </p:txBody>
      </p:sp>
      <p:sp>
        <p:nvSpPr>
          <p:cNvPr id="19" name="Shape 17"/>
          <p:cNvSpPr/>
          <p:nvPr/>
        </p:nvSpPr>
        <p:spPr>
          <a:xfrm>
            <a:off x="722376" y="3922776"/>
            <a:ext cx="10698480" cy="969264"/>
          </a:xfrm>
          <a:prstGeom prst="roundRect">
            <a:avLst>
              <a:gd name="adj" fmla="val 12264"/>
            </a:avLst>
          </a:prstGeom>
          <a:solidFill>
            <a:srgbClr val="F3F7FB"/>
          </a:solidFill>
          <a:ln w="10160">
            <a:solidFill>
              <a:srgbClr val="DBE4ED"/>
            </a:solidFill>
            <a:prstDash val="solid"/>
          </a:ln>
        </p:spPr>
        <p:txBody>
          <a:bodyPr/>
          <a:lstStyle/>
          <a:p>
            <a:endParaRPr lang="en-JP"/>
          </a:p>
        </p:txBody>
      </p:sp>
      <p:sp>
        <p:nvSpPr>
          <p:cNvPr id="20" name="Shape 18"/>
          <p:cNvSpPr/>
          <p:nvPr/>
        </p:nvSpPr>
        <p:spPr>
          <a:xfrm>
            <a:off x="722376" y="3922776"/>
            <a:ext cx="64008" cy="969264"/>
          </a:xfrm>
          <a:prstGeom prst="rect">
            <a:avLst/>
          </a:prstGeom>
          <a:solidFill>
            <a:srgbClr val="2676A8"/>
          </a:solidFill>
          <a:ln w="12700">
            <a:solidFill>
              <a:srgbClr val="2676A8"/>
            </a:solidFill>
            <a:prstDash val="solid"/>
          </a:ln>
        </p:spPr>
        <p:txBody>
          <a:bodyPr/>
          <a:lstStyle/>
          <a:p>
            <a:endParaRPr lang="en-JP"/>
          </a:p>
        </p:txBody>
      </p:sp>
      <p:sp>
        <p:nvSpPr>
          <p:cNvPr id="21" name="Text 19"/>
          <p:cNvSpPr/>
          <p:nvPr/>
        </p:nvSpPr>
        <p:spPr>
          <a:xfrm>
            <a:off x="932688" y="4078224"/>
            <a:ext cx="10287000" cy="347472"/>
          </a:xfrm>
          <a:prstGeom prst="rect">
            <a:avLst/>
          </a:prstGeom>
          <a:noFill/>
          <a:ln/>
        </p:spPr>
        <p:txBody>
          <a:bodyPr wrap="square" lIns="508" tIns="508" rIns="508" bIns="508" rtlCol="0" anchor="ctr"/>
          <a:lstStyle/>
          <a:p>
            <a:pPr marL="0" indent="0" algn="l">
              <a:buNone/>
            </a:pPr>
            <a:r>
              <a:rPr lang="en-US" sz="1700" b="1" dirty="0">
                <a:solidFill>
                  <a:srgbClr val="2676A8"/>
                </a:solidFill>
                <a:latin typeface="Aptos" pitchFamily="34" charset="0"/>
                <a:ea typeface="Aptos" pitchFamily="34" charset="-122"/>
                <a:cs typeface="Aptos" pitchFamily="34" charset="-120"/>
              </a:rPr>
              <a:t>Q: Which GitHub visibility is best for classroom practice?</a:t>
            </a:r>
            <a:endParaRPr lang="en-US" sz="1700" dirty="0"/>
          </a:p>
        </p:txBody>
      </p:sp>
      <p:sp>
        <p:nvSpPr>
          <p:cNvPr id="22" name="Text 20"/>
          <p:cNvSpPr/>
          <p:nvPr/>
        </p:nvSpPr>
        <p:spPr>
          <a:xfrm>
            <a:off x="932688" y="4498848"/>
            <a:ext cx="10277856" cy="378013"/>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A: Private, especially if project data is sensitive.</a:t>
            </a:r>
            <a:endParaRPr lang="en-US" sz="1500" dirty="0"/>
          </a:p>
        </p:txBody>
      </p:sp>
      <p:sp>
        <p:nvSpPr>
          <p:cNvPr id="23" name="Text 21"/>
          <p:cNvSpPr/>
          <p:nvPr/>
        </p:nvSpPr>
        <p:spPr>
          <a:xfrm>
            <a:off x="932688" y="4504334"/>
            <a:ext cx="10277856" cy="31016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Private（非公開）を推奨。</a:t>
            </a:r>
            <a:endParaRPr lang="en-US" sz="1200" dirty="0"/>
          </a:p>
        </p:txBody>
      </p:sp>
      <p:sp>
        <p:nvSpPr>
          <p:cNvPr id="24" name="Shape 22"/>
          <p:cNvSpPr/>
          <p:nvPr/>
        </p:nvSpPr>
        <p:spPr>
          <a:xfrm>
            <a:off x="722376" y="4983480"/>
            <a:ext cx="10698480" cy="969264"/>
          </a:xfrm>
          <a:prstGeom prst="roundRect">
            <a:avLst>
              <a:gd name="adj" fmla="val 12264"/>
            </a:avLst>
          </a:prstGeom>
          <a:solidFill>
            <a:srgbClr val="F3F7FB"/>
          </a:solidFill>
          <a:ln w="10160">
            <a:solidFill>
              <a:srgbClr val="DBE4ED"/>
            </a:solidFill>
            <a:prstDash val="solid"/>
          </a:ln>
        </p:spPr>
        <p:txBody>
          <a:bodyPr/>
          <a:lstStyle/>
          <a:p>
            <a:endParaRPr lang="en-JP"/>
          </a:p>
        </p:txBody>
      </p:sp>
      <p:sp>
        <p:nvSpPr>
          <p:cNvPr id="25" name="Shape 23"/>
          <p:cNvSpPr/>
          <p:nvPr/>
        </p:nvSpPr>
        <p:spPr>
          <a:xfrm>
            <a:off x="722376" y="4983480"/>
            <a:ext cx="64008" cy="969264"/>
          </a:xfrm>
          <a:prstGeom prst="rect">
            <a:avLst/>
          </a:prstGeom>
          <a:solidFill>
            <a:srgbClr val="138D87"/>
          </a:solidFill>
          <a:ln w="12700">
            <a:solidFill>
              <a:srgbClr val="138D87"/>
            </a:solidFill>
            <a:prstDash val="solid"/>
          </a:ln>
        </p:spPr>
        <p:txBody>
          <a:bodyPr/>
          <a:lstStyle/>
          <a:p>
            <a:endParaRPr lang="en-JP"/>
          </a:p>
        </p:txBody>
      </p:sp>
      <p:sp>
        <p:nvSpPr>
          <p:cNvPr id="26" name="Text 24"/>
          <p:cNvSpPr/>
          <p:nvPr/>
        </p:nvSpPr>
        <p:spPr>
          <a:xfrm>
            <a:off x="932688" y="5138928"/>
            <a:ext cx="10287000" cy="347472"/>
          </a:xfrm>
          <a:prstGeom prst="rect">
            <a:avLst/>
          </a:prstGeom>
          <a:noFill/>
          <a:ln/>
        </p:spPr>
        <p:txBody>
          <a:bodyPr wrap="square" lIns="508" tIns="508" rIns="508" bIns="508" rtlCol="0" anchor="ctr"/>
          <a:lstStyle/>
          <a:p>
            <a:pPr marL="0" indent="0" algn="l">
              <a:buNone/>
            </a:pPr>
            <a:r>
              <a:rPr lang="en-US" sz="1700" b="1" dirty="0">
                <a:solidFill>
                  <a:srgbClr val="138D87"/>
                </a:solidFill>
                <a:latin typeface="Aptos" pitchFamily="34" charset="0"/>
                <a:ea typeface="Aptos" pitchFamily="34" charset="-122"/>
                <a:cs typeface="Aptos" pitchFamily="34" charset="-120"/>
              </a:rPr>
              <a:t>Q: What should go in `.gitignore`?</a:t>
            </a:r>
            <a:endParaRPr lang="en-US" sz="1700" dirty="0"/>
          </a:p>
        </p:txBody>
      </p:sp>
      <p:sp>
        <p:nvSpPr>
          <p:cNvPr id="27" name="Text 25"/>
          <p:cNvSpPr/>
          <p:nvPr/>
        </p:nvSpPr>
        <p:spPr>
          <a:xfrm>
            <a:off x="932688" y="5559552"/>
            <a:ext cx="10277856" cy="378013"/>
          </a:xfrm>
          <a:prstGeom prst="rect">
            <a:avLst/>
          </a:prstGeom>
          <a:noFill/>
          <a:ln/>
        </p:spPr>
        <p:txBody>
          <a:bodyPr wrap="square" lIns="508" tIns="508" rIns="508" bIns="508" rtlCol="0" anchor="t"/>
          <a:lstStyle/>
          <a:p>
            <a:pPr marL="0" indent="0" algn="l">
              <a:buNone/>
            </a:pPr>
            <a:r>
              <a:rPr lang="en-US" sz="1500" dirty="0">
                <a:solidFill>
                  <a:srgbClr val="213348"/>
                </a:solidFill>
                <a:latin typeface="Aptos" pitchFamily="34" charset="0"/>
                <a:ea typeface="Aptos" pitchFamily="34" charset="-122"/>
                <a:cs typeface="Aptos" pitchFamily="34" charset="-120"/>
              </a:rPr>
              <a:t>A: Secrets, environments, generated files, personal face images.</a:t>
            </a:r>
            <a:endParaRPr lang="en-US" sz="1500" dirty="0"/>
          </a:p>
        </p:txBody>
      </p:sp>
      <p:sp>
        <p:nvSpPr>
          <p:cNvPr id="28" name="Text 26"/>
          <p:cNvSpPr/>
          <p:nvPr/>
        </p:nvSpPr>
        <p:spPr>
          <a:xfrm>
            <a:off x="932688" y="5565038"/>
            <a:ext cx="10277856" cy="310164"/>
          </a:xfrm>
          <a:prstGeom prst="rect">
            <a:avLst/>
          </a:prstGeom>
          <a:noFill/>
          <a:ln/>
        </p:spPr>
        <p:txBody>
          <a:bodyPr wrap="square" lIns="508" tIns="508" rIns="508" bIns="508" rtlCol="0" anchor="t"/>
          <a:lstStyle/>
          <a:p>
            <a:pPr marL="0" indent="0" algn="l">
              <a:buNone/>
            </a:pPr>
            <a:r>
              <a:rPr lang="en-US" sz="1200" dirty="0">
                <a:solidFill>
                  <a:srgbClr val="546678"/>
                </a:solidFill>
                <a:latin typeface="Aptos" pitchFamily="34" charset="0"/>
                <a:ea typeface="Aptos" pitchFamily="34" charset="-122"/>
                <a:cs typeface="Aptos" pitchFamily="34" charset="-120"/>
              </a:rPr>
              <a:t>秘密情報・環境・生成物・個人の顔画像。</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38D87"/>
          </a:solidFill>
          <a:ln w="12700">
            <a:solidFill>
              <a:srgbClr val="138D87"/>
            </a:solidFill>
            <a:prstDash val="solid"/>
          </a:ln>
        </p:spPr>
        <p:txBody>
          <a:bodyPr/>
          <a:lstStyle/>
          <a:p>
            <a:endParaRPr lang="en-JP"/>
          </a:p>
        </p:txBody>
      </p:sp>
      <p:sp>
        <p:nvSpPr>
          <p:cNvPr id="3" name="Text 1"/>
          <p:cNvSpPr/>
          <p:nvPr/>
        </p:nvSpPr>
        <p:spPr>
          <a:xfrm>
            <a:off x="548640" y="265176"/>
            <a:ext cx="5486400" cy="256032"/>
          </a:xfrm>
          <a:prstGeom prst="rect">
            <a:avLst/>
          </a:prstGeom>
          <a:noFill/>
          <a:ln/>
        </p:spPr>
        <p:txBody>
          <a:bodyPr wrap="square" lIns="508" tIns="508" rIns="508" bIns="508" rtlCol="0" anchor="ctr"/>
          <a:lstStyle/>
          <a:p>
            <a:pPr marL="0" indent="0" algn="l">
              <a:buNone/>
            </a:pPr>
            <a:r>
              <a:rPr lang="en-US" sz="1000" b="1" kern="0" spc="180" dirty="0">
                <a:solidFill>
                  <a:srgbClr val="138D87"/>
                </a:solidFill>
                <a:latin typeface="Aptos" pitchFamily="34" charset="0"/>
                <a:ea typeface="Aptos" pitchFamily="34" charset="-122"/>
                <a:cs typeface="Aptos" pitchFamily="34" charset="-120"/>
              </a:rPr>
              <a:t>REFERENCES</a:t>
            </a:r>
            <a:endParaRPr lang="en-US" sz="1000" dirty="0"/>
          </a:p>
        </p:txBody>
      </p:sp>
      <p:sp>
        <p:nvSpPr>
          <p:cNvPr id="4" name="Text 2"/>
          <p:cNvSpPr/>
          <p:nvPr/>
        </p:nvSpPr>
        <p:spPr>
          <a:xfrm>
            <a:off x="548640" y="576072"/>
            <a:ext cx="11064240" cy="530352"/>
          </a:xfrm>
          <a:prstGeom prst="rect">
            <a:avLst/>
          </a:prstGeom>
          <a:noFill/>
          <a:ln/>
        </p:spPr>
        <p:txBody>
          <a:bodyPr wrap="square" lIns="508" tIns="508" rIns="508" bIns="508" rtlCol="0" anchor="ctr"/>
          <a:lstStyle/>
          <a:p>
            <a:pPr marL="0" indent="0" algn="l">
              <a:buNone/>
            </a:pPr>
            <a:r>
              <a:rPr lang="en-US" sz="2700" b="1" dirty="0">
                <a:solidFill>
                  <a:srgbClr val="10243A"/>
                </a:solidFill>
                <a:latin typeface="Aptos" pitchFamily="34" charset="0"/>
                <a:ea typeface="Aptos" pitchFamily="34" charset="-122"/>
                <a:cs typeface="Aptos" pitchFamily="34" charset="-120"/>
              </a:rPr>
              <a:t>Official documentation and further reading</a:t>
            </a:r>
            <a:endParaRPr lang="en-US" sz="2700" dirty="0"/>
          </a:p>
        </p:txBody>
      </p:sp>
      <p:sp>
        <p:nvSpPr>
          <p:cNvPr id="5" name="Text 3"/>
          <p:cNvSpPr/>
          <p:nvPr/>
        </p:nvSpPr>
        <p:spPr>
          <a:xfrm>
            <a:off x="548640" y="1133856"/>
            <a:ext cx="11064240" cy="393192"/>
          </a:xfrm>
          <a:prstGeom prst="rect">
            <a:avLst/>
          </a:prstGeom>
          <a:noFill/>
          <a:ln/>
        </p:spPr>
        <p:txBody>
          <a:bodyPr wrap="square" lIns="508" tIns="508" rIns="508" bIns="508" rtlCol="0" anchor="ctr"/>
          <a:lstStyle/>
          <a:p>
            <a:pPr marL="0" indent="0" algn="l">
              <a:buNone/>
            </a:pPr>
            <a:r>
              <a:rPr lang="en-US" sz="1500" dirty="0">
                <a:solidFill>
                  <a:srgbClr val="546678"/>
                </a:solidFill>
                <a:latin typeface="Aptos" pitchFamily="34" charset="0"/>
                <a:ea typeface="Aptos" pitchFamily="34" charset="-122"/>
                <a:cs typeface="Aptos" pitchFamily="34" charset="-120"/>
              </a:rPr>
              <a:t>公式資料・参考リンク</a:t>
            </a:r>
            <a:endParaRPr lang="en-US" sz="1500" dirty="0"/>
          </a:p>
        </p:txBody>
      </p:sp>
      <p:sp>
        <p:nvSpPr>
          <p:cNvPr id="6" name="Shape 4"/>
          <p:cNvSpPr/>
          <p:nvPr/>
        </p:nvSpPr>
        <p:spPr>
          <a:xfrm>
            <a:off x="548640" y="1627632"/>
            <a:ext cx="11082528" cy="0"/>
          </a:xfrm>
          <a:prstGeom prst="line">
            <a:avLst/>
          </a:prstGeom>
          <a:noFill/>
          <a:ln w="12700">
            <a:solidFill>
              <a:srgbClr val="DBE4ED"/>
            </a:solidFill>
            <a:prstDash val="solid"/>
          </a:ln>
        </p:spPr>
        <p:txBody>
          <a:bodyPr/>
          <a:lstStyle/>
          <a:p>
            <a:endParaRPr lang="en-JP"/>
          </a:p>
        </p:txBody>
      </p:sp>
      <p:sp>
        <p:nvSpPr>
          <p:cNvPr id="7" name="Text 5"/>
          <p:cNvSpPr/>
          <p:nvPr/>
        </p:nvSpPr>
        <p:spPr>
          <a:xfrm>
            <a:off x="548640" y="6537960"/>
            <a:ext cx="9144000" cy="155448"/>
          </a:xfrm>
          <a:prstGeom prst="rect">
            <a:avLst/>
          </a:prstGeom>
          <a:noFill/>
          <a:ln/>
        </p:spPr>
        <p:txBody>
          <a:bodyPr wrap="square" lIns="508" tIns="508" rIns="508" bIns="508" rtlCol="0" anchor="ctr"/>
          <a:lstStyle/>
          <a:p>
            <a:pPr marL="0" indent="0" algn="l">
              <a:buNone/>
            </a:pPr>
            <a:r>
              <a:rPr lang="en-US" sz="800" dirty="0">
                <a:solidFill>
                  <a:srgbClr val="8290A0"/>
                </a:solidFill>
                <a:latin typeface="Aptos" pitchFamily="34" charset="0"/>
                <a:ea typeface="Aptos" pitchFamily="34" charset="-122"/>
                <a:cs typeface="Aptos" pitchFamily="34" charset="-120"/>
              </a:rPr>
              <a:t>Windows 11  •  Anaconda / Conda  •  VS Code  •  GitHub</a:t>
            </a:r>
            <a:endParaRPr lang="en-US" sz="800" dirty="0"/>
          </a:p>
        </p:txBody>
      </p:sp>
      <p:sp>
        <p:nvSpPr>
          <p:cNvPr id="8" name="Text 6"/>
          <p:cNvSpPr/>
          <p:nvPr/>
        </p:nvSpPr>
        <p:spPr>
          <a:xfrm>
            <a:off x="11173968" y="6510528"/>
            <a:ext cx="420624" cy="182880"/>
          </a:xfrm>
          <a:prstGeom prst="rect">
            <a:avLst/>
          </a:prstGeom>
          <a:noFill/>
          <a:ln/>
        </p:spPr>
        <p:txBody>
          <a:bodyPr wrap="square" lIns="508" tIns="508" rIns="508" bIns="508" rtlCol="0" anchor="ctr"/>
          <a:lstStyle/>
          <a:p>
            <a:pPr marL="0" indent="0" algn="r">
              <a:buNone/>
            </a:pPr>
            <a:r>
              <a:rPr lang="en-US" sz="1000" dirty="0">
                <a:solidFill>
                  <a:srgbClr val="546678"/>
                </a:solidFill>
                <a:latin typeface="Aptos" pitchFamily="34" charset="0"/>
                <a:ea typeface="Aptos" pitchFamily="34" charset="-122"/>
                <a:cs typeface="Aptos" pitchFamily="34" charset="-120"/>
              </a:rPr>
              <a:t>33</a:t>
            </a:r>
            <a:endParaRPr lang="en-US" sz="1000" dirty="0"/>
          </a:p>
        </p:txBody>
      </p:sp>
      <p:sp>
        <p:nvSpPr>
          <p:cNvPr id="9" name="Text 7"/>
          <p:cNvSpPr/>
          <p:nvPr/>
        </p:nvSpPr>
        <p:spPr>
          <a:xfrm>
            <a:off x="813816" y="1865376"/>
            <a:ext cx="4069080" cy="265176"/>
          </a:xfrm>
          <a:prstGeom prst="rect">
            <a:avLst/>
          </a:prstGeom>
          <a:noFill/>
          <a:ln/>
        </p:spPr>
        <p:txBody>
          <a:bodyPr wrap="square" lIns="508" tIns="508" rIns="508" bIns="508" rtlCol="0" anchor="ctr"/>
          <a:lstStyle/>
          <a:p>
            <a:pPr marL="0" indent="0" algn="l">
              <a:buNone/>
            </a:pPr>
            <a:r>
              <a:rPr lang="en-US" sz="1400" b="1" dirty="0">
                <a:solidFill>
                  <a:srgbClr val="2676A8"/>
                </a:solidFill>
                <a:latin typeface="Aptos" pitchFamily="34" charset="0"/>
                <a:ea typeface="Aptos" pitchFamily="34" charset="-122"/>
                <a:cs typeface="Aptos" pitchFamily="34" charset="-120"/>
              </a:rPr>
              <a:t>Conda environments</a:t>
            </a:r>
            <a:endParaRPr lang="en-US" sz="1400" dirty="0"/>
          </a:p>
        </p:txBody>
      </p:sp>
      <p:sp>
        <p:nvSpPr>
          <p:cNvPr id="10" name="Text 8">
            <a:hlinkClick r:id="rId3"/>
          </p:cNvPr>
          <p:cNvSpPr/>
          <p:nvPr/>
        </p:nvSpPr>
        <p:spPr>
          <a:xfrm>
            <a:off x="4754880" y="1865376"/>
            <a:ext cx="6601968" cy="329184"/>
          </a:xfrm>
          <a:prstGeom prst="rect">
            <a:avLst/>
          </a:prstGeom>
          <a:noFill/>
          <a:ln/>
        </p:spPr>
        <p:txBody>
          <a:bodyPr wrap="square" lIns="508" tIns="508" rIns="508" bIns="508" rtlCol="0" anchor="ctr"/>
          <a:lstStyle/>
          <a:p>
            <a:pPr marL="0" indent="0" algn="l">
              <a:buNone/>
            </a:pPr>
            <a:r>
              <a:rPr lang="en-US" sz="1000" u="sng" dirty="0">
                <a:solidFill>
                  <a:srgbClr val="546678"/>
                </a:solidFill>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https://docs.conda.io/projects/conda/en/stable/user-guide/tasks/manage-environments.html</a:t>
            </a:r>
            <a:endParaRPr lang="en-US" sz="1000" dirty="0"/>
          </a:p>
        </p:txBody>
      </p:sp>
      <p:sp>
        <p:nvSpPr>
          <p:cNvPr id="11" name="Text 9"/>
          <p:cNvSpPr/>
          <p:nvPr/>
        </p:nvSpPr>
        <p:spPr>
          <a:xfrm>
            <a:off x="813816" y="2496312"/>
            <a:ext cx="4069080" cy="265176"/>
          </a:xfrm>
          <a:prstGeom prst="rect">
            <a:avLst/>
          </a:prstGeom>
          <a:noFill/>
          <a:ln/>
        </p:spPr>
        <p:txBody>
          <a:bodyPr wrap="square" lIns="508" tIns="508" rIns="508" bIns="508" rtlCol="0" anchor="ctr"/>
          <a:lstStyle/>
          <a:p>
            <a:pPr marL="0" indent="0" algn="l">
              <a:buNone/>
            </a:pPr>
            <a:r>
              <a:rPr lang="en-US" sz="1400" b="1" dirty="0">
                <a:solidFill>
                  <a:srgbClr val="2676A8"/>
                </a:solidFill>
                <a:latin typeface="Aptos" pitchFamily="34" charset="0"/>
                <a:ea typeface="Aptos" pitchFamily="34" charset="-122"/>
                <a:cs typeface="Aptos" pitchFamily="34" charset="-120"/>
              </a:rPr>
              <a:t>VS Code Python environments</a:t>
            </a:r>
            <a:endParaRPr lang="en-US" sz="1400" dirty="0"/>
          </a:p>
        </p:txBody>
      </p:sp>
      <p:sp>
        <p:nvSpPr>
          <p:cNvPr id="12" name="Text 10">
            <a:hlinkClick r:id="rId4"/>
          </p:cNvPr>
          <p:cNvSpPr/>
          <p:nvPr/>
        </p:nvSpPr>
        <p:spPr>
          <a:xfrm>
            <a:off x="4754880" y="2496312"/>
            <a:ext cx="6601968" cy="329184"/>
          </a:xfrm>
          <a:prstGeom prst="rect">
            <a:avLst/>
          </a:prstGeom>
          <a:noFill/>
          <a:ln/>
        </p:spPr>
        <p:txBody>
          <a:bodyPr wrap="square" lIns="508" tIns="508" rIns="508" bIns="508" rtlCol="0" anchor="ctr"/>
          <a:lstStyle/>
          <a:p>
            <a:pPr marL="0" indent="0" algn="l">
              <a:buNone/>
            </a:pPr>
            <a:r>
              <a:rPr lang="en-US" sz="1000" u="sng" dirty="0">
                <a:solidFill>
                  <a:srgbClr val="546678"/>
                </a:solid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https://code.visualstudio.com/docs/python/environments</a:t>
            </a:r>
            <a:endParaRPr lang="en-US" sz="1000" dirty="0"/>
          </a:p>
        </p:txBody>
      </p:sp>
      <p:sp>
        <p:nvSpPr>
          <p:cNvPr id="13" name="Text 11"/>
          <p:cNvSpPr/>
          <p:nvPr/>
        </p:nvSpPr>
        <p:spPr>
          <a:xfrm>
            <a:off x="813816" y="3127248"/>
            <a:ext cx="4069080" cy="265176"/>
          </a:xfrm>
          <a:prstGeom prst="rect">
            <a:avLst/>
          </a:prstGeom>
          <a:noFill/>
          <a:ln/>
        </p:spPr>
        <p:txBody>
          <a:bodyPr wrap="square" lIns="508" tIns="508" rIns="508" bIns="508" rtlCol="0" anchor="ctr"/>
          <a:lstStyle/>
          <a:p>
            <a:pPr marL="0" indent="0" algn="l">
              <a:buNone/>
            </a:pPr>
            <a:r>
              <a:rPr lang="en-US" sz="1400" b="1" dirty="0">
                <a:solidFill>
                  <a:srgbClr val="2676A8"/>
                </a:solidFill>
                <a:latin typeface="Aptos" pitchFamily="34" charset="0"/>
                <a:ea typeface="Aptos" pitchFamily="34" charset="-122"/>
                <a:cs typeface="Aptos" pitchFamily="34" charset="-120"/>
              </a:rPr>
              <a:t>VS Code Source Control quickstart</a:t>
            </a:r>
            <a:endParaRPr lang="en-US" sz="1400" dirty="0"/>
          </a:p>
        </p:txBody>
      </p:sp>
      <p:sp>
        <p:nvSpPr>
          <p:cNvPr id="14" name="Text 12">
            <a:hlinkClick r:id="rId5"/>
          </p:cNvPr>
          <p:cNvSpPr/>
          <p:nvPr/>
        </p:nvSpPr>
        <p:spPr>
          <a:xfrm>
            <a:off x="4754880" y="3127248"/>
            <a:ext cx="6601968" cy="329184"/>
          </a:xfrm>
          <a:prstGeom prst="rect">
            <a:avLst/>
          </a:prstGeom>
          <a:noFill/>
          <a:ln/>
        </p:spPr>
        <p:txBody>
          <a:bodyPr wrap="square" lIns="508" tIns="508" rIns="508" bIns="508" rtlCol="0" anchor="ctr"/>
          <a:lstStyle/>
          <a:p>
            <a:pPr marL="0" indent="0" algn="l">
              <a:buNone/>
            </a:pPr>
            <a:r>
              <a:rPr lang="en-US" sz="1000" u="sng" dirty="0">
                <a:solidFill>
                  <a:srgbClr val="546678"/>
                </a:solid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https://code.visualstudio.com/docs/sourcecontrol/quickstart</a:t>
            </a:r>
            <a:endParaRPr lang="en-US" sz="1000" dirty="0"/>
          </a:p>
        </p:txBody>
      </p:sp>
      <p:sp>
        <p:nvSpPr>
          <p:cNvPr id="15" name="Text 13"/>
          <p:cNvSpPr/>
          <p:nvPr/>
        </p:nvSpPr>
        <p:spPr>
          <a:xfrm>
            <a:off x="813816" y="3758184"/>
            <a:ext cx="4069080" cy="265176"/>
          </a:xfrm>
          <a:prstGeom prst="rect">
            <a:avLst/>
          </a:prstGeom>
          <a:noFill/>
          <a:ln/>
        </p:spPr>
        <p:txBody>
          <a:bodyPr wrap="square" lIns="508" tIns="508" rIns="508" bIns="508" rtlCol="0" anchor="ctr"/>
          <a:lstStyle/>
          <a:p>
            <a:pPr marL="0" indent="0" algn="l">
              <a:buNone/>
            </a:pPr>
            <a:r>
              <a:rPr lang="en-US" sz="1400" b="1" dirty="0">
                <a:solidFill>
                  <a:srgbClr val="2676A8"/>
                </a:solidFill>
                <a:latin typeface="Aptos" pitchFamily="34" charset="0"/>
                <a:ea typeface="Aptos" pitchFamily="34" charset="-122"/>
                <a:cs typeface="Aptos" pitchFamily="34" charset="-120"/>
              </a:rPr>
              <a:t>Publish/clone GitHub repositories</a:t>
            </a:r>
            <a:endParaRPr lang="en-US" sz="1400" dirty="0"/>
          </a:p>
        </p:txBody>
      </p:sp>
      <p:sp>
        <p:nvSpPr>
          <p:cNvPr id="16" name="Text 14">
            <a:hlinkClick r:id="rId6"/>
          </p:cNvPr>
          <p:cNvSpPr/>
          <p:nvPr/>
        </p:nvSpPr>
        <p:spPr>
          <a:xfrm>
            <a:off x="4754880" y="3758184"/>
            <a:ext cx="6601968" cy="329184"/>
          </a:xfrm>
          <a:prstGeom prst="rect">
            <a:avLst/>
          </a:prstGeom>
          <a:noFill/>
          <a:ln/>
        </p:spPr>
        <p:txBody>
          <a:bodyPr wrap="square" lIns="508" tIns="508" rIns="508" bIns="508" rtlCol="0" anchor="ctr"/>
          <a:lstStyle/>
          <a:p>
            <a:pPr marL="0" indent="0" algn="l">
              <a:buNone/>
            </a:pPr>
            <a:r>
              <a:rPr lang="en-US" sz="1000" u="sng" dirty="0">
                <a:solidFill>
                  <a:srgbClr val="546678"/>
                </a:solidFill>
                <a:latin typeface="Aptos" pitchFamily="34" charset="0"/>
                <a:ea typeface="Aptos" pitchFamily="34" charset="-122"/>
                <a:cs typeface="Aptos" pitchFamily="34" charset="-120"/>
                <a:hlinkClick r:id="rId6">
                  <a:extLst>
                    <a:ext uri="{A12FA001-AC4F-418D-AE19-62706E023703}">
                      <ahyp:hlinkClr xmlns:ahyp="http://schemas.microsoft.com/office/drawing/2018/hyperlinkcolor" val="tx"/>
                    </a:ext>
                  </a:extLst>
                </a:hlinkClick>
              </a:rPr>
              <a:t>https://code.visualstudio.com/docs/sourcecontrol/repos-remotes</a:t>
            </a:r>
            <a:endParaRPr lang="en-US" sz="1000" dirty="0"/>
          </a:p>
        </p:txBody>
      </p:sp>
      <p:sp>
        <p:nvSpPr>
          <p:cNvPr id="17" name="Text 15"/>
          <p:cNvSpPr/>
          <p:nvPr/>
        </p:nvSpPr>
        <p:spPr>
          <a:xfrm>
            <a:off x="813816" y="4389120"/>
            <a:ext cx="4069080" cy="265176"/>
          </a:xfrm>
          <a:prstGeom prst="rect">
            <a:avLst/>
          </a:prstGeom>
          <a:noFill/>
          <a:ln/>
        </p:spPr>
        <p:txBody>
          <a:bodyPr wrap="square" lIns="508" tIns="508" rIns="508" bIns="508" rtlCol="0" anchor="ctr"/>
          <a:lstStyle/>
          <a:p>
            <a:pPr marL="0" indent="0" algn="l">
              <a:buNone/>
            </a:pPr>
            <a:r>
              <a:rPr lang="en-US" sz="1400" b="1" dirty="0">
                <a:solidFill>
                  <a:srgbClr val="2676A8"/>
                </a:solidFill>
                <a:latin typeface="Aptos" pitchFamily="34" charset="0"/>
                <a:ea typeface="Aptos" pitchFamily="34" charset="-122"/>
                <a:cs typeface="Aptos" pitchFamily="34" charset="-120"/>
              </a:rPr>
              <a:t>GitHub integration</a:t>
            </a:r>
            <a:endParaRPr lang="en-US" sz="1400" dirty="0"/>
          </a:p>
        </p:txBody>
      </p:sp>
      <p:sp>
        <p:nvSpPr>
          <p:cNvPr id="18" name="Text 16">
            <a:hlinkClick r:id="rId7"/>
          </p:cNvPr>
          <p:cNvSpPr/>
          <p:nvPr/>
        </p:nvSpPr>
        <p:spPr>
          <a:xfrm>
            <a:off x="4754880" y="4389120"/>
            <a:ext cx="6601968" cy="329184"/>
          </a:xfrm>
          <a:prstGeom prst="rect">
            <a:avLst/>
          </a:prstGeom>
          <a:noFill/>
          <a:ln/>
        </p:spPr>
        <p:txBody>
          <a:bodyPr wrap="square" lIns="508" tIns="508" rIns="508" bIns="508" rtlCol="0" anchor="ctr"/>
          <a:lstStyle/>
          <a:p>
            <a:pPr marL="0" indent="0" algn="l">
              <a:buNone/>
            </a:pPr>
            <a:r>
              <a:rPr lang="en-US" sz="1000" u="sng" dirty="0">
                <a:solidFill>
                  <a:srgbClr val="546678"/>
                </a:solidFill>
                <a:latin typeface="Aptos" pitchFamily="34" charset="0"/>
                <a:ea typeface="Aptos" pitchFamily="34" charset="-122"/>
                <a:cs typeface="Aptos" pitchFamily="34" charset="-120"/>
                <a:hlinkClick r:id="rId7">
                  <a:extLst>
                    <a:ext uri="{A12FA001-AC4F-418D-AE19-62706E023703}">
                      <ahyp:hlinkClr xmlns:ahyp="http://schemas.microsoft.com/office/drawing/2018/hyperlinkcolor" val="tx"/>
                    </a:ext>
                  </a:extLst>
                </a:hlinkClick>
              </a:rPr>
              <a:t>https://code.visualstudio.com/docs/sourcecontrol/github</a:t>
            </a:r>
            <a:endParaRPr lang="en-US" sz="1000" dirty="0"/>
          </a:p>
        </p:txBody>
      </p:sp>
      <p:sp>
        <p:nvSpPr>
          <p:cNvPr id="19" name="Text 17"/>
          <p:cNvSpPr/>
          <p:nvPr/>
        </p:nvSpPr>
        <p:spPr>
          <a:xfrm>
            <a:off x="813816" y="5020056"/>
            <a:ext cx="4069080" cy="265176"/>
          </a:xfrm>
          <a:prstGeom prst="rect">
            <a:avLst/>
          </a:prstGeom>
          <a:noFill/>
          <a:ln/>
        </p:spPr>
        <p:txBody>
          <a:bodyPr wrap="square" lIns="508" tIns="508" rIns="508" bIns="508" rtlCol="0" anchor="ctr"/>
          <a:lstStyle/>
          <a:p>
            <a:pPr marL="0" indent="0" algn="l">
              <a:buNone/>
            </a:pPr>
            <a:r>
              <a:rPr lang="en-US" sz="1400" b="1" dirty="0">
                <a:solidFill>
                  <a:srgbClr val="2676A8"/>
                </a:solidFill>
                <a:latin typeface="Aptos" pitchFamily="34" charset="0"/>
                <a:ea typeface="Aptos" pitchFamily="34" charset="-122"/>
                <a:cs typeface="Aptos" pitchFamily="34" charset="-120"/>
              </a:rPr>
              <a:t>Download Git for Windows</a:t>
            </a:r>
            <a:endParaRPr lang="en-US" sz="1400" dirty="0"/>
          </a:p>
        </p:txBody>
      </p:sp>
      <p:sp>
        <p:nvSpPr>
          <p:cNvPr id="20" name="Text 18">
            <a:hlinkClick r:id="rId8"/>
          </p:cNvPr>
          <p:cNvSpPr/>
          <p:nvPr/>
        </p:nvSpPr>
        <p:spPr>
          <a:xfrm>
            <a:off x="4754880" y="5020056"/>
            <a:ext cx="6601968" cy="329184"/>
          </a:xfrm>
          <a:prstGeom prst="rect">
            <a:avLst/>
          </a:prstGeom>
          <a:noFill/>
          <a:ln/>
        </p:spPr>
        <p:txBody>
          <a:bodyPr wrap="square" lIns="508" tIns="508" rIns="508" bIns="508" rtlCol="0" anchor="ctr"/>
          <a:lstStyle/>
          <a:p>
            <a:pPr marL="0" indent="0" algn="l">
              <a:buNone/>
            </a:pPr>
            <a:r>
              <a:rPr lang="en-US" sz="1000" u="sng" dirty="0">
                <a:solidFill>
                  <a:srgbClr val="546678"/>
                </a:solidFill>
                <a:latin typeface="Aptos" pitchFamily="34" charset="0"/>
                <a:ea typeface="Aptos" pitchFamily="34" charset="-122"/>
                <a:cs typeface="Aptos" pitchFamily="34" charset="-120"/>
                <a:hlinkClick r:id="rId8">
                  <a:extLst>
                    <a:ext uri="{A12FA001-AC4F-418D-AE19-62706E023703}">
                      <ahyp:hlinkClr xmlns:ahyp="http://schemas.microsoft.com/office/drawing/2018/hyperlinkcolor" val="tx"/>
                    </a:ext>
                  </a:extLst>
                </a:hlinkClick>
              </a:rPr>
              <a:t>https://git-scm.com/download/win</a:t>
            </a:r>
            <a:endParaRPr lang="en-US" sz="1000" dirty="0"/>
          </a:p>
        </p:txBody>
      </p:sp>
      <p:sp>
        <p:nvSpPr>
          <p:cNvPr id="21" name="Shape 19"/>
          <p:cNvSpPr/>
          <p:nvPr/>
        </p:nvSpPr>
        <p:spPr>
          <a:xfrm>
            <a:off x="658368" y="5705856"/>
            <a:ext cx="10853928" cy="594360"/>
          </a:xfrm>
          <a:prstGeom prst="roundRect">
            <a:avLst>
              <a:gd name="adj" fmla="val 20000"/>
            </a:avLst>
          </a:prstGeom>
          <a:solidFill>
            <a:srgbClr val="E9F6F0"/>
          </a:solidFill>
          <a:ln w="10160">
            <a:solidFill>
              <a:srgbClr val="C5E4D9"/>
            </a:solidFill>
            <a:prstDash val="solid"/>
          </a:ln>
        </p:spPr>
        <p:txBody>
          <a:bodyPr/>
          <a:lstStyle/>
          <a:p>
            <a:endParaRPr lang="en-JP"/>
          </a:p>
        </p:txBody>
      </p:sp>
      <p:sp>
        <p:nvSpPr>
          <p:cNvPr id="22" name="Text 20"/>
          <p:cNvSpPr/>
          <p:nvPr/>
        </p:nvSpPr>
        <p:spPr>
          <a:xfrm>
            <a:off x="841248" y="5779008"/>
            <a:ext cx="10515600" cy="219456"/>
          </a:xfrm>
          <a:prstGeom prst="rect">
            <a:avLst/>
          </a:prstGeom>
          <a:noFill/>
          <a:ln/>
        </p:spPr>
        <p:txBody>
          <a:bodyPr wrap="square" lIns="508" tIns="508" rIns="508" bIns="508" rtlCol="0" anchor="ctr"/>
          <a:lstStyle/>
          <a:p>
            <a:pPr marL="0" indent="0" algn="l">
              <a:buNone/>
            </a:pPr>
            <a:r>
              <a:rPr lang="en-US" sz="1200" b="1" dirty="0">
                <a:solidFill>
                  <a:srgbClr val="247D60"/>
                </a:solidFill>
                <a:latin typeface="Aptos" pitchFamily="34" charset="0"/>
                <a:ea typeface="Aptos" pitchFamily="34" charset="-122"/>
                <a:cs typeface="Aptos" pitchFamily="34" charset="-120"/>
              </a:rPr>
              <a:t>Product interface labels may change over time; refer to official documentation if your menus differ.</a:t>
            </a:r>
            <a:endParaRPr lang="en-US" sz="1200" dirty="0"/>
          </a:p>
        </p:txBody>
      </p:sp>
      <p:sp>
        <p:nvSpPr>
          <p:cNvPr id="23" name="Text 21"/>
          <p:cNvSpPr/>
          <p:nvPr/>
        </p:nvSpPr>
        <p:spPr>
          <a:xfrm>
            <a:off x="841248" y="6025896"/>
            <a:ext cx="10469880" cy="182880"/>
          </a:xfrm>
          <a:prstGeom prst="rect">
            <a:avLst/>
          </a:prstGeom>
          <a:noFill/>
          <a:ln/>
        </p:spPr>
        <p:txBody>
          <a:bodyPr wrap="square" lIns="508" tIns="508" rIns="508" bIns="508" rtlCol="0" anchor="ctr"/>
          <a:lstStyle/>
          <a:p>
            <a:pPr marL="0" indent="0" algn="l">
              <a:buNone/>
            </a:pPr>
            <a:r>
              <a:rPr lang="en-US" sz="1000" dirty="0">
                <a:solidFill>
                  <a:srgbClr val="213348"/>
                </a:solidFill>
                <a:latin typeface="Aptos" pitchFamily="34" charset="0"/>
                <a:ea typeface="Aptos" pitchFamily="34" charset="-122"/>
                <a:cs typeface="Aptos" pitchFamily="34" charset="-120"/>
              </a:rPr>
              <a:t>画面の名称はバージョンにより異なる場合があります。公式資料を確認してください。</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3203</Words>
  <Application>Microsoft Macintosh PowerPoint</Application>
  <PresentationFormat>Widescreen</PresentationFormat>
  <Paragraphs>553</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Environment and GitHub Workflow / Python環境とGitHub</dc:title>
  <dc:subject>Windows 11 conda, VS Code, GitHub bilingual tutorial</dc:subject>
  <dc:creator>OpenAI</dc:creator>
  <cp:lastModifiedBy>Matus Tanonwong</cp:lastModifiedBy>
  <cp:revision>2</cp:revision>
  <dcterms:created xsi:type="dcterms:W3CDTF">2026-10-14T03:30:09Z</dcterms:created>
  <dcterms:modified xsi:type="dcterms:W3CDTF">2026-10-14T04:15:20Z</dcterms:modified>
</cp:coreProperties>
</file>