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310896"/>
            <a:ext cx="1106424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Face Detection with Haar Cascades  |  Haar Cascadeによる顔検出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05840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BILINGUAL LECTURE / 英語・日本語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19088"/>
            <a:ext cx="38404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21792" y="1060704"/>
            <a:ext cx="1060704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769A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From webcam pixels to a face bounding box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609344"/>
            <a:ext cx="106527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Webカメラの画素から顔の位置（バウンディングボックス）を見つけるまで</a:t>
            </a:r>
            <a:endParaRPr lang="en-US" sz="1900" dirty="0"/>
          </a:p>
        </p:txBody>
      </p:sp>
      <p:pic>
        <p:nvPicPr>
          <p:cNvPr id="8" name="Image 0" descr="/mnt/data/Eigenfaces_Webcam_Project/Yale_Faces_Images/person_01/face_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340864"/>
            <a:ext cx="2240280" cy="25603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298448" y="2670048"/>
            <a:ext cx="1645920" cy="1828800"/>
          </a:xfrm>
          <a:prstGeom prst="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238B6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794760" y="3566160"/>
            <a:ext cx="1097280" cy="0"/>
          </a:xfrm>
          <a:prstGeom prst="line">
            <a:avLst/>
          </a:prstGeom>
          <a:noFill/>
          <a:ln w="25400">
            <a:solidFill>
              <a:srgbClr val="1769AA"/>
            </a:solidFill>
            <a:prstDash val="solid"/>
            <a:headEnd type="none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4983480" y="3090672"/>
            <a:ext cx="2103120" cy="1005840"/>
          </a:xfrm>
          <a:prstGeom prst="roundRect">
            <a:avLst>
              <a:gd name="adj" fmla="val 9091"/>
            </a:avLst>
          </a:prstGeom>
          <a:solidFill>
            <a:srgbClr val="EAF0F5"/>
          </a:solidFill>
          <a:ln w="12700">
            <a:solidFill>
              <a:srgbClr val="D7E1E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93208" y="3182112"/>
            <a:ext cx="188366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Detect face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093208" y="3474720"/>
            <a:ext cx="1883664" cy="2651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8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顔検出</a:t>
            </a:r>
            <a:endParaRPr lang="en-US" sz="1180" dirty="0"/>
          </a:p>
        </p:txBody>
      </p:sp>
      <p:sp>
        <p:nvSpPr>
          <p:cNvPr id="14" name="Shape 11"/>
          <p:cNvSpPr/>
          <p:nvPr/>
        </p:nvSpPr>
        <p:spPr>
          <a:xfrm>
            <a:off x="7342632" y="3566160"/>
            <a:ext cx="932688" cy="0"/>
          </a:xfrm>
          <a:prstGeom prst="line">
            <a:avLst/>
          </a:prstGeom>
          <a:noFill/>
          <a:ln w="25400">
            <a:solidFill>
              <a:srgbClr val="1769AA"/>
            </a:solidFill>
            <a:prstDash val="solid"/>
            <a:headEnd type="none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8321040" y="3090672"/>
            <a:ext cx="2423160" cy="1005840"/>
          </a:xfrm>
          <a:prstGeom prst="roundRect">
            <a:avLst>
              <a:gd name="adj" fmla="val 9091"/>
            </a:avLst>
          </a:prstGeom>
          <a:solidFill>
            <a:srgbClr val="EAF0F5"/>
          </a:solidFill>
          <a:ln w="12700">
            <a:solidFill>
              <a:srgbClr val="D7E1E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430768" y="3182112"/>
            <a:ext cx="220370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Face crop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430768" y="3474720"/>
            <a:ext cx="2203704" cy="2651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8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顔領域の切り出し</a:t>
            </a:r>
            <a:endParaRPr lang="en-US" sz="1180" dirty="0"/>
          </a:p>
        </p:txBody>
      </p:sp>
      <p:sp>
        <p:nvSpPr>
          <p:cNvPr id="18" name="Shape 15"/>
          <p:cNvSpPr/>
          <p:nvPr/>
        </p:nvSpPr>
        <p:spPr>
          <a:xfrm>
            <a:off x="566928" y="5797296"/>
            <a:ext cx="11027664" cy="475488"/>
          </a:xfrm>
          <a:prstGeom prst="roundRect">
            <a:avLst>
              <a:gd name="adj" fmla="val 15385"/>
            </a:avLst>
          </a:prstGeom>
          <a:solidFill>
            <a:srgbClr val="D8F0F8"/>
          </a:solidFill>
          <a:ln w="12700">
            <a:solidFill>
              <a:srgbClr val="D8F0F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7240" y="5870448"/>
            <a:ext cx="1060704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Audience: second-year undergraduates  /  対象：学部2年生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310896"/>
            <a:ext cx="1106424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Learning objectives  |  学習目標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05840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HAAR CASCADE / 顔検出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19088"/>
            <a:ext cx="38404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13232" y="1417320"/>
            <a:ext cx="100584" cy="100584"/>
          </a:xfrm>
          <a:prstGeom prst="ellipse">
            <a:avLst/>
          </a:prstGeom>
          <a:solidFill>
            <a:srgbClr val="238B62"/>
          </a:solidFill>
          <a:ln w="12700">
            <a:solidFill>
              <a:srgbClr val="238B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325880"/>
            <a:ext cx="10479024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Explain what face detection returns: (x, y, w, h)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87552" y="1664208"/>
            <a:ext cx="1047902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顔検出の出力（位置 x, y と幅 w, 高さ h）を説明できる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13232" y="2496312"/>
            <a:ext cx="100584" cy="100584"/>
          </a:xfrm>
          <a:prstGeom prst="ellipse">
            <a:avLst/>
          </a:prstGeom>
          <a:solidFill>
            <a:srgbClr val="238B62"/>
          </a:solidFill>
          <a:ln w="12700">
            <a:solidFill>
              <a:srgbClr val="238B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2404872"/>
            <a:ext cx="10479024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Compute a simple Haar feature and an integral-image sum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87552" y="2743200"/>
            <a:ext cx="1047902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簡単なHaar特徴と積分画像の領域和を計算できる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13232" y="3575304"/>
            <a:ext cx="100584" cy="100584"/>
          </a:xfrm>
          <a:prstGeom prst="ellipse">
            <a:avLst/>
          </a:prstGeom>
          <a:solidFill>
            <a:srgbClr val="238B62"/>
          </a:solidFill>
          <a:ln w="12700">
            <a:solidFill>
              <a:srgbClr val="238B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3483864"/>
            <a:ext cx="10479024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Understand AdaBoost, cascades, and multiscale scanning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87552" y="3822192"/>
            <a:ext cx="1047902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AdaBoost・カスケード・マルチスケール探索の役割が分かる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13232" y="4654296"/>
            <a:ext cx="100584" cy="100584"/>
          </a:xfrm>
          <a:prstGeom prst="ellipse">
            <a:avLst/>
          </a:prstGeom>
          <a:solidFill>
            <a:srgbClr val="238B62"/>
          </a:solidFill>
          <a:ln w="12700">
            <a:solidFill>
              <a:srgbClr val="238B6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4562856"/>
            <a:ext cx="10479024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Read and modify the detector in webcam_eigenfaces.py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87552" y="4901184"/>
            <a:ext cx="1047902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自分のプログラムの顔検出パラメータを説明・変更できる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310896"/>
            <a:ext cx="1106424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Detection ≠ Recognition ≠ Tracking  |  3つのタスクの違い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05840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HAAR CASCADE / 顔検出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19088"/>
            <a:ext cx="38404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353312"/>
            <a:ext cx="356616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12700">
            <a:solidFill>
              <a:srgbClr val="D7E1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353312"/>
            <a:ext cx="64008" cy="3337560"/>
          </a:xfrm>
          <a:prstGeom prst="rect">
            <a:avLst/>
          </a:prstGeom>
          <a:solidFill>
            <a:srgbClr val="238B62"/>
          </a:solidFill>
          <a:ln w="12700">
            <a:solidFill>
              <a:srgbClr val="238B6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472184"/>
            <a:ext cx="324612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38B6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DETECTION / 検出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1874520"/>
            <a:ext cx="3246120" cy="13487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Where is the face? Output: rectangle (x, y, w, h).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3223260"/>
            <a:ext cx="3246120" cy="13487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顔はどこにある？ 出力は顔の矩形領域。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4325112" y="1353312"/>
            <a:ext cx="356616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12700">
            <a:solidFill>
              <a:srgbClr val="D7E1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1353312"/>
            <a:ext cx="64008" cy="3337560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07992" y="1472184"/>
            <a:ext cx="324612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69A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RECOGNITION / 識別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07992" y="1874520"/>
            <a:ext cx="3246120" cy="13487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Whose face is it? In our code: PCA → nearest neighbor.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07992" y="3223260"/>
            <a:ext cx="3246120" cy="13487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誰の顔？ 本コードではPCA→最近傍探索。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8129016" y="1353312"/>
            <a:ext cx="356616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12700">
            <a:solidFill>
              <a:srgbClr val="D7E1E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29016" y="1353312"/>
            <a:ext cx="64008" cy="3337560"/>
          </a:xfrm>
          <a:prstGeom prst="rect">
            <a:avLst/>
          </a:prstGeom>
          <a:solidFill>
            <a:srgbClr val="D97721"/>
          </a:solidFill>
          <a:ln w="12700">
            <a:solidFill>
              <a:srgbClr val="D9772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11896" y="1472184"/>
            <a:ext cx="324612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9772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TRACKING / 追跡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11896" y="1874520"/>
            <a:ext cx="3246120" cy="13487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Is this the same face across frames? Not implemented here.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11896" y="3223260"/>
            <a:ext cx="3246120" cy="13487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フレーム間で同一人物を追う。本コードには未実装。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566928" y="5797296"/>
            <a:ext cx="11027664" cy="475488"/>
          </a:xfrm>
          <a:prstGeom prst="roundRect">
            <a:avLst>
              <a:gd name="adj" fmla="val 15385"/>
            </a:avLst>
          </a:prstGeom>
          <a:solidFill>
            <a:srgbClr val="D8F0F8"/>
          </a:solidFill>
          <a:ln w="12700">
            <a:solidFill>
              <a:srgbClr val="D8F0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5870448"/>
            <a:ext cx="1060704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 green oval on the screen is a positioning guide, not a tracker.  /  画面の緑色の楕円は位置合わせのガイドであり、追跡器ではありません。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310896"/>
            <a:ext cx="1106424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Where detection occurs in your code  |  コード内の処理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05840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HAAR CASCADE / 顔検出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19088"/>
            <a:ext cx="38404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1828800" cy="1097280"/>
          </a:xfrm>
          <a:prstGeom prst="roundRect">
            <a:avLst>
              <a:gd name="adj" fmla="val 8333"/>
            </a:avLst>
          </a:prstGeom>
          <a:solidFill>
            <a:srgbClr val="EAF0F5"/>
          </a:solidFill>
          <a:ln w="12700">
            <a:solidFill>
              <a:srgbClr val="D7E1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011680"/>
            <a:ext cx="160934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Webcam frame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8368" y="2304288"/>
            <a:ext cx="1609344" cy="2651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8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カメラ画像</a:t>
            </a:r>
            <a:endParaRPr lang="en-US" sz="1180" dirty="0"/>
          </a:p>
        </p:txBody>
      </p:sp>
      <p:sp>
        <p:nvSpPr>
          <p:cNvPr id="9" name="Shape 7"/>
          <p:cNvSpPr/>
          <p:nvPr/>
        </p:nvSpPr>
        <p:spPr>
          <a:xfrm>
            <a:off x="2423160" y="2468880"/>
            <a:ext cx="420624" cy="0"/>
          </a:xfrm>
          <a:prstGeom prst="line">
            <a:avLst/>
          </a:prstGeom>
          <a:noFill/>
          <a:ln w="25400">
            <a:solidFill>
              <a:srgbClr val="1769AA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889504" y="1920240"/>
            <a:ext cx="1828800" cy="1097280"/>
          </a:xfrm>
          <a:prstGeom prst="roundRect">
            <a:avLst>
              <a:gd name="adj" fmla="val 8333"/>
            </a:avLst>
          </a:prstGeom>
          <a:solidFill>
            <a:srgbClr val="EAF0F5"/>
          </a:solidFill>
          <a:ln w="12700">
            <a:solidFill>
              <a:srgbClr val="D7E1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99232" y="2011680"/>
            <a:ext cx="160934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Convert to gray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999232" y="2304288"/>
            <a:ext cx="1609344" cy="2651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8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グレー化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4764024" y="2468880"/>
            <a:ext cx="411480" cy="0"/>
          </a:xfrm>
          <a:prstGeom prst="line">
            <a:avLst/>
          </a:prstGeom>
          <a:noFill/>
          <a:ln w="25400">
            <a:solidFill>
              <a:srgbClr val="1769AA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221224" y="1920240"/>
            <a:ext cx="1828800" cy="1097280"/>
          </a:xfrm>
          <a:prstGeom prst="roundRect">
            <a:avLst>
              <a:gd name="adj" fmla="val 8333"/>
            </a:avLst>
          </a:prstGeom>
          <a:solidFill>
            <a:srgbClr val="EAF0F5"/>
          </a:solidFill>
          <a:ln w="12700">
            <a:solidFill>
              <a:srgbClr val="D7E1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30952" y="2011680"/>
            <a:ext cx="160934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Haar detector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330952" y="2304288"/>
            <a:ext cx="1609344" cy="2651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8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顔検出</a:t>
            </a:r>
            <a:endParaRPr lang="en-US" sz="1180" dirty="0"/>
          </a:p>
        </p:txBody>
      </p:sp>
      <p:sp>
        <p:nvSpPr>
          <p:cNvPr id="17" name="Shape 15"/>
          <p:cNvSpPr/>
          <p:nvPr/>
        </p:nvSpPr>
        <p:spPr>
          <a:xfrm>
            <a:off x="7095744" y="2468880"/>
            <a:ext cx="420624" cy="0"/>
          </a:xfrm>
          <a:prstGeom prst="line">
            <a:avLst/>
          </a:prstGeom>
          <a:noFill/>
          <a:ln w="25400">
            <a:solidFill>
              <a:srgbClr val="1769AA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562088" y="1920240"/>
            <a:ext cx="1828800" cy="1097280"/>
          </a:xfrm>
          <a:prstGeom prst="roundRect">
            <a:avLst>
              <a:gd name="adj" fmla="val 8333"/>
            </a:avLst>
          </a:prstGeom>
          <a:solidFill>
            <a:srgbClr val="EAF0F5"/>
          </a:solidFill>
          <a:ln w="12700">
            <a:solidFill>
              <a:srgbClr val="D7E1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71816" y="2011680"/>
            <a:ext cx="160934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Crop / resize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671816" y="2304288"/>
            <a:ext cx="1609344" cy="2651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8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切り出し</a:t>
            </a:r>
            <a:endParaRPr lang="en-US" sz="1180" dirty="0"/>
          </a:p>
        </p:txBody>
      </p:sp>
      <p:sp>
        <p:nvSpPr>
          <p:cNvPr id="21" name="Shape 19"/>
          <p:cNvSpPr/>
          <p:nvPr/>
        </p:nvSpPr>
        <p:spPr>
          <a:xfrm>
            <a:off x="9436608" y="2468880"/>
            <a:ext cx="402336" cy="0"/>
          </a:xfrm>
          <a:prstGeom prst="line">
            <a:avLst/>
          </a:prstGeom>
          <a:noFill/>
          <a:ln w="25400">
            <a:solidFill>
              <a:srgbClr val="1769AA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884664" y="1920240"/>
            <a:ext cx="1828800" cy="1097280"/>
          </a:xfrm>
          <a:prstGeom prst="roundRect">
            <a:avLst>
              <a:gd name="adj" fmla="val 8333"/>
            </a:avLst>
          </a:prstGeom>
          <a:solidFill>
            <a:srgbClr val="EAF0F5"/>
          </a:solidFill>
          <a:ln w="12700">
            <a:solidFill>
              <a:srgbClr val="D7E1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994392" y="2011680"/>
            <a:ext cx="160934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PCA + 1-NN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994392" y="2304288"/>
            <a:ext cx="1609344" cy="2651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8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人物識別</a:t>
            </a:r>
            <a:endParaRPr lang="en-US" sz="1180" dirty="0"/>
          </a:p>
        </p:txBody>
      </p:sp>
      <p:sp>
        <p:nvSpPr>
          <p:cNvPr id="25" name="Shape 23"/>
          <p:cNvSpPr/>
          <p:nvPr/>
        </p:nvSpPr>
        <p:spPr>
          <a:xfrm>
            <a:off x="914400" y="3749040"/>
            <a:ext cx="10378440" cy="1033272"/>
          </a:xfrm>
          <a:prstGeom prst="roundRect">
            <a:avLst>
              <a:gd name="adj" fmla="val 8850"/>
            </a:avLst>
          </a:prstGeom>
          <a:solidFill>
            <a:srgbClr val="E9F1F6"/>
          </a:solidFill>
          <a:ln w="12700">
            <a:solidFill>
              <a:srgbClr val="D7E1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60704" y="3840480"/>
            <a:ext cx="10122408" cy="8503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7324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gray = cv2.cvtColor(frame, cv2.COLOR_BGR2GRAY)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7324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rects = detector.detectMultiScale(gray, scaleFactor=1.12,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7324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                         minNeighbors=5, minSize=(65,65))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66928" y="5797296"/>
            <a:ext cx="11027664" cy="475488"/>
          </a:xfrm>
          <a:prstGeom prst="roundRect">
            <a:avLst>
              <a:gd name="adj" fmla="val 15385"/>
            </a:avLst>
          </a:prstGeom>
          <a:solidFill>
            <a:srgbClr val="D8F0F8"/>
          </a:solidFill>
          <a:ln w="12700">
            <a:solidFill>
              <a:srgbClr val="D8F0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5870448"/>
            <a:ext cx="1060704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Code source: find_faces() in webcam_eigenfaces.py  /  コードの参照箇所：find_faces()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310896"/>
            <a:ext cx="1106424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Why detect before recognition?  |  なぜ先に顔検出？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05840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HAAR CASCADE / 顔検出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19088"/>
            <a:ext cx="38404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13232" y="1280160"/>
            <a:ext cx="100584" cy="100584"/>
          </a:xfrm>
          <a:prstGeom prst="ellipse">
            <a:avLst/>
          </a:prstGeom>
          <a:solidFill>
            <a:srgbClr val="238B62"/>
          </a:solidFill>
          <a:ln w="12700">
            <a:solidFill>
              <a:srgbClr val="238B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188720"/>
            <a:ext cx="10479024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 webcam image includes background, hair, clothes, and walls.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87552" y="1527048"/>
            <a:ext cx="1047902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Webカメラ画像には背景・髪・衣服・壁も含まれる。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13232" y="2286000"/>
            <a:ext cx="100584" cy="100584"/>
          </a:xfrm>
          <a:prstGeom prst="ellipse">
            <a:avLst/>
          </a:prstGeom>
          <a:solidFill>
            <a:srgbClr val="238B62"/>
          </a:solidFill>
          <a:ln w="12700">
            <a:solidFill>
              <a:srgbClr val="238B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2194560"/>
            <a:ext cx="10479024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PCA expects a consistent face-centered input.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87552" y="2532888"/>
            <a:ext cx="1047902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PCAには顔を中心にそろえた入力が必要。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13232" y="3291840"/>
            <a:ext cx="100584" cy="100584"/>
          </a:xfrm>
          <a:prstGeom prst="ellipse">
            <a:avLst/>
          </a:prstGeom>
          <a:solidFill>
            <a:srgbClr val="238B62"/>
          </a:solidFill>
          <a:ln w="12700">
            <a:solidFill>
              <a:srgbClr val="238B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3200400"/>
            <a:ext cx="10479024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Detection finds a face region to crop and normalize.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87552" y="3538728"/>
            <a:ext cx="1047902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顔領域を検出し、切り出し・正規化を行う。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13232" y="4297680"/>
            <a:ext cx="100584" cy="100584"/>
          </a:xfrm>
          <a:prstGeom prst="ellipse">
            <a:avLst/>
          </a:prstGeom>
          <a:solidFill>
            <a:srgbClr val="238B62"/>
          </a:solidFill>
          <a:ln w="12700">
            <a:solidFill>
              <a:srgbClr val="238B6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4206240"/>
            <a:ext cx="10479024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Detection is not proof that the crop is correctly aligned.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87552" y="4544568"/>
            <a:ext cx="1047902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検出成功＝顔の位置合わせが正確、とは限らない。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66928" y="5797296"/>
            <a:ext cx="11027664" cy="475488"/>
          </a:xfrm>
          <a:prstGeom prst="roundRect">
            <a:avLst>
              <a:gd name="adj" fmla="val 15385"/>
            </a:avLst>
          </a:prstGeom>
          <a:solidFill>
            <a:srgbClr val="D8F0F8"/>
          </a:solidFill>
          <a:ln w="12700">
            <a:solidFill>
              <a:srgbClr val="D8F0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5870448"/>
            <a:ext cx="1060704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In this program: crop → grayscale → 42 × 48 → PCA  /  本コード：切り出し→グレー化→42×48→PCA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310896"/>
            <a:ext cx="1106424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Pixels and grayscale  |  画素とグレースケール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05840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HAAR CASCADE / 顔検出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19088"/>
            <a:ext cx="38404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94944" y="1069848"/>
            <a:ext cx="1088136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 grayscale image is a matrix of intensity values.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04088" y="1517904"/>
            <a:ext cx="108813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グレースケール画像は明るさの値を並べた行列です。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14400" y="2176272"/>
            <a:ext cx="621792" cy="566928"/>
          </a:xfrm>
          <a:prstGeom prst="roundRect">
            <a:avLst>
              <a:gd name="adj" fmla="val 16129"/>
            </a:avLst>
          </a:prstGeom>
          <a:solidFill>
            <a:srgbClr val="141414"/>
          </a:solidFill>
          <a:ln w="12700">
            <a:solidFill>
              <a:srgbClr val="BFC9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76272"/>
            <a:ext cx="621792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20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581912" y="2176272"/>
            <a:ext cx="621792" cy="566928"/>
          </a:xfrm>
          <a:prstGeom prst="roundRect">
            <a:avLst>
              <a:gd name="adj" fmla="val 16129"/>
            </a:avLst>
          </a:prstGeom>
          <a:solidFill>
            <a:srgbClr val="141414"/>
          </a:solidFill>
          <a:ln w="12700">
            <a:solidFill>
              <a:srgbClr val="BFC9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81912" y="2176272"/>
            <a:ext cx="621792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20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2249424" y="2176272"/>
            <a:ext cx="621792" cy="566928"/>
          </a:xfrm>
          <a:prstGeom prst="roundRect">
            <a:avLst>
              <a:gd name="adj" fmla="val 16129"/>
            </a:avLst>
          </a:prstGeom>
          <a:solidFill>
            <a:srgbClr val="DCDCDC"/>
          </a:solidFill>
          <a:ln w="12700">
            <a:solidFill>
              <a:srgbClr val="BFC9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49424" y="2176272"/>
            <a:ext cx="621792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220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2916936" y="2176272"/>
            <a:ext cx="621792" cy="566928"/>
          </a:xfrm>
          <a:prstGeom prst="roundRect">
            <a:avLst>
              <a:gd name="adj" fmla="val 16129"/>
            </a:avLst>
          </a:prstGeom>
          <a:solidFill>
            <a:srgbClr val="DCDCDC"/>
          </a:solidFill>
          <a:ln w="12700">
            <a:solidFill>
              <a:srgbClr val="BFC9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16936" y="2176272"/>
            <a:ext cx="621792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220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14400" y="2798064"/>
            <a:ext cx="621792" cy="566928"/>
          </a:xfrm>
          <a:prstGeom prst="roundRect">
            <a:avLst>
              <a:gd name="adj" fmla="val 16129"/>
            </a:avLst>
          </a:prstGeom>
          <a:solidFill>
            <a:srgbClr val="1E1E1E"/>
          </a:solidFill>
          <a:ln w="12700">
            <a:solidFill>
              <a:srgbClr val="BFC9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2798064"/>
            <a:ext cx="621792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30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1581912" y="2798064"/>
            <a:ext cx="621792" cy="566928"/>
          </a:xfrm>
          <a:prstGeom prst="roundRect">
            <a:avLst>
              <a:gd name="adj" fmla="val 16129"/>
            </a:avLst>
          </a:prstGeom>
          <a:solidFill>
            <a:srgbClr val="1E1E1E"/>
          </a:solidFill>
          <a:ln w="12700">
            <a:solidFill>
              <a:srgbClr val="BFC9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581912" y="2798064"/>
            <a:ext cx="621792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30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2249424" y="2798064"/>
            <a:ext cx="621792" cy="566928"/>
          </a:xfrm>
          <a:prstGeom prst="roundRect">
            <a:avLst>
              <a:gd name="adj" fmla="val 16129"/>
            </a:avLst>
          </a:prstGeom>
          <a:solidFill>
            <a:srgbClr val="D2D2D2"/>
          </a:solidFill>
          <a:ln w="12700">
            <a:solidFill>
              <a:srgbClr val="BFC9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49424" y="2798064"/>
            <a:ext cx="621792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210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2916936" y="2798064"/>
            <a:ext cx="621792" cy="566928"/>
          </a:xfrm>
          <a:prstGeom prst="roundRect">
            <a:avLst>
              <a:gd name="adj" fmla="val 16129"/>
            </a:avLst>
          </a:prstGeom>
          <a:solidFill>
            <a:srgbClr val="D2D2D2"/>
          </a:solidFill>
          <a:ln w="12700">
            <a:solidFill>
              <a:srgbClr val="BFC9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16936" y="2798064"/>
            <a:ext cx="621792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210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914400" y="3419856"/>
            <a:ext cx="621792" cy="566928"/>
          </a:xfrm>
          <a:prstGeom prst="roundRect">
            <a:avLst>
              <a:gd name="adj" fmla="val 16129"/>
            </a:avLst>
          </a:prstGeom>
          <a:solidFill>
            <a:srgbClr val="232323"/>
          </a:solidFill>
          <a:ln w="12700">
            <a:solidFill>
              <a:srgbClr val="BFC9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3419856"/>
            <a:ext cx="621792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35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1581912" y="3419856"/>
            <a:ext cx="621792" cy="566928"/>
          </a:xfrm>
          <a:prstGeom prst="roundRect">
            <a:avLst>
              <a:gd name="adj" fmla="val 16129"/>
            </a:avLst>
          </a:prstGeom>
          <a:solidFill>
            <a:srgbClr val="232323"/>
          </a:solidFill>
          <a:ln w="12700">
            <a:solidFill>
              <a:srgbClr val="BFC9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581912" y="3419856"/>
            <a:ext cx="621792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35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2249424" y="3419856"/>
            <a:ext cx="621792" cy="566928"/>
          </a:xfrm>
          <a:prstGeom prst="roundRect">
            <a:avLst>
              <a:gd name="adj" fmla="val 16129"/>
            </a:avLst>
          </a:prstGeom>
          <a:solidFill>
            <a:srgbClr val="CDCDCD"/>
          </a:solidFill>
          <a:ln w="12700">
            <a:solidFill>
              <a:srgbClr val="BFC9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49424" y="3419856"/>
            <a:ext cx="621792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205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2916936" y="3419856"/>
            <a:ext cx="621792" cy="566928"/>
          </a:xfrm>
          <a:prstGeom prst="roundRect">
            <a:avLst>
              <a:gd name="adj" fmla="val 16129"/>
            </a:avLst>
          </a:prstGeom>
          <a:solidFill>
            <a:srgbClr val="CDCDCD"/>
          </a:solidFill>
          <a:ln w="12700">
            <a:solidFill>
              <a:srgbClr val="BFC9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16936" y="3419856"/>
            <a:ext cx="621792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205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914400" y="4041648"/>
            <a:ext cx="621792" cy="566928"/>
          </a:xfrm>
          <a:prstGeom prst="roundRect">
            <a:avLst>
              <a:gd name="adj" fmla="val 16129"/>
            </a:avLst>
          </a:prstGeom>
          <a:solidFill>
            <a:srgbClr val="191919"/>
          </a:solidFill>
          <a:ln w="12700">
            <a:solidFill>
              <a:srgbClr val="BFC9D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4041648"/>
            <a:ext cx="621792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25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1581912" y="4041648"/>
            <a:ext cx="621792" cy="566928"/>
          </a:xfrm>
          <a:prstGeom prst="roundRect">
            <a:avLst>
              <a:gd name="adj" fmla="val 16129"/>
            </a:avLst>
          </a:prstGeom>
          <a:solidFill>
            <a:srgbClr val="191919"/>
          </a:solidFill>
          <a:ln w="12700">
            <a:solidFill>
              <a:srgbClr val="BFC9D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581912" y="4041648"/>
            <a:ext cx="621792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25</a:t>
            </a:r>
            <a:endParaRPr lang="en-US" sz="1700" dirty="0"/>
          </a:p>
        </p:txBody>
      </p:sp>
      <p:sp>
        <p:nvSpPr>
          <p:cNvPr id="36" name="Shape 34"/>
          <p:cNvSpPr/>
          <p:nvPr/>
        </p:nvSpPr>
        <p:spPr>
          <a:xfrm>
            <a:off x="2249424" y="4041648"/>
            <a:ext cx="621792" cy="566928"/>
          </a:xfrm>
          <a:prstGeom prst="roundRect">
            <a:avLst>
              <a:gd name="adj" fmla="val 16129"/>
            </a:avLst>
          </a:prstGeom>
          <a:solidFill>
            <a:srgbClr val="E1E1E1"/>
          </a:solidFill>
          <a:ln w="12700">
            <a:solidFill>
              <a:srgbClr val="BFC9D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49424" y="4041648"/>
            <a:ext cx="621792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225</a:t>
            </a:r>
            <a:endParaRPr lang="en-US" sz="1700" dirty="0"/>
          </a:p>
        </p:txBody>
      </p:sp>
      <p:sp>
        <p:nvSpPr>
          <p:cNvPr id="38" name="Shape 36"/>
          <p:cNvSpPr/>
          <p:nvPr/>
        </p:nvSpPr>
        <p:spPr>
          <a:xfrm>
            <a:off x="2916936" y="4041648"/>
            <a:ext cx="621792" cy="566928"/>
          </a:xfrm>
          <a:prstGeom prst="roundRect">
            <a:avLst>
              <a:gd name="adj" fmla="val 16129"/>
            </a:avLst>
          </a:prstGeom>
          <a:solidFill>
            <a:srgbClr val="E1E1E1"/>
          </a:solidFill>
          <a:ln w="12700">
            <a:solidFill>
              <a:srgbClr val="BFC9D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916936" y="4041648"/>
            <a:ext cx="621792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225</a:t>
            </a:r>
            <a:endParaRPr lang="en-US" sz="1700" dirty="0"/>
          </a:p>
        </p:txBody>
      </p:sp>
      <p:sp>
        <p:nvSpPr>
          <p:cNvPr id="40" name="Shape 38"/>
          <p:cNvSpPr/>
          <p:nvPr/>
        </p:nvSpPr>
        <p:spPr>
          <a:xfrm>
            <a:off x="4645152" y="2103120"/>
            <a:ext cx="6345936" cy="2615184"/>
          </a:xfrm>
          <a:prstGeom prst="roundRect">
            <a:avLst>
              <a:gd name="adj" fmla="val 4196"/>
            </a:avLst>
          </a:prstGeom>
          <a:solidFill>
            <a:srgbClr val="FFFFFF"/>
          </a:solidFill>
          <a:ln w="12700">
            <a:solidFill>
              <a:srgbClr val="D7E1E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45152" y="2103120"/>
            <a:ext cx="64008" cy="2615184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28032" y="2221992"/>
            <a:ext cx="6025896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69A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Pixel intensity / 輝度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828032" y="2624328"/>
            <a:ext cx="6025896" cy="9875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 = black; 255 = white. Haar features compare sums of intensities in neighboring rectangular regions.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828032" y="3611880"/>
            <a:ext cx="6025896" cy="9875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0は黒、255は白。Haar特徴は隣接する矩形領域の輝度の和を比較します。</a:t>
            </a:r>
            <a:endParaRPr lang="en-US" sz="1220" dirty="0"/>
          </a:p>
        </p:txBody>
      </p:sp>
      <p:sp>
        <p:nvSpPr>
          <p:cNvPr id="45" name="Shape 43"/>
          <p:cNvSpPr/>
          <p:nvPr/>
        </p:nvSpPr>
        <p:spPr>
          <a:xfrm>
            <a:off x="566928" y="5797296"/>
            <a:ext cx="11027664" cy="475488"/>
          </a:xfrm>
          <a:prstGeom prst="roundRect">
            <a:avLst>
              <a:gd name="adj" fmla="val 15385"/>
            </a:avLst>
          </a:prstGeom>
          <a:solidFill>
            <a:srgbClr val="D8F0F8"/>
          </a:solidFill>
          <a:ln w="12700">
            <a:solidFill>
              <a:srgbClr val="D8F0F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77240" y="5870448"/>
            <a:ext cx="1060704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Face detection operates on appearance patterns, not names.  /  顔検出は人物の名前ではなく、画像の見た目のパターンを調べます。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310896"/>
            <a:ext cx="1106424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Haar-like rectangular features  |  Haar特徴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05840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HAAR CASCADE / 顔検出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19088"/>
            <a:ext cx="38404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042416"/>
            <a:ext cx="1097280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Simple features compare sums of bright and dark regions.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109728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隣接した明暗領域の輝度の和を比べる単純な特徴量です。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" y="2157984"/>
            <a:ext cx="2450592" cy="2468880"/>
          </a:xfrm>
          <a:prstGeom prst="roundRect">
            <a:avLst>
              <a:gd name="adj" fmla="val 3731"/>
            </a:avLst>
          </a:prstGeom>
          <a:solidFill>
            <a:srgbClr val="FFFFFF"/>
          </a:solidFill>
          <a:ln w="12700">
            <a:solidFill>
              <a:srgbClr val="D7E1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304288"/>
            <a:ext cx="1005840" cy="1920240"/>
          </a:xfrm>
          <a:prstGeom prst="rect">
            <a:avLst/>
          </a:prstGeom>
          <a:solidFill>
            <a:srgbClr val="E6EC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37360" y="2304288"/>
            <a:ext cx="1005840" cy="1920240"/>
          </a:xfrm>
          <a:prstGeom prst="rect">
            <a:avLst/>
          </a:prstGeom>
          <a:solidFill>
            <a:srgbClr val="293E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4944" y="4334256"/>
            <a:ext cx="23317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2-rectangle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456432" y="2157984"/>
            <a:ext cx="2450592" cy="2468880"/>
          </a:xfrm>
          <a:prstGeom prst="roundRect">
            <a:avLst>
              <a:gd name="adj" fmla="val 3731"/>
            </a:avLst>
          </a:prstGeom>
          <a:solidFill>
            <a:srgbClr val="FFFFFF"/>
          </a:solidFill>
          <a:ln w="12700">
            <a:solidFill>
              <a:srgbClr val="D7E1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66160" y="2304288"/>
            <a:ext cx="2011680" cy="960120"/>
          </a:xfrm>
          <a:prstGeom prst="rect">
            <a:avLst/>
          </a:prstGeom>
          <a:solidFill>
            <a:srgbClr val="E6EC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66160" y="3264408"/>
            <a:ext cx="2011680" cy="960120"/>
          </a:xfrm>
          <a:prstGeom prst="rect">
            <a:avLst/>
          </a:prstGeom>
          <a:solidFill>
            <a:srgbClr val="293E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9584" y="4334256"/>
            <a:ext cx="23317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2-rectangle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91072" y="2157984"/>
            <a:ext cx="2450592" cy="2468880"/>
          </a:xfrm>
          <a:prstGeom prst="roundRect">
            <a:avLst>
              <a:gd name="adj" fmla="val 3731"/>
            </a:avLst>
          </a:prstGeom>
          <a:solidFill>
            <a:srgbClr val="FFFFFF"/>
          </a:solidFill>
          <a:ln w="12700">
            <a:solidFill>
              <a:srgbClr val="D7E1E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2304288"/>
            <a:ext cx="670560" cy="1920240"/>
          </a:xfrm>
          <a:prstGeom prst="rect">
            <a:avLst/>
          </a:prstGeom>
          <a:solidFill>
            <a:srgbClr val="293E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71360" y="2304288"/>
            <a:ext cx="670560" cy="1920240"/>
          </a:xfrm>
          <a:prstGeom prst="rect">
            <a:avLst/>
          </a:prstGeom>
          <a:solidFill>
            <a:srgbClr val="E6EC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41920" y="2304288"/>
            <a:ext cx="670560" cy="1920240"/>
          </a:xfrm>
          <a:prstGeom prst="rect">
            <a:avLst/>
          </a:prstGeom>
          <a:solidFill>
            <a:srgbClr val="293E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64224" y="4334256"/>
            <a:ext cx="23317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3-rectangle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125712" y="2157984"/>
            <a:ext cx="2450592" cy="2468880"/>
          </a:xfrm>
          <a:prstGeom prst="roundRect">
            <a:avLst>
              <a:gd name="adj" fmla="val 3731"/>
            </a:avLst>
          </a:prstGeom>
          <a:solidFill>
            <a:srgbClr val="FFFFFF"/>
          </a:solidFill>
          <a:ln w="12700">
            <a:solidFill>
              <a:srgbClr val="D7E1E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235440" y="2304288"/>
            <a:ext cx="1005840" cy="960120"/>
          </a:xfrm>
          <a:prstGeom prst="rect">
            <a:avLst/>
          </a:prstGeom>
          <a:solidFill>
            <a:srgbClr val="E6EC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241280" y="2304288"/>
            <a:ext cx="1005840" cy="960120"/>
          </a:xfrm>
          <a:prstGeom prst="rect">
            <a:avLst/>
          </a:prstGeom>
          <a:solidFill>
            <a:srgbClr val="293E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35440" y="3264408"/>
            <a:ext cx="1005840" cy="960120"/>
          </a:xfrm>
          <a:prstGeom prst="rect">
            <a:avLst/>
          </a:prstGeom>
          <a:solidFill>
            <a:srgbClr val="293E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241280" y="3264408"/>
            <a:ext cx="1005840" cy="960120"/>
          </a:xfrm>
          <a:prstGeom prst="rect">
            <a:avLst/>
          </a:prstGeom>
          <a:solidFill>
            <a:srgbClr val="E6EC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98864" y="4334256"/>
            <a:ext cx="23317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4-rectangle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66928" y="5797296"/>
            <a:ext cx="11027664" cy="475488"/>
          </a:xfrm>
          <a:prstGeom prst="roundRect">
            <a:avLst>
              <a:gd name="adj" fmla="val 15385"/>
            </a:avLst>
          </a:prstGeom>
          <a:solidFill>
            <a:srgbClr val="D8F0F8"/>
          </a:solidFill>
          <a:ln w="12700">
            <a:solidFill>
              <a:srgbClr val="D8F0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5870448"/>
            <a:ext cx="1060704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 feature value is a weighted sum: f = Σ (white-region pixels) − Σ (dark-region pixels)  /  特徴量の一例：f = 白領域の画素和 − 黒領域の画素和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310896"/>
            <a:ext cx="1106424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Worked example: 2-rectangle feature  |  計算例①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05840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HAAR CASCADE / 顔検出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19088"/>
            <a:ext cx="38404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1060704"/>
            <a:ext cx="1097280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Use the 4 × 4 image below, split into left and right halves.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94360" y="1472184"/>
            <a:ext cx="1097280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4×4画像を左右2つの領域に分けます。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2084832"/>
            <a:ext cx="612648" cy="566928"/>
          </a:xfrm>
          <a:prstGeom prst="rect">
            <a:avLst/>
          </a:prstGeom>
          <a:solidFill>
            <a:srgbClr val="DAEBF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084832"/>
            <a:ext cx="61264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20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527048" y="2084832"/>
            <a:ext cx="612648" cy="566928"/>
          </a:xfrm>
          <a:prstGeom prst="rect">
            <a:avLst/>
          </a:prstGeom>
          <a:solidFill>
            <a:srgbClr val="DAEBF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27048" y="2084832"/>
            <a:ext cx="61264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20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139696" y="2084832"/>
            <a:ext cx="612648" cy="566928"/>
          </a:xfrm>
          <a:prstGeom prst="rect">
            <a:avLst/>
          </a:prstGeom>
          <a:solidFill>
            <a:srgbClr val="FFE4D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39696" y="2084832"/>
            <a:ext cx="61264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220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752344" y="2084832"/>
            <a:ext cx="612648" cy="566928"/>
          </a:xfrm>
          <a:prstGeom prst="rect">
            <a:avLst/>
          </a:prstGeom>
          <a:solidFill>
            <a:srgbClr val="FFE4D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52344" y="2084832"/>
            <a:ext cx="61264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220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14400" y="2651760"/>
            <a:ext cx="612648" cy="566928"/>
          </a:xfrm>
          <a:prstGeom prst="rect">
            <a:avLst/>
          </a:prstGeom>
          <a:solidFill>
            <a:srgbClr val="DAEBF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2651760"/>
            <a:ext cx="61264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30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527048" y="2651760"/>
            <a:ext cx="612648" cy="566928"/>
          </a:xfrm>
          <a:prstGeom prst="rect">
            <a:avLst/>
          </a:prstGeom>
          <a:solidFill>
            <a:srgbClr val="DAEBF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527048" y="2651760"/>
            <a:ext cx="61264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30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2139696" y="2651760"/>
            <a:ext cx="612648" cy="566928"/>
          </a:xfrm>
          <a:prstGeom prst="rect">
            <a:avLst/>
          </a:prstGeom>
          <a:solidFill>
            <a:srgbClr val="FFE4D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39696" y="2651760"/>
            <a:ext cx="61264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210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2752344" y="2651760"/>
            <a:ext cx="612648" cy="566928"/>
          </a:xfrm>
          <a:prstGeom prst="rect">
            <a:avLst/>
          </a:prstGeom>
          <a:solidFill>
            <a:srgbClr val="FFE4D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52344" y="2651760"/>
            <a:ext cx="61264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210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14400" y="3218688"/>
            <a:ext cx="612648" cy="566928"/>
          </a:xfrm>
          <a:prstGeom prst="rect">
            <a:avLst/>
          </a:prstGeom>
          <a:solidFill>
            <a:srgbClr val="DAEBF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3218688"/>
            <a:ext cx="61264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35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527048" y="3218688"/>
            <a:ext cx="612648" cy="566928"/>
          </a:xfrm>
          <a:prstGeom prst="rect">
            <a:avLst/>
          </a:prstGeom>
          <a:solidFill>
            <a:srgbClr val="DAEBF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527048" y="3218688"/>
            <a:ext cx="61264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35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2139696" y="3218688"/>
            <a:ext cx="612648" cy="566928"/>
          </a:xfrm>
          <a:prstGeom prst="rect">
            <a:avLst/>
          </a:prstGeom>
          <a:solidFill>
            <a:srgbClr val="FFE4D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39696" y="3218688"/>
            <a:ext cx="61264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205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2752344" y="3218688"/>
            <a:ext cx="612648" cy="566928"/>
          </a:xfrm>
          <a:prstGeom prst="rect">
            <a:avLst/>
          </a:prstGeom>
          <a:solidFill>
            <a:srgbClr val="FFE4D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52344" y="3218688"/>
            <a:ext cx="61264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205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914400" y="3785616"/>
            <a:ext cx="612648" cy="566928"/>
          </a:xfrm>
          <a:prstGeom prst="rect">
            <a:avLst/>
          </a:prstGeom>
          <a:solidFill>
            <a:srgbClr val="DAEBF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3785616"/>
            <a:ext cx="61264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25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527048" y="3785616"/>
            <a:ext cx="612648" cy="566928"/>
          </a:xfrm>
          <a:prstGeom prst="rect">
            <a:avLst/>
          </a:prstGeom>
          <a:solidFill>
            <a:srgbClr val="DAEBF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527048" y="3785616"/>
            <a:ext cx="61264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25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2139696" y="3785616"/>
            <a:ext cx="612648" cy="566928"/>
          </a:xfrm>
          <a:prstGeom prst="rect">
            <a:avLst/>
          </a:prstGeom>
          <a:solidFill>
            <a:srgbClr val="FFE4D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39696" y="3785616"/>
            <a:ext cx="61264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225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2752344" y="3785616"/>
            <a:ext cx="612648" cy="566928"/>
          </a:xfrm>
          <a:prstGeom prst="rect">
            <a:avLst/>
          </a:prstGeom>
          <a:solidFill>
            <a:srgbClr val="FFE4D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52344" y="3785616"/>
            <a:ext cx="61264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225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4087368" y="1984248"/>
            <a:ext cx="7114032" cy="3035808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12700">
            <a:solidFill>
              <a:srgbClr val="D7E1E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087368" y="1984248"/>
            <a:ext cx="64008" cy="3035808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270248" y="2103120"/>
            <a:ext cx="6793992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69A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Compute / 計算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270248" y="2505456"/>
            <a:ext cx="6793992" cy="11978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Left sum = 2 × (20 + 30 + 35 + 25) = 220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Right sum = 2 × (220 + 210 + 205 + 225) = 1720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 = Right − Left = 1720 − 220 = 1500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270248" y="3703320"/>
            <a:ext cx="6793992" cy="11978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左の合計 = 220、右の合計 = 1720。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左右の差は f = 1500。符号は白黒領域の定義によって逆になる。</a:t>
            </a:r>
            <a:endParaRPr lang="en-US" sz="1220" dirty="0"/>
          </a:p>
        </p:txBody>
      </p:sp>
      <p:sp>
        <p:nvSpPr>
          <p:cNvPr id="45" name="Shape 43"/>
          <p:cNvSpPr/>
          <p:nvPr/>
        </p:nvSpPr>
        <p:spPr>
          <a:xfrm>
            <a:off x="566928" y="5797296"/>
            <a:ext cx="11027664" cy="475488"/>
          </a:xfrm>
          <a:prstGeom prst="roundRect">
            <a:avLst>
              <a:gd name="adj" fmla="val 15385"/>
            </a:avLst>
          </a:prstGeom>
          <a:solidFill>
            <a:srgbClr val="D8F0F8"/>
          </a:solidFill>
          <a:ln w="12700">
            <a:solidFill>
              <a:srgbClr val="D8F0F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77240" y="5870448"/>
            <a:ext cx="1060704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Large feature magnitude means a strong intensity contrast in this window.  /  特徴量の絶対値が大きいほど、この領域の明暗差は大きい。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310896"/>
            <a:ext cx="1106424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Why do we need integral images?  |  積分画像が必要な理由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05840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HAAR CASCADE / 顔検出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19088"/>
            <a:ext cx="38404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481328"/>
            <a:ext cx="5303520" cy="3328416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D7E1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481328"/>
            <a:ext cx="64008" cy="3328416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600200"/>
            <a:ext cx="498348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69A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Naive sum / 直接計算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41248" y="2002536"/>
            <a:ext cx="4983480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For every rectangle, sum all pixel values inside it. Repeating this at thousands of windows becomes expensive.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41248" y="3346704"/>
            <a:ext cx="4983480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毎回すべての画素を足すと、多数の位置・大きさを調べる際に計算量が増えます。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6190488" y="1481328"/>
            <a:ext cx="5285232" cy="3328416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D7E1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90488" y="1481328"/>
            <a:ext cx="64008" cy="3328416"/>
          </a:xfrm>
          <a:prstGeom prst="rect">
            <a:avLst/>
          </a:prstGeom>
          <a:solidFill>
            <a:srgbClr val="238B62"/>
          </a:solidFill>
          <a:ln w="12700">
            <a:solidFill>
              <a:srgbClr val="238B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3368" y="1600200"/>
            <a:ext cx="4965192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38B6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Integral image / 積分画像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73368" y="2002536"/>
            <a:ext cx="4965192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Precompute cumulative sums once. Then any axis-aligned rectangle sum uses only four lookup values.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73368" y="3346704"/>
            <a:ext cx="4965192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累積和を一度計算すれば、任意の長方形領域の和を4点の参照だけで求められます。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566928" y="5797296"/>
            <a:ext cx="11027664" cy="475488"/>
          </a:xfrm>
          <a:prstGeom prst="roundRect">
            <a:avLst>
              <a:gd name="adj" fmla="val 15385"/>
            </a:avLst>
          </a:prstGeom>
          <a:solidFill>
            <a:srgbClr val="D8F0F8"/>
          </a:solidFill>
          <a:ln w="12700">
            <a:solidFill>
              <a:srgbClr val="D8F0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870448"/>
            <a:ext cx="1060704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Precomputation enables fast evaluation of many Haar features.  /  前計算により多数のHaar特徴を高速に評価できます。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310896"/>
            <a:ext cx="1106424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Integral image definition  |  積分画像の定義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05840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HAAR CASCADE / 顔検出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19088"/>
            <a:ext cx="38404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1170432"/>
            <a:ext cx="10058400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1769A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II(x, y) = Σᵢ₌₁ˣ Σⱼ₌₁ʸ I(i, j)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832104" y="2057400"/>
            <a:ext cx="1060704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Each integral-image entry is the sum of pixels above and to the left, inclusive.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32104" y="2624328"/>
            <a:ext cx="106070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積分画像の各要素は、左上からその位置までの画素値の累積和です。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88720" y="3429000"/>
            <a:ext cx="329184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Original / 元画像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188720" y="3913632"/>
            <a:ext cx="685800" cy="466344"/>
          </a:xfrm>
          <a:prstGeom prst="roundRect">
            <a:avLst>
              <a:gd name="adj" fmla="val 19608"/>
            </a:avLst>
          </a:prstGeom>
          <a:solidFill>
            <a:srgbClr val="E7F0F8"/>
          </a:solidFill>
          <a:ln w="12700">
            <a:solidFill>
              <a:srgbClr val="D7E1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3913632"/>
            <a:ext cx="685800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929384" y="3913632"/>
            <a:ext cx="685800" cy="466344"/>
          </a:xfrm>
          <a:prstGeom prst="roundRect">
            <a:avLst>
              <a:gd name="adj" fmla="val 19608"/>
            </a:avLst>
          </a:prstGeom>
          <a:solidFill>
            <a:srgbClr val="E7F0F8"/>
          </a:solidFill>
          <a:ln w="12700">
            <a:solidFill>
              <a:srgbClr val="D7E1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29384" y="3913632"/>
            <a:ext cx="685800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670048" y="3913632"/>
            <a:ext cx="685800" cy="466344"/>
          </a:xfrm>
          <a:prstGeom prst="roundRect">
            <a:avLst>
              <a:gd name="adj" fmla="val 19608"/>
            </a:avLst>
          </a:prstGeom>
          <a:solidFill>
            <a:srgbClr val="E7F0F8"/>
          </a:solidFill>
          <a:ln w="12700">
            <a:solidFill>
              <a:srgbClr val="D7E1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70048" y="3913632"/>
            <a:ext cx="685800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188720" y="4425696"/>
            <a:ext cx="685800" cy="466344"/>
          </a:xfrm>
          <a:prstGeom prst="roundRect">
            <a:avLst>
              <a:gd name="adj" fmla="val 19608"/>
            </a:avLst>
          </a:prstGeom>
          <a:solidFill>
            <a:srgbClr val="E7F0F8"/>
          </a:solidFill>
          <a:ln w="12700">
            <a:solidFill>
              <a:srgbClr val="D7E1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4425696"/>
            <a:ext cx="685800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929384" y="4425696"/>
            <a:ext cx="685800" cy="466344"/>
          </a:xfrm>
          <a:prstGeom prst="roundRect">
            <a:avLst>
              <a:gd name="adj" fmla="val 19608"/>
            </a:avLst>
          </a:prstGeom>
          <a:solidFill>
            <a:srgbClr val="E7F0F8"/>
          </a:solidFill>
          <a:ln w="12700">
            <a:solidFill>
              <a:srgbClr val="D7E1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29384" y="4425696"/>
            <a:ext cx="685800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670048" y="4425696"/>
            <a:ext cx="685800" cy="466344"/>
          </a:xfrm>
          <a:prstGeom prst="roundRect">
            <a:avLst>
              <a:gd name="adj" fmla="val 19608"/>
            </a:avLst>
          </a:prstGeom>
          <a:solidFill>
            <a:srgbClr val="E7F0F8"/>
          </a:solidFill>
          <a:ln w="12700">
            <a:solidFill>
              <a:srgbClr val="D7E1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70048" y="4425696"/>
            <a:ext cx="685800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6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188720" y="4937760"/>
            <a:ext cx="685800" cy="466344"/>
          </a:xfrm>
          <a:prstGeom prst="roundRect">
            <a:avLst>
              <a:gd name="adj" fmla="val 19608"/>
            </a:avLst>
          </a:prstGeom>
          <a:solidFill>
            <a:srgbClr val="E7F0F8"/>
          </a:solidFill>
          <a:ln w="12700">
            <a:solidFill>
              <a:srgbClr val="D7E1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88720" y="4937760"/>
            <a:ext cx="685800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7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929384" y="4937760"/>
            <a:ext cx="685800" cy="466344"/>
          </a:xfrm>
          <a:prstGeom prst="roundRect">
            <a:avLst>
              <a:gd name="adj" fmla="val 19608"/>
            </a:avLst>
          </a:prstGeom>
          <a:solidFill>
            <a:srgbClr val="E7F0F8"/>
          </a:solidFill>
          <a:ln w="12700">
            <a:solidFill>
              <a:srgbClr val="D7E1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29384" y="4937760"/>
            <a:ext cx="685800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8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2670048" y="4937760"/>
            <a:ext cx="685800" cy="466344"/>
          </a:xfrm>
          <a:prstGeom prst="roundRect">
            <a:avLst>
              <a:gd name="adj" fmla="val 19608"/>
            </a:avLst>
          </a:prstGeom>
          <a:solidFill>
            <a:srgbClr val="E7F0F8"/>
          </a:solidFill>
          <a:ln w="12700">
            <a:solidFill>
              <a:srgbClr val="D7E1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70048" y="4937760"/>
            <a:ext cx="685800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9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766560" y="3429000"/>
            <a:ext cx="329184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Integral / 積分画像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6766560" y="3913632"/>
            <a:ext cx="685800" cy="466344"/>
          </a:xfrm>
          <a:prstGeom prst="roundRect">
            <a:avLst>
              <a:gd name="adj" fmla="val 19608"/>
            </a:avLst>
          </a:prstGeom>
          <a:solidFill>
            <a:srgbClr val="E7F0F8"/>
          </a:solidFill>
          <a:ln w="12700">
            <a:solidFill>
              <a:srgbClr val="D7E1E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66560" y="3913632"/>
            <a:ext cx="685800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507224" y="3913632"/>
            <a:ext cx="685800" cy="466344"/>
          </a:xfrm>
          <a:prstGeom prst="roundRect">
            <a:avLst>
              <a:gd name="adj" fmla="val 19608"/>
            </a:avLst>
          </a:prstGeom>
          <a:solidFill>
            <a:srgbClr val="E7F0F8"/>
          </a:solidFill>
          <a:ln w="12700">
            <a:solidFill>
              <a:srgbClr val="D7E1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07224" y="3913632"/>
            <a:ext cx="685800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247888" y="3913632"/>
            <a:ext cx="685800" cy="466344"/>
          </a:xfrm>
          <a:prstGeom prst="roundRect">
            <a:avLst>
              <a:gd name="adj" fmla="val 19608"/>
            </a:avLst>
          </a:prstGeom>
          <a:solidFill>
            <a:srgbClr val="E7F0F8"/>
          </a:solidFill>
          <a:ln w="12700">
            <a:solidFill>
              <a:srgbClr val="D7E1E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47888" y="3913632"/>
            <a:ext cx="685800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6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766560" y="4425696"/>
            <a:ext cx="685800" cy="466344"/>
          </a:xfrm>
          <a:prstGeom prst="roundRect">
            <a:avLst>
              <a:gd name="adj" fmla="val 19608"/>
            </a:avLst>
          </a:prstGeom>
          <a:solidFill>
            <a:srgbClr val="E7F0F8"/>
          </a:solidFill>
          <a:ln w="12700">
            <a:solidFill>
              <a:srgbClr val="D7E1E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66560" y="4425696"/>
            <a:ext cx="685800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507224" y="4425696"/>
            <a:ext cx="685800" cy="466344"/>
          </a:xfrm>
          <a:prstGeom prst="roundRect">
            <a:avLst>
              <a:gd name="adj" fmla="val 19608"/>
            </a:avLst>
          </a:prstGeom>
          <a:solidFill>
            <a:srgbClr val="E7F0F8"/>
          </a:solidFill>
          <a:ln w="12700">
            <a:solidFill>
              <a:srgbClr val="D7E1E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07224" y="4425696"/>
            <a:ext cx="685800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12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247888" y="4425696"/>
            <a:ext cx="685800" cy="466344"/>
          </a:xfrm>
          <a:prstGeom prst="roundRect">
            <a:avLst>
              <a:gd name="adj" fmla="val 19608"/>
            </a:avLst>
          </a:prstGeom>
          <a:solidFill>
            <a:srgbClr val="E7F0F8"/>
          </a:solidFill>
          <a:ln w="12700">
            <a:solidFill>
              <a:srgbClr val="D7E1E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47888" y="4425696"/>
            <a:ext cx="685800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21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766560" y="4937760"/>
            <a:ext cx="685800" cy="466344"/>
          </a:xfrm>
          <a:prstGeom prst="roundRect">
            <a:avLst>
              <a:gd name="adj" fmla="val 19608"/>
            </a:avLst>
          </a:prstGeom>
          <a:solidFill>
            <a:srgbClr val="E7F0F8"/>
          </a:solidFill>
          <a:ln w="12700">
            <a:solidFill>
              <a:srgbClr val="D7E1E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66560" y="4937760"/>
            <a:ext cx="685800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12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507224" y="4937760"/>
            <a:ext cx="685800" cy="466344"/>
          </a:xfrm>
          <a:prstGeom prst="roundRect">
            <a:avLst>
              <a:gd name="adj" fmla="val 19608"/>
            </a:avLst>
          </a:prstGeom>
          <a:solidFill>
            <a:srgbClr val="E7F0F8"/>
          </a:solidFill>
          <a:ln w="12700">
            <a:solidFill>
              <a:srgbClr val="D7E1E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507224" y="4937760"/>
            <a:ext cx="685800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27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247888" y="4937760"/>
            <a:ext cx="685800" cy="466344"/>
          </a:xfrm>
          <a:prstGeom prst="roundRect">
            <a:avLst>
              <a:gd name="adj" fmla="val 19608"/>
            </a:avLst>
          </a:prstGeom>
          <a:solidFill>
            <a:srgbClr val="E7F0F8"/>
          </a:solidFill>
          <a:ln w="12700">
            <a:solidFill>
              <a:srgbClr val="D7E1E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247888" y="4937760"/>
            <a:ext cx="685800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45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4754880" y="4617720"/>
            <a:ext cx="1435608" cy="0"/>
          </a:xfrm>
          <a:prstGeom prst="line">
            <a:avLst/>
          </a:prstGeom>
          <a:noFill/>
          <a:ln w="25400">
            <a:solidFill>
              <a:srgbClr val="1769AA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310896"/>
            <a:ext cx="1106424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Integral-image rectangle sum  |  領域和の公式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05840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HAAR CASCADE / 顔検出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19088"/>
            <a:ext cx="38404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769A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Rectangle sum = D − B − C + A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786384" y="1700784"/>
            <a:ext cx="1060704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Use a padded integral image, where outside-boundary values are zero.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86384" y="2075688"/>
            <a:ext cx="106070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境界の外側を0とするパディング付き積分画像を使います。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097280" y="2670048"/>
            <a:ext cx="667512" cy="539496"/>
          </a:xfrm>
          <a:prstGeom prst="roundRect">
            <a:avLst>
              <a:gd name="adj" fmla="val 16949"/>
            </a:avLst>
          </a:prstGeom>
          <a:solidFill>
            <a:srgbClr val="E7F0F8"/>
          </a:solidFill>
          <a:ln w="12700">
            <a:solidFill>
              <a:srgbClr val="D7E1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670048"/>
            <a:ext cx="667512" cy="5394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828800" y="2670048"/>
            <a:ext cx="667512" cy="539496"/>
          </a:xfrm>
          <a:prstGeom prst="roundRect">
            <a:avLst>
              <a:gd name="adj" fmla="val 16949"/>
            </a:avLst>
          </a:prstGeom>
          <a:solidFill>
            <a:srgbClr val="E7F0F8"/>
          </a:solidFill>
          <a:ln w="12700">
            <a:solidFill>
              <a:srgbClr val="D7E1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0" y="2670048"/>
            <a:ext cx="667512" cy="5394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560320" y="2670048"/>
            <a:ext cx="667512" cy="539496"/>
          </a:xfrm>
          <a:prstGeom prst="roundRect">
            <a:avLst>
              <a:gd name="adj" fmla="val 16949"/>
            </a:avLst>
          </a:prstGeom>
          <a:solidFill>
            <a:srgbClr val="E7F0F8"/>
          </a:solidFill>
          <a:ln w="12700">
            <a:solidFill>
              <a:srgbClr val="D7E1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0" y="2670048"/>
            <a:ext cx="667512" cy="5394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291840" y="2670048"/>
            <a:ext cx="667512" cy="539496"/>
          </a:xfrm>
          <a:prstGeom prst="roundRect">
            <a:avLst>
              <a:gd name="adj" fmla="val 16949"/>
            </a:avLst>
          </a:prstGeom>
          <a:solidFill>
            <a:srgbClr val="E7F0F8"/>
          </a:solidFill>
          <a:ln w="12700">
            <a:solidFill>
              <a:srgbClr val="D7E1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2670048"/>
            <a:ext cx="667512" cy="5394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097280" y="3273552"/>
            <a:ext cx="667512" cy="539496"/>
          </a:xfrm>
          <a:prstGeom prst="roundRect">
            <a:avLst>
              <a:gd name="adj" fmla="val 16949"/>
            </a:avLst>
          </a:prstGeom>
          <a:solidFill>
            <a:srgbClr val="E7F0F8"/>
          </a:solidFill>
          <a:ln w="12700">
            <a:solidFill>
              <a:srgbClr val="D7E1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273552"/>
            <a:ext cx="667512" cy="5394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828800" y="3273552"/>
            <a:ext cx="667512" cy="539496"/>
          </a:xfrm>
          <a:prstGeom prst="roundRect">
            <a:avLst>
              <a:gd name="adj" fmla="val 16949"/>
            </a:avLst>
          </a:prstGeom>
          <a:solidFill>
            <a:srgbClr val="E7F0F8"/>
          </a:solidFill>
          <a:ln w="12700">
            <a:solidFill>
              <a:srgbClr val="D7E1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28800" y="3273552"/>
            <a:ext cx="667512" cy="5394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560320" y="3273552"/>
            <a:ext cx="667512" cy="539496"/>
          </a:xfrm>
          <a:prstGeom prst="roundRect">
            <a:avLst>
              <a:gd name="adj" fmla="val 16949"/>
            </a:avLst>
          </a:prstGeom>
          <a:solidFill>
            <a:srgbClr val="E7F0F8"/>
          </a:solidFill>
          <a:ln w="12700">
            <a:solidFill>
              <a:srgbClr val="D7E1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0" y="3273552"/>
            <a:ext cx="667512" cy="5394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291840" y="3273552"/>
            <a:ext cx="667512" cy="539496"/>
          </a:xfrm>
          <a:prstGeom prst="roundRect">
            <a:avLst>
              <a:gd name="adj" fmla="val 16949"/>
            </a:avLst>
          </a:prstGeom>
          <a:solidFill>
            <a:srgbClr val="E7F0F8"/>
          </a:solidFill>
          <a:ln w="12700">
            <a:solidFill>
              <a:srgbClr val="D7E1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91840" y="3273552"/>
            <a:ext cx="667512" cy="5394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6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97280" y="3877056"/>
            <a:ext cx="667512" cy="539496"/>
          </a:xfrm>
          <a:prstGeom prst="roundRect">
            <a:avLst>
              <a:gd name="adj" fmla="val 16949"/>
            </a:avLst>
          </a:prstGeom>
          <a:solidFill>
            <a:srgbClr val="E7F0F8"/>
          </a:solidFill>
          <a:ln w="12700">
            <a:solidFill>
              <a:srgbClr val="D7E1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97280" y="3877056"/>
            <a:ext cx="667512" cy="5394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828800" y="3877056"/>
            <a:ext cx="667512" cy="539496"/>
          </a:xfrm>
          <a:prstGeom prst="roundRect">
            <a:avLst>
              <a:gd name="adj" fmla="val 16949"/>
            </a:avLst>
          </a:prstGeom>
          <a:solidFill>
            <a:srgbClr val="E7F0F8"/>
          </a:solidFill>
          <a:ln w="12700">
            <a:solidFill>
              <a:srgbClr val="D7E1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28800" y="3877056"/>
            <a:ext cx="667512" cy="5394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2560320" y="3877056"/>
            <a:ext cx="667512" cy="539496"/>
          </a:xfrm>
          <a:prstGeom prst="roundRect">
            <a:avLst>
              <a:gd name="adj" fmla="val 16949"/>
            </a:avLst>
          </a:prstGeom>
          <a:solidFill>
            <a:srgbClr val="FFE6D9"/>
          </a:solidFill>
          <a:ln w="12700">
            <a:solidFill>
              <a:srgbClr val="D7E1E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60320" y="3877056"/>
            <a:ext cx="667512" cy="5394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12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291840" y="3877056"/>
            <a:ext cx="667512" cy="539496"/>
          </a:xfrm>
          <a:prstGeom prst="roundRect">
            <a:avLst>
              <a:gd name="adj" fmla="val 16949"/>
            </a:avLst>
          </a:prstGeom>
          <a:solidFill>
            <a:srgbClr val="FFE6D9"/>
          </a:solidFill>
          <a:ln w="12700">
            <a:solidFill>
              <a:srgbClr val="D7E1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91840" y="3877056"/>
            <a:ext cx="667512" cy="5394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21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097280" y="4480560"/>
            <a:ext cx="667512" cy="539496"/>
          </a:xfrm>
          <a:prstGeom prst="roundRect">
            <a:avLst>
              <a:gd name="adj" fmla="val 16949"/>
            </a:avLst>
          </a:prstGeom>
          <a:solidFill>
            <a:srgbClr val="E7F0F8"/>
          </a:solidFill>
          <a:ln w="12700">
            <a:solidFill>
              <a:srgbClr val="D7E1E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97280" y="4480560"/>
            <a:ext cx="667512" cy="5394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828800" y="4480560"/>
            <a:ext cx="667512" cy="539496"/>
          </a:xfrm>
          <a:prstGeom prst="roundRect">
            <a:avLst>
              <a:gd name="adj" fmla="val 16949"/>
            </a:avLst>
          </a:prstGeom>
          <a:solidFill>
            <a:srgbClr val="E7F0F8"/>
          </a:solidFill>
          <a:ln w="12700">
            <a:solidFill>
              <a:srgbClr val="D7E1E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828800" y="4480560"/>
            <a:ext cx="667512" cy="5394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12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2560320" y="4480560"/>
            <a:ext cx="667512" cy="539496"/>
          </a:xfrm>
          <a:prstGeom prst="roundRect">
            <a:avLst>
              <a:gd name="adj" fmla="val 16949"/>
            </a:avLst>
          </a:prstGeom>
          <a:solidFill>
            <a:srgbClr val="FFE6D9"/>
          </a:solidFill>
          <a:ln w="12700">
            <a:solidFill>
              <a:srgbClr val="D7E1E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60320" y="4480560"/>
            <a:ext cx="667512" cy="5394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27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3291840" y="4480560"/>
            <a:ext cx="667512" cy="539496"/>
          </a:xfrm>
          <a:prstGeom prst="roundRect">
            <a:avLst>
              <a:gd name="adj" fmla="val 16949"/>
            </a:avLst>
          </a:prstGeom>
          <a:solidFill>
            <a:srgbClr val="FFE6D9"/>
          </a:solidFill>
          <a:ln w="12700">
            <a:solidFill>
              <a:srgbClr val="D7E1E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91840" y="4480560"/>
            <a:ext cx="667512" cy="5394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45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901184" y="2743200"/>
            <a:ext cx="6272784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E1E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901184" y="2743200"/>
            <a:ext cx="64008" cy="2194560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84064" y="2862072"/>
            <a:ext cx="5952744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69A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Example: bottom-right 2×2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084064" y="3264408"/>
            <a:ext cx="5952744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Region = [5, 6; 8, 9]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D=45, B=6, C=12, A=1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Sum = 45 − 6 − 12 + 1 = 28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084064" y="4041648"/>
            <a:ext cx="5952744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右下2×2の画素和は、5+6+8+9=28。積分画像でも4点から計算できます。</a:t>
            </a:r>
            <a:endParaRPr lang="en-US" sz="12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310896"/>
            <a:ext cx="1106424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Sliding windows  |  スライディングウィンドウ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05840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HAAR CASCADE / 顔検出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19088"/>
            <a:ext cx="38404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9224" y="1115568"/>
            <a:ext cx="10789920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Move a detection window across the image and evaluate Haar features at every candidate position.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58368" y="1728216"/>
            <a:ext cx="10698480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検出窓を画像上で移動させ、候補位置ごとに特徴量を評価します。</a:t>
            </a:r>
            <a:endParaRPr lang="en-US" sz="1600" dirty="0"/>
          </a:p>
        </p:txBody>
      </p:sp>
      <p:pic>
        <p:nvPicPr>
          <p:cNvPr id="8" name="Image 0" descr="/mnt/data/Eigenfaces_Webcam_Project/Yale_Faces_Images/person_02/face_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240280"/>
            <a:ext cx="2880360" cy="31546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234440" y="2423160"/>
            <a:ext cx="1325880" cy="1572768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D9772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691640" y="2697480"/>
            <a:ext cx="1325880" cy="1572768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D9772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167128" y="3246120"/>
            <a:ext cx="1325880" cy="1572768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238B6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54880" y="2340864"/>
            <a:ext cx="649224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7E1E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54880" y="2340864"/>
            <a:ext cx="64008" cy="2331720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937760" y="2459736"/>
            <a:ext cx="617220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69A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One window = one candidate / 1つの窓＝1候補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937760" y="2862072"/>
            <a:ext cx="6172200" cy="8458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The detector examines local contrast patterns. Most windows are background and should be rejected early.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937760" y="3707892"/>
            <a:ext cx="6172200" cy="8458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局所的な明暗パターンを調べます。多くの候補は背景なので、早い段階で除外します。</a:t>
            </a:r>
            <a:endParaRPr lang="en-US" sz="1220" dirty="0"/>
          </a:p>
        </p:txBody>
      </p:sp>
      <p:sp>
        <p:nvSpPr>
          <p:cNvPr id="17" name="Shape 14"/>
          <p:cNvSpPr/>
          <p:nvPr/>
        </p:nvSpPr>
        <p:spPr>
          <a:xfrm>
            <a:off x="566928" y="5797296"/>
            <a:ext cx="11027664" cy="475488"/>
          </a:xfrm>
          <a:prstGeom prst="roundRect">
            <a:avLst>
              <a:gd name="adj" fmla="val 15385"/>
            </a:avLst>
          </a:prstGeom>
          <a:solidFill>
            <a:srgbClr val="D8F0F8"/>
          </a:solidFill>
          <a:ln w="12700">
            <a:solidFill>
              <a:srgbClr val="D8F0F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77240" y="5870448"/>
            <a:ext cx="1060704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Scanning is repeated at multiple sizes to detect near and far faces.  /  近い顔・遠い顔のために、異なるスケールでも探索します。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310896"/>
            <a:ext cx="1106424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Multiple scales  |  マルチスケール検出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05840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HAAR CASCADE / 顔検出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19088"/>
            <a:ext cx="38404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10789920" cy="4846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69A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scaleFactor = 1.12  → each successive search scale changes by 12%.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1755648"/>
            <a:ext cx="1088136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scaleFactor=1.12 は、各探索スケールが約12%ずつ変わることを意味します。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280160" y="3063240"/>
            <a:ext cx="1143000" cy="1261872"/>
          </a:xfrm>
          <a:prstGeom prst="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238B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80160" y="4462272"/>
            <a:ext cx="18288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1.000×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709160" y="3019349"/>
            <a:ext cx="1280160" cy="1413297"/>
          </a:xfrm>
          <a:prstGeom prst="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1769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4569805"/>
            <a:ext cx="18288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1.120×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138160" y="2970191"/>
            <a:ext cx="1433779" cy="1582892"/>
          </a:xfrm>
          <a:prstGeom prst="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D9772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38160" y="4690243"/>
            <a:ext cx="18288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1.254×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66928" y="5797296"/>
            <a:ext cx="11027664" cy="475488"/>
          </a:xfrm>
          <a:prstGeom prst="roundRect">
            <a:avLst>
              <a:gd name="adj" fmla="val 15385"/>
            </a:avLst>
          </a:prstGeom>
          <a:solidFill>
            <a:srgbClr val="D8F0F8"/>
          </a:solidFill>
          <a:ln w="12700">
            <a:solidFill>
              <a:srgbClr val="D8F0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5870448"/>
            <a:ext cx="1060704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Smaller scaleFactor → denser search and more computation; not automatically better.  /  scaleFactorを小さくすると探索が細かくなり、計算量も増えます。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310896"/>
            <a:ext cx="1106424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 single Haar feature is not enough  |  特徴1つでは不十分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05840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HAAR CASCADE / 顔検出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19088"/>
            <a:ext cx="38404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13232" y="1280160"/>
            <a:ext cx="100584" cy="100584"/>
          </a:xfrm>
          <a:prstGeom prst="ellipse">
            <a:avLst/>
          </a:prstGeom>
          <a:solidFill>
            <a:srgbClr val="238B62"/>
          </a:solidFill>
          <a:ln w="12700">
            <a:solidFill>
              <a:srgbClr val="238B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188720"/>
            <a:ext cx="10479024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Many non-face patterns also look like eyes or dark bands.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87552" y="1527048"/>
            <a:ext cx="1047902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顔以外の場所でも、目のような暗い帯が見つかることがあります。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13232" y="2322576"/>
            <a:ext cx="100584" cy="100584"/>
          </a:xfrm>
          <a:prstGeom prst="ellipse">
            <a:avLst/>
          </a:prstGeom>
          <a:solidFill>
            <a:srgbClr val="238B62"/>
          </a:solidFill>
          <a:ln w="12700">
            <a:solidFill>
              <a:srgbClr val="238B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2231136"/>
            <a:ext cx="10479024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 weak classifier uses one feature and a threshold.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87552" y="2569464"/>
            <a:ext cx="1047902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弱識別器は1つの特徴量としきい値を使用します。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13232" y="3364992"/>
            <a:ext cx="100584" cy="100584"/>
          </a:xfrm>
          <a:prstGeom prst="ellipse">
            <a:avLst/>
          </a:prstGeom>
          <a:solidFill>
            <a:srgbClr val="238B62"/>
          </a:solidFill>
          <a:ln w="12700">
            <a:solidFill>
              <a:srgbClr val="238B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3273552"/>
            <a:ext cx="10479024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Combining multiple features improves discrimination.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87552" y="3611880"/>
            <a:ext cx="1047902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複数の特徴量を組み合わせると識別性能が向上します。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13232" y="4407408"/>
            <a:ext cx="100584" cy="100584"/>
          </a:xfrm>
          <a:prstGeom prst="ellipse">
            <a:avLst/>
          </a:prstGeom>
          <a:solidFill>
            <a:srgbClr val="238B62"/>
          </a:solidFill>
          <a:ln w="12700">
            <a:solidFill>
              <a:srgbClr val="238B6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4315968"/>
            <a:ext cx="10479024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The original Viola–Jones approach uses AdaBoost to select and combine them.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87552" y="4654296"/>
            <a:ext cx="1047902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Viola–Jones法ではAdaBoostを使って特徴を選択・統合します。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310896"/>
            <a:ext cx="1106424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Weak classifier: numerical example  |  弱識別器の計算例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05840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HAAR CASCADE / 顔検出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19088"/>
            <a:ext cx="38404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58368" y="1207008"/>
            <a:ext cx="10607040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69A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Example decision rule: h(x) = 1 if f(x) &gt; 100; otherwise 0.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67512" y="1783080"/>
            <a:ext cx="106984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例：特徴量 f(x) が100より大きい場合は「顔候補」(1)、それ以外は0。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2468880"/>
            <a:ext cx="10332720" cy="603504"/>
          </a:xfrm>
          <a:prstGeom prst="roundRect">
            <a:avLst>
              <a:gd name="adj" fmla="val 15152"/>
            </a:avLst>
          </a:prstGeom>
          <a:solidFill>
            <a:srgbClr val="E4F0F7"/>
          </a:solidFill>
          <a:ln w="12700">
            <a:solidFill>
              <a:srgbClr val="D7E1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2468880"/>
            <a:ext cx="2286000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Window 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886200" y="2468880"/>
            <a:ext cx="1828800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 = 180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83680" y="2468880"/>
            <a:ext cx="4114800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38B6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 / face candidate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14400" y="3218688"/>
            <a:ext cx="10332720" cy="603504"/>
          </a:xfrm>
          <a:prstGeom prst="roundRect">
            <a:avLst>
              <a:gd name="adj" fmla="val 15152"/>
            </a:avLst>
          </a:prstGeom>
          <a:solidFill>
            <a:srgbClr val="F1F5F8"/>
          </a:solidFill>
          <a:ln w="12700">
            <a:solidFill>
              <a:srgbClr val="D7E1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3218688"/>
            <a:ext cx="2286000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Window B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886200" y="3218688"/>
            <a:ext cx="1828800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 = 45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583680" y="3218688"/>
            <a:ext cx="4114800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63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 / reject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14400" y="3968496"/>
            <a:ext cx="10332720" cy="603504"/>
          </a:xfrm>
          <a:prstGeom prst="roundRect">
            <a:avLst>
              <a:gd name="adj" fmla="val 15152"/>
            </a:avLst>
          </a:prstGeom>
          <a:solidFill>
            <a:srgbClr val="E4F0F7"/>
          </a:solidFill>
          <a:ln w="12700">
            <a:solidFill>
              <a:srgbClr val="D7E1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3968496"/>
            <a:ext cx="2286000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Window C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886200" y="3968496"/>
            <a:ext cx="1828800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 = 120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583680" y="3968496"/>
            <a:ext cx="4114800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38B6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 / face candidate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66928" y="5797296"/>
            <a:ext cx="11027664" cy="475488"/>
          </a:xfrm>
          <a:prstGeom prst="roundRect">
            <a:avLst>
              <a:gd name="adj" fmla="val 15385"/>
            </a:avLst>
          </a:prstGeom>
          <a:solidFill>
            <a:srgbClr val="D8F0F8"/>
          </a:solidFill>
          <a:ln w="12700">
            <a:solidFill>
              <a:srgbClr val="D8F0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870448"/>
            <a:ext cx="1060704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These values are illustrative—not the learned thresholds in OpenCV’s model.  /  これらは説明用の例で、OpenCVの学習済みしきい値ではありません。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310896"/>
            <a:ext cx="1106424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AdaBoost: combine weak classifiers  |  AdaBoost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05840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HAAR CASCADE / 顔検出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19088"/>
            <a:ext cx="38404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58368" y="1179576"/>
            <a:ext cx="1078992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69A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Strong classifier: H(x) = sign(Σ αₜ hₜ(x) − θ)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77240" y="1764792"/>
            <a:ext cx="1060704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αₜ: importance of weak classifier t; θ: final threshold.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130552"/>
            <a:ext cx="1060704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αₜ は弱識別器の重み、θ は最終判定のしきい値です。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14400" y="2807208"/>
            <a:ext cx="10332720" cy="521208"/>
          </a:xfrm>
          <a:prstGeom prst="roundRect">
            <a:avLst>
              <a:gd name="adj" fmla="val 17544"/>
            </a:avLst>
          </a:prstGeom>
          <a:solidFill>
            <a:srgbClr val="E7F0F7"/>
          </a:solidFill>
          <a:ln w="12700">
            <a:solidFill>
              <a:srgbClr val="D7E1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807208"/>
            <a:ext cx="4572000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Eye contrast / 目の明暗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46520" y="2807208"/>
            <a:ext cx="1188720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α=0.8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58200" y="2807208"/>
            <a:ext cx="1554480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h=+1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14400" y="3429000"/>
            <a:ext cx="10332720" cy="521208"/>
          </a:xfrm>
          <a:prstGeom prst="roundRect">
            <a:avLst>
              <a:gd name="adj" fmla="val 17544"/>
            </a:avLst>
          </a:prstGeom>
          <a:solidFill>
            <a:srgbClr val="F3F7FA"/>
          </a:solidFill>
          <a:ln w="12700">
            <a:solidFill>
              <a:srgbClr val="D7E1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3429000"/>
            <a:ext cx="4572000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Nose bridge / 鼻筋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46520" y="3429000"/>
            <a:ext cx="1188720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α=0.5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58200" y="3429000"/>
            <a:ext cx="1554480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h=+1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14400" y="4050792"/>
            <a:ext cx="10332720" cy="521208"/>
          </a:xfrm>
          <a:prstGeom prst="roundRect">
            <a:avLst>
              <a:gd name="adj" fmla="val 17544"/>
            </a:avLst>
          </a:prstGeom>
          <a:solidFill>
            <a:srgbClr val="E7F0F7"/>
          </a:solidFill>
          <a:ln w="12700">
            <a:solidFill>
              <a:srgbClr val="D7E1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4050792"/>
            <a:ext cx="4572000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Cheek pattern / 頬の模様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46520" y="4050792"/>
            <a:ext cx="1188720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α=0.4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58200" y="4050792"/>
            <a:ext cx="1554480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h=−1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66928" y="5797296"/>
            <a:ext cx="11027664" cy="475488"/>
          </a:xfrm>
          <a:prstGeom prst="roundRect">
            <a:avLst>
              <a:gd name="adj" fmla="val 15385"/>
            </a:avLst>
          </a:prstGeom>
          <a:solidFill>
            <a:srgbClr val="D8F0F8"/>
          </a:solidFill>
          <a:ln w="12700">
            <a:solidFill>
              <a:srgbClr val="D8F0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5870448"/>
            <a:ext cx="1060704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Example weighted vote: 0.8 + 0.5 − 0.4 = 0.9 (compare with θ).  /  重み付き投票の例：0.8+0.5−0.4=0.9（θと比較）。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310896"/>
            <a:ext cx="1106424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Why a cascade?  |  カスケードの意味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05840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HAAR CASCADE / 顔検出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19088"/>
            <a:ext cx="38404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124712"/>
            <a:ext cx="1078992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Reject easy background windows early. Spend more computation only on promising candidates.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40080" y="1773936"/>
            <a:ext cx="10789920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背景の候補を早期に除外し、顔らしい候補だけを詳しく調べます。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834640"/>
            <a:ext cx="2221992" cy="1234440"/>
          </a:xfrm>
          <a:prstGeom prst="roundRect">
            <a:avLst>
              <a:gd name="adj" fmla="val 7407"/>
            </a:avLst>
          </a:prstGeom>
          <a:solidFill>
            <a:srgbClr val="E7F0F8"/>
          </a:solidFill>
          <a:ln w="12700">
            <a:solidFill>
              <a:srgbClr val="D7E1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926080"/>
            <a:ext cx="2002536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Stage 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9808" y="3218688"/>
            <a:ext cx="2002536" cy="2651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8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少数の特徴</a:t>
            </a:r>
            <a:endParaRPr lang="en-US" sz="1180" dirty="0"/>
          </a:p>
        </p:txBody>
      </p:sp>
      <p:sp>
        <p:nvSpPr>
          <p:cNvPr id="11" name="Shape 9"/>
          <p:cNvSpPr/>
          <p:nvPr/>
        </p:nvSpPr>
        <p:spPr>
          <a:xfrm>
            <a:off x="2907792" y="3429000"/>
            <a:ext cx="548640" cy="0"/>
          </a:xfrm>
          <a:prstGeom prst="line">
            <a:avLst/>
          </a:prstGeom>
          <a:noFill/>
          <a:ln w="25400">
            <a:solidFill>
              <a:srgbClr val="1769AA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493008" y="2834640"/>
            <a:ext cx="2221992" cy="1234440"/>
          </a:xfrm>
          <a:prstGeom prst="roundRect">
            <a:avLst>
              <a:gd name="adj" fmla="val 7407"/>
            </a:avLst>
          </a:prstGeom>
          <a:solidFill>
            <a:srgbClr val="E7F0F8"/>
          </a:solidFill>
          <a:ln w="12700">
            <a:solidFill>
              <a:srgbClr val="D7E1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02736" y="2926080"/>
            <a:ext cx="2002536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Stage 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02736" y="3218688"/>
            <a:ext cx="2002536" cy="2651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8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さらに特徴</a:t>
            </a:r>
            <a:endParaRPr lang="en-US" sz="1180" dirty="0"/>
          </a:p>
        </p:txBody>
      </p:sp>
      <p:sp>
        <p:nvSpPr>
          <p:cNvPr id="15" name="Shape 13"/>
          <p:cNvSpPr/>
          <p:nvPr/>
        </p:nvSpPr>
        <p:spPr>
          <a:xfrm>
            <a:off x="5760720" y="3429000"/>
            <a:ext cx="548640" cy="0"/>
          </a:xfrm>
          <a:prstGeom prst="line">
            <a:avLst/>
          </a:prstGeom>
          <a:noFill/>
          <a:ln w="25400">
            <a:solidFill>
              <a:srgbClr val="1769AA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345936" y="2834640"/>
            <a:ext cx="2221992" cy="1234440"/>
          </a:xfrm>
          <a:prstGeom prst="roundRect">
            <a:avLst>
              <a:gd name="adj" fmla="val 7407"/>
            </a:avLst>
          </a:prstGeom>
          <a:solidFill>
            <a:srgbClr val="E7F0F8"/>
          </a:solidFill>
          <a:ln w="12700">
            <a:solidFill>
              <a:srgbClr val="D7E1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55664" y="2926080"/>
            <a:ext cx="2002536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Stage 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55664" y="3218688"/>
            <a:ext cx="2002536" cy="2651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8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詳細な判定</a:t>
            </a:r>
            <a:endParaRPr lang="en-US" sz="1180" dirty="0"/>
          </a:p>
        </p:txBody>
      </p:sp>
      <p:sp>
        <p:nvSpPr>
          <p:cNvPr id="19" name="Shape 17"/>
          <p:cNvSpPr/>
          <p:nvPr/>
        </p:nvSpPr>
        <p:spPr>
          <a:xfrm>
            <a:off x="8613648" y="3429000"/>
            <a:ext cx="548640" cy="0"/>
          </a:xfrm>
          <a:prstGeom prst="line">
            <a:avLst/>
          </a:prstGeom>
          <a:noFill/>
          <a:ln w="25400">
            <a:solidFill>
              <a:srgbClr val="1769AA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198864" y="2834640"/>
            <a:ext cx="2221992" cy="1234440"/>
          </a:xfrm>
          <a:prstGeom prst="roundRect">
            <a:avLst>
              <a:gd name="adj" fmla="val 7407"/>
            </a:avLst>
          </a:prstGeom>
          <a:solidFill>
            <a:srgbClr val="E4F5EA"/>
          </a:solidFill>
          <a:ln w="12700">
            <a:solidFill>
              <a:srgbClr val="D7E1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08592" y="2926080"/>
            <a:ext cx="2002536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FACE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308592" y="3218688"/>
            <a:ext cx="2002536" cy="2651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8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顔候補</a:t>
            </a:r>
            <a:endParaRPr lang="en-US" sz="1180" dirty="0"/>
          </a:p>
        </p:txBody>
      </p:sp>
      <p:sp>
        <p:nvSpPr>
          <p:cNvPr id="23" name="Text 21"/>
          <p:cNvSpPr/>
          <p:nvPr/>
        </p:nvSpPr>
        <p:spPr>
          <a:xfrm>
            <a:off x="1938528" y="4736592"/>
            <a:ext cx="23317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63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FAIL → reject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73168" y="4736592"/>
            <a:ext cx="23317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63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FAIL → reject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626096" y="4736592"/>
            <a:ext cx="23317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63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FAIL → reject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66928" y="5797296"/>
            <a:ext cx="11027664" cy="475488"/>
          </a:xfrm>
          <a:prstGeom prst="roundRect">
            <a:avLst>
              <a:gd name="adj" fmla="val 15385"/>
            </a:avLst>
          </a:prstGeom>
          <a:solidFill>
            <a:srgbClr val="D8F0F8"/>
          </a:solidFill>
          <a:ln w="12700">
            <a:solidFill>
              <a:srgbClr val="D8F0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5870448"/>
            <a:ext cx="1060704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All stages must pass for a candidate to survive.  /  すべての段階を通過した候補だけが残ります。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310896"/>
            <a:ext cx="1106424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Cascade speed: worked example  |  計算例②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05840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HAAR CASCADE / 顔検出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19088"/>
            <a:ext cx="38404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1088136"/>
            <a:ext cx="1069848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Illustration: start with 10,000 candidate windows.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94944" y="1517904"/>
            <a:ext cx="106984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例：候補ウィンドウが10,000個ある場合。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7240" y="2075688"/>
            <a:ext cx="1060704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7E1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075688"/>
            <a:ext cx="64008" cy="932688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194560"/>
            <a:ext cx="1028700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69A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Stage 1: 90% rejected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2596896"/>
            <a:ext cx="102870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10,000 → 1,000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2743200"/>
            <a:ext cx="102870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第1段階で90%除外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777240" y="3163824"/>
            <a:ext cx="1060704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7E1E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3163824"/>
            <a:ext cx="64008" cy="932688"/>
          </a:xfrm>
          <a:prstGeom prst="rect">
            <a:avLst/>
          </a:prstGeom>
          <a:solidFill>
            <a:srgbClr val="238B62"/>
          </a:solidFill>
          <a:ln w="12700">
            <a:solidFill>
              <a:srgbClr val="238B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3282696"/>
            <a:ext cx="1028700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38B6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Stage 2: 80% of survivors rejected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60120" y="3685032"/>
            <a:ext cx="102870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1,000 → 200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3831336"/>
            <a:ext cx="102870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第2段階で残りの80%除外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777240" y="4251960"/>
            <a:ext cx="1060704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7E1E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4251960"/>
            <a:ext cx="64008" cy="932688"/>
          </a:xfrm>
          <a:prstGeom prst="rect">
            <a:avLst/>
          </a:prstGeom>
          <a:solidFill>
            <a:srgbClr val="D97721"/>
          </a:solidFill>
          <a:ln w="12700">
            <a:solidFill>
              <a:srgbClr val="D9772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4370832"/>
            <a:ext cx="1028700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9772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Stage 3: 90% of survivors rejected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60120" y="4773168"/>
            <a:ext cx="102870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200 → 20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4919472"/>
            <a:ext cx="102870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第3段階で残りの90%除外</a:t>
            </a:r>
            <a:endParaRPr lang="en-US" sz="1220" dirty="0"/>
          </a:p>
        </p:txBody>
      </p:sp>
      <p:sp>
        <p:nvSpPr>
          <p:cNvPr id="23" name="Shape 21"/>
          <p:cNvSpPr/>
          <p:nvPr/>
        </p:nvSpPr>
        <p:spPr>
          <a:xfrm>
            <a:off x="566928" y="5797296"/>
            <a:ext cx="11027664" cy="475488"/>
          </a:xfrm>
          <a:prstGeom prst="roundRect">
            <a:avLst>
              <a:gd name="adj" fmla="val 15385"/>
            </a:avLst>
          </a:prstGeom>
          <a:solidFill>
            <a:srgbClr val="D8F0F8"/>
          </a:solidFill>
          <a:ln w="12700">
            <a:solidFill>
              <a:srgbClr val="D8F0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870448"/>
            <a:ext cx="1060704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The rates above are hypothetical teaching numbers, not measured detector statistics.  /  ここでの除外率は教育用の仮定であり、実測値ではありません。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310896"/>
            <a:ext cx="1106424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Overlapping detections  |  重複する検出結果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05840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HAAR CASCADE / 顔検出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19088"/>
            <a:ext cx="38404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67512" y="1097280"/>
            <a:ext cx="107899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The same face may trigger several nearby windows.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76656" y="1581912"/>
            <a:ext cx="1069848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1つの顔に対して、近い位置で複数の候補矩形が検出されることがあります。</a:t>
            </a:r>
            <a:endParaRPr lang="en-US" sz="1600" dirty="0"/>
          </a:p>
        </p:txBody>
      </p:sp>
      <p:pic>
        <p:nvPicPr>
          <p:cNvPr id="8" name="Image 0" descr="/mnt/data/Eigenfaces_Webcam_Project/Yale_Faces_Images/person_03/face_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103120"/>
            <a:ext cx="2788920" cy="31546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289304" y="2606040"/>
            <a:ext cx="1828800" cy="1984248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D9772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353312" y="2651760"/>
            <a:ext cx="1783080" cy="1947672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1769A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243584" y="2551176"/>
            <a:ext cx="1901952" cy="201168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238B6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17720" y="2359152"/>
            <a:ext cx="6629400" cy="2578608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7E1E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17720" y="2359152"/>
            <a:ext cx="64008" cy="2578608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00600" y="2478024"/>
            <a:ext cx="630936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69A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minNeighbors = 5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00600" y="2880360"/>
            <a:ext cx="6309360" cy="9692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In OpenCV’s cascade detector, this sets the minimum number of neighboring candidate rectangles a retained detection needs. Larger values usually reduce false positives but can miss faces.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800600" y="3849624"/>
            <a:ext cx="6309360" cy="9692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検出結果として残すのに必要な近傍候補矩形数の下限です。大きくすると誤検出を抑えやすい一方、見逃しも増え得ます。</a:t>
            </a:r>
            <a:endParaRPr lang="en-US" sz="1220" dirty="0"/>
          </a:p>
        </p:txBody>
      </p:sp>
      <p:sp>
        <p:nvSpPr>
          <p:cNvPr id="17" name="Shape 14"/>
          <p:cNvSpPr/>
          <p:nvPr/>
        </p:nvSpPr>
        <p:spPr>
          <a:xfrm>
            <a:off x="566928" y="5797296"/>
            <a:ext cx="11027664" cy="475488"/>
          </a:xfrm>
          <a:prstGeom prst="roundRect">
            <a:avLst>
              <a:gd name="adj" fmla="val 15385"/>
            </a:avLst>
          </a:prstGeom>
          <a:solidFill>
            <a:srgbClr val="D8F0F8"/>
          </a:solidFill>
          <a:ln w="12700">
            <a:solidFill>
              <a:srgbClr val="D8F0F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77240" y="5870448"/>
            <a:ext cx="1060704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It does NOT mean 5 people or 5 video frames.  /  5人の顔や5フレームを意味するものではありません。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310896"/>
            <a:ext cx="1106424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Bounding-box geometry  |  バウンディングボックス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05840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HAAR CASCADE / 顔検出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19088"/>
            <a:ext cx="38404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13232" y="1078992"/>
            <a:ext cx="10607040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69A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Detector output: (x, y, w, h)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22376" y="1536192"/>
            <a:ext cx="1051560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x, y: upper-left coordinate; w, h: width and height (pixels).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22376" y="1984248"/>
            <a:ext cx="1051560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左上座標 (x, y) と幅 w、高さ h（単位：画素）。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51560" y="2834640"/>
            <a:ext cx="3657600" cy="2286000"/>
          </a:xfrm>
          <a:prstGeom prst="rect">
            <a:avLst/>
          </a:prstGeom>
          <a:solidFill>
            <a:srgbClr val="E6F1F6"/>
          </a:solidFill>
          <a:ln w="12700">
            <a:solidFill>
              <a:srgbClr val="566A7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29384" y="3300984"/>
            <a:ext cx="1947672" cy="1371600"/>
          </a:xfrm>
          <a:prstGeom prst="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238B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20240" y="2953512"/>
            <a:ext cx="10972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(x,y)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414016" y="4681728"/>
            <a:ext cx="10972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 →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941064" y="3840480"/>
            <a:ext cx="6858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 ↓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550408" y="2880360"/>
            <a:ext cx="5650992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7E1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550408" y="2880360"/>
            <a:ext cx="64008" cy="2286000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33288" y="2999232"/>
            <a:ext cx="5330952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69A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Example / 例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733288" y="3401568"/>
            <a:ext cx="5330952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For (x, y, w, h) = (100, 60, 80, 100), bottom-right is (180, 160).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733288" y="4224528"/>
            <a:ext cx="5330952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左上 (100,60)、幅80、高さ100なので、右下座標は (180,160)。</a:t>
            </a:r>
            <a:endParaRPr lang="en-US" sz="122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310896"/>
            <a:ext cx="1106424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Exact OpenCV parameters in your code  |  実際の設定値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05840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HAAR CASCADE / 顔検出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19088"/>
            <a:ext cx="38404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94944" y="1152144"/>
            <a:ext cx="5806440" cy="3328416"/>
          </a:xfrm>
          <a:prstGeom prst="roundRect">
            <a:avLst>
              <a:gd name="adj" fmla="val 2747"/>
            </a:avLst>
          </a:prstGeom>
          <a:solidFill>
            <a:srgbClr val="E9F1F6"/>
          </a:solidFill>
          <a:ln w="12700">
            <a:solidFill>
              <a:srgbClr val="D7E1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243584"/>
            <a:ext cx="5550408" cy="31455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7324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rects = detector.detectMultiScale(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7324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gray,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7324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scaleFactor=1.12,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7324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minNeighbors=5,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7324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minSize=(65, 65)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7324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711696" y="1188720"/>
            <a:ext cx="4709160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7E1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11696" y="1188720"/>
            <a:ext cx="64008" cy="987552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94576" y="1307592"/>
            <a:ext cx="438912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69A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scaleFactor = 1.12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94576" y="1709928"/>
            <a:ext cx="4389120" cy="1737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Search scale step of ~12%.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94576" y="1883664"/>
            <a:ext cx="4389120" cy="1737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探索スケール間の倍率。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6711696" y="2377440"/>
            <a:ext cx="4709160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7E1E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11696" y="2377440"/>
            <a:ext cx="64008" cy="987552"/>
          </a:xfrm>
          <a:prstGeom prst="rect">
            <a:avLst/>
          </a:prstGeom>
          <a:solidFill>
            <a:srgbClr val="238B62"/>
          </a:solidFill>
          <a:ln w="12700">
            <a:solidFill>
              <a:srgbClr val="238B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94576" y="2496312"/>
            <a:ext cx="438912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38B6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minNeighbors = 5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94576" y="2898648"/>
            <a:ext cx="4389120" cy="1737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Candidate grouping strictness.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94576" y="3072384"/>
            <a:ext cx="4389120" cy="1737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近傍候補の条件。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6711696" y="3575304"/>
            <a:ext cx="4709160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7E1E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11696" y="3575304"/>
            <a:ext cx="64008" cy="987552"/>
          </a:xfrm>
          <a:prstGeom prst="rect">
            <a:avLst/>
          </a:prstGeom>
          <a:solidFill>
            <a:srgbClr val="D97721"/>
          </a:solidFill>
          <a:ln w="12700">
            <a:solidFill>
              <a:srgbClr val="D9772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94576" y="3694176"/>
            <a:ext cx="438912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9772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minSize = (65,65)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94576" y="4096512"/>
            <a:ext cx="4389120" cy="1737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Ignore smaller detected face sizes.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94576" y="4270248"/>
            <a:ext cx="4389120" cy="1737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小さすぎる顔を無視。</a:t>
            </a:r>
            <a:endParaRPr lang="en-US" sz="1220" dirty="0"/>
          </a:p>
        </p:txBody>
      </p:sp>
      <p:sp>
        <p:nvSpPr>
          <p:cNvPr id="23" name="Shape 21"/>
          <p:cNvSpPr/>
          <p:nvPr/>
        </p:nvSpPr>
        <p:spPr>
          <a:xfrm>
            <a:off x="566928" y="5797296"/>
            <a:ext cx="11027664" cy="475488"/>
          </a:xfrm>
          <a:prstGeom prst="roundRect">
            <a:avLst>
              <a:gd name="adj" fmla="val 15385"/>
            </a:avLst>
          </a:prstGeom>
          <a:solidFill>
            <a:srgbClr val="D8F0F8"/>
          </a:solidFill>
          <a:ln w="12700">
            <a:solidFill>
              <a:srgbClr val="D8F0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870448"/>
            <a:ext cx="1060704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These settings describe detection only—not the PCA identity decision.  /  これらは顔検出の設定であり、PCAによる人物識別とは別です。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310896"/>
            <a:ext cx="1106424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From face box to PCA input  |  検出後の前処理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05840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HAAR CASCADE / 顔検出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19088"/>
            <a:ext cx="38404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84632" y="1773936"/>
            <a:ext cx="1965960" cy="1051560"/>
          </a:xfrm>
          <a:prstGeom prst="roundRect">
            <a:avLst>
              <a:gd name="adj" fmla="val 8696"/>
            </a:avLst>
          </a:prstGeom>
          <a:solidFill>
            <a:srgbClr val="EAF0F5"/>
          </a:solidFill>
          <a:ln w="12700">
            <a:solidFill>
              <a:srgbClr val="D7E1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865376"/>
            <a:ext cx="174650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Detected box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2157984"/>
            <a:ext cx="1746504" cy="2651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8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検出矩形</a:t>
            </a:r>
            <a:endParaRPr lang="en-US" sz="1180" dirty="0"/>
          </a:p>
        </p:txBody>
      </p:sp>
      <p:sp>
        <p:nvSpPr>
          <p:cNvPr id="9" name="Shape 7"/>
          <p:cNvSpPr/>
          <p:nvPr/>
        </p:nvSpPr>
        <p:spPr>
          <a:xfrm>
            <a:off x="2487168" y="2295144"/>
            <a:ext cx="329184" cy="0"/>
          </a:xfrm>
          <a:prstGeom prst="line">
            <a:avLst/>
          </a:prstGeom>
          <a:noFill/>
          <a:ln w="25400">
            <a:solidFill>
              <a:srgbClr val="1769AA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862072" y="1773936"/>
            <a:ext cx="1965960" cy="1051560"/>
          </a:xfrm>
          <a:prstGeom prst="roundRect">
            <a:avLst>
              <a:gd name="adj" fmla="val 8696"/>
            </a:avLst>
          </a:prstGeom>
          <a:solidFill>
            <a:srgbClr val="EAF0F5"/>
          </a:solidFill>
          <a:ln w="12700">
            <a:solidFill>
              <a:srgbClr val="D7E1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71800" y="1865376"/>
            <a:ext cx="174650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Extra margins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971800" y="2157984"/>
            <a:ext cx="1746504" cy="2651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8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余白を追加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4864608" y="2295144"/>
            <a:ext cx="329184" cy="0"/>
          </a:xfrm>
          <a:prstGeom prst="line">
            <a:avLst/>
          </a:prstGeom>
          <a:noFill/>
          <a:ln w="25400">
            <a:solidFill>
              <a:srgbClr val="1769AA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239512" y="1773936"/>
            <a:ext cx="1965960" cy="1051560"/>
          </a:xfrm>
          <a:prstGeom prst="roundRect">
            <a:avLst>
              <a:gd name="adj" fmla="val 8696"/>
            </a:avLst>
          </a:prstGeom>
          <a:solidFill>
            <a:srgbClr val="EAF0F5"/>
          </a:solidFill>
          <a:ln w="12700">
            <a:solidFill>
              <a:srgbClr val="D7E1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49240" y="1865376"/>
            <a:ext cx="174650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Grayscale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349240" y="2157984"/>
            <a:ext cx="1746504" cy="2651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8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グレー化</a:t>
            </a:r>
            <a:endParaRPr lang="en-US" sz="1180" dirty="0"/>
          </a:p>
        </p:txBody>
      </p:sp>
      <p:sp>
        <p:nvSpPr>
          <p:cNvPr id="17" name="Shape 15"/>
          <p:cNvSpPr/>
          <p:nvPr/>
        </p:nvSpPr>
        <p:spPr>
          <a:xfrm>
            <a:off x="7242048" y="2295144"/>
            <a:ext cx="329184" cy="0"/>
          </a:xfrm>
          <a:prstGeom prst="line">
            <a:avLst/>
          </a:prstGeom>
          <a:noFill/>
          <a:ln w="25400">
            <a:solidFill>
              <a:srgbClr val="1769AA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616952" y="1773936"/>
            <a:ext cx="1965960" cy="1051560"/>
          </a:xfrm>
          <a:prstGeom prst="roundRect">
            <a:avLst>
              <a:gd name="adj" fmla="val 8696"/>
            </a:avLst>
          </a:prstGeom>
          <a:solidFill>
            <a:srgbClr val="EAF0F5"/>
          </a:solidFill>
          <a:ln w="12700">
            <a:solidFill>
              <a:srgbClr val="D7E1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26680" y="1865376"/>
            <a:ext cx="174650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42 × 48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726680" y="2157984"/>
            <a:ext cx="1746504" cy="2651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8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サイズ変換</a:t>
            </a:r>
            <a:endParaRPr lang="en-US" sz="1180" dirty="0"/>
          </a:p>
        </p:txBody>
      </p:sp>
      <p:sp>
        <p:nvSpPr>
          <p:cNvPr id="21" name="Shape 19"/>
          <p:cNvSpPr/>
          <p:nvPr/>
        </p:nvSpPr>
        <p:spPr>
          <a:xfrm>
            <a:off x="9619488" y="2295144"/>
            <a:ext cx="329184" cy="0"/>
          </a:xfrm>
          <a:prstGeom prst="line">
            <a:avLst/>
          </a:prstGeom>
          <a:noFill/>
          <a:ln w="25400">
            <a:solidFill>
              <a:srgbClr val="1769AA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994392" y="1773936"/>
            <a:ext cx="1965960" cy="1051560"/>
          </a:xfrm>
          <a:prstGeom prst="roundRect">
            <a:avLst>
              <a:gd name="adj" fmla="val 8696"/>
            </a:avLst>
          </a:prstGeom>
          <a:solidFill>
            <a:srgbClr val="EAF0F5"/>
          </a:solidFill>
          <a:ln w="12700">
            <a:solidFill>
              <a:srgbClr val="D7E1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104120" y="1865376"/>
            <a:ext cx="174650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0–1 vector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104120" y="2157984"/>
            <a:ext cx="1746504" cy="2651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8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正規化・ベクトル化</a:t>
            </a:r>
            <a:endParaRPr lang="en-US" sz="1180" dirty="0"/>
          </a:p>
        </p:txBody>
      </p:sp>
      <p:sp>
        <p:nvSpPr>
          <p:cNvPr id="25" name="Shape 23"/>
          <p:cNvSpPr/>
          <p:nvPr/>
        </p:nvSpPr>
        <p:spPr>
          <a:xfrm>
            <a:off x="978408" y="3685032"/>
            <a:ext cx="10241280" cy="1124712"/>
          </a:xfrm>
          <a:prstGeom prst="roundRect">
            <a:avLst>
              <a:gd name="adj" fmla="val 8130"/>
            </a:avLst>
          </a:prstGeom>
          <a:solidFill>
            <a:srgbClr val="E9F1F6"/>
          </a:solidFill>
          <a:ln w="12700">
            <a:solidFill>
              <a:srgbClr val="D7E1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24712" y="3776472"/>
            <a:ext cx="9985248" cy="9418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7324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face = crop_face(frame, (x, y, w, h))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7324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z = pca.transform(grayscale_vector(face)[None, :])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7324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distances, indices = neighbors.kneighbors(z)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66928" y="5797296"/>
            <a:ext cx="11027664" cy="475488"/>
          </a:xfrm>
          <a:prstGeom prst="roundRect">
            <a:avLst>
              <a:gd name="adj" fmla="val 15385"/>
            </a:avLst>
          </a:prstGeom>
          <a:solidFill>
            <a:srgbClr val="D8F0F8"/>
          </a:solidFill>
          <a:ln w="12700">
            <a:solidFill>
              <a:srgbClr val="D8F0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5870448"/>
            <a:ext cx="1060704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The Haar detector does not align eye landmarks in this implementation.  /  この実装ではHaar検出器は目のランドマークによる位置合わせを行いません。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310896"/>
            <a:ext cx="1106424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Why might a face be missed?  |  見逃しの理由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05840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HAAR CASCADE / 顔検出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19088"/>
            <a:ext cx="38404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13232" y="1234440"/>
            <a:ext cx="100584" cy="100584"/>
          </a:xfrm>
          <a:prstGeom prst="ellipse">
            <a:avLst/>
          </a:prstGeom>
          <a:solidFill>
            <a:srgbClr val="238B62"/>
          </a:solidFill>
          <a:ln w="12700">
            <a:solidFill>
              <a:srgbClr val="238B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143000"/>
            <a:ext cx="10479024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Large head rotation: frontal Haar model expects roughly frontal faces.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87552" y="1481328"/>
            <a:ext cx="1047902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顔の向きが大きい：正面顔用モデルでは検出しにくい。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13232" y="2249424"/>
            <a:ext cx="100584" cy="100584"/>
          </a:xfrm>
          <a:prstGeom prst="ellipse">
            <a:avLst/>
          </a:prstGeom>
          <a:solidFill>
            <a:srgbClr val="238B62"/>
          </a:solidFill>
          <a:ln w="12700">
            <a:solidFill>
              <a:srgbClr val="238B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2157984"/>
            <a:ext cx="10479024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Strong shadows or backlighting change contrast patterns.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87552" y="2496312"/>
            <a:ext cx="1047902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強い影や逆光で明暗パターンが変わる。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13232" y="3264408"/>
            <a:ext cx="100584" cy="100584"/>
          </a:xfrm>
          <a:prstGeom prst="ellipse">
            <a:avLst/>
          </a:prstGeom>
          <a:solidFill>
            <a:srgbClr val="238B62"/>
          </a:solidFill>
          <a:ln w="12700">
            <a:solidFill>
              <a:srgbClr val="238B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3172968"/>
            <a:ext cx="10479024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Small, blurry, or partially occluded faces are difficult.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87552" y="3511296"/>
            <a:ext cx="1047902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小さい・ぼけている・一部が隠れた顔は難しい。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13232" y="4279392"/>
            <a:ext cx="100584" cy="100584"/>
          </a:xfrm>
          <a:prstGeom prst="ellipse">
            <a:avLst/>
          </a:prstGeom>
          <a:solidFill>
            <a:srgbClr val="238B62"/>
          </a:solidFill>
          <a:ln w="12700">
            <a:solidFill>
              <a:srgbClr val="238B6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4187952"/>
            <a:ext cx="10479024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Strict minNeighbors can reduce false alarms but miss true faces.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87552" y="4526280"/>
            <a:ext cx="1047902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minNeighborsを厳しくすると誤検出が減る一方で見逃し得る。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310896"/>
            <a:ext cx="1106424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False positive vs false negative  |  誤検出と見逃し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05840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HAAR CASCADE / 顔検出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19088"/>
            <a:ext cx="38404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68096" y="1353312"/>
            <a:ext cx="5175504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7E1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" y="1353312"/>
            <a:ext cx="64008" cy="3383280"/>
          </a:xfrm>
          <a:prstGeom prst="rect">
            <a:avLst/>
          </a:prstGeom>
          <a:solidFill>
            <a:srgbClr val="D97721"/>
          </a:solidFill>
          <a:ln w="12700">
            <a:solidFill>
              <a:srgbClr val="D9772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" y="1472184"/>
            <a:ext cx="4855464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9772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FALSE POSITIVE / 偽陽性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50976" y="1874520"/>
            <a:ext cx="4855464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Background is detected as a face. Example: a face-like pattern on a wall.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50976" y="3246120"/>
            <a:ext cx="4855464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顔ではない背景を顔だと検出してしまう（例：壁の顔に見える模様）。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6172200" y="1353312"/>
            <a:ext cx="5184648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7E1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1353312"/>
            <a:ext cx="64008" cy="3383280"/>
          </a:xfrm>
          <a:prstGeom prst="rect">
            <a:avLst/>
          </a:prstGeom>
          <a:solidFill>
            <a:srgbClr val="B63A48"/>
          </a:solidFill>
          <a:ln w="12700">
            <a:solidFill>
              <a:srgbClr val="B63A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472184"/>
            <a:ext cx="4864608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63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FALSE NEGATIVE / 偽陰性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55080" y="1874520"/>
            <a:ext cx="4864608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 real face is present but no bounding box is returned.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55080" y="3246120"/>
            <a:ext cx="4864608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本物の顔が存在しているのに、検出矩形が得られない。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566928" y="5797296"/>
            <a:ext cx="11027664" cy="475488"/>
          </a:xfrm>
          <a:prstGeom prst="roundRect">
            <a:avLst>
              <a:gd name="adj" fmla="val 15385"/>
            </a:avLst>
          </a:prstGeom>
          <a:solidFill>
            <a:srgbClr val="D8F0F8"/>
          </a:solidFill>
          <a:ln w="12700">
            <a:solidFill>
              <a:srgbClr val="D8F0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870448"/>
            <a:ext cx="1060704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Improving one error type may worsen the other.  /  一方の誤りを減らすと、もう一方が増えることがあります。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310896"/>
            <a:ext cx="1106424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Detection evaluation: IoU  |  IoUで位置を評価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05840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HAAR CASCADE / 顔検出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19088"/>
            <a:ext cx="38404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243584"/>
            <a:ext cx="1078992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69A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IoU = Area(predicted box ∩ true box) / Area(predicted box ∪ true box)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298448" y="2450592"/>
            <a:ext cx="3154680" cy="2057400"/>
          </a:xfrm>
          <a:prstGeom prst="rect">
            <a:avLst/>
          </a:prstGeom>
          <a:solidFill>
            <a:srgbClr val="E4F4EA">
              <a:alpha val="60000"/>
            </a:srgbClr>
          </a:solidFill>
          <a:ln w="38100">
            <a:solidFill>
              <a:srgbClr val="238B6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32304" y="2980944"/>
            <a:ext cx="3072384" cy="2011680"/>
          </a:xfrm>
          <a:prstGeom prst="rect">
            <a:avLst/>
          </a:prstGeom>
          <a:solidFill>
            <a:srgbClr val="FFE9D8">
              <a:alpha val="48000"/>
            </a:srgbClr>
          </a:solidFill>
          <a:ln w="38100">
            <a:solidFill>
              <a:srgbClr val="D9772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53912" y="2386584"/>
            <a:ext cx="5230368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7E1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53912" y="2386584"/>
            <a:ext cx="64008" cy="2651760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36792" y="2505456"/>
            <a:ext cx="4910328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69A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Worked example / 計算例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36792" y="2907792"/>
            <a:ext cx="4910328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Two boxes each have area 100; overlap area = 40.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Union = 100 + 100 − 40 = 160.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IoU = 40 / 160 = 0.25.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36792" y="3913632"/>
            <a:ext cx="4910328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2つの矩形の面積が各100、重なりが40なら、和集合は160、IoUは0.25。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566928" y="5797296"/>
            <a:ext cx="11027664" cy="475488"/>
          </a:xfrm>
          <a:prstGeom prst="roundRect">
            <a:avLst>
              <a:gd name="adj" fmla="val 15385"/>
            </a:avLst>
          </a:prstGeom>
          <a:solidFill>
            <a:srgbClr val="D8F0F8"/>
          </a:solidFill>
          <a:ln w="12700">
            <a:solidFill>
              <a:srgbClr val="D8F0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5870448"/>
            <a:ext cx="1060704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IoU evaluates localization, not whether PCA predicts the right identity.  /  IoUは顔位置の一致度であり、PCAの人物識別精度とは異なります。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310896"/>
            <a:ext cx="1106424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What about tracking?  |  追跡とは何か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05840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HAAR CASCADE / 顔検出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19088"/>
            <a:ext cx="38404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13232" y="1298448"/>
            <a:ext cx="5166360" cy="3456432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D7E1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298448"/>
            <a:ext cx="64008" cy="3456432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417320"/>
            <a:ext cx="484632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69A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Current code / 現在の実装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96112" y="1819656"/>
            <a:ext cx="4846320" cy="14081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Frame t: detect → recognize.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Frame t+1: detect → recognize again.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No persistent track ID or motion prediction.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96112" y="3227832"/>
            <a:ext cx="4846320" cy="14081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各フレームで顔検出と人物識別を再実行。IDの継続管理や動きの予測はしていません。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6099048" y="1298448"/>
            <a:ext cx="5166360" cy="3456432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D7E1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99048" y="1298448"/>
            <a:ext cx="64008" cy="3456432"/>
          </a:xfrm>
          <a:prstGeom prst="rect">
            <a:avLst/>
          </a:prstGeom>
          <a:solidFill>
            <a:srgbClr val="238B62"/>
          </a:solidFill>
          <a:ln w="12700">
            <a:solidFill>
              <a:srgbClr val="238B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81928" y="1417320"/>
            <a:ext cx="484632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38B6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Tracking extension / 将来の拡張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81928" y="1819656"/>
            <a:ext cx="4846320" cy="14081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Associate boxes between frames (e.g., IoU matching or motion model), assign a track ID, and smooth recognition predictions.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81928" y="3227832"/>
            <a:ext cx="4846320" cy="14081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フレーム間で矩形を対応付け、追跡IDを付け、人物識別結果を時系列で安定化する。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566928" y="5797296"/>
            <a:ext cx="11027664" cy="475488"/>
          </a:xfrm>
          <a:prstGeom prst="roundRect">
            <a:avLst>
              <a:gd name="adj" fmla="val 15385"/>
            </a:avLst>
          </a:prstGeom>
          <a:solidFill>
            <a:srgbClr val="D8F0F8"/>
          </a:solidFill>
          <a:ln w="12700">
            <a:solidFill>
              <a:srgbClr val="D8F0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870448"/>
            <a:ext cx="1060704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Face recognition labels (e.g., “matus”) are NOT tracking IDs.  /  人物ラベル（例：“matus”）と追跡IDは別物です。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310896"/>
            <a:ext cx="1106424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Guided enrollment ≠ face tracking  |  緑のガイドの役割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05840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HAAR CASCADE / 顔検出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19088"/>
            <a:ext cx="38404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21792" y="1124712"/>
            <a:ext cx="10789920" cy="4846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Your enrollment window draws a green oval at a fixed screen location.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21792" y="1664208"/>
            <a:ext cx="1088136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登録画面の緑色の楕円は、画面中央に固定した位置合わせの目印です。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97280" y="2450592"/>
            <a:ext cx="3794760" cy="2578608"/>
          </a:xfrm>
          <a:prstGeom prst="rect">
            <a:avLst/>
          </a:prstGeom>
          <a:solidFill>
            <a:srgbClr val="DCEBF0"/>
          </a:solidFill>
          <a:ln w="12700">
            <a:solidFill>
              <a:srgbClr val="D7E1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67712" y="2670048"/>
            <a:ext cx="1453896" cy="2011680"/>
          </a:xfrm>
          <a:prstGeom prst="ellipse">
            <a:avLst/>
          </a:prstGeom>
          <a:solidFill>
            <a:srgbClr val="FFFFFF">
              <a:alpha val="0"/>
            </a:srgbClr>
          </a:solidFill>
          <a:ln w="50800">
            <a:solidFill>
              <a:srgbClr val="238B6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50592" y="2953512"/>
            <a:ext cx="1097280" cy="146304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D9772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41848" y="2578608"/>
            <a:ext cx="5577840" cy="2395728"/>
          </a:xfrm>
          <a:prstGeom prst="roundRect">
            <a:avLst>
              <a:gd name="adj" fmla="val 4580"/>
            </a:avLst>
          </a:prstGeom>
          <a:solidFill>
            <a:srgbClr val="FFFFFF"/>
          </a:solidFill>
          <a:ln w="12700">
            <a:solidFill>
              <a:srgbClr val="D7E1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41848" y="2578608"/>
            <a:ext cx="64008" cy="2395728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24728" y="2697480"/>
            <a:ext cx="525780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69A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Guide check / ガイド判定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824728" y="3099816"/>
            <a:ext cx="5257800" cy="8778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The program checks whether the detected box center and approximate width fit within an expected guide region. It does not predict the face’s trajectory.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824728" y="3977640"/>
            <a:ext cx="5257800" cy="8778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検出矩形の中心と幅がガイド条件を満たすか確認します。顔の移動軌跡は予測しません。</a:t>
            </a:r>
            <a:endParaRPr lang="en-US" sz="122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310896"/>
            <a:ext cx="1106424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Code reading exercise  |  コード読解演習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05840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HAAR CASCADE / 顔検出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19088"/>
            <a:ext cx="38404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41248" y="1280160"/>
            <a:ext cx="10469880" cy="1636776"/>
          </a:xfrm>
          <a:prstGeom prst="roundRect">
            <a:avLst>
              <a:gd name="adj" fmla="val 5587"/>
            </a:avLst>
          </a:prstGeom>
          <a:solidFill>
            <a:srgbClr val="E9F1F6"/>
          </a:solidFill>
          <a:ln w="12700">
            <a:solidFill>
              <a:srgbClr val="D7E1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371600"/>
            <a:ext cx="10213848" cy="1453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7324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gray = cv2.cvtColor(frame, cv2.COLOR_BGR2GRAY)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7324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rects = detector.detectMultiScale(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7324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gray, scaleFactor=1.12,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7324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minNeighbors=5, minSize=(65,65)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7324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13232" y="3392424"/>
            <a:ext cx="100584" cy="100584"/>
          </a:xfrm>
          <a:prstGeom prst="ellipse">
            <a:avLst/>
          </a:prstGeom>
          <a:solidFill>
            <a:srgbClr val="238B62"/>
          </a:solidFill>
          <a:ln w="12700">
            <a:solidFill>
              <a:srgbClr val="238B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3300984"/>
            <a:ext cx="10479024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Q1. What changes if minSize becomes (100,100)?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87552" y="3639312"/>
            <a:ext cx="1047902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Q1. minSizeを(100,100)にすると何が変わる？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13232" y="4142232"/>
            <a:ext cx="100584" cy="100584"/>
          </a:xfrm>
          <a:prstGeom prst="ellipse">
            <a:avLst/>
          </a:prstGeom>
          <a:solidFill>
            <a:srgbClr val="238B62"/>
          </a:solidFill>
          <a:ln w="12700">
            <a:solidFill>
              <a:srgbClr val="238B6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4050792"/>
            <a:ext cx="10479024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Q2. What might happen if minNeighbors increases to 8?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87552" y="4389120"/>
            <a:ext cx="1047902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Q2. minNeighborsを8に増やすとどうなる？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13232" y="4892040"/>
            <a:ext cx="100584" cy="100584"/>
          </a:xfrm>
          <a:prstGeom prst="ellipse">
            <a:avLst/>
          </a:prstGeom>
          <a:solidFill>
            <a:srgbClr val="238B62"/>
          </a:solidFill>
          <a:ln w="12700">
            <a:solidFill>
              <a:srgbClr val="238B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4800600"/>
            <a:ext cx="10479024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Q3. Does this code track a face between frames?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87552" y="5138928"/>
            <a:ext cx="1047902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Q3. フレーム間の顔追跡は行っていますか？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310896"/>
            <a:ext cx="1106424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Solutions to the exercises  |  演習の解答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05840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HAAR CASCADE / 顔検出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19088"/>
            <a:ext cx="38404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13232" y="1353312"/>
            <a:ext cx="100584" cy="100584"/>
          </a:xfrm>
          <a:prstGeom prst="ellipse">
            <a:avLst/>
          </a:prstGeom>
          <a:solidFill>
            <a:srgbClr val="238B62"/>
          </a:solidFill>
          <a:ln w="12700">
            <a:solidFill>
              <a:srgbClr val="238B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261872"/>
            <a:ext cx="10479024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A1. Faces smaller than 100 × 100 pixels are not considered.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87552" y="1600200"/>
            <a:ext cx="1047902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A1. 100×100画素より小さい顔候補を探索対象から除きます。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13232" y="2606040"/>
            <a:ext cx="100584" cy="100584"/>
          </a:xfrm>
          <a:prstGeom prst="ellipse">
            <a:avLst/>
          </a:prstGeom>
          <a:solidFill>
            <a:srgbClr val="238B62"/>
          </a:solidFill>
          <a:ln w="12700">
            <a:solidFill>
              <a:srgbClr val="238B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2514600"/>
            <a:ext cx="10479024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A2. More conservative grouping: often fewer false positives, but more misses.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87552" y="2852928"/>
            <a:ext cx="1047902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A2. より厳しい判定になり、誤検出が減る一方、見逃しが増え得ます。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13232" y="3858768"/>
            <a:ext cx="100584" cy="100584"/>
          </a:xfrm>
          <a:prstGeom prst="ellipse">
            <a:avLst/>
          </a:prstGeom>
          <a:solidFill>
            <a:srgbClr val="238B62"/>
          </a:solidFill>
          <a:ln w="12700">
            <a:solidFill>
              <a:srgbClr val="238B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3767328"/>
            <a:ext cx="10479024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A3. No. Each frame is detected anew; no cross-frame association exists.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87552" y="4105656"/>
            <a:ext cx="1047902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A3. いいえ。各フレームを独立処理し、フレーム間対応付けはありません。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66928" y="5797296"/>
            <a:ext cx="11027664" cy="475488"/>
          </a:xfrm>
          <a:prstGeom prst="roundRect">
            <a:avLst>
              <a:gd name="adj" fmla="val 15385"/>
            </a:avLst>
          </a:prstGeom>
          <a:solidFill>
            <a:srgbClr val="D8F0F8"/>
          </a:solidFill>
          <a:ln w="12700">
            <a:solidFill>
              <a:srgbClr val="D8F0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5870448"/>
            <a:ext cx="1060704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Take-home: detect location first, then extract PCA features for recognition.  /  まとめ：まず顔の位置を検出し、その後PCA特徴を用いて人物を識別します。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310896"/>
            <a:ext cx="1106424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Summary and key equations  |  まとめと重要な式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05840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HAAR CASCADE / 顔検出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19088"/>
            <a:ext cx="38404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207008"/>
            <a:ext cx="544068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7E1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207008"/>
            <a:ext cx="64008" cy="1874520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325880"/>
            <a:ext cx="512064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69A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Haar rectangle feature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1728216"/>
            <a:ext cx="5120640" cy="6172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 = Σ bright pixels − Σ dark pixels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2345436"/>
            <a:ext cx="5120640" cy="6172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明領域の画素和と暗領域の画素和の差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6281928" y="1207008"/>
            <a:ext cx="5266944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7E1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81928" y="1207008"/>
            <a:ext cx="64008" cy="1874520"/>
          </a:xfrm>
          <a:prstGeom prst="rect">
            <a:avLst/>
          </a:prstGeom>
          <a:solidFill>
            <a:srgbClr val="238B62"/>
          </a:solidFill>
          <a:ln w="12700">
            <a:solidFill>
              <a:srgbClr val="238B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64808" y="1325880"/>
            <a:ext cx="4946904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38B6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Integral image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64808" y="1728216"/>
            <a:ext cx="4946904" cy="6172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II(x,y) = Σᵢ≤ₓ Σⱼ≤ᵧ I(i,j)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64808" y="2345436"/>
            <a:ext cx="4946904" cy="6172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左上からの累積画素和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640080" y="3328416"/>
            <a:ext cx="544068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7E1E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328416"/>
            <a:ext cx="64008" cy="1874520"/>
          </a:xfrm>
          <a:prstGeom prst="rect">
            <a:avLst/>
          </a:prstGeom>
          <a:solidFill>
            <a:srgbClr val="D97721"/>
          </a:solidFill>
          <a:ln w="12700">
            <a:solidFill>
              <a:srgbClr val="D9772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447288"/>
            <a:ext cx="512064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9772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Strong classifier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2960" y="3849624"/>
            <a:ext cx="5120640" cy="6172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H(x) = sign(Σ αₜhₜ(x) − θ)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4466844"/>
            <a:ext cx="5120640" cy="6172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弱識別器の重み付き統合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6281928" y="3328416"/>
            <a:ext cx="5266944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7E1E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81928" y="3328416"/>
            <a:ext cx="64008" cy="1874520"/>
          </a:xfrm>
          <a:prstGeom prst="rect">
            <a:avLst/>
          </a:prstGeom>
          <a:solidFill>
            <a:srgbClr val="6155A7"/>
          </a:solidFill>
          <a:ln w="12700">
            <a:solidFill>
              <a:srgbClr val="6155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64808" y="3447288"/>
            <a:ext cx="4946904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155A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Recognition after detection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64808" y="3849624"/>
            <a:ext cx="4946904" cy="6172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 = PCA(x); nearest = argmin ||z−zᵢ||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64808" y="4466844"/>
            <a:ext cx="4946904" cy="6172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PCA特徴を抽出して最近傍照合</a:t>
            </a:r>
            <a:endParaRPr lang="en-US" sz="122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310896"/>
            <a:ext cx="1106424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Sources and recommended reading  |  参考資料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05840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HAAR CASCADE / 顔検出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19088"/>
            <a:ext cx="38404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13232" y="1280160"/>
            <a:ext cx="100584" cy="100584"/>
          </a:xfrm>
          <a:prstGeom prst="ellipse">
            <a:avLst/>
          </a:prstGeom>
          <a:solidFill>
            <a:srgbClr val="238B62"/>
          </a:solidFill>
          <a:ln w="12700">
            <a:solidFill>
              <a:srgbClr val="238B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188720"/>
            <a:ext cx="10479024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7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Viola, P. &amp; Jones, M. (2001). Rapid Object Detection using a Boosted Cascade of Simple Features. CVPR.</a:t>
            </a:r>
            <a:endParaRPr lang="en-US" sz="1470" dirty="0"/>
          </a:p>
        </p:txBody>
      </p:sp>
      <p:sp>
        <p:nvSpPr>
          <p:cNvPr id="8" name="Text 6"/>
          <p:cNvSpPr/>
          <p:nvPr/>
        </p:nvSpPr>
        <p:spPr>
          <a:xfrm>
            <a:off x="987552" y="1527048"/>
            <a:ext cx="1047902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7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Haar特徴・積分画像・AdaBoost・カスケードの代表的原著論文。</a:t>
            </a:r>
            <a:endParaRPr lang="en-US" sz="1270" dirty="0"/>
          </a:p>
        </p:txBody>
      </p:sp>
      <p:sp>
        <p:nvSpPr>
          <p:cNvPr id="9" name="Shape 7"/>
          <p:cNvSpPr/>
          <p:nvPr/>
        </p:nvSpPr>
        <p:spPr>
          <a:xfrm>
            <a:off x="713232" y="2423160"/>
            <a:ext cx="100584" cy="100584"/>
          </a:xfrm>
          <a:prstGeom prst="ellipse">
            <a:avLst/>
          </a:prstGeom>
          <a:solidFill>
            <a:srgbClr val="238B62"/>
          </a:solidFill>
          <a:ln w="12700">
            <a:solidFill>
              <a:srgbClr val="238B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2331720"/>
            <a:ext cx="10479024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7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OpenCV documentation: Cascade Classifier / detectMultiScale.</a:t>
            </a:r>
            <a:endParaRPr lang="en-US" sz="1470" dirty="0"/>
          </a:p>
        </p:txBody>
      </p:sp>
      <p:sp>
        <p:nvSpPr>
          <p:cNvPr id="11" name="Text 9"/>
          <p:cNvSpPr/>
          <p:nvPr/>
        </p:nvSpPr>
        <p:spPr>
          <a:xfrm>
            <a:off x="987552" y="2670048"/>
            <a:ext cx="1047902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7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OpenCVのカスケード分類器とパラメータの公式説明。</a:t>
            </a:r>
            <a:endParaRPr lang="en-US" sz="1270" dirty="0"/>
          </a:p>
        </p:txBody>
      </p:sp>
      <p:sp>
        <p:nvSpPr>
          <p:cNvPr id="12" name="Shape 10"/>
          <p:cNvSpPr/>
          <p:nvPr/>
        </p:nvSpPr>
        <p:spPr>
          <a:xfrm>
            <a:off x="713232" y="3566160"/>
            <a:ext cx="100584" cy="100584"/>
          </a:xfrm>
          <a:prstGeom prst="ellipse">
            <a:avLst/>
          </a:prstGeom>
          <a:solidFill>
            <a:srgbClr val="238B62"/>
          </a:solidFill>
          <a:ln w="12700">
            <a:solidFill>
              <a:srgbClr val="238B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3474720"/>
            <a:ext cx="10479024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7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Your program: webcam_eigenfaces.py — face_detector(), find_faces(), crop_face(), recognize().</a:t>
            </a:r>
            <a:endParaRPr lang="en-US" sz="1470" dirty="0"/>
          </a:p>
        </p:txBody>
      </p:sp>
      <p:sp>
        <p:nvSpPr>
          <p:cNvPr id="14" name="Text 12"/>
          <p:cNvSpPr/>
          <p:nvPr/>
        </p:nvSpPr>
        <p:spPr>
          <a:xfrm>
            <a:off x="987552" y="3813048"/>
            <a:ext cx="1047902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7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自作コードの実際の実装箇所。</a:t>
            </a:r>
            <a:endParaRPr lang="en-US" sz="1270" dirty="0"/>
          </a:p>
        </p:txBody>
      </p:sp>
      <p:sp>
        <p:nvSpPr>
          <p:cNvPr id="15" name="Shape 13"/>
          <p:cNvSpPr/>
          <p:nvPr/>
        </p:nvSpPr>
        <p:spPr>
          <a:xfrm>
            <a:off x="713232" y="4709160"/>
            <a:ext cx="100584" cy="100584"/>
          </a:xfrm>
          <a:prstGeom prst="ellipse">
            <a:avLst/>
          </a:prstGeom>
          <a:solidFill>
            <a:srgbClr val="238B62"/>
          </a:solidFill>
          <a:ln w="12700">
            <a:solidFill>
              <a:srgbClr val="238B6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4617720"/>
            <a:ext cx="10479024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7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Brunton &amp; Kutz: Data-Driven Science and Engineering, §1.5–1.6 (PCA/Eigenfaces, not Haar detection).</a:t>
            </a:r>
            <a:endParaRPr lang="en-US" sz="1470" dirty="0"/>
          </a:p>
        </p:txBody>
      </p:sp>
      <p:sp>
        <p:nvSpPr>
          <p:cNvPr id="17" name="Text 15"/>
          <p:cNvSpPr/>
          <p:nvPr/>
        </p:nvSpPr>
        <p:spPr>
          <a:xfrm>
            <a:off x="987552" y="4956048"/>
            <a:ext cx="1047902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70" dirty="0">
                <a:solidFill>
                  <a:srgbClr val="566A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教科書のPCA/固有顔は顔識別側の参考。Haar検出の解説ではありません。</a:t>
            </a:r>
            <a:endParaRPr lang="en-US" sz="1270" dirty="0"/>
          </a:p>
        </p:txBody>
      </p:sp>
      <p:sp>
        <p:nvSpPr>
          <p:cNvPr id="18" name="Text 16"/>
          <p:cNvSpPr/>
          <p:nvPr/>
        </p:nvSpPr>
        <p:spPr>
          <a:xfrm>
            <a:off x="859536" y="5989320"/>
            <a:ext cx="106984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769A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https://docs.opencv.org/4.x/db/d28/tutorial_cascade_classifier.html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Face Detection with Haar Cascades | 顔検出の仕組み</dc:title>
  <dc:subject>Bilingual teaching deck: Haar Cascade face detection</dc:subject>
  <dc:creator>OpenAI</dc:creator>
  <cp:lastModifiedBy>OpenAI</cp:lastModifiedBy>
  <cp:revision>1</cp:revision>
  <dcterms:created xsi:type="dcterms:W3CDTF">2026-10-14T02:06:41Z</dcterms:created>
  <dcterms:modified xsi:type="dcterms:W3CDTF">2026-10-14T02:06:41Z</dcterms:modified>
</cp:coreProperties>
</file>