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51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1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749808" y="987552"/>
            <a:ext cx="10789920" cy="1417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A COMPUTER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A FACE?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86384" y="2761488"/>
            <a:ext cx="10789920" cy="5486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1E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and Principal Component Analysis (PCA)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" y="3557016"/>
            <a:ext cx="10789920" cy="6583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固有顔と主成分分析で学ぶ顔認識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" y="5175504"/>
            <a:ext cx="10789920" cy="4297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Self-study edition / 自習・復習にも使える詳しい授業資料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6062472"/>
            <a:ext cx="10789920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C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Brunton &amp; Kutz, Data-Driven Science and Engineering, Chapter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 and study map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学習目標と学習の流れ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499616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850392" y="1581912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· Images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9536" y="1929384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A：画像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90872" y="1664208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4919472" y="1563624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digital face becomes a vector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928616" y="1929384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顔画像を数値のベクトルとして扱う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58368" y="2450592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0392" y="2532888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· PCA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9536" y="2880360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B：主成分分析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90872" y="2615184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9" name="Text 17"/>
          <p:cNvSpPr/>
          <p:nvPr/>
        </p:nvSpPr>
        <p:spPr>
          <a:xfrm>
            <a:off x="4919472" y="2514600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Mean, variance, directions, SVD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4928616" y="2880360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平均・分散・方向・特異値分解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2" name="Text 20"/>
          <p:cNvSpPr/>
          <p:nvPr/>
        </p:nvSpPr>
        <p:spPr>
          <a:xfrm>
            <a:off x="850392" y="3483864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C · Eigenfaces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831336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C：固有顔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90872" y="3566160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/>
          <p:nvPr/>
        </p:nvSpPr>
        <p:spPr>
          <a:xfrm>
            <a:off x="4919472" y="3465576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basis images; represent and reconstruct faces</a:t>
            </a:r>
            <a:endParaRPr lang="en-US" sz="1530" dirty="0"/>
          </a:p>
        </p:txBody>
      </p:sp>
      <p:sp>
        <p:nvSpPr>
          <p:cNvPr id="26" name="Text 24"/>
          <p:cNvSpPr/>
          <p:nvPr/>
        </p:nvSpPr>
        <p:spPr>
          <a:xfrm>
            <a:off x="4928616" y="3831336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基底画像を学び、顔を表現・再構成する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58368" y="4352544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Text 26"/>
          <p:cNvSpPr/>
          <p:nvPr/>
        </p:nvSpPr>
        <p:spPr>
          <a:xfrm>
            <a:off x="850392" y="4434840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D · Recognition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59536" y="4782312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D：顔認識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90872" y="4517136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1" name="Text 29"/>
          <p:cNvSpPr/>
          <p:nvPr/>
        </p:nvSpPr>
        <p:spPr>
          <a:xfrm>
            <a:off x="4919472" y="4416552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features and evaluate predictions</a:t>
            </a:r>
            <a:endParaRPr lang="en-US" sz="1530" dirty="0"/>
          </a:p>
        </p:txBody>
      </p:sp>
      <p:sp>
        <p:nvSpPr>
          <p:cNvPr id="32" name="Text 30"/>
          <p:cNvSpPr/>
          <p:nvPr/>
        </p:nvSpPr>
        <p:spPr>
          <a:xfrm>
            <a:off x="4928616" y="4782312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特徴量を比較し、認識性能を評価する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67512" y="548640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4" name="Text 32"/>
          <p:cNvSpPr/>
          <p:nvPr/>
        </p:nvSpPr>
        <p:spPr>
          <a:xfrm>
            <a:off x="859536" y="5559552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class: explain each equation and implement a small experiment.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9536" y="5852160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授業後：各式の意味を説明し、小さな実験を実装できることを目標にします。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First, distinguish three different tasks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最初に３つのタスクの違いを確認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72768"/>
            <a:ext cx="3456432" cy="1325880"/>
          </a:xfrm>
          <a:prstGeom prst="roundRect">
            <a:avLst>
              <a:gd name="adj" fmla="val 827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182112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0392" y="2157984"/>
            <a:ext cx="3218688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顔検出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61688" y="1572768"/>
            <a:ext cx="3456432" cy="1325880"/>
          </a:xfrm>
          <a:prstGeom prst="roundRect">
            <a:avLst>
              <a:gd name="adj" fmla="val 827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4498848" y="1691640"/>
            <a:ext cx="3182112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0560" y="2157984"/>
            <a:ext cx="3218688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特徴表現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01000" y="1572768"/>
            <a:ext cx="3456432" cy="1325880"/>
          </a:xfrm>
          <a:prstGeom prst="roundRect">
            <a:avLst>
              <a:gd name="adj" fmla="val 827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138160" y="1691640"/>
            <a:ext cx="3182112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19872" y="2157984"/>
            <a:ext cx="3218688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個人識別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" y="3346704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Detection: where is a face in an image?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" y="3739896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顔検出：画像内のどこに顔がある？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" y="4123944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Representation: which numbers summarize this face?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" y="4517136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特徴表現：この顔をどんな数値で要約する？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" y="4901184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Recognition: whose face is closest among enrolled people?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" y="5294376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個人識別：登録された誰の顔に最も近い？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" y="580644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/>
          <p:nvPr/>
        </p:nvSpPr>
        <p:spPr>
          <a:xfrm>
            <a:off x="859536" y="5879592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PCA/Eigenfaces mainly learns a face representation; a matching rule performs recognition.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" y="6172200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PCA／固有顔は主に顔の表現を学び、照合ルールによって個人を識別します。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face photo is numerical data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顔写真は数値データ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481328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grayscale image contains pixel intensities from 0 (black) to 255 (white).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" y="187452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グレースケール画像の画素値は０（黒）から255（白）です。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" y="2423160"/>
            <a:ext cx="5833872" cy="1874520"/>
          </a:xfrm>
          <a:prstGeom prst="roundRect">
            <a:avLst>
              <a:gd name="adj" fmla="val 585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1051560" y="2624328"/>
            <a:ext cx="5303520" cy="142646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 [  12    24    40    65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18    38    62    98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30    53    89   137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42    72   125   201 ]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6848856" y="2441448"/>
            <a:ext cx="4498848" cy="1883664"/>
          </a:xfrm>
          <a:prstGeom prst="roundRect">
            <a:avLst>
              <a:gd name="adj" fmla="val 5825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7178040" y="2660904"/>
            <a:ext cx="3749040" cy="1399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Height h = 4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Width w = 4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Pixels p = h × w = 16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04088" y="4956048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position measures brightness, not a person’s identity.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4088" y="534924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各画素は明るさを表します。人物の名前を直接表しているわけではありません。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" y="576072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 16"/>
          <p:cNvSpPr/>
          <p:nvPr/>
        </p:nvSpPr>
        <p:spPr>
          <a:xfrm>
            <a:off x="859536" y="5833872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later examples: 64 × 64 pixels = 4,096 numerical values per face.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" y="6126480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以降の例：64×64画素の顔は4,096個の数値で表されます。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Vectorization: image → one long column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ベクトル化：画像を１本の列にする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581912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700784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vec(I)  ∈  Rᵖ,     p = h × w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04088" y="2862072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Flatten the 2D array into a 1D vector in a fixed, consistent order.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" y="3255264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２次元の画像を、毎回同じ順番で１次元のベクトルに並べます。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3913632"/>
            <a:ext cx="2971800" cy="1042416"/>
          </a:xfrm>
          <a:prstGeom prst="roundRect">
            <a:avLst>
              <a:gd name="adj" fmla="val 1052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978408" y="4032504"/>
            <a:ext cx="2697480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× 2 image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498848"/>
            <a:ext cx="2734056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２×２画像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50792" y="4169664"/>
            <a:ext cx="530352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828032" y="3913632"/>
            <a:ext cx="2971800" cy="1042416"/>
          </a:xfrm>
          <a:prstGeom prst="roundRect">
            <a:avLst>
              <a:gd name="adj" fmla="val 1052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 16"/>
          <p:cNvSpPr/>
          <p:nvPr/>
        </p:nvSpPr>
        <p:spPr>
          <a:xfrm>
            <a:off x="4965192" y="4032504"/>
            <a:ext cx="2697480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× 1 vector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46904" y="4498848"/>
            <a:ext cx="2734056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４×１ベクトル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01000" y="4178808"/>
            <a:ext cx="530352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668512" y="3913632"/>
            <a:ext cx="2569464" cy="1042416"/>
          </a:xfrm>
          <a:prstGeom prst="roundRect">
            <a:avLst>
              <a:gd name="adj" fmla="val 1052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2" name="Text 20"/>
          <p:cNvSpPr/>
          <p:nvPr/>
        </p:nvSpPr>
        <p:spPr>
          <a:xfrm>
            <a:off x="8805672" y="4032504"/>
            <a:ext cx="2295144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data sample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87384" y="4498848"/>
            <a:ext cx="2331720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１つのデータ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" y="5285232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[[10, 20], [30, 40]] → x = [10, 20, 30, 40]ᵀ (row-major order).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" y="5678424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例：[[10,20],[30,40]] → x=[10,20,30,40]ᵀ（行優先）。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the training data matrix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学習データ行列を作る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572768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691640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[x₁  x₂  ···  xₙ]   ∈  Rᵖˣⁿ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04088" y="2871216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column is one face image. Each row is the same pixel location across people.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" y="3264408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各列＝１枚の顔画像。各行＝異なる画像の同じ画素位置です。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3803904"/>
            <a:ext cx="10049256" cy="1380744"/>
          </a:xfrm>
          <a:prstGeom prst="roundRect">
            <a:avLst>
              <a:gd name="adj" fmla="val 7947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1371600" y="3995928"/>
            <a:ext cx="9418320" cy="3383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number of pixels (features)  /  特徴の数（画素数）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4517136"/>
            <a:ext cx="9418320" cy="3383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number of training images  /  学習画像の枚数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67512" y="558698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7" name="Text 15"/>
          <p:cNvSpPr/>
          <p:nvPr/>
        </p:nvSpPr>
        <p:spPr>
          <a:xfrm>
            <a:off x="859536" y="5660136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all photos the same size and align faces before building X.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" y="5952744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Xを作る前に、画像サイズを揃え、顔の位置合わせを行います。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face recognition difficult?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顔認識が難しい理由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pic>
        <p:nvPicPr>
          <p:cNvPr id="9" name="Image 0" descr="/mnt/data/yale_f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490472"/>
            <a:ext cx="7818120" cy="4233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31936" y="1636776"/>
            <a:ext cx="2926080" cy="6675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people may look similar.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31936" y="2322576"/>
            <a:ext cx="2926080" cy="4846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違う人でも顔が似ていることがあります。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31936" y="3383280"/>
            <a:ext cx="2871216" cy="75895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person changes under different lighting.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1936" y="4151376"/>
            <a:ext cx="2871216" cy="5943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同じ人でも照明によって画像が大きく変わります。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" y="576986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5" name="Text 12"/>
          <p:cNvSpPr/>
          <p:nvPr/>
        </p:nvSpPr>
        <p:spPr>
          <a:xfrm>
            <a:off x="859536" y="5843016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textbook’s Yale images show why lighting variation matters.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9536" y="6135624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教科書のYale顔画像は、照明変化の難しさを示しています。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compare all pixels directly?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なぜすべての画素を直接比較しない？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581912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64 × 64 face has 4,096 dimensions; many pixel values vary together.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" y="1975104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64×64の顔は4,096次元で、多くの画素が一緒に変化します。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2752344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4023360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pixels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78992" y="3337560"/>
            <a:ext cx="4059936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元の画素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31536" y="3429000"/>
            <a:ext cx="1051560" cy="0"/>
          </a:xfrm>
          <a:prstGeom prst="line">
            <a:avLst/>
          </a:prstGeom>
          <a:noFill/>
          <a:ln w="30480">
            <a:solidFill>
              <a:srgbClr val="235D91"/>
            </a:solidFill>
            <a:prstDash val="solid"/>
            <a:tailEnd type="triangle"/>
          </a:ln>
        </p:spPr>
        <p:txBody>
          <a:bodyPr/>
          <a:lstStyle/>
          <a:p>
            <a:endParaRPr lang="en-JP"/>
          </a:p>
        </p:txBody>
      </p:sp>
      <p:sp>
        <p:nvSpPr>
          <p:cNvPr id="15" name="Shape 13"/>
          <p:cNvSpPr/>
          <p:nvPr/>
        </p:nvSpPr>
        <p:spPr>
          <a:xfrm>
            <a:off x="6675120" y="2752344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6812280" y="2871216"/>
            <a:ext cx="4023360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features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93992" y="3337560"/>
            <a:ext cx="4059936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少数の特徴量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" y="4636008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finds a lower-dimensional coordinate system that preserves large variations.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" y="502920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PCAは大きなばらつきを残す低次元の座標系を探します。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" y="562356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1" name="Text 19"/>
          <p:cNvSpPr/>
          <p:nvPr/>
        </p:nvSpPr>
        <p:spPr>
          <a:xfrm>
            <a:off x="859536" y="5696712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large variation is not always useful identity information.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" y="5989320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注意：ばらつきが大きい特徴が、必ずしも個人識別に役立つとは限りません。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Variance: how spread out are numbers?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分散：数値がどれだけ散らばるか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508760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627632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 ≈ average of (value − mean)²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795528" y="2807208"/>
            <a:ext cx="5138928" cy="1435608"/>
          </a:xfrm>
          <a:prstGeom prst="roundRect">
            <a:avLst>
              <a:gd name="adj" fmla="val 764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1060704" y="3026664"/>
            <a:ext cx="4663440" cy="8778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[4, 5, 6]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= 5  →  small spread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144768" y="2807208"/>
            <a:ext cx="5193792" cy="1435608"/>
          </a:xfrm>
          <a:prstGeom prst="roundRect">
            <a:avLst>
              <a:gd name="adj" fmla="val 7643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6428232" y="3026664"/>
            <a:ext cx="4663440" cy="8778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[0, 5, 10]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= 5  →  large spread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04088" y="4800600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searches for directions in which projected points have high variance.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" y="5193792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PCAは、点を投影したとき分散が大きくなる方向を探します。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" y="569671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 16"/>
          <p:cNvSpPr/>
          <p:nvPr/>
        </p:nvSpPr>
        <p:spPr>
          <a:xfrm>
            <a:off x="859536" y="5769864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mean does NOT mean the same variation.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" y="6062472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平均が同じでも、ばらつきは同じとは限りません。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intuition: rotate the axes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PCAの直感：座標軸を回転させる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41832" y="5303520"/>
            <a:ext cx="4590288" cy="0"/>
          </a:xfrm>
          <a:prstGeom prst="line">
            <a:avLst/>
          </a:prstGeom>
          <a:noFill/>
          <a:ln w="20320">
            <a:solidFill>
              <a:srgbClr val="50677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Shape 8"/>
          <p:cNvSpPr/>
          <p:nvPr/>
        </p:nvSpPr>
        <p:spPr>
          <a:xfrm>
            <a:off x="1152144" y="5541264"/>
            <a:ext cx="0" cy="0"/>
          </a:xfrm>
          <a:prstGeom prst="line">
            <a:avLst/>
          </a:prstGeom>
          <a:noFill/>
          <a:ln w="20320">
            <a:solidFill>
              <a:srgbClr val="50677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1" name="Shape 9"/>
          <p:cNvSpPr/>
          <p:nvPr/>
        </p:nvSpPr>
        <p:spPr>
          <a:xfrm>
            <a:off x="1636776" y="461772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Shape 10"/>
          <p:cNvSpPr/>
          <p:nvPr/>
        </p:nvSpPr>
        <p:spPr>
          <a:xfrm>
            <a:off x="1901952" y="443484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Shape 11"/>
          <p:cNvSpPr/>
          <p:nvPr/>
        </p:nvSpPr>
        <p:spPr>
          <a:xfrm>
            <a:off x="2167128" y="425196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Shape 12"/>
          <p:cNvSpPr/>
          <p:nvPr/>
        </p:nvSpPr>
        <p:spPr>
          <a:xfrm>
            <a:off x="2432304" y="406908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5" name="Shape 13"/>
          <p:cNvSpPr/>
          <p:nvPr/>
        </p:nvSpPr>
        <p:spPr>
          <a:xfrm>
            <a:off x="2697480" y="388620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Shape 14"/>
          <p:cNvSpPr/>
          <p:nvPr/>
        </p:nvSpPr>
        <p:spPr>
          <a:xfrm>
            <a:off x="2962656" y="370332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7" name="Shape 15"/>
          <p:cNvSpPr/>
          <p:nvPr/>
        </p:nvSpPr>
        <p:spPr>
          <a:xfrm>
            <a:off x="3227832" y="352044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Shape 16"/>
          <p:cNvSpPr/>
          <p:nvPr/>
        </p:nvSpPr>
        <p:spPr>
          <a:xfrm>
            <a:off x="3493008" y="333756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9" name="Shape 17"/>
          <p:cNvSpPr/>
          <p:nvPr/>
        </p:nvSpPr>
        <p:spPr>
          <a:xfrm>
            <a:off x="3758184" y="315468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0" name="Shape 18"/>
          <p:cNvSpPr/>
          <p:nvPr/>
        </p:nvSpPr>
        <p:spPr>
          <a:xfrm>
            <a:off x="4023360" y="297180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1" name="Shape 19"/>
          <p:cNvSpPr/>
          <p:nvPr/>
        </p:nvSpPr>
        <p:spPr>
          <a:xfrm>
            <a:off x="4288536" y="278892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2" name="Shape 20"/>
          <p:cNvSpPr/>
          <p:nvPr/>
        </p:nvSpPr>
        <p:spPr>
          <a:xfrm>
            <a:off x="4553712" y="260604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3" name="Shape 21"/>
          <p:cNvSpPr/>
          <p:nvPr/>
        </p:nvSpPr>
        <p:spPr>
          <a:xfrm>
            <a:off x="4818888" y="2423160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4" name="Shape 22"/>
          <p:cNvSpPr/>
          <p:nvPr/>
        </p:nvSpPr>
        <p:spPr>
          <a:xfrm>
            <a:off x="1636776" y="505663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Shape 23"/>
          <p:cNvSpPr/>
          <p:nvPr/>
        </p:nvSpPr>
        <p:spPr>
          <a:xfrm>
            <a:off x="1901952" y="487375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6" name="Shape 24"/>
          <p:cNvSpPr/>
          <p:nvPr/>
        </p:nvSpPr>
        <p:spPr>
          <a:xfrm>
            <a:off x="2167128" y="469087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7" name="Shape 25"/>
          <p:cNvSpPr/>
          <p:nvPr/>
        </p:nvSpPr>
        <p:spPr>
          <a:xfrm>
            <a:off x="2432304" y="450799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Shape 26"/>
          <p:cNvSpPr/>
          <p:nvPr/>
        </p:nvSpPr>
        <p:spPr>
          <a:xfrm>
            <a:off x="2697480" y="432511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9" name="Shape 27"/>
          <p:cNvSpPr/>
          <p:nvPr/>
        </p:nvSpPr>
        <p:spPr>
          <a:xfrm>
            <a:off x="2962656" y="414223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0" name="Shape 28"/>
          <p:cNvSpPr/>
          <p:nvPr/>
        </p:nvSpPr>
        <p:spPr>
          <a:xfrm>
            <a:off x="3227832" y="395935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1" name="Shape 29"/>
          <p:cNvSpPr/>
          <p:nvPr/>
        </p:nvSpPr>
        <p:spPr>
          <a:xfrm>
            <a:off x="3493008" y="377647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2" name="Shape 30"/>
          <p:cNvSpPr/>
          <p:nvPr/>
        </p:nvSpPr>
        <p:spPr>
          <a:xfrm>
            <a:off x="3758184" y="359359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3" name="Shape 31"/>
          <p:cNvSpPr/>
          <p:nvPr/>
        </p:nvSpPr>
        <p:spPr>
          <a:xfrm>
            <a:off x="4023360" y="341071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4" name="Shape 32"/>
          <p:cNvSpPr/>
          <p:nvPr/>
        </p:nvSpPr>
        <p:spPr>
          <a:xfrm>
            <a:off x="4288536" y="322783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5" name="Shape 33"/>
          <p:cNvSpPr/>
          <p:nvPr/>
        </p:nvSpPr>
        <p:spPr>
          <a:xfrm>
            <a:off x="4553712" y="3044952"/>
            <a:ext cx="118872" cy="118872"/>
          </a:xfrm>
          <a:prstGeom prst="ellipse">
            <a:avLst/>
          </a:prstGeom>
          <a:solidFill>
            <a:srgbClr val="235D91"/>
          </a:solidFill>
          <a:ln w="12700">
            <a:solidFill>
              <a:srgbClr val="235D91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6" name="Shape 34"/>
          <p:cNvSpPr/>
          <p:nvPr/>
        </p:nvSpPr>
        <p:spPr>
          <a:xfrm>
            <a:off x="1261872" y="5285232"/>
            <a:ext cx="3986784" cy="0"/>
          </a:xfrm>
          <a:prstGeom prst="line">
            <a:avLst/>
          </a:prstGeom>
          <a:noFill/>
          <a:ln w="30480">
            <a:solidFill>
              <a:srgbClr val="235D91"/>
            </a:solidFill>
            <a:prstDash val="solid"/>
            <a:tailEnd type="triangle"/>
          </a:ln>
        </p:spPr>
        <p:txBody>
          <a:bodyPr/>
          <a:lstStyle/>
          <a:p>
            <a:endParaRPr lang="en-JP"/>
          </a:p>
        </p:txBody>
      </p:sp>
      <p:sp>
        <p:nvSpPr>
          <p:cNvPr id="37" name="Text 35"/>
          <p:cNvSpPr/>
          <p:nvPr/>
        </p:nvSpPr>
        <p:spPr>
          <a:xfrm>
            <a:off x="5193792" y="1856232"/>
            <a:ext cx="822960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5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PC1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6400800" y="1947672"/>
            <a:ext cx="5010912" cy="2651760"/>
          </a:xfrm>
          <a:prstGeom prst="roundRect">
            <a:avLst>
              <a:gd name="adj" fmla="val 4138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9" name="Text 37"/>
          <p:cNvSpPr/>
          <p:nvPr/>
        </p:nvSpPr>
        <p:spPr>
          <a:xfrm>
            <a:off x="6629400" y="2148840"/>
            <a:ext cx="4544568" cy="5394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PC1: direction of largest variance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629400" y="2770632"/>
            <a:ext cx="4526280" cy="3931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第１主成分：分散が最大の方向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629400" y="3328416"/>
            <a:ext cx="452628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PC2: next direction, orthogonal to PC1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629400" y="3977640"/>
            <a:ext cx="4535424" cy="3383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第２主成分：PC1に直交する次の方向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67512" y="574243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4" name="Text 42"/>
          <p:cNvSpPr/>
          <p:nvPr/>
        </p:nvSpPr>
        <p:spPr>
          <a:xfrm>
            <a:off x="859536" y="5815584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changes coordinates; it does not magically invent new pixel information.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9536" y="6108192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PCAは座標の表し方を変えます。元の画素情報を新しく作り出すわけではありません。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worked 2D example: project a point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２次元の計算例：点を投影する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472184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the mean is μ = [2, 3]ᵀ and the first PCA direction is u₁ = [0.6, 0.8]ᵀ.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088" y="1865376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平均をμ=[2,3]ᵀ、第１主成分をu₁=[0.6,0.8]ᵀとします。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587752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1051560" y="2706624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[5, 7]ᵀ   →   x − μ = [3, 4]ᵀ</a:t>
            </a:r>
            <a:endParaRPr lang="en-US" sz="2900" dirty="0"/>
          </a:p>
        </p:txBody>
      </p:sp>
      <p:sp>
        <p:nvSpPr>
          <p:cNvPr id="13" name="Shape 11"/>
          <p:cNvSpPr/>
          <p:nvPr/>
        </p:nvSpPr>
        <p:spPr>
          <a:xfrm>
            <a:off x="777240" y="3730752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1051560" y="3849624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z₁ = u₁ᵀ(x − μ) = 0.6(3) + 0.8(4) = 5</a:t>
            </a:r>
            <a:endParaRPr lang="en-US" sz="2900" dirty="0"/>
          </a:p>
        </p:txBody>
      </p:sp>
      <p:sp>
        <p:nvSpPr>
          <p:cNvPr id="15" name="Shape 13"/>
          <p:cNvSpPr/>
          <p:nvPr/>
        </p:nvSpPr>
        <p:spPr>
          <a:xfrm>
            <a:off x="667512" y="515721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230368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PCA score z₁ = 5 summarizes the position along the first PCA direction.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522976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主成分得点z₁=5は、第１主成分方向の位置を１つの数値で表します。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compute the mean face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ステップ１：平均顔を求める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673352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 = (x₁ + x₂ + ··· + xₙ) / n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04088" y="2715768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pixel position, average its intensities over all training faces.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" y="310896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画素位置ごとに、すべての学習顔画像の値を平均します。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3739896"/>
            <a:ext cx="10597896" cy="1133856"/>
          </a:xfrm>
          <a:prstGeom prst="roundRect">
            <a:avLst>
              <a:gd name="adj" fmla="val 9677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1069848" y="3968496"/>
            <a:ext cx="10058400" cy="5669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/ 例 :  [10, 20]ᵀ , [30, 40]ᵀ → μ = [20, 30]ᵀ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67512" y="530352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376672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 has the same number of pixel values as one original face.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669280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平均顔μの画素数は、元の１枚の顔画像と同じです。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center every training face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ステップ２：各顔画像を中心化する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591056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709928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aᵢ = xᵢ − μ       A = [a₁  a₂  ···  aₙ]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04088" y="2843784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Subtract the SAME training mean μ from every training face.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" y="3236976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すべての学習画像から、同じ学習データの平均μを引きます。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849624"/>
            <a:ext cx="10241280" cy="987552"/>
          </a:xfrm>
          <a:prstGeom prst="roundRect">
            <a:avLst>
              <a:gd name="adj" fmla="val 11111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1106424" y="4023360"/>
            <a:ext cx="9902952" cy="6217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/ 例 :  x₁ = [10, 20]ᵀ, μ = [20, 30]ᵀ → a₁ = [−10, −10]ᵀ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67512" y="539496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468112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Why? SVD should analyze variations around the average, not overall brightness.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760720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理由：SVDで平均からの変化を解析し、全体的な明るさの影響を減らすためです。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an Eigenface mean?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固有顔とは何か？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581912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Eigenface is NOT a photo of one particular person.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04088" y="1975104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固有顔は、特定の誰かの顔写真ではありません。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2578608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pattern of pixel changes found across many training faces.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" y="297180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多くの学習画像に現れる、画素の変化パターンです。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3730752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Combining several such patterns with different weights approximates a face.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4088" y="4123944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複数のパターンに重みをつけて足すことで、顔画像を近似できます。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" y="515721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230368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Analogy: notes combine into music; Eigenfaces combine into a face approximation.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522976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たとえ：音符を組み合わせて音楽を作るように、固有顔を組み合わせて顔を近似します。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use Singular Value Decomposition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ステップ３：特異値分解（SVD）を使う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581912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700784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U Σ Vᵀ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2770632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850392" y="2852928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3200400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935224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5" name="Text 13"/>
          <p:cNvSpPr/>
          <p:nvPr/>
        </p:nvSpPr>
        <p:spPr>
          <a:xfrm>
            <a:off x="4919472" y="2834640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Centered face matrix (p × n)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4928616" y="3200400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中心化された顔画像行列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58368" y="3675888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 16"/>
          <p:cNvSpPr/>
          <p:nvPr/>
        </p:nvSpPr>
        <p:spPr>
          <a:xfrm>
            <a:off x="850392" y="3758184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" y="4105656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3840480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1" name="Text 19"/>
          <p:cNvSpPr/>
          <p:nvPr/>
        </p:nvSpPr>
        <p:spPr>
          <a:xfrm>
            <a:off x="4919472" y="3739896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singular vectors: directions in pixel space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4928616" y="4105656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左特異ベクトル：画素空間の方向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58368" y="4581144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4" name="Text 22"/>
          <p:cNvSpPr/>
          <p:nvPr/>
        </p:nvSpPr>
        <p:spPr>
          <a:xfrm>
            <a:off x="850392" y="4663440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Σ, Vᵀ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9536" y="5010912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Σ、Vᵀ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90872" y="4745736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7" name="Text 25"/>
          <p:cNvSpPr/>
          <p:nvPr/>
        </p:nvSpPr>
        <p:spPr>
          <a:xfrm>
            <a:off x="4919472" y="4645152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Singular values and image-side coefficients</a:t>
            </a:r>
            <a:endParaRPr lang="en-US" sz="1530" dirty="0"/>
          </a:p>
        </p:txBody>
      </p:sp>
      <p:sp>
        <p:nvSpPr>
          <p:cNvPr id="28" name="Text 26"/>
          <p:cNvSpPr/>
          <p:nvPr/>
        </p:nvSpPr>
        <p:spPr>
          <a:xfrm>
            <a:off x="4928616" y="5010912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特異値と画像側の係数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667512" y="553212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0" name="Text 28"/>
          <p:cNvSpPr/>
          <p:nvPr/>
        </p:nvSpPr>
        <p:spPr>
          <a:xfrm>
            <a:off x="859536" y="5605272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 of U can be reshaped into images: these are the Eigenfaces.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9536" y="5897880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Uの各列を画像の形に戻したものが「固有顔」です。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an SVD diagram in the textbook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教科書のSVD図を読んでみよう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385048" y="1874520"/>
            <a:ext cx="3136392" cy="3328416"/>
          </a:xfrm>
          <a:prstGeom prst="roundRect">
            <a:avLst>
              <a:gd name="adj" fmla="val 3499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1" name="Text 8"/>
          <p:cNvSpPr/>
          <p:nvPr/>
        </p:nvSpPr>
        <p:spPr>
          <a:xfrm>
            <a:off x="8631936" y="2103120"/>
            <a:ext cx="264261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for: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631936" y="2660904"/>
            <a:ext cx="2624328" cy="17647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matrix 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 columns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Eigenface images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Singular values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22792" y="4617720"/>
            <a:ext cx="2688336" cy="3657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A・Uの列・固有顔・特異値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" y="5779008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5" name="Text 12"/>
          <p:cNvSpPr/>
          <p:nvPr/>
        </p:nvSpPr>
        <p:spPr>
          <a:xfrm>
            <a:off x="859536" y="5852160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vectors of U become visible images after reshaping.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9536" y="6144768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Uの数学的なベクトルを並べ直すと、目で見られる画像になります。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F2201D-BC31-EAD5-DD9D-FB47FC939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237" y="1277876"/>
            <a:ext cx="4632245" cy="44119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are the first Eigenfaces important?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最初の固有顔が重要な理由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618488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737360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σ₁ ≥ σ₂ ≥ ··· ≥ 0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04088" y="2834640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singular values σ₁, σ₂, ... indicate how strong each data pattern is.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4088" y="3227832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特異値σ₁,σ₂,…は各データパターンの強さを表します。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3822192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first r columns of U to build a compact representation Uᵣ.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4088" y="4215384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Uの最初のr列を残して、コンパクトな表現Uᵣを作ります。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" y="531266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385816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orders directions by explained variation, not necessarily by identity usefulness.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678424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PCAは「説明できる分散」の大きさで方向を並べます。個人識別への有用性順ではありません。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Eigenfaces should we keep?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固有顔を何個残す？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581912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700784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Explained variance ratio = (Σᵢ₌₁ʳ σᵢ²) / (Σᵢ σᵢ²)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04088" y="2871216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Squared singular values measure the variation captured by each component.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" y="3264408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特異値の２乗は、各主成分が説明する分散に対応します。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" y="3840480"/>
            <a:ext cx="10552176" cy="1042416"/>
          </a:xfrm>
          <a:prstGeom prst="roundRect">
            <a:avLst>
              <a:gd name="adj" fmla="val 10526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1051560" y="4087368"/>
            <a:ext cx="10113264" cy="5943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/ 例: σ² = [60, 25, 10, 5] → first 2 retain (60 + 25) / 100 = 85%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67512" y="543153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504688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components preserve more image detail, but also increase storage and complexity.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797296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主成分を増やすと細部を残しやすい一方、特徴量と計算量が増えます。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4: project a new face onto Eigenfaces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ステップ４：新しい顔を固有顔空間へ射影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591056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709928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= Uᵣᵀ(x − μ)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2862072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850392" y="2944368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3291840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3026664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5" name="Text 13"/>
          <p:cNvSpPr/>
          <p:nvPr/>
        </p:nvSpPr>
        <p:spPr>
          <a:xfrm>
            <a:off x="4919472" y="2926080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image vector with p pixel values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4928616" y="3291840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p個の画素値からなる入力ベクトル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58368" y="3749040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 16"/>
          <p:cNvSpPr/>
          <p:nvPr/>
        </p:nvSpPr>
        <p:spPr>
          <a:xfrm>
            <a:off x="850392" y="3831336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μ, Uᵣ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" y="4178808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μ、Uᵣ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3913632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1" name="Text 19"/>
          <p:cNvSpPr/>
          <p:nvPr/>
        </p:nvSpPr>
        <p:spPr>
          <a:xfrm>
            <a:off x="4919472" y="3813048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and basis learned from TRAINING data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4928616" y="4178808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学習データから求めた平均と基底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58368" y="4626864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4" name="Text 22"/>
          <p:cNvSpPr/>
          <p:nvPr/>
        </p:nvSpPr>
        <p:spPr>
          <a:xfrm>
            <a:off x="850392" y="4709160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9536" y="5056632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90872" y="4791456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7" name="Text 25"/>
          <p:cNvSpPr/>
          <p:nvPr/>
        </p:nvSpPr>
        <p:spPr>
          <a:xfrm>
            <a:off x="4919472" y="4690872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r-dimensional vector of PCA scores</a:t>
            </a:r>
            <a:endParaRPr lang="en-US" sz="1530" dirty="0"/>
          </a:p>
        </p:txBody>
      </p:sp>
      <p:sp>
        <p:nvSpPr>
          <p:cNvPr id="28" name="Text 26"/>
          <p:cNvSpPr/>
          <p:nvPr/>
        </p:nvSpPr>
        <p:spPr>
          <a:xfrm>
            <a:off x="4928616" y="5056632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r次元の主成分得点ベクトル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667512" y="560527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0" name="Text 28"/>
          <p:cNvSpPr/>
          <p:nvPr/>
        </p:nvSpPr>
        <p:spPr>
          <a:xfrm>
            <a:off x="859536" y="5678424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saved training μ and Uᵣ; never retrain PCA on each test face.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9536" y="5971032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テスト画像では、保存した学習時のμとUᵣを使います。毎回PCAを学習し直しません。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a PCA score actually tell us?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主成分得点は何を表す？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609344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coefficient tells how strongly a specific Eigenface pattern appears.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" y="2002536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各係数は、特定の固有顔パターンがどの程度現れているかを示します。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6968" y="2660904"/>
            <a:ext cx="10241280" cy="1115568"/>
          </a:xfrm>
          <a:prstGeom prst="roundRect">
            <a:avLst>
              <a:gd name="adj" fmla="val 983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1207008" y="2834640"/>
            <a:ext cx="9555480" cy="6309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= [ 2.1,  −0.7,  0.3 ]ᵀ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4088" y="4251960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or negative signs are normal: patterns may be added or subtracted.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" y="4645152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係数が正でも負でも正常です。パターンを加えたり引いたりします。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" y="543153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504688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numbers describe patterns, not directly “eye size” or “person ID.”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797296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この数値は画像パターンの特徴であり、直接「目の大きさ」や「人物ID」ではありません。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5: reconstruct the image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ステップ５：画像を再構成する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591056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709928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x̂ = μ + Uᵣ z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04088" y="2852928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average face, then add each Eigenface multiplied by its score.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" y="324612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平均顔から始め、各固有顔に対応する係数を掛けて足し合わせます。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" y="3895344"/>
            <a:ext cx="10506456" cy="978408"/>
          </a:xfrm>
          <a:prstGeom prst="roundRect">
            <a:avLst>
              <a:gd name="adj" fmla="val 11215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1124712" y="4096512"/>
            <a:ext cx="9893808" cy="53035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x̂ = μ + z₁u₁ + z₂u₂ + ··· + zᵣuᵣ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667512" y="542239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495544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hat (^) means “estimated image”: x̂ is generally not exactly x.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788152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上付きの「^」は推定値の意味です。一般に再構成画像x̂は元画像xと完全には一致しません。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tiny reconstruction example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小さな再構成の計算例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664208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μ = [10, 10]ᵀ, u₁ = [1, 0]ᵀ and z₁ = 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" y="205740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μ=[10,10]ᵀ、u₁=[1,0]ᵀ、z₁=3 とします。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862072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1051560" y="2980944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x̂ = [10, 10]ᵀ + 3[1, 0]ᵀ = [13, 10]ᵀ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04088" y="4197096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first coordinate changes because u₁ points along that axis.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" y="4590288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u₁が第１の座標軸方向を向くため、最初の座標だけ変化します。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" y="537667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449824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reconstruction is the same operation, just with thousands of pixel values.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742432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顔画像の再構成も同じ計算です。画素数が何千個にも増えるだけです。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reconstruction quality as r increases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rを増やしたときの再構成画像を比較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012680" y="1764792"/>
            <a:ext cx="1728216" cy="3931920"/>
          </a:xfrm>
          <a:prstGeom prst="roundRect">
            <a:avLst>
              <a:gd name="adj" fmla="val 6349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1" name="Text 8"/>
          <p:cNvSpPr/>
          <p:nvPr/>
        </p:nvSpPr>
        <p:spPr>
          <a:xfrm>
            <a:off x="10168128" y="1965960"/>
            <a:ext cx="1435608" cy="4023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149840" y="2414016"/>
            <a:ext cx="147218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3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粗い近似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70464" y="2898648"/>
            <a:ext cx="548640" cy="51206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35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0158984" y="3666744"/>
            <a:ext cx="1472184" cy="3931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177272" y="4142232"/>
            <a:ext cx="1435608" cy="28346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3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より詳細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140696" y="4828032"/>
            <a:ext cx="1554480" cy="32918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5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improves?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7512" y="587959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 15"/>
          <p:cNvSpPr/>
          <p:nvPr/>
        </p:nvSpPr>
        <p:spPr>
          <a:xfrm>
            <a:off x="859536" y="5952744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which details return first? Does higher r always help recognition?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9536" y="6245352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考えよう：最初に戻る細部は何？ rを増やすと認識性能も必ず良くなる？</a:t>
            </a:r>
            <a:endParaRPr lang="en-US" sz="12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2399663-FAC5-A6BE-680F-3078E8FB8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161" y="1348542"/>
            <a:ext cx="6937681" cy="43241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error: measure the difference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再構成誤差：元画像との差を測る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627632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746504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= ||x − x̂||₂     (Euclidean error)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04088" y="2935224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 e means the reconstructed pixels are closer to the original pixels.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" y="3328416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eが小さいほど、再構成された画素値は元の画像に近いです。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3950208"/>
            <a:ext cx="10396728" cy="1024128"/>
          </a:xfrm>
          <a:prstGeom prst="roundRect">
            <a:avLst>
              <a:gd name="adj" fmla="val 10714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1069848" y="4133088"/>
            <a:ext cx="9912096" cy="6035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/ 例: x = [3, 4]ᵀ, x̂ = [0, 0]ᵀ → e = √(3² + 4²) = 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67512" y="5413248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486400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reconstruction error is not the same as high face-recognition accuracy.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779008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再構成誤差が小さいことと、顔認識の正解率が高いことは別です。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and recognition are not identical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画像再構成と顔認識は別の仕事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719072"/>
            <a:ext cx="4946904" cy="1271016"/>
          </a:xfrm>
          <a:prstGeom prst="roundRect">
            <a:avLst>
              <a:gd name="adj" fmla="val 863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05840" y="1837944"/>
            <a:ext cx="4672584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画像再構成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719072"/>
            <a:ext cx="4928616" cy="1271016"/>
          </a:xfrm>
          <a:prstGeom prst="roundRect">
            <a:avLst>
              <a:gd name="adj" fmla="val 8633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6492240" y="1837944"/>
            <a:ext cx="4654296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73952" y="2304288"/>
            <a:ext cx="4690872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人物識別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438144"/>
            <a:ext cx="4773168" cy="6126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approximate the original pixel values.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105656"/>
            <a:ext cx="4773168" cy="49377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目標：元の画像の画素値を近似する。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438144"/>
            <a:ext cx="4800600" cy="6126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assign a person’s identity or reject as unknown.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4105656"/>
            <a:ext cx="4800600" cy="49377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目標：人物を特定するか、未知人物として拒否する。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" y="538581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0" name="Text 18"/>
          <p:cNvSpPr/>
          <p:nvPr/>
        </p:nvSpPr>
        <p:spPr>
          <a:xfrm>
            <a:off x="859536" y="5458968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learns a feature space; a classifier or matching rule makes decisions.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9536" y="5751576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PCAは特徴空間を学習し、分類器または照合方法が人物を判定します。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simple recognition rule: nearest neighbor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簡単な認識方法：最近傍法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591056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709928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ID = ID of argminⱼ ||zquery − zj||₂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2834640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850392" y="2916936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3264408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999232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5" name="Text 13"/>
          <p:cNvSpPr/>
          <p:nvPr/>
        </p:nvSpPr>
        <p:spPr>
          <a:xfrm>
            <a:off x="4919472" y="2898648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a PCA vector for each known face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4928616" y="3264408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既知の顔のPCAベクトルを保存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58368" y="3739896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 16"/>
          <p:cNvSpPr/>
          <p:nvPr/>
        </p:nvSpPr>
        <p:spPr>
          <a:xfrm>
            <a:off x="850392" y="3822192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" y="4169664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照会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3904488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1" name="Text 19"/>
          <p:cNvSpPr/>
          <p:nvPr/>
        </p:nvSpPr>
        <p:spPr>
          <a:xfrm>
            <a:off x="4919472" y="3803904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the new face using the SAME PCA basis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4928616" y="4169664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同じPCA基底で新しい顔を射影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58368" y="4645152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4" name="Text 22"/>
          <p:cNvSpPr/>
          <p:nvPr/>
        </p:nvSpPr>
        <p:spPr>
          <a:xfrm>
            <a:off x="850392" y="4727448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9536" y="5074920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照合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90872" y="4809744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7" name="Text 25"/>
          <p:cNvSpPr/>
          <p:nvPr/>
        </p:nvSpPr>
        <p:spPr>
          <a:xfrm>
            <a:off x="4919472" y="4709160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stored vector with smallest distance</a:t>
            </a:r>
            <a:endParaRPr lang="en-US" sz="1530" dirty="0"/>
          </a:p>
        </p:txBody>
      </p:sp>
      <p:sp>
        <p:nvSpPr>
          <p:cNvPr id="28" name="Text 26"/>
          <p:cNvSpPr/>
          <p:nvPr/>
        </p:nvSpPr>
        <p:spPr>
          <a:xfrm>
            <a:off x="4928616" y="5074920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距離が最小の登録ベクトルを探す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667512" y="558698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0" name="Text 28"/>
          <p:cNvSpPr/>
          <p:nvPr/>
        </p:nvSpPr>
        <p:spPr>
          <a:xfrm>
            <a:off x="859536" y="5660136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nearest-neighbor matching step is a teaching extension, not PCA itself.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9536" y="5952744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最近傍照合は授業の応用部分であり、PCAそのものではありません。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recognition example with distances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距離計算による認識の例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554480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scores: q = [2, 1]. Registered scores: A = [1, 1], B = [5, 5].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088" y="1947672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照会q=[2,1]、登録人物A=[1,1]、B=[5,5]とします。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615184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1051560" y="2734056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d(q, A) = √((2−1)²+(1−1)²) = 1</a:t>
            </a:r>
            <a:endParaRPr lang="en-US" sz="2900" dirty="0"/>
          </a:p>
        </p:txBody>
      </p:sp>
      <p:sp>
        <p:nvSpPr>
          <p:cNvPr id="13" name="Shape 11"/>
          <p:cNvSpPr/>
          <p:nvPr/>
        </p:nvSpPr>
        <p:spPr>
          <a:xfrm>
            <a:off x="777240" y="3703320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1051560" y="3822192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d(q, B) = √((2−5)²+(1−5)²) = 5</a:t>
            </a:r>
            <a:endParaRPr lang="en-US" sz="2900" dirty="0"/>
          </a:p>
        </p:txBody>
      </p:sp>
      <p:sp>
        <p:nvSpPr>
          <p:cNvPr id="15" name="Shape 13"/>
          <p:cNvSpPr/>
          <p:nvPr/>
        </p:nvSpPr>
        <p:spPr>
          <a:xfrm>
            <a:off x="667512" y="522122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294376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Since 1 &lt; 5, this simple method predicts person 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586984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1は5より小さいので、この単純な方法では人物Aと判定します。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if the face belongs to nobody enrolled?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登録されていない人物の顔だったら？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572768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Nearest neighbor always returns someone, even when the person is unknown.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04088" y="196596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最近傍法は、未知の人物でも必ず誰かを選んでしまいます。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706624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1051560" y="2825496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min distance &gt; threshold τ  →  “unknown”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04088" y="4023360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τ on separate validation data, not by looking at test answers.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" y="4416552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しきい値τはテスト結果ではなく、別の検証データで決めます。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" y="535838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431536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makes recognition an open-set task: identify known people or reject strangers.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724144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これは既知人物を識別し、未登録人物を拒否する「オープンセット認識」です。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important: data splitting and leakage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とても重要：データ分割と情報漏えい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45336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850392" y="1627632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9536" y="1975104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90872" y="1709928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4919472" y="1609344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μ and Uᵣ using training images only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928616" y="1975104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学習画像のみでμとUᵣを求める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58368" y="2487168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0392" y="2569464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9536" y="2916936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検証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90872" y="2651760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9" name="Text 17"/>
          <p:cNvSpPr/>
          <p:nvPr/>
        </p:nvSpPr>
        <p:spPr>
          <a:xfrm>
            <a:off x="4919472" y="2551176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r and threshold τ, if needed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4928616" y="2916936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必要ならrとしきい値τを決める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58368" y="3429000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2" name="Text 20"/>
          <p:cNvSpPr/>
          <p:nvPr/>
        </p:nvSpPr>
        <p:spPr>
          <a:xfrm>
            <a:off x="850392" y="3511296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858768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テスト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90872" y="3593592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/>
          <p:nvPr/>
        </p:nvSpPr>
        <p:spPr>
          <a:xfrm>
            <a:off x="4919472" y="3493008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on never-used test images</a:t>
            </a:r>
            <a:endParaRPr lang="en-US" sz="1530" dirty="0"/>
          </a:p>
        </p:txBody>
      </p:sp>
      <p:sp>
        <p:nvSpPr>
          <p:cNvPr id="26" name="Text 24"/>
          <p:cNvSpPr/>
          <p:nvPr/>
        </p:nvSpPr>
        <p:spPr>
          <a:xfrm>
            <a:off x="4928616" y="3858768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一度も使用していない画像で評価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04088" y="4599432"/>
            <a:ext cx="10881360" cy="6035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7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identity recognition, use different photos of the enrolled identities at test time; for generalizing to new identities, design a person-disjoint protocol.</a:t>
            </a:r>
            <a:endParaRPr lang="en-US" sz="1570" dirty="0"/>
          </a:p>
        </p:txBody>
      </p:sp>
      <p:sp>
        <p:nvSpPr>
          <p:cNvPr id="28" name="Text 26"/>
          <p:cNvSpPr/>
          <p:nvPr/>
        </p:nvSpPr>
        <p:spPr>
          <a:xfrm>
            <a:off x="704088" y="5221224"/>
            <a:ext cx="10881360" cy="6309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登録人物の認識では同一人物の別写真をテストします。未知人物への一般化を調べる場合は、人物を分離した評価設計が必要です。</a:t>
            </a:r>
            <a:endParaRPr lang="en-US" sz="126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evaluate recognition results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顔認識結果をどう評価する？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636776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755648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= number correct / number tested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04088" y="2862072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7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18 correct predictions out of 20 images gives 18 / 20 = 90%.</a:t>
            </a:r>
            <a:endParaRPr lang="en-US" sz="1770" dirty="0"/>
          </a:p>
        </p:txBody>
      </p:sp>
      <p:sp>
        <p:nvSpPr>
          <p:cNvPr id="12" name="Text 10"/>
          <p:cNvSpPr/>
          <p:nvPr/>
        </p:nvSpPr>
        <p:spPr>
          <a:xfrm>
            <a:off x="704088" y="3255264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例：20枚のうち18枚を正しく認識した場合、正解率は90％です。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3858768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confusion matrix reveals which identities are often confused.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" y="425196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混同行列を見ると、どの人物同士が誤認識されやすいか分かります。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" y="543153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9536" y="5504688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unknown-person rejection, also inspect false accepts and false rejects.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5797296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未知人物の拒否では、誤受入れと誤拒否も調べます。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misunderstandings — check yourself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よくある誤解を確認しよう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490472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850392" y="1572768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 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9536" y="1920240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誤解１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90872" y="1655064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4919472" y="1554480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“Eigenface = the face of one student” → False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928616" y="1920240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「固有顔＝ある学生の顔」→ 間違い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58368" y="2450592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0392" y="2532888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9536" y="2880360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誤解２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90872" y="2615184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9" name="Text 17"/>
          <p:cNvSpPr/>
          <p:nvPr/>
        </p:nvSpPr>
        <p:spPr>
          <a:xfrm>
            <a:off x="4919472" y="2514600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“PCA itself outputs a name” → False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4928616" y="2880360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「PCAが人物名を直接出す」→ 間違い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58368" y="3410712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2" name="Text 20"/>
          <p:cNvSpPr/>
          <p:nvPr/>
        </p:nvSpPr>
        <p:spPr>
          <a:xfrm>
            <a:off x="850392" y="3493008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 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840480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誤解３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90872" y="3575304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/>
          <p:nvPr/>
        </p:nvSpPr>
        <p:spPr>
          <a:xfrm>
            <a:off x="4919472" y="3474720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“Higher r is always better” → Not necessarily</a:t>
            </a:r>
            <a:endParaRPr lang="en-US" sz="1530" dirty="0"/>
          </a:p>
        </p:txBody>
      </p:sp>
      <p:sp>
        <p:nvSpPr>
          <p:cNvPr id="26" name="Text 24"/>
          <p:cNvSpPr/>
          <p:nvPr/>
        </p:nvSpPr>
        <p:spPr>
          <a:xfrm>
            <a:off x="4928616" y="3840480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「rが多いほど必ず良い」→ 必ずしもそうではない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58368" y="4370832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Text 26"/>
          <p:cNvSpPr/>
          <p:nvPr/>
        </p:nvSpPr>
        <p:spPr>
          <a:xfrm>
            <a:off x="850392" y="4453128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 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59536" y="4800600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誤解４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90872" y="4535424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1" name="Text 29"/>
          <p:cNvSpPr/>
          <p:nvPr/>
        </p:nvSpPr>
        <p:spPr>
          <a:xfrm>
            <a:off x="4919472" y="4434840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“Use test images to learn PCA” → Data leakage</a:t>
            </a:r>
            <a:endParaRPr lang="en-US" sz="1530" dirty="0"/>
          </a:p>
        </p:txBody>
      </p:sp>
      <p:sp>
        <p:nvSpPr>
          <p:cNvPr id="32" name="Text 30"/>
          <p:cNvSpPr/>
          <p:nvPr/>
        </p:nvSpPr>
        <p:spPr>
          <a:xfrm>
            <a:off x="4928616" y="4800600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「テスト画像でPCAを学習する」→ 情報漏えい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67512" y="555955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4" name="Text 32"/>
          <p:cNvSpPr/>
          <p:nvPr/>
        </p:nvSpPr>
        <p:spPr>
          <a:xfrm>
            <a:off x="859536" y="5632704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each statement is wrong, not only its true/false label.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9536" y="5925312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正誤を答えるだけでなく、なぜ間違いなのかを説明しましょう。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preprocessing before PCA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PCAの前に必要な前処理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17904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850392" y="1600200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faces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9536" y="1947672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顔の切り抜き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90872" y="1682496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4919472" y="1581912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irrelevant background where possible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928616" y="1947672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不要な背景をできるだけ除く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58368" y="2459736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0392" y="2542032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faces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9536" y="2889504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顔の位置合わせ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90872" y="2624328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9" name="Text 17"/>
          <p:cNvSpPr/>
          <p:nvPr/>
        </p:nvSpPr>
        <p:spPr>
          <a:xfrm>
            <a:off x="4919472" y="2523744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eye positions and scale comparable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4928616" y="2889504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目の位置や顔の大きさを揃える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2" name="Text 20"/>
          <p:cNvSpPr/>
          <p:nvPr/>
        </p:nvSpPr>
        <p:spPr>
          <a:xfrm>
            <a:off x="850392" y="3483864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Grayscale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831336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グレースケール化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90872" y="3566160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/>
          <p:nvPr/>
        </p:nvSpPr>
        <p:spPr>
          <a:xfrm>
            <a:off x="4919472" y="3465576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consistent intensity range and image shape</a:t>
            </a:r>
            <a:endParaRPr lang="en-US" sz="1530" dirty="0"/>
          </a:p>
        </p:txBody>
      </p:sp>
      <p:sp>
        <p:nvSpPr>
          <p:cNvPr id="26" name="Text 24"/>
          <p:cNvSpPr/>
          <p:nvPr/>
        </p:nvSpPr>
        <p:spPr>
          <a:xfrm>
            <a:off x="4928616" y="3831336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画素値の範囲と画像サイズを揃える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58368" y="4343400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Text 26"/>
          <p:cNvSpPr/>
          <p:nvPr/>
        </p:nvSpPr>
        <p:spPr>
          <a:xfrm>
            <a:off x="850392" y="4425696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Vectorize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59536" y="4773168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ベクトル化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90872" y="4507992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1" name="Text 29"/>
          <p:cNvSpPr/>
          <p:nvPr/>
        </p:nvSpPr>
        <p:spPr>
          <a:xfrm>
            <a:off x="4919472" y="4407408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Flatten each image into one column</a:t>
            </a:r>
            <a:endParaRPr lang="en-US" sz="1530" dirty="0"/>
          </a:p>
        </p:txBody>
      </p:sp>
      <p:sp>
        <p:nvSpPr>
          <p:cNvPr id="32" name="Text 30"/>
          <p:cNvSpPr/>
          <p:nvPr/>
        </p:nvSpPr>
        <p:spPr>
          <a:xfrm>
            <a:off x="4928616" y="4773168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各画像を列ベクトルに変換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67512" y="555955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4" name="Text 32"/>
          <p:cNvSpPr/>
          <p:nvPr/>
        </p:nvSpPr>
        <p:spPr>
          <a:xfrm>
            <a:off x="859536" y="5632704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faces are not aligned, PCA may learn position or illumination instead of identity.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9536" y="5925312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位置合わせが不十分だと、PCAは人物の違いより位置・照明の違いを学ぶことがあります。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fit PCA using SVD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Python：SVDを使ってPCAを学習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94944" y="1481328"/>
            <a:ext cx="10844784" cy="4352544"/>
          </a:xfrm>
          <a:prstGeom prst="roundRect">
            <a:avLst>
              <a:gd name="adj" fmla="val 2521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969264" y="1709928"/>
            <a:ext cx="10332720" cy="387705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2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X: (n_images, n_pixels); each row is a face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 = X_train.mean(axis=0)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(X_train - mu).T         # (pixels, images)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U, singular_values, VT = np.linalg.svd(A, full_matrices=False)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20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 = U[:, :r]               # the first r Eigenfaces</a:t>
            </a: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Z_train = (X_train - mu) @ Ur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850392" y="5961888"/>
            <a:ext cx="10698480" cy="28346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注：X_trainは「１行＝１枚の顔」。教科書のAは「１列＝１枚の顔」。</a:t>
            </a:r>
            <a:endParaRPr lang="en-US" sz="12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project and reconstruct a test face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Python：テスト顔を射影して再構成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10844784" cy="3374136"/>
          </a:xfrm>
          <a:prstGeom prst="roundRect">
            <a:avLst>
              <a:gd name="adj" fmla="val 3252"/>
            </a:avLst>
          </a:prstGeom>
          <a:solidFill>
            <a:srgbClr val="EDF3F8"/>
          </a:solidFill>
          <a:ln w="12700">
            <a:solidFill>
              <a:srgbClr val="EDF3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978408" y="1764792"/>
            <a:ext cx="10268712" cy="28986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test_face is a 1D vector, length = n_pixels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(test_face - mu) @ Ur     # PCA scores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reconstructed = mu + Ur @ z  # estimated image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Visualization example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plt.imshow(reconstructed.reshape(height, width), cmap="gray")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83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plt.axis("off")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04088" y="5184648"/>
            <a:ext cx="10881360" cy="45720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use the mean and basis learned from X_train, not from the test image.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" y="557784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重要：テスト画像から計算し直さず、X_trainから得た平均と基底を使います。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mini-project: four things to produce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ミニプロジェクト：４つの成果物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463040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850392" y="1545336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9536" y="1892808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成果物１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90872" y="1627632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4919472" y="1527048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12 training faces and the average face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928616" y="1892808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学習画像12枚と平均顔を表示する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58368" y="2423160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0392" y="2505456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9536" y="2852928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成果物２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90872" y="2587752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9" name="Text 17"/>
          <p:cNvSpPr/>
          <p:nvPr/>
        </p:nvSpPr>
        <p:spPr>
          <a:xfrm>
            <a:off x="4919472" y="2487168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the first 6 Eigenfaces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4928616" y="2852928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最初の６つの固有顔を表示する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58368" y="3383280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2" name="Text 20"/>
          <p:cNvSpPr/>
          <p:nvPr/>
        </p:nvSpPr>
        <p:spPr>
          <a:xfrm>
            <a:off x="850392" y="3465576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813048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成果物３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90872" y="3547872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/>
          <p:nvPr/>
        </p:nvSpPr>
        <p:spPr>
          <a:xfrm>
            <a:off x="4919472" y="3447288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 one face for r = 5, 20, 50</a:t>
            </a:r>
            <a:endParaRPr lang="en-US" sz="1530" dirty="0"/>
          </a:p>
        </p:txBody>
      </p:sp>
      <p:sp>
        <p:nvSpPr>
          <p:cNvPr id="26" name="Text 24"/>
          <p:cNvSpPr/>
          <p:nvPr/>
        </p:nvSpPr>
        <p:spPr>
          <a:xfrm>
            <a:off x="4928616" y="3813048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r=5,20,50で同じ顔を再構成する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58368" y="4343400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Text 26"/>
          <p:cNvSpPr/>
          <p:nvPr/>
        </p:nvSpPr>
        <p:spPr>
          <a:xfrm>
            <a:off x="850392" y="4425696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59536" y="4773168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成果物４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90872" y="4507992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1" name="Text 29"/>
          <p:cNvSpPr/>
          <p:nvPr/>
        </p:nvSpPr>
        <p:spPr>
          <a:xfrm>
            <a:off x="4919472" y="4407408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held-out photos and report accuracy</a:t>
            </a:r>
            <a:endParaRPr lang="en-US" sz="1530" dirty="0"/>
          </a:p>
        </p:txBody>
      </p:sp>
      <p:sp>
        <p:nvSpPr>
          <p:cNvPr id="32" name="Text 30"/>
          <p:cNvSpPr/>
          <p:nvPr/>
        </p:nvSpPr>
        <p:spPr>
          <a:xfrm>
            <a:off x="4928616" y="4773168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未使用の写真を認識し、正解率を報告する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67512" y="552297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4" name="Text 32"/>
          <p:cNvSpPr/>
          <p:nvPr/>
        </p:nvSpPr>
        <p:spPr>
          <a:xfrm>
            <a:off x="859536" y="5596128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plot, write 2–3 sentences explaining what changed and why.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9536" y="5888736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各図について、何が変わり、なぜ変わったかを２～３文で説明してください。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exercise: fill in the missing numbers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確認問題：空欄を計算してみよう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609344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face vectors: x₁ = [2, 4]ᵀ and x₂ = [6, 8]ᵀ.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" y="2002536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２つの顔ベクトル：x₁=[2,4]ᵀ、x₂=[6,8]ᵀ。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688336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850392" y="2770632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3118104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問題A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852928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5" name="Text 13"/>
          <p:cNvSpPr/>
          <p:nvPr/>
        </p:nvSpPr>
        <p:spPr>
          <a:xfrm>
            <a:off x="4919472" y="2752344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mean vector μ?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4928616" y="3118104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平均ベクトルμは？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58368" y="3648456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 16"/>
          <p:cNvSpPr/>
          <p:nvPr/>
        </p:nvSpPr>
        <p:spPr>
          <a:xfrm>
            <a:off x="850392" y="3730752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B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" y="4078224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問題B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3813048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1" name="Text 19"/>
          <p:cNvSpPr/>
          <p:nvPr/>
        </p:nvSpPr>
        <p:spPr>
          <a:xfrm>
            <a:off x="4919472" y="3712464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centered vectors a₁ and a₂?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4928616" y="4078224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中心化したa₁、a₂は？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58368" y="4608576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4" name="Text 22"/>
          <p:cNvSpPr/>
          <p:nvPr/>
        </p:nvSpPr>
        <p:spPr>
          <a:xfrm>
            <a:off x="850392" y="4690872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C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9536" y="5038344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問題C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90872" y="4773168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7" name="Text 25"/>
          <p:cNvSpPr/>
          <p:nvPr/>
        </p:nvSpPr>
        <p:spPr>
          <a:xfrm>
            <a:off x="4919472" y="4672584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mean-centering necessary?</a:t>
            </a:r>
            <a:endParaRPr lang="en-US" sz="1530" dirty="0"/>
          </a:p>
        </p:txBody>
      </p:sp>
      <p:sp>
        <p:nvSpPr>
          <p:cNvPr id="28" name="Text 26"/>
          <p:cNvSpPr/>
          <p:nvPr/>
        </p:nvSpPr>
        <p:spPr>
          <a:xfrm>
            <a:off x="4928616" y="5038344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なぜ中心化が必要？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667512" y="561441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0" name="Text 28"/>
          <p:cNvSpPr/>
          <p:nvPr/>
        </p:nvSpPr>
        <p:spPr>
          <a:xfrm>
            <a:off x="859536" y="5687568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independently before looking at the answer slide.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9536" y="5980176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次の解答スライドを見る前に、自分で解いてみましょう。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answer and explanation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確認問題：解答と解説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527048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051560" y="1645920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 = [(2+6)/2, (4+8)/2]ᵀ = [4, 6]ᵀ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777240" y="2660904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E4F0F9"/>
          </a:solidFill>
          <a:ln w="12700">
            <a:solidFill>
              <a:srgbClr val="E4F0F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1051560" y="2779776"/>
            <a:ext cx="10058400" cy="5852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a₁ = [−2, −2]ᵀ;    a₂ = [2, 2]ᵀ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04088" y="3968496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centered vectors add to zero: a₁ + a₂ = [0, 0]ᵀ.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" y="4361688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中心化後のベクトルを足すと０になります。a₁+a₂=[0,0]ᵀ。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" y="4901184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now studies the direction of variation around μ, rather than the mean itself.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" y="5294376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PCAは平均そのものではなく、平均からの変化方向を調べます。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Summary: the complete PCA–Eigenfaces pipeline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まとめ：PCA・固有顔の全体手順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1627632"/>
            <a:ext cx="3557016" cy="1124712"/>
          </a:xfrm>
          <a:prstGeom prst="roundRect">
            <a:avLst>
              <a:gd name="adj" fmla="val 975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749808" y="1746504"/>
            <a:ext cx="3282696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Prepare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212848"/>
            <a:ext cx="3319272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前処理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2194560"/>
            <a:ext cx="274320" cy="0"/>
          </a:xfrm>
          <a:prstGeom prst="line">
            <a:avLst/>
          </a:prstGeom>
          <a:noFill/>
          <a:ln w="30480">
            <a:solidFill>
              <a:srgbClr val="235D91"/>
            </a:solidFill>
            <a:prstDash val="solid"/>
            <a:tailEnd type="triangle"/>
          </a:ln>
        </p:spPr>
        <p:txBody>
          <a:bodyPr/>
          <a:lstStyle/>
          <a:p>
            <a:endParaRPr lang="en-JP"/>
          </a:p>
        </p:txBody>
      </p:sp>
      <p:sp>
        <p:nvSpPr>
          <p:cNvPr id="13" name="Shape 11"/>
          <p:cNvSpPr/>
          <p:nvPr/>
        </p:nvSpPr>
        <p:spPr>
          <a:xfrm>
            <a:off x="4544568" y="1627632"/>
            <a:ext cx="3557016" cy="1124712"/>
          </a:xfrm>
          <a:prstGeom prst="roundRect">
            <a:avLst>
              <a:gd name="adj" fmla="val 975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/>
          <p:nvPr/>
        </p:nvSpPr>
        <p:spPr>
          <a:xfrm>
            <a:off x="4681728" y="1746504"/>
            <a:ext cx="3282696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Vectorize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2212848"/>
            <a:ext cx="3319272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ベクトル化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2194560"/>
            <a:ext cx="274320" cy="0"/>
          </a:xfrm>
          <a:prstGeom prst="line">
            <a:avLst/>
          </a:prstGeom>
          <a:noFill/>
          <a:ln w="30480">
            <a:solidFill>
              <a:srgbClr val="235D91"/>
            </a:solidFill>
            <a:prstDash val="solid"/>
            <a:tailEnd type="triangle"/>
          </a:ln>
        </p:spPr>
        <p:txBody>
          <a:bodyPr/>
          <a:lstStyle/>
          <a:p>
            <a:endParaRPr lang="en-JP"/>
          </a:p>
        </p:txBody>
      </p:sp>
      <p:sp>
        <p:nvSpPr>
          <p:cNvPr id="17" name="Shape 15"/>
          <p:cNvSpPr/>
          <p:nvPr/>
        </p:nvSpPr>
        <p:spPr>
          <a:xfrm>
            <a:off x="8476488" y="1627632"/>
            <a:ext cx="3557016" cy="1124712"/>
          </a:xfrm>
          <a:prstGeom prst="roundRect">
            <a:avLst>
              <a:gd name="adj" fmla="val 975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 16"/>
          <p:cNvSpPr/>
          <p:nvPr/>
        </p:nvSpPr>
        <p:spPr>
          <a:xfrm>
            <a:off x="8613648" y="1746504"/>
            <a:ext cx="3282696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Mean-center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0" y="2212848"/>
            <a:ext cx="3319272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中心化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" y="3310128"/>
            <a:ext cx="3557016" cy="1124712"/>
          </a:xfrm>
          <a:prstGeom prst="roundRect">
            <a:avLst>
              <a:gd name="adj" fmla="val 9756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1" name="Text 19"/>
          <p:cNvSpPr/>
          <p:nvPr/>
        </p:nvSpPr>
        <p:spPr>
          <a:xfrm>
            <a:off x="749808" y="3429000"/>
            <a:ext cx="3282696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SVD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" y="3895344"/>
            <a:ext cx="3319272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特異値分解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60520" y="3877056"/>
            <a:ext cx="274320" cy="0"/>
          </a:xfrm>
          <a:prstGeom prst="line">
            <a:avLst/>
          </a:prstGeom>
          <a:noFill/>
          <a:ln w="30480">
            <a:solidFill>
              <a:srgbClr val="235D91"/>
            </a:solidFill>
            <a:prstDash val="solid"/>
            <a:tailEnd type="triangle"/>
          </a:ln>
        </p:spPr>
        <p:txBody>
          <a:bodyPr/>
          <a:lstStyle/>
          <a:p>
            <a:endParaRPr lang="en-JP"/>
          </a:p>
        </p:txBody>
      </p:sp>
      <p:sp>
        <p:nvSpPr>
          <p:cNvPr id="24" name="Shape 22"/>
          <p:cNvSpPr/>
          <p:nvPr/>
        </p:nvSpPr>
        <p:spPr>
          <a:xfrm>
            <a:off x="4544568" y="3310128"/>
            <a:ext cx="3557016" cy="1124712"/>
          </a:xfrm>
          <a:prstGeom prst="roundRect">
            <a:avLst>
              <a:gd name="adj" fmla="val 9756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/>
          <p:nvPr/>
        </p:nvSpPr>
        <p:spPr>
          <a:xfrm>
            <a:off x="4681728" y="3429000"/>
            <a:ext cx="3282696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Project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663440" y="3895344"/>
            <a:ext cx="3319272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射影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92440" y="3877056"/>
            <a:ext cx="274320" cy="0"/>
          </a:xfrm>
          <a:prstGeom prst="line">
            <a:avLst/>
          </a:prstGeom>
          <a:noFill/>
          <a:ln w="30480">
            <a:solidFill>
              <a:srgbClr val="235D91"/>
            </a:solidFill>
            <a:prstDash val="solid"/>
            <a:tailEnd type="triangle"/>
          </a:ln>
        </p:spPr>
        <p:txBody>
          <a:bodyPr/>
          <a:lstStyle/>
          <a:p>
            <a:endParaRPr lang="en-JP"/>
          </a:p>
        </p:txBody>
      </p:sp>
      <p:sp>
        <p:nvSpPr>
          <p:cNvPr id="28" name="Shape 26"/>
          <p:cNvSpPr/>
          <p:nvPr/>
        </p:nvSpPr>
        <p:spPr>
          <a:xfrm>
            <a:off x="8476488" y="3310128"/>
            <a:ext cx="3557016" cy="1124712"/>
          </a:xfrm>
          <a:prstGeom prst="roundRect">
            <a:avLst>
              <a:gd name="adj" fmla="val 9756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9" name="Text 27"/>
          <p:cNvSpPr/>
          <p:nvPr/>
        </p:nvSpPr>
        <p:spPr>
          <a:xfrm>
            <a:off x="8613648" y="3429000"/>
            <a:ext cx="3282696" cy="3749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Match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595360" y="3895344"/>
            <a:ext cx="3319272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照合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" y="5257800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computes μ and Uᵣ; a query uses those values to compute z.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04088" y="5650992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学習でμとUᵣを求め、照会時にはそれらを使ってzを計算します。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textbook covers — and what we added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教科書にある内容／授業で追加した内容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27048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850392" y="1609344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intuition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9536" y="1956816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PCAの直感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90872" y="1691640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4919472" y="1591056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Textbook §1.5, pp. 27–33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928616" y="1956816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教科書1.5節（27～33ページ）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58368" y="2468880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850392" y="2551176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9536" y="2898648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固有顔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90872" y="2633472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9" name="Text 17"/>
          <p:cNvSpPr/>
          <p:nvPr/>
        </p:nvSpPr>
        <p:spPr>
          <a:xfrm>
            <a:off x="4919472" y="2532888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Textbook §1.6, pp. 34–40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4928616" y="2898648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教科書1.6節（34～40ページ）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58368" y="3410712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2" name="Text 20"/>
          <p:cNvSpPr/>
          <p:nvPr/>
        </p:nvSpPr>
        <p:spPr>
          <a:xfrm>
            <a:off x="850392" y="3493008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 background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840480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SVDの基礎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90872" y="3575304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/>
          <p:nvPr/>
        </p:nvSpPr>
        <p:spPr>
          <a:xfrm>
            <a:off x="4919472" y="3474720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Textbook §§1.1–1.2, pp. 4–13</a:t>
            </a:r>
            <a:endParaRPr lang="en-US" sz="1530" dirty="0"/>
          </a:p>
        </p:txBody>
      </p:sp>
      <p:sp>
        <p:nvSpPr>
          <p:cNvPr id="26" name="Text 24"/>
          <p:cNvSpPr/>
          <p:nvPr/>
        </p:nvSpPr>
        <p:spPr>
          <a:xfrm>
            <a:off x="4928616" y="3840480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教科書1.1～1.2節（4～13ページ）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58368" y="4352544"/>
            <a:ext cx="10954512" cy="850392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Text 26"/>
          <p:cNvSpPr/>
          <p:nvPr/>
        </p:nvSpPr>
        <p:spPr>
          <a:xfrm>
            <a:off x="850392" y="4434840"/>
            <a:ext cx="3767328" cy="2743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extensions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59536" y="4782312"/>
            <a:ext cx="3749040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授業の追加内容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90872" y="4517136"/>
            <a:ext cx="0" cy="50292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1" name="Text 29"/>
          <p:cNvSpPr/>
          <p:nvPr/>
        </p:nvSpPr>
        <p:spPr>
          <a:xfrm>
            <a:off x="4919472" y="4416552"/>
            <a:ext cx="645566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Nearest neighbor, rejection threshold, data splits</a:t>
            </a:r>
            <a:endParaRPr lang="en-US" sz="1530" dirty="0"/>
          </a:p>
        </p:txBody>
      </p:sp>
      <p:sp>
        <p:nvSpPr>
          <p:cNvPr id="32" name="Text 30"/>
          <p:cNvSpPr/>
          <p:nvPr/>
        </p:nvSpPr>
        <p:spPr>
          <a:xfrm>
            <a:off x="4928616" y="4782312"/>
            <a:ext cx="644652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最近傍照合・しきい値・データ分割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67512" y="553212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4" name="Text 32"/>
          <p:cNvSpPr/>
          <p:nvPr/>
        </p:nvSpPr>
        <p:spPr>
          <a:xfrm>
            <a:off x="859536" y="5605272"/>
            <a:ext cx="1046988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figures: 1.16 (p.35), 1.17 (p.37), 1.18 (p.38); Codes 1.7–1.8.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9536" y="5897880"/>
            <a:ext cx="1046988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参照図：図1.16（35頁）、図1.17（37頁）、図1.18（38頁）、コード1.7～1.8。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review: answer without the slides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最終確認：スライドを見ずに説明しよう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609344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do x, μ, Uᵣ, z and x̂ each represent?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04088" y="2002536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１．x、μ、Uᵣ、z、x̂はそれぞれ何を表す？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2441448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do we subtract μ before using SVD?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4088" y="283464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２．SVDの前になぜμを引く？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3273552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How does increasing r change the reconstructed face?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4088" y="3666744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３．rを増やすと再構成画像はどう変わる？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" y="4105656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additional step converts PCA features into identity predictions?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" y="4498848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４．PCA特徴量を人物識別につなげる追加ステップは？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" y="4956048"/>
            <a:ext cx="10881360" cy="4114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Why must the test images not be used to fit PCA?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" y="5349240"/>
            <a:ext cx="10881360" cy="3566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５．なぜテスト画像をPCAの学習に使ってはいけない？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817E"/>
          </a:solidFill>
          <a:ln w="12700">
            <a:solidFill>
              <a:srgbClr val="0D817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1201400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Glossary: English ↔ Japanese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1109960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5D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用語集：英語と日本語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12471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484632" y="6528816"/>
            <a:ext cx="548640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067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EIGENFACES · PCA  |  固有顔・主成分分析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31752" y="6519672"/>
            <a:ext cx="310896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8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5361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923544" y="16093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602736" y="16276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" y="22219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923544" y="22951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Grayscale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02736" y="23134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グレースケール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" y="29077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923544" y="29809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face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602736" y="29992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" y="35935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9" name="Text 17"/>
          <p:cNvSpPr/>
          <p:nvPr/>
        </p:nvSpPr>
        <p:spPr>
          <a:xfrm>
            <a:off x="923544" y="36667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Centering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3602736" y="36850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中心化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" y="42793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2" name="Text 20"/>
          <p:cNvSpPr/>
          <p:nvPr/>
        </p:nvSpPr>
        <p:spPr>
          <a:xfrm>
            <a:off x="923544" y="43525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602736" y="43708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分散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" y="49651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/>
          <p:nvPr/>
        </p:nvSpPr>
        <p:spPr>
          <a:xfrm>
            <a:off x="923544" y="50383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 component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3602736" y="50566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主成分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55664" y="15361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Text 26"/>
          <p:cNvSpPr/>
          <p:nvPr/>
        </p:nvSpPr>
        <p:spPr>
          <a:xfrm>
            <a:off x="6574536" y="16093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Singular value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253728" y="16276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特異値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55664" y="22219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1" name="Text 29"/>
          <p:cNvSpPr/>
          <p:nvPr/>
        </p:nvSpPr>
        <p:spPr>
          <a:xfrm>
            <a:off x="6574536" y="22951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Eigenface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253728" y="23134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固有顔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55664" y="29077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4" name="Text 32"/>
          <p:cNvSpPr/>
          <p:nvPr/>
        </p:nvSpPr>
        <p:spPr>
          <a:xfrm>
            <a:off x="6574536" y="29809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Projection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253728" y="29992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射影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55664" y="35935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7" name="Text 35"/>
          <p:cNvSpPr/>
          <p:nvPr/>
        </p:nvSpPr>
        <p:spPr>
          <a:xfrm>
            <a:off x="6574536" y="36667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253728" y="36850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再構成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55664" y="42793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0" name="Text 38"/>
          <p:cNvSpPr/>
          <p:nvPr/>
        </p:nvSpPr>
        <p:spPr>
          <a:xfrm>
            <a:off x="6574536" y="43525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Nearest neighbor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253728" y="43708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最近傍法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55664" y="4965192"/>
            <a:ext cx="5303520" cy="585216"/>
          </a:xfrm>
          <a:prstGeom prst="roundRect">
            <a:avLst>
              <a:gd name="adj" fmla="val 18750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3" name="Text 41"/>
          <p:cNvSpPr/>
          <p:nvPr/>
        </p:nvSpPr>
        <p:spPr>
          <a:xfrm>
            <a:off x="6574536" y="5038344"/>
            <a:ext cx="2578608" cy="43891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83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leakage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9253728" y="5056632"/>
            <a:ext cx="2368296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データ漏えい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3893</Words>
  <Application>Microsoft Macintosh PowerPoint</Application>
  <PresentationFormat>Widescreen</PresentationFormat>
  <Paragraphs>634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Noto Sans CJK JP</vt:lpstr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Eigenfaces and PCA — Detailed Bilingual Lecture</dc:title>
  <dc:subject>PptxGenJS Presentation</dc:subject>
  <dc:creator>OpenAI</dc:creator>
  <cp:lastModifiedBy>Matus Tanonwong</cp:lastModifiedBy>
  <cp:revision>4</cp:revision>
  <dcterms:created xsi:type="dcterms:W3CDTF">2026-10-13T01:18:07Z</dcterms:created>
  <dcterms:modified xsi:type="dcterms:W3CDTF">2026-10-14T05:52:59Z</dcterms:modified>
</cp:coreProperties>
</file>